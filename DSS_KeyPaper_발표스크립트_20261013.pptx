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70" r:id="rId2"/>
    <p:sldId id="268" r:id="rId3"/>
    <p:sldId id="269" r:id="rId4"/>
    <p:sldId id="256" r:id="rId5"/>
    <p:sldId id="257" r:id="rId6"/>
    <p:sldId id="258" r:id="rId7"/>
    <p:sldId id="259" r:id="rId8"/>
    <p:sldId id="260" r:id="rId9"/>
    <p:sldId id="261" r:id="rId10"/>
    <p:sldId id="262" r:id="rId11"/>
    <p:sldId id="263" r:id="rId12"/>
    <p:sldId id="264"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제목 없는 구역" id="{9632374B-8EBE-45ED-8B40-ED8E1F900FD9}">
          <p14:sldIdLst>
            <p14:sldId id="270"/>
          </p14:sldIdLst>
        </p14:section>
        <p14:section name="업무설명" id="{F38EBD09-607E-1A76-35DA-8AFF6DC30B1A}">
          <p14:sldIdLst>
            <p14:sldId id="268"/>
            <p14:sldId id="269"/>
            <p14:sldId id="256"/>
          </p14:sldIdLst>
        </p14:section>
        <p14:section name="참고 논문" id="{BF4A86A6-8A11-1621-49FE-21C4BE857E12}">
          <p14:sldIdLst>
            <p14:sldId id="257"/>
          </p14:sldIdLst>
        </p14:section>
        <p14:section name="단계별 적용" id="{A3B3942D-FDBD-2101-D417-D97318C8C202}">
          <p14:sldIdLst>
            <p14:sldId id="258"/>
            <p14:sldId id="259"/>
            <p14:sldId id="260"/>
            <p14:sldId id="261"/>
          </p14:sldIdLst>
        </p14:section>
        <p14:section name="도메인 라우팅" id="{492BE075-D4A6-E4B0-0452-1EF514D8EB85}">
          <p14:sldIdLst>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57" autoAdjust="0"/>
    <p:restoredTop sz="94610"/>
  </p:normalViewPr>
  <p:slideViewPr>
    <p:cSldViewPr snapToGrid="0" snapToObjects="1">
      <p:cViewPr varScale="1">
        <p:scale>
          <a:sx n="107" d="100"/>
          <a:sy n="107" d="100"/>
        </p:scale>
        <p:origin x="90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0"/>
        <c:ser>
          <c:idx val="0"/>
          <c:order val="0"/>
          <c:tx>
            <c:strRef>
              <c:f>Sheet1!$B$1</c:f>
              <c:strCache>
                <c:ptCount val="1"/>
                <c:pt idx="0">
                  <c:v>기존 (LLM 단독 · 비교 최고)</c:v>
                </c:pt>
              </c:strCache>
            </c:strRef>
          </c:tx>
          <c:spPr>
            <a:solidFill>
              <a:srgbClr val="BFBFBF"/>
            </a:solidFill>
            <a:effectLst/>
          </c:spPr>
          <c:invertIfNegative val="0"/>
          <c:dLbls>
            <c:numFmt formatCode="0.00#" sourceLinked="0"/>
            <c:spPr>
              <a:noFill/>
              <a:ln>
                <a:noFill/>
              </a:ln>
              <a:effectLst/>
            </c:spPr>
            <c:txPr>
              <a:bodyPr/>
              <a:lstStyle/>
              <a:p>
                <a:pPr>
                  <a:defRPr sz="900" b="0" i="0" u="none" strike="noStrike">
                    <a:solidFill>
                      <a:srgbClr val="1A1A1A"/>
                    </a:solidFill>
                    <a:latin typeface="+mn-lt"/>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Sheet1!$A$2:$A$3</c:f>
              <c:strCache>
                <c:ptCount val="2"/>
                <c:pt idx="0">
                  <c:v>Schema linking F1</c:v>
                </c:pt>
                <c:pt idx="1">
                  <c:v>전체 정확도 (사내 DB)</c:v>
                </c:pt>
              </c:strCache>
            </c:strRef>
          </c:cat>
          <c:val>
            <c:numRef>
              <c:f>Sheet1!$B$2:$B$3</c:f>
              <c:numCache>
                <c:formatCode>General</c:formatCode>
                <c:ptCount val="2"/>
                <c:pt idx="0">
                  <c:v>0.85099999999999998</c:v>
                </c:pt>
                <c:pt idx="1">
                  <c:v>0.84</c:v>
                </c:pt>
              </c:numCache>
            </c:numRef>
          </c:val>
          <c:extLst>
            <c:ext xmlns:c16="http://schemas.microsoft.com/office/drawing/2014/chart" uri="{C3380CC4-5D6E-409C-BE32-E72D297353CC}">
              <c16:uniqueId val="{00000000-F1E6-44B5-A10E-61934AC11C24}"/>
            </c:ext>
          </c:extLst>
        </c:ser>
        <c:ser>
          <c:idx val="1"/>
          <c:order val="1"/>
          <c:tx>
            <c:strRef>
              <c:f>Sheet1!$C$1</c:f>
              <c:strCache>
                <c:ptCount val="1"/>
                <c:pt idx="0">
                  <c:v>제안 방법</c:v>
                </c:pt>
              </c:strCache>
            </c:strRef>
          </c:tx>
          <c:spPr>
            <a:solidFill>
              <a:srgbClr val="D9480F"/>
            </a:solidFill>
            <a:effectLst/>
          </c:spPr>
          <c:invertIfNegative val="0"/>
          <c:dLbls>
            <c:numFmt formatCode="0.00#" sourceLinked="0"/>
            <c:spPr>
              <a:noFill/>
              <a:ln>
                <a:noFill/>
              </a:ln>
              <a:effectLst/>
            </c:spPr>
            <c:txPr>
              <a:bodyPr/>
              <a:lstStyle/>
              <a:p>
                <a:pPr>
                  <a:defRPr sz="900" b="0" i="0" u="none" strike="noStrike">
                    <a:solidFill>
                      <a:srgbClr val="1A1A1A"/>
                    </a:solidFill>
                    <a:latin typeface="+mn-lt"/>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Sheet1!$A$2:$A$3</c:f>
              <c:strCache>
                <c:ptCount val="2"/>
                <c:pt idx="0">
                  <c:v>Schema linking F1</c:v>
                </c:pt>
                <c:pt idx="1">
                  <c:v>전체 정확도 (사내 DB)</c:v>
                </c:pt>
              </c:strCache>
            </c:strRef>
          </c:cat>
          <c:val>
            <c:numRef>
              <c:f>Sheet1!$C$2:$C$3</c:f>
              <c:numCache>
                <c:formatCode>General</c:formatCode>
                <c:ptCount val="2"/>
                <c:pt idx="0">
                  <c:v>0.996</c:v>
                </c:pt>
                <c:pt idx="1">
                  <c:v>0.93</c:v>
                </c:pt>
              </c:numCache>
            </c:numRef>
          </c:val>
          <c:extLst>
            <c:ext xmlns:c16="http://schemas.microsoft.com/office/drawing/2014/chart" uri="{C3380CC4-5D6E-409C-BE32-E72D297353CC}">
              <c16:uniqueId val="{00000001-F1E6-44B5-A10E-61934AC11C24}"/>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F5F5F"/>
                </a:solidFill>
                <a:latin typeface="+mn-lt"/>
              </a:defRPr>
            </a:pPr>
            <a:endParaRPr lang="ko-KR"/>
          </a:p>
        </c:txPr>
        <c:crossAx val="2094734552"/>
        <c:crosses val="autoZero"/>
        <c:auto val="1"/>
        <c:lblAlgn val="ctr"/>
        <c:lblOffset val="100"/>
        <c:noMultiLvlLbl val="1"/>
      </c:catAx>
      <c:valAx>
        <c:axId val="2094734552"/>
        <c:scaling>
          <c:orientation val="minMax"/>
          <c:max val="1.1499999999999999"/>
          <c:min val="0"/>
        </c:scaling>
        <c:delete val="1"/>
        <c:axPos val="t"/>
        <c:numFmt formatCode="General" sourceLinked="0"/>
        <c:majorTickMark val="out"/>
        <c:minorTickMark val="none"/>
        <c:tickLblPos val="low"/>
        <c:crossAx val="2094734554"/>
        <c:crosses val="autoZero"/>
        <c:crossBetween val="between"/>
      </c:valAx>
      <c:spPr>
        <a:solidFill>
          <a:srgbClr val="F2F2F2"/>
        </a:solidFill>
        <a:ln>
          <a:noFill/>
        </a:ln>
        <a:effectLst/>
      </c:spPr>
    </c:plotArea>
    <c:legend>
      <c:legendPos val="b"/>
      <c:layout/>
      <c:overlay val="0"/>
      <c:txPr>
        <a:bodyPr/>
        <a:lstStyle/>
        <a:p>
          <a:pPr>
            <a:defRPr sz="850">
              <a:solidFill>
                <a:srgbClr val="5F5F5F"/>
              </a:solidFill>
              <a:latin typeface="+mn-lt"/>
              <a:cs typeface="+mn-lt"/>
            </a:defRPr>
          </a:pPr>
          <a:endParaRPr lang="ko-KR"/>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410481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안녕하세요. AI/Data Platform 박재승입니다.</a:t>
            </a:r>
          </a:p>
          <a:p>
            <a:r>
              <a:rPr lang="ko-KR" altLang="en-US" dirty="0"/>
              <a:t>오늘 Key Paper 발표 주제는 "Table Retrieval Engineering for Text2SQL"입니다.</a:t>
            </a:r>
          </a:p>
          <a:p>
            <a:endParaRPr lang="ko-KR" altLang="en-US" dirty="0"/>
          </a:p>
          <a:p>
            <a:r>
              <a:rPr lang="ko-KR" altLang="en-US" dirty="0"/>
              <a:t>Text2SQL, 즉 자연어 질문을 SQL로 바꿔주는 기술은 이제 LLM 덕분에 꽤 잘 동작합니다. 그런데 실제 회사 DB에 적용해 보면, SQL을 쓰는 것보다 "어느 테이블을 써야 하는가"를 찾는 단계에서 막히는 경우가 훨씬 많습니다.</a:t>
            </a:r>
          </a:p>
          <a:p>
            <a:endParaRPr lang="ko-KR" altLang="en-US" dirty="0"/>
          </a:p>
          <a:p>
            <a:r>
              <a:rPr lang="ko-KR" altLang="en-US" dirty="0"/>
              <a:t>오늘은 이 문제를 부제 그대로, 지식그래프와 도메인 라우팅으로 9,000개 테이블 중에서 정답 테이블을 찾는 방법으로 풀어 보려 합니다.</a:t>
            </a:r>
          </a:p>
          <a:p>
            <a:r>
              <a:rPr lang="ko-KR" altLang="en-US" dirty="0"/>
              <a:t>먼저 제가 맡고 있는 플랫폼을 간단히 소개하고, 핵심 논문을 리뷰한 뒤, 단계별 적용 방안과 확장 방안 순으로 말씀드리겠습니다.</a:t>
            </a:r>
          </a:p>
          <a:p>
            <a:endParaRPr lang="ko-KR" altLang="en-US" dirty="0"/>
          </a:p>
          <a:p>
            <a:r>
              <a:rPr lang="ko-KR" altLang="en-US" dirty="0"/>
              <a:t>[전환] 먼저 SK하이닉스 Data Platform 구조부터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8036157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SK하이닉스의 Data Platform 전체 구조입니다. 왼쪽에서 오른쪽으로 데이터가 흐릅니다.</a:t>
            </a:r>
          </a:p>
          <a:p>
            <a:endParaRPr lang="ko-KR" altLang="en-US" dirty="0"/>
          </a:p>
          <a:p>
            <a:r>
              <a:rPr lang="ko-KR" altLang="en-US" dirty="0"/>
              <a:t>맨 왼쪽은 원천입니다. Fab의 장비와 MES, FDC, APC 같은 Legacy 생산 시스템에서 데이터가 발생합니다.</a:t>
            </a:r>
          </a:p>
          <a:p>
            <a:r>
              <a:rPr lang="ko-KR" altLang="en-US" dirty="0"/>
              <a:t>가운데에는 두 개의 축이 있습니다.</a:t>
            </a:r>
          </a:p>
          <a:p>
            <a:r>
              <a:rPr lang="ko-KR" altLang="en-US" dirty="0"/>
              <a:t>위쪽의 Data Hub는 Event Pipeline과 CDC Pipeline으로 데이터를 실시간 수집해 Message Queue와 DB에 담는 실시간 연계 플랫폼입니다.</a:t>
            </a:r>
          </a:p>
          <a:p>
            <a:r>
              <a:rPr lang="ko-KR" altLang="en-US" dirty="0"/>
              <a:t>아래쪽의 Data Lake는 전사 데이터를 대용량으로 모아두는 중앙 적재소이고, 장비의 비정형 데이터나 Big Data 처리를 담당합니다.</a:t>
            </a:r>
          </a:p>
          <a:p>
            <a:endParaRPr lang="ko-KR" altLang="en-US" dirty="0"/>
          </a:p>
          <a:p>
            <a:r>
              <a:rPr lang="ko-KR" altLang="en-US" dirty="0"/>
              <a:t>오른쪽 서비스 영역을 보시면, Data Hub는 h-CONNECT, h-API, h-Bridge처럼 실시간 DB 복제와 API·Action을 제공하고, Data Lake는 Workbench, Catalog, Workflow 같은 분석 서비스를 제공합니다.</a:t>
            </a:r>
          </a:p>
          <a:p>
            <a:endParaRPr lang="ko-KR" altLang="en-US" dirty="0"/>
          </a:p>
          <a:p>
            <a:r>
              <a:rPr lang="ko-KR" altLang="en-US" dirty="0"/>
              <a:t>제가 담당하는 부분은 이 중 Data Hub입니다. 오늘 이야기할 Text2SQL도 Data Hub 위에서 동작하는 서비스입니다.</a:t>
            </a:r>
          </a:p>
          <a:p>
            <a:endParaRPr lang="ko-KR" altLang="en-US" dirty="0"/>
          </a:p>
          <a:p>
            <a:r>
              <a:rPr lang="ko-KR" altLang="en-US" dirty="0"/>
              <a:t>[전환] 그럼 Data Hub를 조금 더 자세히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985508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Data Hub는 한 문장으로 전사 데이터 인터페이스를 하나로 모으는 실시간 데이터 연계 플랫폼입니다.</a:t>
            </a:r>
          </a:p>
          <a:p>
            <a:endParaRPr lang="ko-KR" altLang="en-US" dirty="0"/>
          </a:p>
          <a:p>
            <a:r>
              <a:rPr lang="ko-KR" altLang="en-US" dirty="0"/>
              <a:t>왼쪽처럼 M16, M14, M10 등 여러 FAB의 원천 데이터가 Event Pipeline과 CDC Pipeline으로 들어옵니다. 이 데이터는 Message Queue와 Data Hub DB에 저장되고, 오른쪽의 Delivery Service를 통해 실시간 DB 동기화, 실시간 API, 실시간 Action 형태로 Legacy 시스템과 사용자 애플리케이션, AI 플랫폼에 전달됩니다.</a:t>
            </a:r>
          </a:p>
          <a:p>
            <a:endParaRPr lang="ko-KR" altLang="en-US" dirty="0"/>
          </a:p>
          <a:p>
            <a:r>
              <a:rPr lang="ko-KR" altLang="en-US" dirty="0"/>
              <a:t>규모를 보시면, 적재된 테이블과 메시지가 약 1만 2천 개, 저장 용량은 약 800TB이고, 활성 사용자는 8천 명이 넘습니다.</a:t>
            </a:r>
          </a:p>
          <a:p>
            <a:endParaRPr lang="ko-KR" altLang="en-US" dirty="0"/>
          </a:p>
          <a:p>
            <a:r>
              <a:rPr lang="ko-KR" altLang="en-US" dirty="0"/>
              <a:t>여기서 주황색으로 표시한 부분이 오늘의 주제입니다. Delivery Service 안의 h-Genie, 즉 Text2SQL 서비스입니다. 사용자가 SQL을 몰라도 자연어로 질문하면 Data Hub 데이터를 조회할 수 있게 하려는 것입니다.</a:t>
            </a:r>
          </a:p>
          <a:p>
            <a:r>
              <a:rPr lang="ko-KR" altLang="en-US" dirty="0"/>
              <a:t>그런데 테이블이 이렇게 많다 보니, 질문에 맞는 테이블을 고르는 것부터가 어렵습니다.</a:t>
            </a:r>
          </a:p>
          <a:p>
            <a:endParaRPr lang="ko-KR" altLang="en-US" dirty="0"/>
          </a:p>
          <a:p>
            <a:r>
              <a:rPr lang="ko-KR" altLang="en-US" dirty="0"/>
              <a:t>[전환] 이 문제가 처리 흐름의 어디에서 생기는지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7898331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Text2SQL 처리 흐름을 BPMN으로 그린 그림입니다. 위쪽이 사용자, 가운데가 Text2SQL 엔진, 아래쪽이 각 단계가 참조하는 메타데이터입니다.</a:t>
            </a:r>
          </a:p>
          <a:p>
            <a:endParaRPr lang="ko-KR" altLang="en-US" dirty="0"/>
          </a:p>
          <a:p>
            <a:r>
              <a:rPr lang="ko-KR" altLang="en-US" dirty="0"/>
              <a:t>사용자가 질문하면 의도를 분석하고, 모호하면 되묻습니다. 명확해지면 엔티티 추출, 온톨로지 매핑, 테이블·컬럼 선정을 거쳐 SQL을 생성하고 검증합니다. 검증에 실패하면 재생성하고, 통과하면 Data Hub에서 조회한 뒤 결과를 해석해 보여줍니다.</a:t>
            </a:r>
          </a:p>
          <a:p>
            <a:endParaRPr lang="ko-KR" altLang="en-US" dirty="0"/>
          </a:p>
          <a:p>
            <a:r>
              <a:rPr lang="ko-KR" altLang="en-US" dirty="0"/>
              <a:t>핵심은 주황색 점선으로 표시한 구간입니다. 엔티티 추출부터 테이블·컬럼 선정까지, 즉 "어떤 테이블을 쓸 것인가"를 정하는 구간이 가장 큰 병목입니다. 테이블이 약 9,000개라 LLM에게 전부 보여줄 수도 없고, 이름만으로는 사용자 용어와 연결되지 않기 때문입니다.</a:t>
            </a:r>
          </a:p>
          <a:p>
            <a:endParaRPr lang="ko-KR" altLang="en-US" dirty="0"/>
          </a:p>
          <a:p>
            <a:r>
              <a:rPr lang="ko-KR" altLang="en-US" dirty="0"/>
              <a:t>그래서 해법의 방향은 사용자 용어와 테이블을 잇는 온톨로지, 즉 지식그래프를 이 구간에 적용하는 것입니다.</a:t>
            </a:r>
          </a:p>
          <a:p>
            <a:r>
              <a:rPr lang="ko-KR" altLang="en-US" dirty="0"/>
              <a:t>그 근거가 되는 논문이 오른쪽 아래의 Nascimento 등의 2026년 DKE 논문입니다.</a:t>
            </a:r>
          </a:p>
          <a:p>
            <a:endParaRPr lang="ko-KR" altLang="en-US" dirty="0"/>
          </a:p>
          <a:p>
            <a:r>
              <a:rPr lang="ko-KR" altLang="en-US" dirty="0"/>
              <a:t>[전환] 이 논문을 먼저 리뷰하겠습니다.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핵심 논문입니다. Data &amp; Knowledge Engineering 2026년에 게재된 "A Text-to-SQL Strategy Based on LLMs and Knowledge Graphs for Real-World Databases"입니다.</a:t>
            </a:r>
          </a:p>
          <a:p>
            <a:endParaRPr lang="ko-KR" altLang="en-US" dirty="0"/>
          </a:p>
          <a:p>
            <a:r>
              <a:rPr lang="ko-KR" altLang="en-US" dirty="0"/>
              <a:t>이 논문의 문제의식은 우리와 같습니다. Spider나 BIRD 같은 벤치마크에서는 잘 되는데, 실제 산업 DB에서는 성능이 떨어진다는 것입니다. 원인은 사용자가 쓰는 업무 용어와 DB의 테이블·컬럼 이름 사이의 간극입니다.</a:t>
            </a:r>
          </a:p>
          <a:p>
            <a:endParaRPr lang="ko-KR" altLang="en-US" dirty="0"/>
          </a:p>
          <a:p>
            <a:r>
              <a:rPr lang="ko-KR" altLang="en-US" dirty="0"/>
              <a:t>해법은 위의 4단계 파이프라인입니다.</a:t>
            </a:r>
          </a:p>
          <a:p>
            <a:r>
              <a:rPr lang="ko-KR" altLang="en-US" dirty="0"/>
              <a:t>첫째, Schema linking에서 질문의 키워드를 뽑아 지식그래프의 사전과 값 색인에 매칭해 필요한 클래스를 고릅니다.</a:t>
            </a:r>
          </a:p>
          <a:p>
            <a:r>
              <a:rPr lang="ko-KR" altLang="en-US" dirty="0"/>
              <a:t>둘째, 주황색으로 표시한 View 합성이 이 논문의 핵심입니다. 고른 클래스를 Steiner tree로 연결해 Join이 이미 들어간 View를 만듭니다.</a:t>
            </a:r>
          </a:p>
          <a:p>
            <a:r>
              <a:rPr lang="ko-KR" altLang="en-US" dirty="0"/>
              <a:t>셋째, 복합 질문을 하위 질문으로 나누고, 넷째, LLM은 그 View 위에서만 SQL을 씁니다.</a:t>
            </a:r>
          </a:p>
          <a:p>
            <a:endParaRPr lang="ko-KR" altLang="en-US" dirty="0"/>
          </a:p>
          <a:p>
            <a:r>
              <a:rPr lang="ko-KR" altLang="en-US" dirty="0"/>
              <a:t>실험은 에너지 기업의 설비 관리 Oracle DB, 27개 테이블과 585개 컬럼으로 진행했습니다. Schema linking F1이 0.851에서 0.996으로, 전체 정확도가 0.84에서 약 0.93으로 올랐습니다.</a:t>
            </a:r>
          </a:p>
          <a:p>
            <a:endParaRPr lang="ko-KR" altLang="en-US" dirty="0"/>
          </a:p>
          <a:p>
            <a:r>
              <a:rPr lang="ko-KR" altLang="en-US" dirty="0"/>
              <a:t>[전환] 이제 이 논문의 기법을 우리 과제의 단계별로 적용해 보겠습니다. 다음 네 장은 왼쪽에 논문, 오른쪽에 우리 적용 방안을 놓았습니다.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첫 번째 단계, 엔티티 추출입니다.</a:t>
            </a:r>
          </a:p>
          <a:p>
            <a:endParaRPr lang="ko-KR" altLang="en-US" dirty="0"/>
          </a:p>
          <a:p>
            <a:r>
              <a:rPr lang="ko-KR" altLang="en-US" dirty="0"/>
              <a:t>왼쪽 논문에서는 LLM이 질문에서 키워드를 뽑고, 이를 두 개의 사전에 대조합니다. 하나는 클래스와 속성 이름, 동의어를 담은 메타데이터 사전이고, 다른 하나는 실제 값 색인입니다.</a:t>
            </a:r>
          </a:p>
          <a:p>
            <a:r>
              <a:rPr lang="ko-KR" altLang="en-US" dirty="0"/>
              <a:t>주황색으로 표시한 값 색인이 중요한데, 설비명이나 코드 같은 실제 값 약 110만 건을 색인해 둡니다. 그래서 LLM이 DB 안의 값을 직접 보지 못해도 질문 속 단어를 데이터에 연결할 수 있습니다.</a:t>
            </a:r>
          </a:p>
          <a:p>
            <a:endParaRPr lang="ko-KR" altLang="en-US" dirty="0"/>
          </a:p>
          <a:p>
            <a:r>
              <a:rPr lang="ko-KR" altLang="en-US" dirty="0"/>
              <a:t>오른쪽은 Data Hub 적용 방안입니다. 예를 들어 "A라인", "Etch"는 값 색인에서, "PM"은 동의어 사전에서 예방정비로 찾고, "어제"는 기간 규칙으로 처리합니다.</a:t>
            </a:r>
          </a:p>
          <a:p>
            <a:r>
              <a:rPr lang="ko-KR" altLang="en-US" dirty="0"/>
              <a:t>다만 Lot ID처럼 개수가 너무 많은 값은 색인하지 않고 형식 패턴으로 인식합니다.</a:t>
            </a:r>
          </a:p>
          <a:p>
            <a:r>
              <a:rPr lang="ko-KR" altLang="en-US" dirty="0"/>
              <a:t>그리고 Data Hub는 마스터 테이블 변경이 이미 CDC로 실시간 들어오기 때문에, 색인을 증분으로 최신 상태로 유지할 수 있다는 장점이 있습니다.</a:t>
            </a:r>
          </a:p>
          <a:p>
            <a:endParaRPr lang="ko-KR" altLang="en-US" dirty="0"/>
          </a:p>
          <a:p>
            <a:r>
              <a:rPr lang="ko-KR" altLang="en-US" dirty="0"/>
              <a:t>[전환] 다음은 찾은 엔티티를 테이블과 연결하는 온톨로지 매핑입니다.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두 번째 단계, 온톨로지 매핑입니다.</a:t>
            </a:r>
          </a:p>
          <a:p>
            <a:endParaRPr lang="ko-KR" altLang="en-US" dirty="0"/>
          </a:p>
          <a:p>
            <a:r>
              <a:rPr lang="ko-KR" altLang="en-US" dirty="0"/>
              <a:t>논문의 핵심 원칙은 주황색 박스에 있습니다. 지식그래프의 클래스와 속성 이름을 테이블명이 아니라 사용자가 실제로 쓰는 말로 짓습니다. 예를 들어 "설비"라는 클래스에 장비, 자산 같은 동의어와 검색 우선순위를 붙입니다.</a:t>
            </a:r>
          </a:p>
          <a:p>
            <a:r>
              <a:rPr lang="ko-KR" altLang="en-US" dirty="0"/>
              <a:t>그리고 이 지식그래프와 실제 스키마는 분리해 두고, 매핑으로만 연결합니다. 오른쪽 회색 박스처럼 TB_ASSET_M의 ASSET_NM 컬럼이 "설비명"에 매핑되는 식입니다.</a:t>
            </a:r>
          </a:p>
          <a:p>
            <a:r>
              <a:rPr lang="ko-KR" altLang="en-US" dirty="0"/>
              <a:t>이렇게 하면 LLM은 알아보기 어려운 테이블명 대신 업무 용어를 보고 판단합니다.</a:t>
            </a:r>
          </a:p>
          <a:p>
            <a:endParaRPr lang="ko-KR" altLang="en-US" dirty="0"/>
          </a:p>
          <a:p>
            <a:r>
              <a:rPr lang="ko-KR" altLang="en-US" dirty="0"/>
              <a:t>오른쪽은 반도체 제조 온톨로지 예시입니다. Lot, Wafer, 공정 Step, 설비, 설비 이벤트, 계측 결과를 클래스로 두고 진행, 수행, 발생 같은 관계로 잇습니다. 이 구성은 예시이고 실제 조사 후 확정할 예정입니다.</a:t>
            </a:r>
          </a:p>
          <a:p>
            <a:r>
              <a:rPr lang="ko-KR" altLang="en-US" dirty="0"/>
              <a:t>구축 비용을 줄이기 위해 테이블 정의서와 쿼리 로그로 매핑 초안을 자동으로 만들고 현업이 검수하는 방식을 생각하고 있습니다.</a:t>
            </a:r>
          </a:p>
          <a:p>
            <a:endParaRPr lang="ko-KR" altLang="en-US" dirty="0"/>
          </a:p>
          <a:p>
            <a:r>
              <a:rPr lang="ko-KR" altLang="en-US" dirty="0"/>
              <a:t>[전환] 다음은 실제 테이블과 Join 경로를 확정하는 단계입니다.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세 번째 단계, 테이블·컬럼 선정입니다. 논문에서 가장 독창적인 부분입니다.</a:t>
            </a:r>
          </a:p>
          <a:p>
            <a:endParaRPr lang="ko-KR" altLang="en-US" dirty="0"/>
          </a:p>
          <a:p>
            <a:r>
              <a:rPr lang="ko-KR" altLang="en-US" dirty="0"/>
              <a:t>왼쪽 그림에서 굵은 테두리는 LLM이 고른 클래스입니다. 시설, 유형, 검사 결과를 골랐는데 이들은 직접 연결되어 있지 않습니다. 이때 Steiner tree 알고리즘이 이들을 잇는 최소 경로를 찾으면서, 주황색 점선처럼 설비와 검사라는 중간 연결 클래스를 자동으로 넣어 줍니다.</a:t>
            </a:r>
          </a:p>
          <a:p>
            <a:r>
              <a:rPr lang="ko-KR" altLang="en-US" dirty="0"/>
              <a:t>그 결과를 Join이 모두 담긴 하나의 View로 만들어 주기 때문에, LLM은 Join을 고민할 필요 없이 단순한 SQL만 쓰면 됩니다. Join은 그래프가, SQL 작성은 LLM이 나눠 맡는 구조입니다.</a:t>
            </a:r>
          </a:p>
          <a:p>
            <a:endParaRPr lang="ko-KR" altLang="en-US" dirty="0"/>
          </a:p>
          <a:p>
            <a:r>
              <a:rPr lang="ko-KR" altLang="en-US" dirty="0"/>
              <a:t>오른쪽은 Data Hub 적용 시 고려할 차이점입니다.</a:t>
            </a:r>
          </a:p>
          <a:p>
            <a:r>
              <a:rPr lang="ko-KR" altLang="en-US" dirty="0"/>
              <a:t>CDC로 복제된 테이블에는 FK가 없을 가능성이 커서, 쿼리 로그의 Join 패턴으로 그래프 간선을 만들어야 합니다.</a:t>
            </a:r>
          </a:p>
          <a:p>
            <a:r>
              <a:rPr lang="ko-KR" altLang="en-US" dirty="0"/>
              <a:t>"PM 이후 진행한 Lot"처럼 키가 아니라 시간 범위로 잇는 Join은 관계에 조건 템플릿으로 정의합니다.</a:t>
            </a:r>
          </a:p>
          <a:p>
            <a:r>
              <a:rPr lang="ko-KR" altLang="en-US" dirty="0"/>
              <a:t>그리고 가장 큰 차이는 규모입니다. 논문은 27개, 우리는 약 9,000개 테이블이라 이 부분은 뒤에서 도메인 라우팅으로 보완합니다.</a:t>
            </a:r>
          </a:p>
          <a:p>
            <a:endParaRPr lang="ko-KR" altLang="en-US" dirty="0"/>
          </a:p>
          <a:p>
            <a:r>
              <a:rPr lang="ko-KR" altLang="en-US" dirty="0"/>
              <a:t>[전환] 마지막 단계인 SQL 생성입니다.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네 번째 단계, SQL 생성입니다.</a:t>
            </a:r>
          </a:p>
          <a:p>
            <a:endParaRPr lang="ko-KR" altLang="en-US" dirty="0"/>
          </a:p>
          <a:p>
            <a:r>
              <a:rPr lang="ko-KR" altLang="en-US" dirty="0"/>
              <a:t>논문에서는 먼저 복합 질문을 하위 질문으로 나누고, 하위 질문마다 비슷한 예시를 few-shot으로 검색해 붙입니다.</a:t>
            </a:r>
          </a:p>
          <a:p>
            <a:r>
              <a:rPr lang="ko-KR" altLang="en-US" dirty="0"/>
              <a:t>그 다음 주황색 박스처럼 LLM은 View 기준으로 Join 없는 단순한 SQL만 작성합니다. 이 SQL을 실제 테이블 기준으로 바꾸는 일은 규칙이 WITH 절로 처리합니다. LLM이 아니라 규칙이 처리하니 이 단계에서는 새로운 오류가 생기지 않습니다.</a:t>
            </a:r>
          </a:p>
          <a:p>
            <a:endParaRPr lang="ko-KR" altLang="en-US" dirty="0"/>
          </a:p>
          <a:p>
            <a:r>
              <a:rPr lang="ko-KR" altLang="en-US" dirty="0"/>
              <a:t>오른쪽은 반도체 질의 예시입니다. "어제 A라인 Etch 설비 PM 이후 진행한 Lot 중 수율이 떨어진 Lot"은 "PM 이후 진행 Lot"과 "수율 하락 판정" 두 개의 하위 질문으로 나뉩니다.</a:t>
            </a:r>
          </a:p>
          <a:p>
            <a:r>
              <a:rPr lang="ko-KR" altLang="en-US" dirty="0"/>
              <a:t>Data Hub에서는 초기에 온톨로지로 few-shot 예시를 합성하고, 운영하면서 검증된 질의를 피드백 로그에서 승격시킵니다.</a:t>
            </a:r>
          </a:p>
          <a:p>
            <a:r>
              <a:rPr lang="ko-KR" altLang="en-US" dirty="0"/>
              <a:t>또 Exadata 성능을 위해 기간 조건을 필수로 하고, 기간 조건을 안쪽 이력 테이블까지 내려 넣어 파티션 범위를 한정하도록 했습니다.</a:t>
            </a:r>
          </a:p>
          <a:p>
            <a:endParaRPr lang="ko-KR" altLang="en-US" dirty="0"/>
          </a:p>
          <a:p>
            <a:r>
              <a:rPr lang="ko-KR" altLang="en-US" dirty="0"/>
              <a:t>[전환] 여기까지가 논문의 직접 적용입니다. 하지만 한 가지 큰 차이가 남아 있습니다.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바로 규모입니다. 논문의 DB는 27개 테이블, Data Hub는 약 9,000개로 약 330배 차이가 납니다. 이 정도 규모를 하나의 지식그래프로 다루기는 어렵습니다.</a:t>
            </a:r>
          </a:p>
          <a:p>
            <a:endParaRPr lang="ko-KR" altLang="en-US" dirty="0"/>
          </a:p>
          <a:p>
            <a:r>
              <a:rPr lang="ko-KR" altLang="en-US" dirty="0"/>
              <a:t>그래서 프로세스를 보완했습니다. 주황색으로 표시한 것처럼 엔티티 추출 앞에 "도메인 라우팅" 단계를 새로 추가했습니다.</a:t>
            </a:r>
          </a:p>
          <a:p>
            <a:r>
              <a:rPr lang="ko-KR" altLang="en-US" dirty="0"/>
              <a:t>질문이 들어오면 먼저 어느 원천 시스템, 어느 업무 도메인에 해당하는지를 골라, 검색 범위를 수십에서 수백 개 테이블로 좁힙니다. 그러면 그 범위 안에서는 앞서 설명한 Nascimento의 방식을 그대로 쓸 수 있습니다.</a:t>
            </a:r>
          </a:p>
          <a:p>
            <a:endParaRPr lang="ko-KR" altLang="en-US" dirty="0"/>
          </a:p>
          <a:p>
            <a:r>
              <a:rPr lang="ko-KR" altLang="en-US" dirty="0"/>
              <a:t>이 단계가 참조하는 메타데이터가 도메인 카탈로그입니다. 도메인마다 설명, 대표 테이블, 주요 엔티티를 정리해 둔 것입니다.</a:t>
            </a:r>
          </a:p>
          <a:p>
            <a:endParaRPr lang="ko-KR" altLang="en-US" dirty="0"/>
          </a:p>
          <a:p>
            <a:r>
              <a:rPr lang="ko-KR" altLang="en-US" dirty="0"/>
              <a:t>그렇다면 도메인을 어떻게 만들고, 질문이 들어왔을 때 어떻게 고를까요? 여기에 각각 근거가 되는 논문 두 편을 참고했습니다. 도메인을 만드는 데는 LinkedIn 사례를, 도메인을 고르는 데는 LinkAlign을 참고했습니다.</a:t>
            </a:r>
          </a:p>
          <a:p>
            <a:endParaRPr lang="ko-KR" altLang="en-US" dirty="0"/>
          </a:p>
          <a:p>
            <a:r>
              <a:rPr lang="ko-KR" altLang="en-US" dirty="0"/>
              <a:t>[전환] 먼저 도메인 구성입니다.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도메인 구성 단계입니다.</a:t>
            </a:r>
          </a:p>
          <a:p>
            <a:endParaRPr lang="ko-KR" altLang="en-US" dirty="0"/>
          </a:p>
          <a:p>
            <a:r>
              <a:rPr lang="ko-KR" altLang="en-US" dirty="0"/>
              <a:t>왼쪽은 LinkedIn이 KDD 2025 워크숍에서 발표한 사례입니다. 테이블 메타데이터뿐 아니라 쿼리 로그, 사내 위키, 코드까지 지식그래프로 모았고, 주황색으로 표시한 것처럼 클러스터링으로 팀과 제품 영역별로 테이블을 묶어 검색 범위를 좁혔습니다.</a:t>
            </a:r>
          </a:p>
          <a:p>
            <a:r>
              <a:rPr lang="ko-KR" altLang="en-US" dirty="0"/>
              <a:t>실제 운영 중인 시스템으로 주간 사용자가 300명이 넘고, 전문가 평가에서 정답 또는 근접한 답변이 53%였습니다. 실운영 환경에서의 현실적인 수치라는 점에서 의미가 있습니다.</a:t>
            </a:r>
          </a:p>
          <a:p>
            <a:endParaRPr lang="ko-KR" altLang="en-US" dirty="0"/>
          </a:p>
          <a:p>
            <a:r>
              <a:rPr lang="ko-KR" altLang="en-US" dirty="0"/>
              <a:t>오른쪽은 이를 Data Hub에 맞게 바꾼 오프라인 4단계입니다.</a:t>
            </a:r>
          </a:p>
          <a:p>
            <a:r>
              <a:rPr lang="ko-KR" altLang="en-US" dirty="0"/>
              <a:t>먼저 CDC 출처로 원천 시스템별로 1차 구분합니다. 그 다음 Lot이나 설비 마스터처럼 어디서나 쓰이는 허브 테이블을 따로 뺍니다. 이걸 빼지 않으면 모든 테이블이 한 덩어리로 뭉치기 때문입니다.</a:t>
            </a:r>
          </a:p>
          <a:p>
            <a:r>
              <a:rPr lang="ko-KR" altLang="en-US" dirty="0"/>
              <a:t>남은 테이블을 함께 Join된 이력으로 클러스터링하고, 마지막으로 LLM이 도메인마다 설명을 작성해 도메인 카탈로그를 만듭니다.</a:t>
            </a:r>
          </a:p>
          <a:p>
            <a:endParaRPr lang="ko-KR" altLang="en-US" dirty="0"/>
          </a:p>
          <a:p>
            <a:r>
              <a:rPr lang="ko-KR" altLang="en-US" dirty="0"/>
              <a:t>[전환] 이렇게 만든 도메인을 질문이 들어왔을 때 어떻게 고르는지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도메인 선택 단계입니다.</a:t>
            </a:r>
          </a:p>
          <a:p>
            <a:endParaRPr lang="ko-KR" altLang="en-US" dirty="0"/>
          </a:p>
          <a:p>
            <a:r>
              <a:rPr lang="ko-KR" altLang="en-US" dirty="0"/>
              <a:t>왼쪽의 LinkAlign은 EMNLP 2025 논문으로, 여러 DB가 있는 대규모 환경에서 문제를 두 개로 나눴습니다. 먼저 맞는 DB를 고르는 DB 검색, 그 다음 DB 안에서 테이블과 컬럼을 찾는 스키마 그라운딩입니다.</a:t>
            </a:r>
          </a:p>
          <a:p>
            <a:r>
              <a:rPr lang="ko-KR" altLang="en-US" dirty="0"/>
              <a:t>우리가 참고하는 부분은 주황색으로 표시한 DB 검색입니다. 질문을 보강하며 여러 번 검색하고, 관련 없는 후보를 걸러냅니다. 오픈소스 LLM만으로 Spider 2.0-Lite에서 제출 당시 1위를 했습니다.</a:t>
            </a:r>
          </a:p>
          <a:p>
            <a:endParaRPr lang="ko-KR" altLang="en-US" dirty="0"/>
          </a:p>
          <a:p>
            <a:r>
              <a:rPr lang="ko-KR" altLang="en-US" dirty="0"/>
              <a:t>오른쪽은 Data Hub 적용입니다. 원천 시스템 후보를 먼저 찾고, 질문을 보강해 상위 도메인 k개를 고른 뒤, 관련 없는 도메인을 뺍니다. 확신도가 낮으면 인접 도메인까지 넓혀 탐색합니다.</a:t>
            </a:r>
          </a:p>
          <a:p>
            <a:r>
              <a:rPr lang="ko-KR" altLang="en-US" dirty="0"/>
              <a:t>설비 이벤트와 Lot 이력처럼 도메인을 넘나드는 질문이 많기 때문에, 하나가 아니라 상위 2~3개 도메인을 함께 선택합니다.</a:t>
            </a:r>
          </a:p>
          <a:p>
            <a:endParaRPr lang="ko-KR" altLang="en-US" dirty="0"/>
          </a:p>
          <a:p>
            <a:r>
              <a:rPr lang="ko-KR" altLang="en-US" dirty="0"/>
              <a:t>검증 지표는 Routing recall@k이고 목표는 95% 이상입니다. 라우팅에서 빠진 테이블은 뒤 단계에서 되살릴 수 없기 때문에, 이 수치가 전체 정확도의 상한이 됩니다.</a:t>
            </a:r>
          </a:p>
          <a:p>
            <a:endParaRPr lang="ko-KR" altLang="en-US" dirty="0"/>
          </a:p>
          <a:p>
            <a:r>
              <a:rPr lang="ko-KR" altLang="en-US" dirty="0"/>
              <a:t>정리하겠습니다. Text2SQL의 병목은 SQL 작성이 아니라 테이블을 찾는 일입니다. 도메인 라우팅으로 범위를 좁히고, 지식그래프와 View 합성으로 정확한 테이블과 Join을 찾는 것이 오늘 제안한 Table Retrieval Engineering입니다.</a:t>
            </a:r>
          </a:p>
          <a:p>
            <a:r>
              <a:rPr lang="ko-KR" altLang="en-US" dirty="0"/>
              <a:t>다음 단계로는 Lot 추적 같은 하나의 도메인에서 PoC를 진행해 논문 수치와 비교해 볼 계획입니다.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11274552" cy="292608"/>
          </a:xfrm>
          <a:prstGeom prst="rect">
            <a:avLst/>
          </a:prstGeom>
          <a:noFill/>
          <a:ln/>
        </p:spPr>
        <p:txBody>
          <a:bodyPr wrap="square" rtlCol="0"/>
          <a:lstStyle>
            <a:lvl1pPr marL="0" indent="0">
              <a:buNone/>
              <a:defRPr lang="en-US" sz="1100" b="1" dirty="0">
                <a:solidFill>
                  <a:srgbClr val="6B6B6B"/>
                </a:solidFill>
                <a:latin typeface="Malgun Gothic" pitchFamily="34" charset="0"/>
                <a:ea typeface="Malgun Gothic" pitchFamily="34" charset="-122"/>
                <a:cs typeface="Malgun Gothic" pitchFamily="34" charset="-120"/>
              </a:defRPr>
            </a:lvl1pPr>
          </a:lstStyle>
          <a:p>
            <a:pPr marL="0" indent="0">
              <a:buNone/>
            </a:pPr>
            <a:endParaRPr lang="en-US" sz="1100" dirty="0"/>
          </a:p>
        </p:txBody>
      </p:sp>
      <p:sp>
        <p:nvSpPr>
          <p:cNvPr id="3" name="Text 0"/>
          <p:cNvSpPr>
            <a:spLocks noGrp="1"/>
          </p:cNvSpPr>
          <p:nvPr>
            <p:ph type="title" idx="101" hasCustomPrompt="1"/>
          </p:nvPr>
        </p:nvSpPr>
        <p:spPr>
          <a:xfrm>
            <a:off x="457200" y="512064"/>
            <a:ext cx="11274552" cy="768096"/>
          </a:xfrm>
          <a:prstGeom prst="rect">
            <a:avLst/>
          </a:prstGeom>
          <a:noFill/>
          <a:ln/>
        </p:spPr>
        <p:txBody>
          <a:bodyPr wrap="square" rtlCol="0"/>
          <a:lstStyle>
            <a:lvl1pPr marL="0" indent="0" algn="l">
              <a:buNone/>
              <a:defRPr lang="en-US" sz="2100" b="1" dirty="0">
                <a:solidFill>
                  <a:schemeClr val="tx1"/>
                </a:solidFill>
                <a:latin typeface="Malgun Gothic" pitchFamily="34" charset="0"/>
                <a:ea typeface="Malgun Gothic" pitchFamily="34" charset="-122"/>
                <a:cs typeface="Malgun Gothic" pitchFamily="34" charset="-120"/>
              </a:defRPr>
            </a:lvl1pPr>
          </a:lstStyle>
          <a:p>
            <a:pPr marL="0" indent="0" algn="l">
              <a:buNone/>
            </a:pPr>
            <a:endParaRPr lang="en-US" sz="2100" dirty="0"/>
          </a:p>
        </p:txBody>
      </p:sp>
      <p:sp>
        <p:nvSpPr>
          <p:cNvPr id="4" name="Text 0"/>
          <p:cNvSpPr>
            <a:spLocks noGrp="1"/>
          </p:cNvSpPr>
          <p:nvPr>
            <p:ph type="body" idx="102" hasCustomPrompt="1"/>
          </p:nvPr>
        </p:nvSpPr>
        <p:spPr>
          <a:xfrm>
            <a:off x="457200" y="6419088"/>
            <a:ext cx="10241280" cy="256032"/>
          </a:xfrm>
          <a:prstGeom prst="rect">
            <a:avLst/>
          </a:prstGeom>
          <a:noFill/>
          <a:ln/>
        </p:spPr>
        <p:txBody>
          <a:bodyPr wrap="square" rtlCol="0"/>
          <a:lstStyle>
            <a:lvl1pPr marL="0" indent="0">
              <a:buNone/>
              <a:defRPr lang="en-US" sz="900" dirty="0">
                <a:solidFill>
                  <a:schemeClr val="tx2"/>
                </a:solidFill>
                <a:latin typeface="Malgun Gothic" pitchFamily="34" charset="0"/>
                <a:ea typeface="Malgun Gothic" pitchFamily="34" charset="-122"/>
                <a:cs typeface="Malgun Gothic" pitchFamily="34" charset="-120"/>
              </a:defRPr>
            </a:lvl1pPr>
          </a:lstStyle>
          <a:p>
            <a:pPr marL="0" indent="0">
              <a:buNone/>
            </a:pPr>
            <a:endParaRPr lang="en-US" sz="900" dirty="0"/>
          </a:p>
        </p:txBody>
      </p:sp>
      <p:sp>
        <p:nvSpPr>
          <p:cNvPr id="25" name="Slide Number Placeholder 0"/>
          <p:cNvSpPr>
            <a:spLocks noGrp="1"/>
          </p:cNvSpPr>
          <p:nvPr>
            <p:ph type="sldNum" sz="quarter" idx="4294967295"/>
          </p:nvPr>
        </p:nvSpPr>
        <p:spPr>
          <a:xfrm>
            <a:off x="11183112" y="6419088"/>
            <a:ext cx="54864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6B6B6B"/>
                </a:solidFill>
                <a:latin typeface="Malgun Gothic"/>
                <a:ea typeface="Malgun Gothic"/>
                <a:cs typeface="Malgun Gothic"/>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54864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6B6B6B"/>
                </a:solidFill>
                <a:latin typeface="Malgun Gothic"/>
                <a:ea typeface="Malgun Gothic"/>
                <a:cs typeface="Malgun Gothic"/>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텍스트 개체 틀 3"/>
          <p:cNvSpPr>
            <a:spLocks noGrp="1"/>
          </p:cNvSpPr>
          <p:nvPr>
            <p:ph type="body" idx="100"/>
          </p:nvPr>
        </p:nvSpPr>
        <p:spPr/>
        <p:txBody>
          <a:bodyPr/>
          <a:lstStyle/>
          <a:p>
            <a:r>
              <a:rPr lang="ko-KR" altLang="en-US" smtClean="0"/>
              <a:t>연세대학교 </a:t>
            </a:r>
            <a:r>
              <a:rPr lang="en-US" altLang="ko-KR" smtClean="0"/>
              <a:t>DSS 8</a:t>
            </a:r>
            <a:r>
              <a:rPr lang="ko-KR" altLang="en-US" smtClean="0"/>
              <a:t>기 </a:t>
            </a:r>
            <a:r>
              <a:rPr lang="en-US" altLang="ko-KR" smtClean="0"/>
              <a:t>– Key Paper</a:t>
            </a:r>
            <a:endParaRPr lang="ko-KR" altLang="en-US"/>
          </a:p>
        </p:txBody>
      </p:sp>
      <p:sp>
        <p:nvSpPr>
          <p:cNvPr id="5" name="제목 4"/>
          <p:cNvSpPr>
            <a:spLocks noGrp="1"/>
          </p:cNvSpPr>
          <p:nvPr>
            <p:ph type="title" idx="101"/>
          </p:nvPr>
        </p:nvSpPr>
        <p:spPr>
          <a:xfrm>
            <a:off x="457200" y="2436113"/>
            <a:ext cx="11274552" cy="1459611"/>
          </a:xfrm>
        </p:spPr>
        <p:txBody>
          <a:bodyPr/>
          <a:lstStyle/>
          <a:p>
            <a:pPr algn="ctr">
              <a:lnSpc>
                <a:spcPct val="200000"/>
              </a:lnSpc>
            </a:pPr>
            <a:r>
              <a:rPr lang="en-US" altLang="ko-KR" sz="2800" smtClean="0"/>
              <a:t>Table Retrieval Engineering for Text2SQL</a:t>
            </a:r>
            <a:r>
              <a:rPr lang="en-US" altLang="ko-KR" smtClean="0"/>
              <a:t/>
            </a:r>
            <a:br>
              <a:rPr lang="en-US" altLang="ko-KR" smtClean="0"/>
            </a:br>
            <a:r>
              <a:rPr lang="ko-KR" altLang="en-US" sz="1400" b="0" smtClean="0">
                <a:solidFill>
                  <a:schemeClr val="tx1">
                    <a:lumMod val="50000"/>
                    <a:lumOff val="50000"/>
                  </a:schemeClr>
                </a:solidFill>
              </a:rPr>
              <a:t>지식그래프와 도메인 라우팅으로 </a:t>
            </a:r>
            <a:r>
              <a:rPr lang="en-US" altLang="ko-KR" sz="1400" b="0" smtClean="0">
                <a:solidFill>
                  <a:schemeClr val="tx1">
                    <a:lumMod val="50000"/>
                    <a:lumOff val="50000"/>
                  </a:schemeClr>
                </a:solidFill>
              </a:rPr>
              <a:t>9000</a:t>
            </a:r>
            <a:r>
              <a:rPr lang="ko-KR" altLang="en-US" sz="1400" b="0" smtClean="0">
                <a:solidFill>
                  <a:schemeClr val="tx1">
                    <a:lumMod val="50000"/>
                    <a:lumOff val="50000"/>
                  </a:schemeClr>
                </a:solidFill>
              </a:rPr>
              <a:t>개 테이블에서 정답찾기</a:t>
            </a:r>
            <a:endParaRPr lang="ko-KR" altLang="en-US" b="0">
              <a:solidFill>
                <a:schemeClr val="tx1">
                  <a:lumMod val="50000"/>
                  <a:lumOff val="50000"/>
                </a:schemeClr>
              </a:solidFill>
            </a:endParaRPr>
          </a:p>
        </p:txBody>
      </p:sp>
      <p:sp>
        <p:nvSpPr>
          <p:cNvPr id="112" name="제목 4"/>
          <p:cNvSpPr txBox="1">
            <a:spLocks/>
          </p:cNvSpPr>
          <p:nvPr/>
        </p:nvSpPr>
        <p:spPr>
          <a:xfrm>
            <a:off x="8801100" y="5551547"/>
            <a:ext cx="2549652" cy="678562"/>
          </a:xfrm>
          <a:prstGeom prst="rect">
            <a:avLst/>
          </a:prstGeom>
          <a:noFill/>
          <a:ln/>
        </p:spPr>
        <p:txBody>
          <a:bodyPr wrap="square" rtlCol="0"/>
          <a:lstStyle>
            <a:lvl1pPr marL="0" indent="0" algn="l" defTabSz="914400" rtl="0" eaLnBrk="1" latinLnBrk="0" hangingPunct="1">
              <a:spcBef>
                <a:spcPct val="0"/>
              </a:spcBef>
              <a:buNone/>
              <a:defRPr lang="en-US" sz="2100" b="1" kern="1200" dirty="0">
                <a:solidFill>
                  <a:schemeClr val="tx1"/>
                </a:solidFill>
                <a:latin typeface="Malgun Gothic" pitchFamily="34" charset="0"/>
                <a:ea typeface="Malgun Gothic" pitchFamily="34" charset="-122"/>
                <a:cs typeface="Malgun Gothic" pitchFamily="34" charset="-120"/>
              </a:defRPr>
            </a:lvl1pPr>
          </a:lstStyle>
          <a:p>
            <a:pPr algn="ctr">
              <a:lnSpc>
                <a:spcPct val="200000"/>
              </a:lnSpc>
            </a:pPr>
            <a:r>
              <a:rPr lang="en-US" altLang="ko-KR" sz="1400" b="0" smtClean="0"/>
              <a:t>AI/Data Platform </a:t>
            </a:r>
            <a:r>
              <a:rPr lang="ko-KR" altLang="en-US" sz="1400" b="0" smtClean="0"/>
              <a:t>박재승</a:t>
            </a:r>
            <a:endParaRPr lang="ko-KR" altLang="en-US" sz="1400" b="0">
              <a:solidFill>
                <a:schemeClr val="tx1">
                  <a:lumMod val="50000"/>
                  <a:lumOff val="50000"/>
                </a:schemeClr>
              </a:solidFill>
            </a:endParaRPr>
          </a:p>
        </p:txBody>
      </p:sp>
    </p:spTree>
    <p:extLst>
      <p:ext uri="{BB962C8B-B14F-4D97-AF65-F5344CB8AC3E}">
        <p14:creationId xmlns:p14="http://schemas.microsoft.com/office/powerpoint/2010/main" val="5600803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11274552" cy="292608"/>
          </a:xfrm>
          <a:prstGeom prst="rect">
            <a:avLst/>
          </a:prstGeom>
          <a:noFill/>
          <a:ln/>
        </p:spPr>
        <p:txBody>
          <a:bodyPr wrap="square" lIns="0" tIns="0" rIns="0" bIns="0" rtlCol="0" anchor="ctr"/>
          <a:lstStyle/>
          <a:p>
            <a:pPr marL="0" indent="0">
              <a:buNone/>
            </a:pPr>
            <a:r>
              <a:rPr lang="ko-KR" altLang="en-US" sz="1100" smtClean="0">
                <a:solidFill>
                  <a:srgbClr val="6B6B6B"/>
                </a:solidFill>
              </a:rPr>
              <a:t>업무 설명 </a:t>
            </a:r>
            <a:r>
              <a:rPr lang="en-US" altLang="ko-KR" sz="1100" smtClean="0">
                <a:solidFill>
                  <a:srgbClr val="6B6B6B"/>
                </a:solidFill>
              </a:rPr>
              <a:t>– Data Platform</a:t>
            </a:r>
            <a:endParaRPr lang="en-US" sz="1100" dirty="0"/>
          </a:p>
        </p:txBody>
      </p:sp>
      <p:sp>
        <p:nvSpPr>
          <p:cNvPr id="3" name="Text 0"/>
          <p:cNvSpPr>
            <a:spLocks noGrp="1"/>
          </p:cNvSpPr>
          <p:nvPr>
            <p:ph type="title" idx="101" hasCustomPrompt="1"/>
          </p:nvPr>
        </p:nvSpPr>
        <p:spPr>
          <a:xfrm>
            <a:off x="457200" y="512064"/>
            <a:ext cx="11274552" cy="768096"/>
          </a:xfrm>
          <a:prstGeom prst="rect">
            <a:avLst/>
          </a:prstGeom>
          <a:noFill/>
          <a:ln/>
        </p:spPr>
        <p:txBody>
          <a:bodyPr wrap="square" lIns="0" tIns="0" rIns="0" bIns="0" rtlCol="0" anchor="ctr"/>
          <a:lstStyle/>
          <a:p>
            <a:r>
              <a:rPr lang="en-US" smtClean="0"/>
              <a:t>SK</a:t>
            </a:r>
            <a:r>
              <a:rPr lang="ko-KR" altLang="en-US" smtClean="0"/>
              <a:t>하이닉스 </a:t>
            </a:r>
            <a:r>
              <a:rPr lang="en-US" altLang="ko-KR" smtClean="0">
                <a:solidFill>
                  <a:srgbClr val="C00000"/>
                </a:solidFill>
              </a:rPr>
              <a:t>Data Platform</a:t>
            </a:r>
            <a:endParaRPr lang="ko-KR" altLang="en-US">
              <a:solidFill>
                <a:srgbClr val="C00000"/>
              </a:solidFill>
            </a:endParaRPr>
          </a:p>
        </p:txBody>
      </p:sp>
      <p:sp>
        <p:nvSpPr>
          <p:cNvPr id="161" name="텍스트 개체 틀 160"/>
          <p:cNvSpPr>
            <a:spLocks noGrp="1"/>
          </p:cNvSpPr>
          <p:nvPr>
            <p:ph type="body" idx="102"/>
          </p:nvPr>
        </p:nvSpPr>
        <p:spPr/>
        <p:txBody>
          <a:bodyPr/>
          <a:lstStyle/>
          <a:p>
            <a:endParaRPr lang="ko-KR" altLang="en-US"/>
          </a:p>
        </p:txBody>
      </p:sp>
      <p:sp>
        <p:nvSpPr>
          <p:cNvPr id="162" name="직사각형 161">
            <a:extLst>
              <a:ext uri="{FF2B5EF4-FFF2-40B4-BE49-F238E27FC236}">
                <a16:creationId xmlns:a16="http://schemas.microsoft.com/office/drawing/2014/main" id="{FDB5A00A-1A17-4B51-B315-D437A5721601}"/>
              </a:ext>
            </a:extLst>
          </p:cNvPr>
          <p:cNvSpPr/>
          <p:nvPr/>
        </p:nvSpPr>
        <p:spPr bwMode="gray">
          <a:xfrm>
            <a:off x="7684177" y="2257388"/>
            <a:ext cx="2751298" cy="1876983"/>
          </a:xfrm>
          <a:prstGeom prst="rect">
            <a:avLst/>
          </a:prstGeom>
          <a:pattFill prst="ltUpDiag">
            <a:fgClr>
              <a:schemeClr val="accent1">
                <a:lumMod val="20000"/>
                <a:lumOff val="80000"/>
              </a:schemeClr>
            </a:fgClr>
            <a:bgClr>
              <a:schemeClr val="bg1"/>
            </a:bgClr>
          </a:patt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rtlCol="0" anchor="t" anchorCtr="0"/>
          <a:lstStyle/>
          <a:p>
            <a:pPr algn="ctr"/>
            <a:r>
              <a:rPr lang="nl-NL" sz="1200" b="1">
                <a:solidFill>
                  <a:schemeClr val="tx1"/>
                </a:solidFill>
                <a:latin typeface="맑은 고딕" panose="020B0503020000020004" pitchFamily="50" charset="-127"/>
                <a:ea typeface="맑은 고딕" panose="020B0503020000020004" pitchFamily="50" charset="-127"/>
              </a:rPr>
              <a:t>Data Hub </a:t>
            </a:r>
            <a:r>
              <a:rPr lang="nl-NL" sz="1200" b="1" dirty="0">
                <a:solidFill>
                  <a:schemeClr val="tx1"/>
                </a:solidFill>
                <a:latin typeface="맑은 고딕" panose="020B0503020000020004" pitchFamily="50" charset="-127"/>
                <a:ea typeface="맑은 고딕" panose="020B0503020000020004" pitchFamily="50" charset="-127"/>
              </a:rPr>
              <a:t>Platform Service</a:t>
            </a:r>
          </a:p>
        </p:txBody>
      </p:sp>
      <p:sp>
        <p:nvSpPr>
          <p:cNvPr id="163" name="직사각형 162">
            <a:extLst>
              <a:ext uri="{FF2B5EF4-FFF2-40B4-BE49-F238E27FC236}">
                <a16:creationId xmlns:a16="http://schemas.microsoft.com/office/drawing/2014/main" id="{FDB5A00A-1A17-4B51-B315-D437A5721601}"/>
              </a:ext>
            </a:extLst>
          </p:cNvPr>
          <p:cNvSpPr/>
          <p:nvPr/>
        </p:nvSpPr>
        <p:spPr bwMode="gray">
          <a:xfrm>
            <a:off x="7746843" y="2593562"/>
            <a:ext cx="2632105" cy="1465553"/>
          </a:xfrm>
          <a:prstGeom prst="rect">
            <a:avLst/>
          </a:prstGeom>
          <a:solidFill>
            <a:srgbClr val="FFFFFF"/>
          </a:solidFill>
          <a:ln w="6350">
            <a:noFill/>
          </a:ln>
        </p:spPr>
        <p:txBody>
          <a:bodyPr vert="horz" wrap="square" lIns="72000" tIns="36000" rIns="72000" bIns="72000" rtlCol="0" anchor="t" anchorCtr="0">
            <a:normAutofit/>
          </a:bodyPr>
          <a:lstStyle/>
          <a:p>
            <a:pPr algn="ctr" defTabSz="727510" latinLnBrk="0">
              <a:spcAft>
                <a:spcPts val="300"/>
              </a:spcAft>
              <a:buSzPct val="100000"/>
              <a:defRPr/>
            </a:pPr>
            <a:endParaRPr lang="nl-NL" sz="1200" b="1"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164" name="자유형 163"/>
          <p:cNvSpPr/>
          <p:nvPr/>
        </p:nvSpPr>
        <p:spPr>
          <a:xfrm>
            <a:off x="3558045" y="3564605"/>
            <a:ext cx="3901195" cy="2565671"/>
          </a:xfrm>
          <a:custGeom>
            <a:avLst/>
            <a:gdLst>
              <a:gd name="connsiteX0" fmla="*/ 2269662 w 3901195"/>
              <a:gd name="connsiteY0" fmla="*/ 0 h 2460442"/>
              <a:gd name="connsiteX1" fmla="*/ 3901195 w 3901195"/>
              <a:gd name="connsiteY1" fmla="*/ 0 h 2460442"/>
              <a:gd name="connsiteX2" fmla="*/ 3901195 w 3901195"/>
              <a:gd name="connsiteY2" fmla="*/ 2460442 h 2460442"/>
              <a:gd name="connsiteX3" fmla="*/ 2269662 w 3901195"/>
              <a:gd name="connsiteY3" fmla="*/ 2460442 h 2460442"/>
              <a:gd name="connsiteX4" fmla="*/ 2269662 w 3901195"/>
              <a:gd name="connsiteY4" fmla="*/ 2458142 h 2460442"/>
              <a:gd name="connsiteX5" fmla="*/ 0 w 3901195"/>
              <a:gd name="connsiteY5" fmla="*/ 2458142 h 2460442"/>
              <a:gd name="connsiteX6" fmla="*/ 0 w 3901195"/>
              <a:gd name="connsiteY6" fmla="*/ 1470214 h 2460442"/>
              <a:gd name="connsiteX7" fmla="*/ 2269662 w 3901195"/>
              <a:gd name="connsiteY7" fmla="*/ 1470214 h 2460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01195" h="2460442">
                <a:moveTo>
                  <a:pt x="2269662" y="0"/>
                </a:moveTo>
                <a:lnTo>
                  <a:pt x="3901195" y="0"/>
                </a:lnTo>
                <a:lnTo>
                  <a:pt x="3901195" y="2460442"/>
                </a:lnTo>
                <a:lnTo>
                  <a:pt x="2269662" y="2460442"/>
                </a:lnTo>
                <a:lnTo>
                  <a:pt x="2269662" y="2458142"/>
                </a:lnTo>
                <a:lnTo>
                  <a:pt x="0" y="2458142"/>
                </a:lnTo>
                <a:lnTo>
                  <a:pt x="0" y="1470214"/>
                </a:lnTo>
                <a:lnTo>
                  <a:pt x="2269662" y="1470214"/>
                </a:lnTo>
                <a:close/>
              </a:path>
            </a:pathLst>
          </a:custGeom>
          <a:solidFill>
            <a:schemeClr val="bg1"/>
          </a:solidFill>
          <a:ln w="6350">
            <a:solidFill>
              <a:srgbClr val="C00000"/>
            </a:solidFill>
            <a:prstDash val="solid"/>
          </a:ln>
        </p:spPr>
        <p:txBody>
          <a:bodyPr vert="horz" wrap="square" lIns="72000" tIns="72000" rIns="72000" bIns="72000" rtlCol="0" anchor="t" anchorCtr="0">
            <a:noAutofit/>
          </a:bodyPr>
          <a:lstStyle/>
          <a:p>
            <a:pPr algn="ctr" defTabSz="727510" latinLnBrk="0">
              <a:spcAft>
                <a:spcPts val="300"/>
              </a:spcAft>
              <a:buSzPct val="100000"/>
            </a:pPr>
            <a:endParaRPr lang="ko-KR" altLang="en-US" sz="1200" b="1" dirty="0">
              <a:solidFill>
                <a:schemeClr val="tx1"/>
              </a:solidFill>
              <a:latin typeface="맑은 고딕" panose="020B0503020000020004" pitchFamily="50" charset="-127"/>
              <a:ea typeface="맑은 고딕" panose="020B0503020000020004" pitchFamily="50" charset="-127"/>
            </a:endParaRPr>
          </a:p>
        </p:txBody>
      </p:sp>
      <p:sp>
        <p:nvSpPr>
          <p:cNvPr id="165" name="직사각형 164"/>
          <p:cNvSpPr/>
          <p:nvPr/>
        </p:nvSpPr>
        <p:spPr>
          <a:xfrm>
            <a:off x="418967" y="1842561"/>
            <a:ext cx="877691" cy="300317"/>
          </a:xfrm>
          <a:prstGeom prst="rect">
            <a:avLst/>
          </a:prstGeom>
          <a:solidFill>
            <a:schemeClr val="bg1">
              <a:lumMod val="6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chorCtr="0"/>
          <a:lstStyle/>
          <a:p>
            <a:pPr algn="ctr"/>
            <a:r>
              <a:rPr lang="ko-KR" altLang="en-US" sz="1200" b="1" dirty="0" smtClean="0">
                <a:solidFill>
                  <a:schemeClr val="bg1"/>
                </a:solidFill>
                <a:latin typeface="맑은 고딕" panose="020B0503020000020004" pitchFamily="50" charset="-127"/>
                <a:ea typeface="맑은 고딕" panose="020B0503020000020004" pitchFamily="50" charset="-127"/>
              </a:rPr>
              <a:t>원천</a:t>
            </a:r>
            <a:endParaRPr lang="en-US" altLang="ko-KR" sz="1200" b="1" dirty="0" smtClean="0">
              <a:solidFill>
                <a:schemeClr val="bg1"/>
              </a:solidFill>
              <a:latin typeface="맑은 고딕" panose="020B0503020000020004" pitchFamily="50" charset="-127"/>
              <a:ea typeface="맑은 고딕" panose="020B0503020000020004" pitchFamily="50" charset="-127"/>
            </a:endParaRPr>
          </a:p>
        </p:txBody>
      </p:sp>
      <p:sp>
        <p:nvSpPr>
          <p:cNvPr id="166" name="직사각형 165"/>
          <p:cNvSpPr/>
          <p:nvPr/>
        </p:nvSpPr>
        <p:spPr>
          <a:xfrm>
            <a:off x="1383215" y="1842561"/>
            <a:ext cx="3471006" cy="300317"/>
          </a:xfrm>
          <a:prstGeom prst="rect">
            <a:avLst/>
          </a:prstGeom>
          <a:solidFill>
            <a:schemeClr val="bg1">
              <a:lumMod val="6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chorCtr="0"/>
          <a:lstStyle/>
          <a:p>
            <a:pPr algn="ctr"/>
            <a:r>
              <a:rPr lang="ko-KR" altLang="en-US" sz="1200" b="1" dirty="0" smtClean="0">
                <a:solidFill>
                  <a:schemeClr val="bg1"/>
                </a:solidFill>
                <a:latin typeface="맑은 고딕" panose="020B0503020000020004" pitchFamily="50" charset="-127"/>
                <a:ea typeface="맑은 고딕" panose="020B0503020000020004" pitchFamily="50" charset="-127"/>
              </a:rPr>
              <a:t>추출 </a:t>
            </a:r>
            <a:r>
              <a:rPr lang="en-US" altLang="ko-KR" sz="1200" b="1" dirty="0" smtClean="0">
                <a:solidFill>
                  <a:schemeClr val="bg1"/>
                </a:solidFill>
                <a:latin typeface="맑은 고딕" panose="020B0503020000020004" pitchFamily="50" charset="-127"/>
              </a:rPr>
              <a:t>· </a:t>
            </a:r>
            <a:r>
              <a:rPr lang="ko-KR" altLang="en-US" sz="1200" b="1" dirty="0" smtClean="0">
                <a:solidFill>
                  <a:schemeClr val="bg1"/>
                </a:solidFill>
                <a:latin typeface="맑은 고딕" panose="020B0503020000020004" pitchFamily="50" charset="-127"/>
                <a:ea typeface="맑은 고딕" panose="020B0503020000020004" pitchFamily="50" charset="-127"/>
              </a:rPr>
              <a:t>변환</a:t>
            </a:r>
            <a:endParaRPr lang="en-US" altLang="ko-KR" sz="1200" b="1" dirty="0" smtClean="0">
              <a:solidFill>
                <a:schemeClr val="bg1"/>
              </a:solidFill>
              <a:latin typeface="맑은 고딕" panose="020B0503020000020004" pitchFamily="50" charset="-127"/>
              <a:ea typeface="맑은 고딕" panose="020B0503020000020004" pitchFamily="50" charset="-127"/>
            </a:endParaRPr>
          </a:p>
        </p:txBody>
      </p:sp>
      <p:sp>
        <p:nvSpPr>
          <p:cNvPr id="167" name="직사각형 166"/>
          <p:cNvSpPr/>
          <p:nvPr/>
        </p:nvSpPr>
        <p:spPr>
          <a:xfrm>
            <a:off x="4940779" y="1842561"/>
            <a:ext cx="2606247" cy="300317"/>
          </a:xfrm>
          <a:prstGeom prst="rect">
            <a:avLst/>
          </a:prstGeom>
          <a:solidFill>
            <a:schemeClr val="bg1">
              <a:lumMod val="6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chorCtr="0"/>
          <a:lstStyle/>
          <a:p>
            <a:pPr algn="ctr"/>
            <a:r>
              <a:rPr lang="ko-KR" altLang="en-US" sz="1200" b="1" dirty="0" smtClean="0">
                <a:solidFill>
                  <a:schemeClr val="bg1"/>
                </a:solidFill>
                <a:latin typeface="맑은 고딕" panose="020B0503020000020004" pitchFamily="50" charset="-127"/>
                <a:ea typeface="맑은 고딕" panose="020B0503020000020004" pitchFamily="50" charset="-127"/>
              </a:rPr>
              <a:t>적재 </a:t>
            </a:r>
            <a:r>
              <a:rPr lang="en-US" altLang="ko-KR" sz="1200" b="1" dirty="0" smtClean="0">
                <a:solidFill>
                  <a:schemeClr val="bg1"/>
                </a:solidFill>
                <a:latin typeface="맑은 고딕" panose="020B0503020000020004" pitchFamily="50" charset="-127"/>
                <a:ea typeface="맑은 고딕" panose="020B0503020000020004" pitchFamily="50" charset="-127"/>
              </a:rPr>
              <a:t>· </a:t>
            </a:r>
            <a:r>
              <a:rPr lang="ko-KR" altLang="en-US" sz="1200" b="1" dirty="0" smtClean="0">
                <a:solidFill>
                  <a:schemeClr val="bg1"/>
                </a:solidFill>
                <a:latin typeface="맑은 고딕" panose="020B0503020000020004" pitchFamily="50" charset="-127"/>
                <a:ea typeface="맑은 고딕" panose="020B0503020000020004" pitchFamily="50" charset="-127"/>
              </a:rPr>
              <a:t>저장</a:t>
            </a:r>
            <a:endParaRPr lang="en-US" altLang="ko-KR" sz="1200" b="1" dirty="0" smtClean="0">
              <a:solidFill>
                <a:schemeClr val="bg1"/>
              </a:solidFill>
              <a:latin typeface="맑은 고딕" panose="020B0503020000020004" pitchFamily="50" charset="-127"/>
              <a:ea typeface="맑은 고딕" panose="020B0503020000020004" pitchFamily="50" charset="-127"/>
            </a:endParaRPr>
          </a:p>
        </p:txBody>
      </p:sp>
      <p:cxnSp>
        <p:nvCxnSpPr>
          <p:cNvPr id="168" name="직선 화살표 연결선 327"/>
          <p:cNvCxnSpPr>
            <a:stCxn id="169" idx="3"/>
            <a:endCxn id="265" idx="1"/>
          </p:cNvCxnSpPr>
          <p:nvPr/>
        </p:nvCxnSpPr>
        <p:spPr>
          <a:xfrm>
            <a:off x="5614454" y="3041145"/>
            <a:ext cx="368343" cy="1102057"/>
          </a:xfrm>
          <a:prstGeom prst="bentConnector3">
            <a:avLst>
              <a:gd name="adj1" fmla="val 23869"/>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9" name="직사각형 168">
            <a:extLst>
              <a:ext uri="{FF2B5EF4-FFF2-40B4-BE49-F238E27FC236}">
                <a16:creationId xmlns:a16="http://schemas.microsoft.com/office/drawing/2014/main" id="{FDB5A00A-1A17-4B51-B315-D437A5721601}"/>
              </a:ext>
            </a:extLst>
          </p:cNvPr>
          <p:cNvSpPr/>
          <p:nvPr/>
        </p:nvSpPr>
        <p:spPr bwMode="gray">
          <a:xfrm>
            <a:off x="4167725" y="2278395"/>
            <a:ext cx="1446729" cy="1525500"/>
          </a:xfrm>
          <a:prstGeom prst="rect">
            <a:avLst/>
          </a:prstGeom>
          <a:pattFill prst="ltUpDiag">
            <a:fgClr>
              <a:schemeClr val="accent1">
                <a:lumMod val="20000"/>
                <a:lumOff val="80000"/>
              </a:schemeClr>
            </a:fgClr>
            <a:bgClr>
              <a:schemeClr val="bg1"/>
            </a:bgClr>
          </a:patt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rtlCol="0" anchor="t" anchorCtr="0"/>
          <a:lstStyle/>
          <a:p>
            <a:pPr algn="ctr"/>
            <a:r>
              <a:rPr lang="nl-NL" sz="1200" b="1" smtClean="0">
                <a:solidFill>
                  <a:schemeClr val="tx1"/>
                </a:solidFill>
                <a:latin typeface="맑은 고딕" panose="020B0503020000020004" pitchFamily="50" charset="-127"/>
                <a:ea typeface="맑은 고딕" panose="020B0503020000020004" pitchFamily="50" charset="-127"/>
              </a:rPr>
              <a:t>Data Hub</a:t>
            </a:r>
            <a:endParaRPr lang="nl-NL" sz="1200" i="1" dirty="0">
              <a:solidFill>
                <a:schemeClr val="tx1"/>
              </a:solidFill>
              <a:latin typeface="맑은 고딕" panose="020B0503020000020004" pitchFamily="50" charset="-127"/>
              <a:ea typeface="맑은 고딕" panose="020B0503020000020004" pitchFamily="50" charset="-127"/>
            </a:endParaRPr>
          </a:p>
        </p:txBody>
      </p:sp>
      <p:sp>
        <p:nvSpPr>
          <p:cNvPr id="170" name="순서도: 자기 디스크 169"/>
          <p:cNvSpPr/>
          <p:nvPr/>
        </p:nvSpPr>
        <p:spPr>
          <a:xfrm>
            <a:off x="4374046" y="3299174"/>
            <a:ext cx="1034088" cy="392262"/>
          </a:xfrm>
          <a:prstGeom prst="flowChartMagneticDisk">
            <a:avLst/>
          </a:prstGeom>
          <a:solidFill>
            <a:schemeClr val="bg1"/>
          </a:solidFill>
          <a:ln w="6350">
            <a:solidFill>
              <a:schemeClr val="bg1">
                <a:lumMod val="50000"/>
              </a:schemeClr>
            </a:solidFill>
          </a:ln>
        </p:spPr>
        <p:txBody>
          <a:bodyPr vert="horz" wrap="square" lIns="0" tIns="0" rIns="0" bIns="0" rtlCol="0" anchor="ctr">
            <a:noAutofit/>
          </a:bodyPr>
          <a:lstStyle/>
          <a:p>
            <a:pPr algn="ctr" defTabSz="727510" latinLnBrk="0">
              <a:spcAft>
                <a:spcPts val="300"/>
              </a:spcAft>
              <a:buSzPct val="100000"/>
            </a:pPr>
            <a:r>
              <a:rPr lang="en-US" altLang="ko-KR" sz="1050" b="1" smtClean="0">
                <a:solidFill>
                  <a:schemeClr val="tx1">
                    <a:lumMod val="75000"/>
                    <a:lumOff val="25000"/>
                  </a:schemeClr>
                </a:solidFill>
                <a:latin typeface="맑은 고딕" panose="020B0503020000020004" pitchFamily="50" charset="-127"/>
                <a:ea typeface="맑은 고딕" panose="020B0503020000020004" pitchFamily="50" charset="-127"/>
              </a:rPr>
              <a:t>DB</a:t>
            </a:r>
            <a:endParaRPr lang="ko-KR" altLang="en-US" sz="1050" b="1"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171" name="원통 170"/>
          <p:cNvSpPr/>
          <p:nvPr/>
        </p:nvSpPr>
        <p:spPr>
          <a:xfrm rot="16200000">
            <a:off x="4691569" y="2470646"/>
            <a:ext cx="399048" cy="1046879"/>
          </a:xfrm>
          <a:prstGeom prst="can">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defTabSz="727510" latinLnBrk="0">
              <a:spcAft>
                <a:spcPts val="300"/>
              </a:spcAft>
              <a:buSzPct val="100000"/>
              <a:defRPr/>
            </a:pPr>
            <a:r>
              <a:rPr lang="en-US" altLang="ko-KR" sz="1050" b="1" smtClean="0">
                <a:solidFill>
                  <a:schemeClr val="tx1">
                    <a:lumMod val="75000"/>
                    <a:lumOff val="25000"/>
                  </a:schemeClr>
                </a:solidFill>
                <a:latin typeface="맑은 고딕" panose="020B0503020000020004" pitchFamily="50" charset="-127"/>
                <a:ea typeface="맑은 고딕" panose="020B0503020000020004" pitchFamily="50" charset="-127"/>
              </a:rPr>
              <a:t>MSG </a:t>
            </a:r>
            <a:r>
              <a:rPr lang="en-US" altLang="ko-KR" sz="1050" b="1" dirty="0" smtClean="0">
                <a:solidFill>
                  <a:schemeClr val="tx1">
                    <a:lumMod val="75000"/>
                    <a:lumOff val="25000"/>
                  </a:schemeClr>
                </a:solidFill>
                <a:latin typeface="맑은 고딕" panose="020B0503020000020004" pitchFamily="50" charset="-127"/>
                <a:ea typeface="맑은 고딕" panose="020B0503020000020004" pitchFamily="50" charset="-127"/>
              </a:rPr>
              <a:t>Queue</a:t>
            </a:r>
            <a:endParaRPr lang="ko-KR" altLang="en-US" sz="1050" b="1"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172" name="순서도: 자기 디스크 171"/>
          <p:cNvSpPr/>
          <p:nvPr/>
        </p:nvSpPr>
        <p:spPr>
          <a:xfrm>
            <a:off x="5984641" y="3876438"/>
            <a:ext cx="1409649" cy="797497"/>
          </a:xfrm>
          <a:prstGeom prst="flowChartMagneticDisk">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576000" tIns="0" rIns="0" bIns="0" rtlCol="0" anchor="ctr" anchorCtr="0"/>
          <a:lstStyle/>
          <a:p>
            <a:r>
              <a:rPr lang="en-US" altLang="ko-KR" sz="1200" b="1" dirty="0" smtClean="0">
                <a:solidFill>
                  <a:schemeClr val="tx1">
                    <a:lumMod val="75000"/>
                    <a:lumOff val="25000"/>
                  </a:schemeClr>
                </a:solidFill>
                <a:latin typeface="맑은 고딕" panose="020B0503020000020004" pitchFamily="50" charset="-127"/>
                <a:ea typeface="맑은 고딕" panose="020B0503020000020004" pitchFamily="50" charset="-127"/>
              </a:rPr>
              <a:t>Data Lake</a:t>
            </a:r>
            <a:endParaRPr lang="ko-KR" altLang="en-US" sz="1200" b="1"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173" name="직사각형 172">
            <a:extLst>
              <a:ext uri="{FF2B5EF4-FFF2-40B4-BE49-F238E27FC236}">
                <a16:creationId xmlns:a16="http://schemas.microsoft.com/office/drawing/2014/main" id="{FDB5A00A-1A17-4B51-B315-D437A5721601}"/>
              </a:ext>
            </a:extLst>
          </p:cNvPr>
          <p:cNvSpPr/>
          <p:nvPr/>
        </p:nvSpPr>
        <p:spPr bwMode="gray">
          <a:xfrm>
            <a:off x="2743074" y="2278718"/>
            <a:ext cx="896989" cy="1609536"/>
          </a:xfrm>
          <a:prstGeom prst="rect">
            <a:avLst/>
          </a:prstGeom>
          <a:solidFill>
            <a:srgbClr val="FFFFFF"/>
          </a:solidFill>
          <a:ln w="6350">
            <a:solidFill>
              <a:schemeClr val="bg1">
                <a:lumMod val="50000"/>
              </a:schemeClr>
            </a:solidFill>
          </a:ln>
        </p:spPr>
        <p:txBody>
          <a:bodyPr vert="horz" wrap="square" lIns="72000" tIns="36000" rIns="72000" bIns="72000" rtlCol="0" anchor="t" anchorCtr="0">
            <a:normAutofit/>
          </a:bodyPr>
          <a:lstStyle/>
          <a:p>
            <a:pPr algn="ctr" defTabSz="727510" latinLnBrk="0">
              <a:spcAft>
                <a:spcPts val="300"/>
              </a:spcAft>
              <a:buSzPct val="100000"/>
              <a:defRPr/>
            </a:pPr>
            <a:r>
              <a:rPr lang="nl-NL" sz="1200" b="1" dirty="0" smtClean="0">
                <a:latin typeface="맑은 고딕" panose="020B0503020000020004" pitchFamily="50" charset="-127"/>
                <a:ea typeface="맑은 고딕" panose="020B0503020000020004" pitchFamily="50" charset="-127"/>
              </a:rPr>
              <a:t>Legacy</a:t>
            </a:r>
            <a:endParaRPr lang="nl-NL" sz="1200" b="1" dirty="0">
              <a:latin typeface="맑은 고딕" panose="020B0503020000020004" pitchFamily="50" charset="-127"/>
              <a:ea typeface="맑은 고딕" panose="020B0503020000020004" pitchFamily="50" charset="-127"/>
            </a:endParaRPr>
          </a:p>
        </p:txBody>
      </p:sp>
      <p:cxnSp>
        <p:nvCxnSpPr>
          <p:cNvPr id="174" name="직선 화살표 연결선 173"/>
          <p:cNvCxnSpPr>
            <a:stCxn id="173" idx="3"/>
          </p:cNvCxnSpPr>
          <p:nvPr/>
        </p:nvCxnSpPr>
        <p:spPr>
          <a:xfrm>
            <a:off x="3640063" y="3083485"/>
            <a:ext cx="527662"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5" name="TextBox 174"/>
          <p:cNvSpPr txBox="1"/>
          <p:nvPr/>
        </p:nvSpPr>
        <p:spPr>
          <a:xfrm>
            <a:off x="3693980" y="3272293"/>
            <a:ext cx="450407" cy="276999"/>
          </a:xfrm>
          <a:prstGeom prst="rect">
            <a:avLst/>
          </a:prstGeom>
          <a:noFill/>
        </p:spPr>
        <p:txBody>
          <a:bodyPr wrap="square" lIns="0" tIns="0" rIns="0" bIns="0" rtlCol="0" anchor="ctr" anchorCtr="0">
            <a:spAutoFit/>
          </a:bodyPr>
          <a:lstStyle>
            <a:lvl1pPr algn="ctr">
              <a:spcAft>
                <a:spcPts val="300"/>
              </a:spcAft>
              <a:defRPr sz="900" spc="-40">
                <a:latin typeface="맑은 고딕" panose="020B0503020000020004" pitchFamily="50" charset="-127"/>
                <a:ea typeface="맑은 고딕" panose="020B0503020000020004" pitchFamily="50" charset="-127"/>
              </a:defRPr>
            </a:lvl1pPr>
          </a:lstStyle>
          <a:p>
            <a:r>
              <a:rPr lang="en-US" altLang="ko-KR" dirty="0"/>
              <a:t>CDC</a:t>
            </a:r>
            <a:br>
              <a:rPr lang="en-US" altLang="ko-KR" dirty="0"/>
            </a:br>
            <a:r>
              <a:rPr lang="en-US" altLang="ko-KR" dirty="0"/>
              <a:t>Pipeline</a:t>
            </a:r>
            <a:endParaRPr lang="ko-KR" altLang="en-US" dirty="0"/>
          </a:p>
        </p:txBody>
      </p:sp>
      <p:sp>
        <p:nvSpPr>
          <p:cNvPr id="176" name="직사각형 175">
            <a:extLst>
              <a:ext uri="{FF2B5EF4-FFF2-40B4-BE49-F238E27FC236}">
                <a16:creationId xmlns:a16="http://schemas.microsoft.com/office/drawing/2014/main" id="{092726A9-8410-4665-801A-56C80FCE9F77}"/>
              </a:ext>
            </a:extLst>
          </p:cNvPr>
          <p:cNvSpPr/>
          <p:nvPr/>
        </p:nvSpPr>
        <p:spPr bwMode="gray">
          <a:xfrm>
            <a:off x="273554" y="3422495"/>
            <a:ext cx="993318" cy="270203"/>
          </a:xfrm>
          <a:prstGeom prst="rect">
            <a:avLst/>
          </a:prstGeom>
          <a:solidFill>
            <a:srgbClr val="FFFFFF"/>
          </a:solidFill>
          <a:ln w="9525">
            <a:noFill/>
          </a:ln>
        </p:spPr>
        <p:txBody>
          <a:bodyPr vert="horz" wrap="square" lIns="0" tIns="72000" rIns="0" bIns="72000" rtlCol="0" anchor="ctr" anchorCtr="0">
            <a:noAutofit/>
          </a:bodyPr>
          <a:lstStyle/>
          <a:p>
            <a:pPr marL="0" marR="0" lvl="0" indent="0" algn="ctr" defTabSz="727510" eaLnBrk="1" fontAlgn="auto" latinLnBrk="0" hangingPunct="1">
              <a:lnSpc>
                <a:spcPct val="100000"/>
              </a:lnSpc>
              <a:spcBef>
                <a:spcPts val="0"/>
              </a:spcBef>
              <a:spcAft>
                <a:spcPts val="300"/>
              </a:spcAft>
              <a:buClrTx/>
              <a:buSzPct val="100000"/>
              <a:buFontTx/>
              <a:buNone/>
              <a:tabLst/>
              <a:defRPr/>
            </a:pPr>
            <a:r>
              <a:rPr lang="en-US" sz="1200" b="1" dirty="0" smtClean="0">
                <a:latin typeface="맑은 고딕" panose="020B0503020000020004" pitchFamily="50" charset="-127"/>
                <a:ea typeface="맑은 고딕" panose="020B0503020000020004" pitchFamily="50" charset="-127"/>
              </a:rPr>
              <a:t>Fab/</a:t>
            </a:r>
            <a:r>
              <a:rPr lang="ko-KR" altLang="en-US" sz="1200" b="1" dirty="0" smtClean="0">
                <a:latin typeface="맑은 고딕" panose="020B0503020000020004" pitchFamily="50" charset="-127"/>
                <a:ea typeface="맑은 고딕" panose="020B0503020000020004" pitchFamily="50" charset="-127"/>
              </a:rPr>
              <a:t>장비</a:t>
            </a:r>
            <a:endParaRPr lang="nl-NL" sz="1200" b="1" dirty="0">
              <a:latin typeface="맑은 고딕" panose="020B0503020000020004" pitchFamily="50" charset="-127"/>
              <a:ea typeface="맑은 고딕" panose="020B0503020000020004" pitchFamily="50" charset="-127"/>
            </a:endParaRPr>
          </a:p>
        </p:txBody>
      </p:sp>
      <p:sp>
        <p:nvSpPr>
          <p:cNvPr id="177" name="원통 176"/>
          <p:cNvSpPr/>
          <p:nvPr/>
        </p:nvSpPr>
        <p:spPr>
          <a:xfrm rot="16200000">
            <a:off x="1839166" y="2726487"/>
            <a:ext cx="382435" cy="701572"/>
          </a:xfrm>
          <a:prstGeom prst="can">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defTabSz="727510" latinLnBrk="0">
              <a:spcAft>
                <a:spcPts val="300"/>
              </a:spcAft>
              <a:buSzPct val="100000"/>
              <a:defRPr/>
            </a:pPr>
            <a:r>
              <a:rPr lang="en-US" altLang="ko-KR" sz="1100" dirty="0">
                <a:solidFill>
                  <a:schemeClr val="tx1"/>
                </a:solidFill>
                <a:latin typeface="맑은 고딕" panose="020B0503020000020004" pitchFamily="50" charset="-127"/>
                <a:ea typeface="맑은 고딕" panose="020B0503020000020004" pitchFamily="50" charset="-127"/>
              </a:rPr>
              <a:t>Queue</a:t>
            </a:r>
            <a:endParaRPr lang="ko-KR" altLang="en-US" sz="1100" dirty="0">
              <a:solidFill>
                <a:schemeClr val="tx1"/>
              </a:solidFill>
              <a:latin typeface="맑은 고딕" panose="020B0503020000020004" pitchFamily="50" charset="-127"/>
              <a:ea typeface="맑은 고딕" panose="020B0503020000020004" pitchFamily="50" charset="-127"/>
            </a:endParaRPr>
          </a:p>
        </p:txBody>
      </p:sp>
      <p:cxnSp>
        <p:nvCxnSpPr>
          <p:cNvPr id="178" name="직선 화살표 연결선 177"/>
          <p:cNvCxnSpPr>
            <a:stCxn id="185" idx="7"/>
          </p:cNvCxnSpPr>
          <p:nvPr/>
        </p:nvCxnSpPr>
        <p:spPr>
          <a:xfrm>
            <a:off x="1124086" y="3066550"/>
            <a:ext cx="555512"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9" name="직선 화살표 연결선 178"/>
          <p:cNvCxnSpPr>
            <a:stCxn id="177" idx="3"/>
            <a:endCxn id="173" idx="1"/>
          </p:cNvCxnSpPr>
          <p:nvPr/>
        </p:nvCxnSpPr>
        <p:spPr>
          <a:xfrm>
            <a:off x="2381170" y="3077273"/>
            <a:ext cx="361904" cy="6213"/>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0" name="TextBox 179"/>
          <p:cNvSpPr txBox="1"/>
          <p:nvPr/>
        </p:nvSpPr>
        <p:spPr>
          <a:xfrm>
            <a:off x="1174566" y="2872447"/>
            <a:ext cx="412153" cy="425245"/>
          </a:xfrm>
          <a:prstGeom prst="rect">
            <a:avLst/>
          </a:prstGeom>
          <a:noFill/>
        </p:spPr>
        <p:txBody>
          <a:bodyPr wrap="square" lIns="0" rIns="0" rtlCol="0">
            <a:spAutoFit/>
          </a:bodyPr>
          <a:lstStyle/>
          <a:p>
            <a:pPr>
              <a:spcAft>
                <a:spcPts val="300"/>
              </a:spcAft>
            </a:pPr>
            <a:r>
              <a:rPr lang="en-US" altLang="ko-KR" sz="900" spc="-40" dirty="0" smtClean="0">
                <a:latin typeface="맑은 고딕" panose="020B0503020000020004" pitchFamily="50" charset="-127"/>
                <a:ea typeface="맑은 고딕" panose="020B0503020000020004" pitchFamily="50" charset="-127"/>
              </a:rPr>
              <a:t>Product</a:t>
            </a:r>
          </a:p>
          <a:p>
            <a:pPr>
              <a:spcAft>
                <a:spcPts val="300"/>
              </a:spcAft>
            </a:pPr>
            <a:r>
              <a:rPr lang="en-US" altLang="ko-KR" sz="900" spc="-40" dirty="0" smtClean="0">
                <a:latin typeface="맑은 고딕" panose="020B0503020000020004" pitchFamily="50" charset="-127"/>
                <a:ea typeface="맑은 고딕" panose="020B0503020000020004" pitchFamily="50" charset="-127"/>
              </a:rPr>
              <a:t>Event</a:t>
            </a:r>
            <a:endParaRPr lang="ko-KR" altLang="en-US" sz="900" spc="-40" dirty="0">
              <a:latin typeface="맑은 고딕" panose="020B0503020000020004" pitchFamily="50" charset="-127"/>
              <a:ea typeface="맑은 고딕" panose="020B0503020000020004" pitchFamily="50" charset="-127"/>
            </a:endParaRPr>
          </a:p>
        </p:txBody>
      </p:sp>
      <p:sp>
        <p:nvSpPr>
          <p:cNvPr id="181" name="TextBox 180"/>
          <p:cNvSpPr txBox="1"/>
          <p:nvPr/>
        </p:nvSpPr>
        <p:spPr>
          <a:xfrm>
            <a:off x="2351930" y="2905450"/>
            <a:ext cx="380338" cy="145881"/>
          </a:xfrm>
          <a:prstGeom prst="rect">
            <a:avLst/>
          </a:prstGeom>
          <a:noFill/>
        </p:spPr>
        <p:txBody>
          <a:bodyPr wrap="square" tIns="0" bIns="0" rtlCol="0" anchor="ctr" anchorCtr="0">
            <a:spAutoFit/>
          </a:bodyPr>
          <a:lstStyle/>
          <a:p>
            <a:pPr algn="ctr">
              <a:spcAft>
                <a:spcPts val="300"/>
              </a:spcAft>
            </a:pPr>
            <a:r>
              <a:rPr lang="en-US" altLang="ko-KR" sz="900" spc="-40" dirty="0" smtClean="0">
                <a:latin typeface="맑은 고딕" panose="020B0503020000020004" pitchFamily="50" charset="-127"/>
                <a:ea typeface="맑은 고딕" panose="020B0503020000020004" pitchFamily="50" charset="-127"/>
              </a:rPr>
              <a:t>API</a:t>
            </a:r>
            <a:endParaRPr lang="ko-KR" altLang="en-US" sz="900" spc="-40" dirty="0">
              <a:latin typeface="맑은 고딕" panose="020B0503020000020004" pitchFamily="50" charset="-127"/>
              <a:ea typeface="맑은 고딕" panose="020B0503020000020004" pitchFamily="50" charset="-127"/>
            </a:endParaRPr>
          </a:p>
        </p:txBody>
      </p:sp>
      <p:grpSp>
        <p:nvGrpSpPr>
          <p:cNvPr id="182" name="그룹 181"/>
          <p:cNvGrpSpPr/>
          <p:nvPr/>
        </p:nvGrpSpPr>
        <p:grpSpPr>
          <a:xfrm>
            <a:off x="532503" y="2911609"/>
            <a:ext cx="591688" cy="413540"/>
            <a:chOff x="2501445" y="2662598"/>
            <a:chExt cx="1942711" cy="1302101"/>
          </a:xfrm>
        </p:grpSpPr>
        <p:sp>
          <p:nvSpPr>
            <p:cNvPr id="183" name="Graphic 4">
              <a:extLst>
                <a:ext uri="{FF2B5EF4-FFF2-40B4-BE49-F238E27FC236}">
                  <a16:creationId xmlns:a16="http://schemas.microsoft.com/office/drawing/2014/main" id="{25027C9B-0CB9-5D4C-8904-487225FF9F82}"/>
                </a:ext>
              </a:extLst>
            </p:cNvPr>
            <p:cNvSpPr/>
            <p:nvPr/>
          </p:nvSpPr>
          <p:spPr>
            <a:xfrm>
              <a:off x="3853448" y="2947887"/>
              <a:ext cx="178163" cy="420291"/>
            </a:xfrm>
            <a:custGeom>
              <a:avLst/>
              <a:gdLst>
                <a:gd name="connsiteX0" fmla="*/ 10863 w 19091"/>
                <a:gd name="connsiteY0" fmla="*/ 1915 h 45036"/>
                <a:gd name="connsiteX1" fmla="*/ 1917 w 19091"/>
                <a:gd name="connsiteY1" fmla="*/ 1915 h 45036"/>
                <a:gd name="connsiteX2" fmla="*/ 1917 w 19091"/>
                <a:gd name="connsiteY2" fmla="*/ 10853 h 45036"/>
                <a:gd name="connsiteX3" fmla="*/ 1917 w 19091"/>
                <a:gd name="connsiteY3" fmla="*/ 10853 h 45036"/>
                <a:gd name="connsiteX4" fmla="*/ 1917 w 19091"/>
                <a:gd name="connsiteY4" fmla="*/ 34474 h 45036"/>
                <a:gd name="connsiteX5" fmla="*/ 2556 w 19091"/>
                <a:gd name="connsiteY5" fmla="*/ 43411 h 45036"/>
                <a:gd name="connsiteX6" fmla="*/ 11502 w 19091"/>
                <a:gd name="connsiteY6" fmla="*/ 42773 h 45036"/>
                <a:gd name="connsiteX7" fmla="*/ 10863 w 19091"/>
                <a:gd name="connsiteY7" fmla="*/ 1915 h 4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91" h="45036">
                  <a:moveTo>
                    <a:pt x="10863" y="1915"/>
                  </a:moveTo>
                  <a:cubicBezTo>
                    <a:pt x="8307" y="-638"/>
                    <a:pt x="4473" y="-638"/>
                    <a:pt x="1917" y="1915"/>
                  </a:cubicBezTo>
                  <a:cubicBezTo>
                    <a:pt x="-639" y="4469"/>
                    <a:pt x="-639" y="8299"/>
                    <a:pt x="1917" y="10853"/>
                  </a:cubicBezTo>
                  <a:lnTo>
                    <a:pt x="1917" y="10853"/>
                  </a:lnTo>
                  <a:cubicBezTo>
                    <a:pt x="8307" y="17237"/>
                    <a:pt x="8307" y="27451"/>
                    <a:pt x="1917" y="34474"/>
                  </a:cubicBezTo>
                  <a:cubicBezTo>
                    <a:pt x="-639" y="37027"/>
                    <a:pt x="0" y="41496"/>
                    <a:pt x="2556" y="43411"/>
                  </a:cubicBezTo>
                  <a:cubicBezTo>
                    <a:pt x="5112" y="45965"/>
                    <a:pt x="9585" y="45326"/>
                    <a:pt x="11502" y="42773"/>
                  </a:cubicBezTo>
                  <a:cubicBezTo>
                    <a:pt x="21726" y="30643"/>
                    <a:pt x="21726" y="12768"/>
                    <a:pt x="10863" y="1915"/>
                  </a:cubicBezTo>
                  <a:close/>
                </a:path>
              </a:pathLst>
            </a:custGeom>
            <a:solidFill>
              <a:schemeClr val="bg1">
                <a:lumMod val="50000"/>
              </a:schemeClr>
            </a:solidFill>
            <a:ln w="6390" cap="flat">
              <a:noFill/>
              <a:prstDash val="solid"/>
              <a:miter/>
            </a:ln>
          </p:spPr>
          <p:txBody>
            <a:bodyPr rtlCol="0" anchor="ctr"/>
            <a:lstStyle/>
            <a:p>
              <a:endParaRPr lang="en-US"/>
            </a:p>
          </p:txBody>
        </p:sp>
        <p:sp>
          <p:nvSpPr>
            <p:cNvPr id="184" name="Graphic 4">
              <a:extLst>
                <a:ext uri="{FF2B5EF4-FFF2-40B4-BE49-F238E27FC236}">
                  <a16:creationId xmlns:a16="http://schemas.microsoft.com/office/drawing/2014/main" id="{FDCF2699-21C7-9A48-A788-2DA6FC52622C}"/>
                </a:ext>
              </a:extLst>
            </p:cNvPr>
            <p:cNvSpPr/>
            <p:nvPr/>
          </p:nvSpPr>
          <p:spPr>
            <a:xfrm>
              <a:off x="4008486" y="2798943"/>
              <a:ext cx="244488" cy="703004"/>
            </a:xfrm>
            <a:custGeom>
              <a:avLst/>
              <a:gdLst>
                <a:gd name="connsiteX0" fmla="*/ 10863 w 26198"/>
                <a:gd name="connsiteY0" fmla="*/ 1915 h 75330"/>
                <a:gd name="connsiteX1" fmla="*/ 1917 w 26198"/>
                <a:gd name="connsiteY1" fmla="*/ 1915 h 75330"/>
                <a:gd name="connsiteX2" fmla="*/ 1917 w 26198"/>
                <a:gd name="connsiteY2" fmla="*/ 10853 h 75330"/>
                <a:gd name="connsiteX3" fmla="*/ 1917 w 26198"/>
                <a:gd name="connsiteY3" fmla="*/ 10853 h 75330"/>
                <a:gd name="connsiteX4" fmla="*/ 13419 w 26198"/>
                <a:gd name="connsiteY4" fmla="*/ 38304 h 75330"/>
                <a:gd name="connsiteX5" fmla="*/ 2556 w 26198"/>
                <a:gd name="connsiteY5" fmla="*/ 64478 h 75330"/>
                <a:gd name="connsiteX6" fmla="*/ 2556 w 26198"/>
                <a:gd name="connsiteY6" fmla="*/ 73416 h 75330"/>
                <a:gd name="connsiteX7" fmla="*/ 7029 w 26198"/>
                <a:gd name="connsiteY7" fmla="*/ 75331 h 75330"/>
                <a:gd name="connsiteX8" fmla="*/ 11502 w 26198"/>
                <a:gd name="connsiteY8" fmla="*/ 73416 h 75330"/>
                <a:gd name="connsiteX9" fmla="*/ 26199 w 26198"/>
                <a:gd name="connsiteY9" fmla="*/ 38304 h 75330"/>
                <a:gd name="connsiteX10" fmla="*/ 10863 w 26198"/>
                <a:gd name="connsiteY10" fmla="*/ 1915 h 7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198" h="75330">
                  <a:moveTo>
                    <a:pt x="10863" y="1915"/>
                  </a:moveTo>
                  <a:cubicBezTo>
                    <a:pt x="8307" y="-638"/>
                    <a:pt x="4473" y="-638"/>
                    <a:pt x="1917" y="1915"/>
                  </a:cubicBezTo>
                  <a:cubicBezTo>
                    <a:pt x="-639" y="4469"/>
                    <a:pt x="-639" y="8299"/>
                    <a:pt x="1917" y="10853"/>
                  </a:cubicBezTo>
                  <a:lnTo>
                    <a:pt x="1917" y="10853"/>
                  </a:lnTo>
                  <a:cubicBezTo>
                    <a:pt x="8946" y="17875"/>
                    <a:pt x="13419" y="28090"/>
                    <a:pt x="13419" y="38304"/>
                  </a:cubicBezTo>
                  <a:cubicBezTo>
                    <a:pt x="12780" y="47880"/>
                    <a:pt x="8946" y="57456"/>
                    <a:pt x="2556" y="64478"/>
                  </a:cubicBezTo>
                  <a:cubicBezTo>
                    <a:pt x="0" y="67032"/>
                    <a:pt x="0" y="70862"/>
                    <a:pt x="2556" y="73416"/>
                  </a:cubicBezTo>
                  <a:cubicBezTo>
                    <a:pt x="3834" y="74693"/>
                    <a:pt x="5112" y="75331"/>
                    <a:pt x="7029" y="75331"/>
                  </a:cubicBezTo>
                  <a:cubicBezTo>
                    <a:pt x="8946" y="75331"/>
                    <a:pt x="10224" y="74693"/>
                    <a:pt x="11502" y="73416"/>
                  </a:cubicBezTo>
                  <a:cubicBezTo>
                    <a:pt x="20448" y="63840"/>
                    <a:pt x="25560" y="51072"/>
                    <a:pt x="26199" y="38304"/>
                  </a:cubicBezTo>
                  <a:cubicBezTo>
                    <a:pt x="26199" y="24898"/>
                    <a:pt x="20448" y="11491"/>
                    <a:pt x="10863" y="1915"/>
                  </a:cubicBezTo>
                  <a:close/>
                </a:path>
              </a:pathLst>
            </a:custGeom>
            <a:solidFill>
              <a:schemeClr val="bg1">
                <a:lumMod val="50000"/>
              </a:schemeClr>
            </a:solidFill>
            <a:ln w="6390" cap="flat">
              <a:noFill/>
              <a:prstDash val="solid"/>
              <a:miter/>
            </a:ln>
          </p:spPr>
          <p:txBody>
            <a:bodyPr rtlCol="0" anchor="ctr"/>
            <a:lstStyle/>
            <a:p>
              <a:endParaRPr lang="en-US"/>
            </a:p>
          </p:txBody>
        </p:sp>
        <p:sp>
          <p:nvSpPr>
            <p:cNvPr id="185" name="Graphic 4">
              <a:extLst>
                <a:ext uri="{FF2B5EF4-FFF2-40B4-BE49-F238E27FC236}">
                  <a16:creationId xmlns:a16="http://schemas.microsoft.com/office/drawing/2014/main" id="{7A70A760-3038-7D41-AAD3-00B9E926229A}"/>
                </a:ext>
              </a:extLst>
            </p:cNvPr>
            <p:cNvSpPr/>
            <p:nvPr/>
          </p:nvSpPr>
          <p:spPr>
            <a:xfrm>
              <a:off x="4146334" y="2662598"/>
              <a:ext cx="297822" cy="985596"/>
            </a:xfrm>
            <a:custGeom>
              <a:avLst/>
              <a:gdLst>
                <a:gd name="connsiteX0" fmla="*/ 10790 w 31913"/>
                <a:gd name="connsiteY0" fmla="*/ 1842 h 105611"/>
                <a:gd name="connsiteX1" fmla="*/ 1844 w 31913"/>
                <a:gd name="connsiteY1" fmla="*/ 2480 h 105611"/>
                <a:gd name="connsiteX2" fmla="*/ 2483 w 31913"/>
                <a:gd name="connsiteY2" fmla="*/ 11418 h 105611"/>
                <a:gd name="connsiteX3" fmla="*/ 19096 w 31913"/>
                <a:gd name="connsiteY3" fmla="*/ 52276 h 105611"/>
                <a:gd name="connsiteX4" fmla="*/ 2483 w 31913"/>
                <a:gd name="connsiteY4" fmla="*/ 94410 h 105611"/>
                <a:gd name="connsiteX5" fmla="*/ 1844 w 31913"/>
                <a:gd name="connsiteY5" fmla="*/ 103347 h 105611"/>
                <a:gd name="connsiteX6" fmla="*/ 10790 w 31913"/>
                <a:gd name="connsiteY6" fmla="*/ 103986 h 105611"/>
                <a:gd name="connsiteX7" fmla="*/ 31876 w 31913"/>
                <a:gd name="connsiteY7" fmla="*/ 52276 h 105611"/>
                <a:gd name="connsiteX8" fmla="*/ 10790 w 31913"/>
                <a:gd name="connsiteY8" fmla="*/ 1842 h 10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13" h="105611">
                  <a:moveTo>
                    <a:pt x="10790" y="1842"/>
                  </a:moveTo>
                  <a:cubicBezTo>
                    <a:pt x="8234" y="-712"/>
                    <a:pt x="4400" y="-712"/>
                    <a:pt x="1844" y="2480"/>
                  </a:cubicBezTo>
                  <a:cubicBezTo>
                    <a:pt x="-712" y="5672"/>
                    <a:pt x="-712" y="8864"/>
                    <a:pt x="2483" y="11418"/>
                  </a:cubicBezTo>
                  <a:cubicBezTo>
                    <a:pt x="13345" y="22271"/>
                    <a:pt x="19096" y="36954"/>
                    <a:pt x="19096" y="52276"/>
                  </a:cubicBezTo>
                  <a:cubicBezTo>
                    <a:pt x="19735" y="68236"/>
                    <a:pt x="13345" y="83557"/>
                    <a:pt x="2483" y="94410"/>
                  </a:cubicBezTo>
                  <a:cubicBezTo>
                    <a:pt x="-73" y="96963"/>
                    <a:pt x="-712" y="100794"/>
                    <a:pt x="1844" y="103347"/>
                  </a:cubicBezTo>
                  <a:cubicBezTo>
                    <a:pt x="4400" y="105901"/>
                    <a:pt x="8234" y="106539"/>
                    <a:pt x="10790" y="103986"/>
                  </a:cubicBezTo>
                  <a:cubicBezTo>
                    <a:pt x="24848" y="90579"/>
                    <a:pt x="32515" y="71427"/>
                    <a:pt x="31876" y="52276"/>
                  </a:cubicBezTo>
                  <a:cubicBezTo>
                    <a:pt x="31238" y="33124"/>
                    <a:pt x="24208" y="15248"/>
                    <a:pt x="10790" y="1842"/>
                  </a:cubicBezTo>
                  <a:close/>
                </a:path>
              </a:pathLst>
            </a:custGeom>
            <a:solidFill>
              <a:schemeClr val="bg1">
                <a:lumMod val="50000"/>
              </a:schemeClr>
            </a:solidFill>
            <a:ln w="6390" cap="flat">
              <a:noFill/>
              <a:prstDash val="solid"/>
              <a:miter/>
            </a:ln>
          </p:spPr>
          <p:txBody>
            <a:bodyPr rtlCol="0" anchor="ctr"/>
            <a:lstStyle/>
            <a:p>
              <a:endParaRPr lang="en-US"/>
            </a:p>
          </p:txBody>
        </p:sp>
        <p:sp>
          <p:nvSpPr>
            <p:cNvPr id="186" name="Graphic 4">
              <a:extLst>
                <a:ext uri="{FF2B5EF4-FFF2-40B4-BE49-F238E27FC236}">
                  <a16:creationId xmlns:a16="http://schemas.microsoft.com/office/drawing/2014/main" id="{2953DEE8-BC19-9440-ADE1-8A160D1BD5D0}"/>
                </a:ext>
              </a:extLst>
            </p:cNvPr>
            <p:cNvSpPr/>
            <p:nvPr/>
          </p:nvSpPr>
          <p:spPr>
            <a:xfrm>
              <a:off x="2501445" y="2723530"/>
              <a:ext cx="1235389" cy="1241169"/>
            </a:xfrm>
            <a:custGeom>
              <a:avLst/>
              <a:gdLst>
                <a:gd name="connsiteX0" fmla="*/ 183653 w 211596"/>
                <a:gd name="connsiteY0" fmla="*/ 45965 h 212586"/>
                <a:gd name="connsiteX1" fmla="*/ 172790 w 211596"/>
                <a:gd name="connsiteY1" fmla="*/ 47880 h 212586"/>
                <a:gd name="connsiteX2" fmla="*/ 132533 w 211596"/>
                <a:gd name="connsiteY2" fmla="*/ 24259 h 212586"/>
                <a:gd name="connsiteX3" fmla="*/ 108251 w 211596"/>
                <a:gd name="connsiteY3" fmla="*/ 0 h 212586"/>
                <a:gd name="connsiteX4" fmla="*/ 83970 w 211596"/>
                <a:gd name="connsiteY4" fmla="*/ 24259 h 212586"/>
                <a:gd name="connsiteX5" fmla="*/ 85248 w 211596"/>
                <a:gd name="connsiteY5" fmla="*/ 31281 h 212586"/>
                <a:gd name="connsiteX6" fmla="*/ 54576 w 211596"/>
                <a:gd name="connsiteY6" fmla="*/ 57456 h 212586"/>
                <a:gd name="connsiteX7" fmla="*/ 44991 w 211596"/>
                <a:gd name="connsiteY7" fmla="*/ 54902 h 212586"/>
                <a:gd name="connsiteX8" fmla="*/ 26460 w 211596"/>
                <a:gd name="connsiteY8" fmla="*/ 74693 h 212586"/>
                <a:gd name="connsiteX9" fmla="*/ 31572 w 211596"/>
                <a:gd name="connsiteY9" fmla="*/ 87461 h 212586"/>
                <a:gd name="connsiteX10" fmla="*/ 20709 w 211596"/>
                <a:gd name="connsiteY10" fmla="*/ 81715 h 212586"/>
                <a:gd name="connsiteX11" fmla="*/ 11764 w 211596"/>
                <a:gd name="connsiteY11" fmla="*/ 84269 h 212586"/>
                <a:gd name="connsiteX12" fmla="*/ 901 w 211596"/>
                <a:gd name="connsiteY12" fmla="*/ 102782 h 212586"/>
                <a:gd name="connsiteX13" fmla="*/ 3457 w 211596"/>
                <a:gd name="connsiteY13" fmla="*/ 111720 h 212586"/>
                <a:gd name="connsiteX14" fmla="*/ 12402 w 211596"/>
                <a:gd name="connsiteY14" fmla="*/ 109166 h 212586"/>
                <a:gd name="connsiteX15" fmla="*/ 20070 w 211596"/>
                <a:gd name="connsiteY15" fmla="*/ 96398 h 212586"/>
                <a:gd name="connsiteX16" fmla="*/ 35406 w 211596"/>
                <a:gd name="connsiteY16" fmla="*/ 105336 h 212586"/>
                <a:gd name="connsiteX17" fmla="*/ 27738 w 211596"/>
                <a:gd name="connsiteY17" fmla="*/ 118104 h 212586"/>
                <a:gd name="connsiteX18" fmla="*/ 30294 w 211596"/>
                <a:gd name="connsiteY18" fmla="*/ 127041 h 212586"/>
                <a:gd name="connsiteX19" fmla="*/ 33489 w 211596"/>
                <a:gd name="connsiteY19" fmla="*/ 127680 h 212586"/>
                <a:gd name="connsiteX20" fmla="*/ 39240 w 211596"/>
                <a:gd name="connsiteY20" fmla="*/ 124488 h 212586"/>
                <a:gd name="connsiteX21" fmla="*/ 49464 w 211596"/>
                <a:gd name="connsiteY21" fmla="*/ 105974 h 212586"/>
                <a:gd name="connsiteX22" fmla="*/ 46908 w 211596"/>
                <a:gd name="connsiteY22" fmla="*/ 97037 h 212586"/>
                <a:gd name="connsiteX23" fmla="*/ 39879 w 211596"/>
                <a:gd name="connsiteY23" fmla="*/ 93206 h 212586"/>
                <a:gd name="connsiteX24" fmla="*/ 44352 w 211596"/>
                <a:gd name="connsiteY24" fmla="*/ 93845 h 212586"/>
                <a:gd name="connsiteX25" fmla="*/ 63522 w 211596"/>
                <a:gd name="connsiteY25" fmla="*/ 74693 h 212586"/>
                <a:gd name="connsiteX26" fmla="*/ 62244 w 211596"/>
                <a:gd name="connsiteY26" fmla="*/ 68309 h 212586"/>
                <a:gd name="connsiteX27" fmla="*/ 91638 w 211596"/>
                <a:gd name="connsiteY27" fmla="*/ 43411 h 212586"/>
                <a:gd name="connsiteX28" fmla="*/ 126143 w 211596"/>
                <a:gd name="connsiteY28" fmla="*/ 41496 h 212586"/>
                <a:gd name="connsiteX29" fmla="*/ 128699 w 211596"/>
                <a:gd name="connsiteY29" fmla="*/ 37665 h 212586"/>
                <a:gd name="connsiteX30" fmla="*/ 161927 w 211596"/>
                <a:gd name="connsiteY30" fmla="*/ 56817 h 212586"/>
                <a:gd name="connsiteX31" fmla="*/ 155537 w 211596"/>
                <a:gd name="connsiteY31" fmla="*/ 74693 h 212586"/>
                <a:gd name="connsiteX32" fmla="*/ 165122 w 211596"/>
                <a:gd name="connsiteY32" fmla="*/ 95760 h 212586"/>
                <a:gd name="connsiteX33" fmla="*/ 126782 w 211596"/>
                <a:gd name="connsiteY33" fmla="*/ 144916 h 212586"/>
                <a:gd name="connsiteX34" fmla="*/ 82692 w 211596"/>
                <a:gd name="connsiteY34" fmla="*/ 151939 h 212586"/>
                <a:gd name="connsiteX35" fmla="*/ 89721 w 211596"/>
                <a:gd name="connsiteY35" fmla="*/ 195988 h 212586"/>
                <a:gd name="connsiteX36" fmla="*/ 96750 w 211596"/>
                <a:gd name="connsiteY36" fmla="*/ 199819 h 212586"/>
                <a:gd name="connsiteX37" fmla="*/ 63522 w 211596"/>
                <a:gd name="connsiteY37" fmla="*/ 199819 h 212586"/>
                <a:gd name="connsiteX38" fmla="*/ 57132 w 211596"/>
                <a:gd name="connsiteY38" fmla="*/ 206203 h 212586"/>
                <a:gd name="connsiteX39" fmla="*/ 63522 w 211596"/>
                <a:gd name="connsiteY39" fmla="*/ 212587 h 212586"/>
                <a:gd name="connsiteX40" fmla="*/ 153620 w 211596"/>
                <a:gd name="connsiteY40" fmla="*/ 212587 h 212586"/>
                <a:gd name="connsiteX41" fmla="*/ 160010 w 211596"/>
                <a:gd name="connsiteY41" fmla="*/ 206203 h 212586"/>
                <a:gd name="connsiteX42" fmla="*/ 153620 w 211596"/>
                <a:gd name="connsiteY42" fmla="*/ 199819 h 212586"/>
                <a:gd name="connsiteX43" fmla="*/ 119753 w 211596"/>
                <a:gd name="connsiteY43" fmla="*/ 199819 h 212586"/>
                <a:gd name="connsiteX44" fmla="*/ 137645 w 211596"/>
                <a:gd name="connsiteY44" fmla="*/ 159600 h 212586"/>
                <a:gd name="connsiteX45" fmla="*/ 135089 w 211596"/>
                <a:gd name="connsiteY45" fmla="*/ 155131 h 212586"/>
                <a:gd name="connsiteX46" fmla="*/ 175985 w 211596"/>
                <a:gd name="connsiteY46" fmla="*/ 102782 h 212586"/>
                <a:gd name="connsiteX47" fmla="*/ 210490 w 211596"/>
                <a:gd name="connsiteY47" fmla="*/ 82992 h 212586"/>
                <a:gd name="connsiteX48" fmla="*/ 190682 w 211596"/>
                <a:gd name="connsiteY48" fmla="*/ 48518 h 212586"/>
                <a:gd name="connsiteX49" fmla="*/ 183653 w 211596"/>
                <a:gd name="connsiteY49" fmla="*/ 45965 h 212586"/>
                <a:gd name="connsiteX50" fmla="*/ 183653 w 211596"/>
                <a:gd name="connsiteY50" fmla="*/ 45965 h 212586"/>
                <a:gd name="connsiteX51" fmla="*/ 108251 w 211596"/>
                <a:gd name="connsiteY51" fmla="*/ 187689 h 212586"/>
                <a:gd name="connsiteX52" fmla="*/ 89721 w 211596"/>
                <a:gd name="connsiteY52" fmla="*/ 168537 h 212586"/>
                <a:gd name="connsiteX53" fmla="*/ 108891 w 211596"/>
                <a:gd name="connsiteY53" fmla="*/ 150024 h 212586"/>
                <a:gd name="connsiteX54" fmla="*/ 127421 w 211596"/>
                <a:gd name="connsiteY54" fmla="*/ 168537 h 212586"/>
                <a:gd name="connsiteX55" fmla="*/ 108251 w 211596"/>
                <a:gd name="connsiteY55" fmla="*/ 187689 h 212586"/>
                <a:gd name="connsiteX56" fmla="*/ 108251 w 211596"/>
                <a:gd name="connsiteY56" fmla="*/ 187689 h 212586"/>
                <a:gd name="connsiteX57" fmla="*/ 44352 w 211596"/>
                <a:gd name="connsiteY57" fmla="*/ 79800 h 212586"/>
                <a:gd name="connsiteX58" fmla="*/ 36684 w 211596"/>
                <a:gd name="connsiteY58" fmla="*/ 74693 h 212586"/>
                <a:gd name="connsiteX59" fmla="*/ 41796 w 211596"/>
                <a:gd name="connsiteY59" fmla="*/ 67032 h 212586"/>
                <a:gd name="connsiteX60" fmla="*/ 44352 w 211596"/>
                <a:gd name="connsiteY60" fmla="*/ 67032 h 212586"/>
                <a:gd name="connsiteX61" fmla="*/ 49464 w 211596"/>
                <a:gd name="connsiteY61" fmla="*/ 74693 h 212586"/>
                <a:gd name="connsiteX62" fmla="*/ 44352 w 211596"/>
                <a:gd name="connsiteY62" fmla="*/ 79800 h 212586"/>
                <a:gd name="connsiteX63" fmla="*/ 108251 w 211596"/>
                <a:gd name="connsiteY63" fmla="*/ 35750 h 212586"/>
                <a:gd name="connsiteX64" fmla="*/ 96750 w 211596"/>
                <a:gd name="connsiteY64" fmla="*/ 24259 h 212586"/>
                <a:gd name="connsiteX65" fmla="*/ 108251 w 211596"/>
                <a:gd name="connsiteY65" fmla="*/ 12768 h 212586"/>
                <a:gd name="connsiteX66" fmla="*/ 119753 w 211596"/>
                <a:gd name="connsiteY66" fmla="*/ 24259 h 212586"/>
                <a:gd name="connsiteX67" fmla="*/ 108251 w 211596"/>
                <a:gd name="connsiteY67" fmla="*/ 35750 h 212586"/>
                <a:gd name="connsiteX68" fmla="*/ 108251 w 211596"/>
                <a:gd name="connsiteY68" fmla="*/ 35750 h 212586"/>
                <a:gd name="connsiteX69" fmla="*/ 183653 w 211596"/>
                <a:gd name="connsiteY69" fmla="*/ 88737 h 212586"/>
                <a:gd name="connsiteX70" fmla="*/ 168317 w 211596"/>
                <a:gd name="connsiteY70" fmla="*/ 73416 h 212586"/>
                <a:gd name="connsiteX71" fmla="*/ 183653 w 211596"/>
                <a:gd name="connsiteY71" fmla="*/ 58094 h 212586"/>
                <a:gd name="connsiteX72" fmla="*/ 198989 w 211596"/>
                <a:gd name="connsiteY72" fmla="*/ 73416 h 212586"/>
                <a:gd name="connsiteX73" fmla="*/ 198989 w 211596"/>
                <a:gd name="connsiteY73" fmla="*/ 73416 h 212586"/>
                <a:gd name="connsiteX74" fmla="*/ 183653 w 211596"/>
                <a:gd name="connsiteY74" fmla="*/ 88737 h 212586"/>
                <a:gd name="connsiteX75" fmla="*/ 183653 w 211596"/>
                <a:gd name="connsiteY75" fmla="*/ 88737 h 212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211596" h="212586">
                  <a:moveTo>
                    <a:pt x="183653" y="45965"/>
                  </a:moveTo>
                  <a:cubicBezTo>
                    <a:pt x="179819" y="45965"/>
                    <a:pt x="176624" y="46603"/>
                    <a:pt x="172790" y="47880"/>
                  </a:cubicBezTo>
                  <a:lnTo>
                    <a:pt x="132533" y="24259"/>
                  </a:lnTo>
                  <a:cubicBezTo>
                    <a:pt x="132533" y="10853"/>
                    <a:pt x="121671" y="0"/>
                    <a:pt x="108251" y="0"/>
                  </a:cubicBezTo>
                  <a:cubicBezTo>
                    <a:pt x="94833" y="0"/>
                    <a:pt x="83970" y="10853"/>
                    <a:pt x="83970" y="24259"/>
                  </a:cubicBezTo>
                  <a:cubicBezTo>
                    <a:pt x="83970" y="26813"/>
                    <a:pt x="84609" y="29366"/>
                    <a:pt x="85248" y="31281"/>
                  </a:cubicBezTo>
                  <a:lnTo>
                    <a:pt x="54576" y="57456"/>
                  </a:lnTo>
                  <a:cubicBezTo>
                    <a:pt x="51381" y="55541"/>
                    <a:pt x="48186" y="54902"/>
                    <a:pt x="44991" y="54902"/>
                  </a:cubicBezTo>
                  <a:cubicBezTo>
                    <a:pt x="34128" y="54902"/>
                    <a:pt x="25822" y="63840"/>
                    <a:pt x="26460" y="74693"/>
                  </a:cubicBezTo>
                  <a:cubicBezTo>
                    <a:pt x="26460" y="79161"/>
                    <a:pt x="28377" y="84269"/>
                    <a:pt x="31572" y="87461"/>
                  </a:cubicBezTo>
                  <a:lnTo>
                    <a:pt x="20709" y="81715"/>
                  </a:lnTo>
                  <a:cubicBezTo>
                    <a:pt x="17514" y="79800"/>
                    <a:pt x="13680" y="81077"/>
                    <a:pt x="11764" y="84269"/>
                  </a:cubicBezTo>
                  <a:lnTo>
                    <a:pt x="901" y="102782"/>
                  </a:lnTo>
                  <a:cubicBezTo>
                    <a:pt x="-1016" y="105974"/>
                    <a:pt x="262" y="109804"/>
                    <a:pt x="3457" y="111720"/>
                  </a:cubicBezTo>
                  <a:cubicBezTo>
                    <a:pt x="6652" y="113635"/>
                    <a:pt x="10486" y="112358"/>
                    <a:pt x="12402" y="109166"/>
                  </a:cubicBezTo>
                  <a:lnTo>
                    <a:pt x="20070" y="96398"/>
                  </a:lnTo>
                  <a:lnTo>
                    <a:pt x="35406" y="105336"/>
                  </a:lnTo>
                  <a:lnTo>
                    <a:pt x="27738" y="118104"/>
                  </a:lnTo>
                  <a:cubicBezTo>
                    <a:pt x="25822" y="121296"/>
                    <a:pt x="27099" y="125126"/>
                    <a:pt x="30294" y="127041"/>
                  </a:cubicBezTo>
                  <a:cubicBezTo>
                    <a:pt x="30933" y="127680"/>
                    <a:pt x="32211" y="127680"/>
                    <a:pt x="33489" y="127680"/>
                  </a:cubicBezTo>
                  <a:cubicBezTo>
                    <a:pt x="36045" y="127680"/>
                    <a:pt x="37962" y="126403"/>
                    <a:pt x="39240" y="124488"/>
                  </a:cubicBezTo>
                  <a:lnTo>
                    <a:pt x="49464" y="105974"/>
                  </a:lnTo>
                  <a:cubicBezTo>
                    <a:pt x="51381" y="102782"/>
                    <a:pt x="50103" y="98952"/>
                    <a:pt x="46908" y="97037"/>
                  </a:cubicBezTo>
                  <a:lnTo>
                    <a:pt x="39879" y="93206"/>
                  </a:lnTo>
                  <a:cubicBezTo>
                    <a:pt x="41157" y="93845"/>
                    <a:pt x="43074" y="93845"/>
                    <a:pt x="44352" y="93845"/>
                  </a:cubicBezTo>
                  <a:cubicBezTo>
                    <a:pt x="55215" y="93845"/>
                    <a:pt x="63522" y="85545"/>
                    <a:pt x="63522" y="74693"/>
                  </a:cubicBezTo>
                  <a:cubicBezTo>
                    <a:pt x="63522" y="72777"/>
                    <a:pt x="62883" y="70224"/>
                    <a:pt x="62244" y="68309"/>
                  </a:cubicBezTo>
                  <a:lnTo>
                    <a:pt x="91638" y="43411"/>
                  </a:lnTo>
                  <a:cubicBezTo>
                    <a:pt x="101223" y="52349"/>
                    <a:pt x="116558" y="51710"/>
                    <a:pt x="126143" y="41496"/>
                  </a:cubicBezTo>
                  <a:cubicBezTo>
                    <a:pt x="127421" y="40219"/>
                    <a:pt x="128061" y="38942"/>
                    <a:pt x="128699" y="37665"/>
                  </a:cubicBezTo>
                  <a:lnTo>
                    <a:pt x="161927" y="56817"/>
                  </a:lnTo>
                  <a:cubicBezTo>
                    <a:pt x="158093" y="61925"/>
                    <a:pt x="155537" y="67670"/>
                    <a:pt x="155537" y="74693"/>
                  </a:cubicBezTo>
                  <a:cubicBezTo>
                    <a:pt x="155537" y="82992"/>
                    <a:pt x="159371" y="90653"/>
                    <a:pt x="165122" y="95760"/>
                  </a:cubicBezTo>
                  <a:lnTo>
                    <a:pt x="126782" y="144916"/>
                  </a:lnTo>
                  <a:cubicBezTo>
                    <a:pt x="112725" y="134702"/>
                    <a:pt x="92916" y="137894"/>
                    <a:pt x="82692" y="151939"/>
                  </a:cubicBezTo>
                  <a:cubicBezTo>
                    <a:pt x="72468" y="165984"/>
                    <a:pt x="75663" y="185774"/>
                    <a:pt x="89721" y="195988"/>
                  </a:cubicBezTo>
                  <a:cubicBezTo>
                    <a:pt x="91638" y="197265"/>
                    <a:pt x="94194" y="198542"/>
                    <a:pt x="96750" y="199819"/>
                  </a:cubicBezTo>
                  <a:lnTo>
                    <a:pt x="63522" y="199819"/>
                  </a:lnTo>
                  <a:cubicBezTo>
                    <a:pt x="59688" y="199819"/>
                    <a:pt x="57132" y="202372"/>
                    <a:pt x="57132" y="206203"/>
                  </a:cubicBezTo>
                  <a:cubicBezTo>
                    <a:pt x="57132" y="210033"/>
                    <a:pt x="59688" y="212587"/>
                    <a:pt x="63522" y="212587"/>
                  </a:cubicBezTo>
                  <a:lnTo>
                    <a:pt x="153620" y="212587"/>
                  </a:lnTo>
                  <a:cubicBezTo>
                    <a:pt x="157454" y="212587"/>
                    <a:pt x="160010" y="210033"/>
                    <a:pt x="160010" y="206203"/>
                  </a:cubicBezTo>
                  <a:cubicBezTo>
                    <a:pt x="160010" y="202372"/>
                    <a:pt x="157454" y="199819"/>
                    <a:pt x="153620" y="199819"/>
                  </a:cubicBezTo>
                  <a:lnTo>
                    <a:pt x="119753" y="199819"/>
                  </a:lnTo>
                  <a:cubicBezTo>
                    <a:pt x="135728" y="193435"/>
                    <a:pt x="144035" y="175560"/>
                    <a:pt x="137645" y="159600"/>
                  </a:cubicBezTo>
                  <a:cubicBezTo>
                    <a:pt x="137006" y="157684"/>
                    <a:pt x="136367" y="156408"/>
                    <a:pt x="135089" y="155131"/>
                  </a:cubicBezTo>
                  <a:lnTo>
                    <a:pt x="175985" y="102782"/>
                  </a:lnTo>
                  <a:cubicBezTo>
                    <a:pt x="190682" y="106612"/>
                    <a:pt x="206017" y="97675"/>
                    <a:pt x="210490" y="82992"/>
                  </a:cubicBezTo>
                  <a:cubicBezTo>
                    <a:pt x="214964" y="68309"/>
                    <a:pt x="205379" y="52987"/>
                    <a:pt x="190682" y="48518"/>
                  </a:cubicBezTo>
                  <a:cubicBezTo>
                    <a:pt x="188765" y="45326"/>
                    <a:pt x="186209" y="45326"/>
                    <a:pt x="183653" y="45965"/>
                  </a:cubicBezTo>
                  <a:lnTo>
                    <a:pt x="183653" y="45965"/>
                  </a:lnTo>
                  <a:close/>
                  <a:moveTo>
                    <a:pt x="108251" y="187689"/>
                  </a:moveTo>
                  <a:cubicBezTo>
                    <a:pt x="98028" y="187689"/>
                    <a:pt x="89721" y="178752"/>
                    <a:pt x="89721" y="168537"/>
                  </a:cubicBezTo>
                  <a:cubicBezTo>
                    <a:pt x="89721" y="158323"/>
                    <a:pt x="98667" y="150024"/>
                    <a:pt x="108891" y="150024"/>
                  </a:cubicBezTo>
                  <a:cubicBezTo>
                    <a:pt x="119114" y="150024"/>
                    <a:pt x="127421" y="158323"/>
                    <a:pt x="127421" y="168537"/>
                  </a:cubicBezTo>
                  <a:cubicBezTo>
                    <a:pt x="127421" y="179390"/>
                    <a:pt x="119114" y="187689"/>
                    <a:pt x="108251" y="187689"/>
                  </a:cubicBezTo>
                  <a:cubicBezTo>
                    <a:pt x="108251" y="187689"/>
                    <a:pt x="108251" y="187689"/>
                    <a:pt x="108251" y="187689"/>
                  </a:cubicBezTo>
                  <a:close/>
                  <a:moveTo>
                    <a:pt x="44352" y="79800"/>
                  </a:moveTo>
                  <a:cubicBezTo>
                    <a:pt x="41157" y="80438"/>
                    <a:pt x="37323" y="78523"/>
                    <a:pt x="36684" y="74693"/>
                  </a:cubicBezTo>
                  <a:cubicBezTo>
                    <a:pt x="36045" y="71501"/>
                    <a:pt x="37962" y="67670"/>
                    <a:pt x="41796" y="67032"/>
                  </a:cubicBezTo>
                  <a:cubicBezTo>
                    <a:pt x="42435" y="67032"/>
                    <a:pt x="43713" y="67032"/>
                    <a:pt x="44352" y="67032"/>
                  </a:cubicBezTo>
                  <a:cubicBezTo>
                    <a:pt x="47547" y="67670"/>
                    <a:pt x="50103" y="71501"/>
                    <a:pt x="49464" y="74693"/>
                  </a:cubicBezTo>
                  <a:cubicBezTo>
                    <a:pt x="48825" y="77885"/>
                    <a:pt x="46908" y="79161"/>
                    <a:pt x="44352" y="79800"/>
                  </a:cubicBezTo>
                  <a:close/>
                  <a:moveTo>
                    <a:pt x="108251" y="35750"/>
                  </a:moveTo>
                  <a:cubicBezTo>
                    <a:pt x="101862" y="35750"/>
                    <a:pt x="96750" y="30643"/>
                    <a:pt x="96750" y="24259"/>
                  </a:cubicBezTo>
                  <a:cubicBezTo>
                    <a:pt x="96750" y="17875"/>
                    <a:pt x="101862" y="12768"/>
                    <a:pt x="108251" y="12768"/>
                  </a:cubicBezTo>
                  <a:cubicBezTo>
                    <a:pt x="114641" y="12768"/>
                    <a:pt x="119753" y="17875"/>
                    <a:pt x="119753" y="24259"/>
                  </a:cubicBezTo>
                  <a:cubicBezTo>
                    <a:pt x="119753" y="30643"/>
                    <a:pt x="114641" y="35750"/>
                    <a:pt x="108251" y="35750"/>
                  </a:cubicBezTo>
                  <a:lnTo>
                    <a:pt x="108251" y="35750"/>
                  </a:lnTo>
                  <a:close/>
                  <a:moveTo>
                    <a:pt x="183653" y="88737"/>
                  </a:moveTo>
                  <a:cubicBezTo>
                    <a:pt x="175346" y="88737"/>
                    <a:pt x="168317" y="81715"/>
                    <a:pt x="168317" y="73416"/>
                  </a:cubicBezTo>
                  <a:cubicBezTo>
                    <a:pt x="168317" y="65117"/>
                    <a:pt x="175346" y="58094"/>
                    <a:pt x="183653" y="58094"/>
                  </a:cubicBezTo>
                  <a:cubicBezTo>
                    <a:pt x="191960" y="58094"/>
                    <a:pt x="198989" y="65117"/>
                    <a:pt x="198989" y="73416"/>
                  </a:cubicBezTo>
                  <a:cubicBezTo>
                    <a:pt x="198989" y="73416"/>
                    <a:pt x="198989" y="73416"/>
                    <a:pt x="198989" y="73416"/>
                  </a:cubicBezTo>
                  <a:cubicBezTo>
                    <a:pt x="198989" y="82353"/>
                    <a:pt x="191960" y="88737"/>
                    <a:pt x="183653" y="88737"/>
                  </a:cubicBezTo>
                  <a:lnTo>
                    <a:pt x="183653" y="88737"/>
                  </a:lnTo>
                  <a:close/>
                </a:path>
              </a:pathLst>
            </a:custGeom>
            <a:solidFill>
              <a:schemeClr val="bg1">
                <a:lumMod val="50000"/>
              </a:schemeClr>
            </a:solidFill>
            <a:ln w="6390" cap="flat">
              <a:noFill/>
              <a:prstDash val="solid"/>
              <a:miter/>
            </a:ln>
          </p:spPr>
          <p:txBody>
            <a:bodyPr rtlCol="0" anchor="ctr"/>
            <a:lstStyle/>
            <a:p>
              <a:endParaRPr lang="en-US"/>
            </a:p>
          </p:txBody>
        </p:sp>
      </p:grpSp>
      <p:sp>
        <p:nvSpPr>
          <p:cNvPr id="187" name="순서도: 자기 디스크 186">
            <a:extLst>
              <a:ext uri="{FF2B5EF4-FFF2-40B4-BE49-F238E27FC236}">
                <a16:creationId xmlns:a16="http://schemas.microsoft.com/office/drawing/2014/main" id="{7AF76B7F-D921-4E2B-8E7E-69298A65E6BB}"/>
              </a:ext>
            </a:extLst>
          </p:cNvPr>
          <p:cNvSpPr/>
          <p:nvPr/>
        </p:nvSpPr>
        <p:spPr bwMode="gray">
          <a:xfrm>
            <a:off x="2868743" y="2578471"/>
            <a:ext cx="646126" cy="270286"/>
          </a:xfrm>
          <a:prstGeom prst="flowChartMagneticDisk">
            <a:avLst/>
          </a:prstGeom>
          <a:solidFill>
            <a:schemeClr val="bg1"/>
          </a:solidFill>
          <a:ln w="6350">
            <a:solidFill>
              <a:schemeClr val="bg1">
                <a:lumMod val="75000"/>
              </a:schemeClr>
            </a:solidFill>
          </a:ln>
        </p:spPr>
        <p:txBody>
          <a:bodyPr vert="horz" wrap="square" lIns="0" tIns="36000" rIns="0" bIns="0" rtlCol="0" anchor="ctr">
            <a:noAutofit/>
          </a:bodyPr>
          <a:lstStyle/>
          <a:p>
            <a:pPr algn="ctr" defTabSz="727510" latinLnBrk="0">
              <a:spcAft>
                <a:spcPts val="300"/>
              </a:spcAft>
              <a:buSzPct val="100000"/>
              <a:defRPr/>
            </a:pPr>
            <a:r>
              <a:rPr lang="en-US" sz="1050" dirty="0" smtClean="0">
                <a:latin typeface="맑은 고딕" panose="020B0503020000020004" pitchFamily="50" charset="-127"/>
                <a:ea typeface="맑은 고딕" panose="020B0503020000020004" pitchFamily="50" charset="-127"/>
              </a:rPr>
              <a:t>MES</a:t>
            </a:r>
            <a:endParaRPr lang="nl-NL" sz="1050" dirty="0">
              <a:latin typeface="맑은 고딕" panose="020B0503020000020004" pitchFamily="50" charset="-127"/>
              <a:ea typeface="맑은 고딕" panose="020B0503020000020004" pitchFamily="50" charset="-127"/>
            </a:endParaRPr>
          </a:p>
        </p:txBody>
      </p:sp>
      <p:sp>
        <p:nvSpPr>
          <p:cNvPr id="188" name="순서도: 자기 디스크 187">
            <a:extLst>
              <a:ext uri="{FF2B5EF4-FFF2-40B4-BE49-F238E27FC236}">
                <a16:creationId xmlns:a16="http://schemas.microsoft.com/office/drawing/2014/main" id="{7AF76B7F-D921-4E2B-8E7E-69298A65E6BB}"/>
              </a:ext>
            </a:extLst>
          </p:cNvPr>
          <p:cNvSpPr/>
          <p:nvPr/>
        </p:nvSpPr>
        <p:spPr bwMode="gray">
          <a:xfrm>
            <a:off x="2868743" y="2888163"/>
            <a:ext cx="646126" cy="270286"/>
          </a:xfrm>
          <a:prstGeom prst="flowChartMagneticDisk">
            <a:avLst/>
          </a:prstGeom>
          <a:solidFill>
            <a:schemeClr val="bg1"/>
          </a:solidFill>
          <a:ln w="6350">
            <a:solidFill>
              <a:schemeClr val="bg1">
                <a:lumMod val="75000"/>
              </a:schemeClr>
            </a:solidFill>
          </a:ln>
        </p:spPr>
        <p:txBody>
          <a:bodyPr vert="horz" wrap="square" lIns="0" tIns="36000" rIns="0" bIns="0" rtlCol="0" anchor="ctr">
            <a:noAutofit/>
          </a:bodyPr>
          <a:lstStyle/>
          <a:p>
            <a:pPr algn="ctr" defTabSz="727510" latinLnBrk="0">
              <a:spcAft>
                <a:spcPts val="300"/>
              </a:spcAft>
              <a:buSzPct val="100000"/>
              <a:defRPr/>
            </a:pPr>
            <a:r>
              <a:rPr lang="en-US" sz="1050" dirty="0" smtClean="0">
                <a:latin typeface="맑은 고딕" panose="020B0503020000020004" pitchFamily="50" charset="-127"/>
                <a:ea typeface="맑은 고딕" panose="020B0503020000020004" pitchFamily="50" charset="-127"/>
              </a:rPr>
              <a:t>FDC</a:t>
            </a:r>
            <a:endParaRPr lang="nl-NL" sz="1050" dirty="0">
              <a:latin typeface="맑은 고딕" panose="020B0503020000020004" pitchFamily="50" charset="-127"/>
              <a:ea typeface="맑은 고딕" panose="020B0503020000020004" pitchFamily="50" charset="-127"/>
            </a:endParaRPr>
          </a:p>
        </p:txBody>
      </p:sp>
      <p:sp>
        <p:nvSpPr>
          <p:cNvPr id="189" name="순서도: 자기 디스크 188">
            <a:extLst>
              <a:ext uri="{FF2B5EF4-FFF2-40B4-BE49-F238E27FC236}">
                <a16:creationId xmlns:a16="http://schemas.microsoft.com/office/drawing/2014/main" id="{7AF76B7F-D921-4E2B-8E7E-69298A65E6BB}"/>
              </a:ext>
            </a:extLst>
          </p:cNvPr>
          <p:cNvSpPr/>
          <p:nvPr/>
        </p:nvSpPr>
        <p:spPr bwMode="gray">
          <a:xfrm>
            <a:off x="2868743" y="3197856"/>
            <a:ext cx="646126" cy="270286"/>
          </a:xfrm>
          <a:prstGeom prst="flowChartMagneticDisk">
            <a:avLst/>
          </a:prstGeom>
          <a:solidFill>
            <a:schemeClr val="bg1"/>
          </a:solidFill>
          <a:ln w="6350">
            <a:solidFill>
              <a:schemeClr val="bg1">
                <a:lumMod val="75000"/>
              </a:schemeClr>
            </a:solidFill>
          </a:ln>
        </p:spPr>
        <p:txBody>
          <a:bodyPr vert="horz" wrap="square" lIns="0" tIns="36000" rIns="0" bIns="0" rtlCol="0" anchor="ctr">
            <a:noAutofit/>
          </a:bodyPr>
          <a:lstStyle/>
          <a:p>
            <a:pPr algn="ctr" defTabSz="727510" latinLnBrk="0">
              <a:spcAft>
                <a:spcPts val="300"/>
              </a:spcAft>
              <a:buSzPct val="100000"/>
              <a:defRPr/>
            </a:pPr>
            <a:r>
              <a:rPr lang="en-US" sz="1050" dirty="0" smtClean="0">
                <a:latin typeface="맑은 고딕" panose="020B0503020000020004" pitchFamily="50" charset="-127"/>
                <a:ea typeface="맑은 고딕" panose="020B0503020000020004" pitchFamily="50" charset="-127"/>
              </a:rPr>
              <a:t>APC</a:t>
            </a:r>
            <a:endParaRPr lang="nl-NL" sz="1050" dirty="0">
              <a:latin typeface="맑은 고딕" panose="020B0503020000020004" pitchFamily="50" charset="-127"/>
              <a:ea typeface="맑은 고딕" panose="020B0503020000020004" pitchFamily="50" charset="-127"/>
            </a:endParaRPr>
          </a:p>
        </p:txBody>
      </p:sp>
      <p:sp>
        <p:nvSpPr>
          <p:cNvPr id="190" name="순서도: 자기 디스크 189">
            <a:extLst>
              <a:ext uri="{FF2B5EF4-FFF2-40B4-BE49-F238E27FC236}">
                <a16:creationId xmlns:a16="http://schemas.microsoft.com/office/drawing/2014/main" id="{7AF76B7F-D921-4E2B-8E7E-69298A65E6BB}"/>
              </a:ext>
            </a:extLst>
          </p:cNvPr>
          <p:cNvSpPr/>
          <p:nvPr/>
        </p:nvSpPr>
        <p:spPr bwMode="gray">
          <a:xfrm>
            <a:off x="2868743" y="3507549"/>
            <a:ext cx="646126" cy="270286"/>
          </a:xfrm>
          <a:prstGeom prst="flowChartMagneticDisk">
            <a:avLst/>
          </a:prstGeom>
          <a:solidFill>
            <a:schemeClr val="bg1"/>
          </a:solidFill>
          <a:ln w="6350">
            <a:solidFill>
              <a:schemeClr val="bg1">
                <a:lumMod val="75000"/>
              </a:schemeClr>
            </a:solidFill>
          </a:ln>
        </p:spPr>
        <p:txBody>
          <a:bodyPr vert="horz" wrap="square" lIns="0" tIns="36000" rIns="0" bIns="0" rtlCol="0" anchor="ctr">
            <a:noAutofit/>
          </a:bodyPr>
          <a:lstStyle/>
          <a:p>
            <a:pPr algn="ctr" defTabSz="727510" latinLnBrk="0">
              <a:spcAft>
                <a:spcPts val="300"/>
              </a:spcAft>
              <a:buSzPct val="100000"/>
              <a:defRPr/>
            </a:pPr>
            <a:r>
              <a:rPr lang="en-US" sz="1050" dirty="0" smtClean="0">
                <a:latin typeface="맑은 고딕" panose="020B0503020000020004" pitchFamily="50" charset="-127"/>
                <a:ea typeface="맑은 고딕" panose="020B0503020000020004" pitchFamily="50" charset="-127"/>
              </a:rPr>
              <a:t>…</a:t>
            </a:r>
            <a:endParaRPr lang="nl-NL" sz="1050" dirty="0">
              <a:latin typeface="맑은 고딕" panose="020B0503020000020004" pitchFamily="50" charset="-127"/>
              <a:ea typeface="맑은 고딕" panose="020B0503020000020004" pitchFamily="50" charset="-127"/>
            </a:endParaRPr>
          </a:p>
        </p:txBody>
      </p:sp>
      <p:sp>
        <p:nvSpPr>
          <p:cNvPr id="191" name="TextBox 190"/>
          <p:cNvSpPr txBox="1"/>
          <p:nvPr/>
        </p:nvSpPr>
        <p:spPr>
          <a:xfrm>
            <a:off x="1205263" y="5410894"/>
            <a:ext cx="418373" cy="425245"/>
          </a:xfrm>
          <a:prstGeom prst="rect">
            <a:avLst/>
          </a:prstGeom>
          <a:noFill/>
        </p:spPr>
        <p:txBody>
          <a:bodyPr wrap="square" lIns="0" rIns="0" rtlCol="0" anchor="ctr" anchorCtr="0">
            <a:spAutoFit/>
          </a:bodyPr>
          <a:lstStyle/>
          <a:p>
            <a:pPr>
              <a:spcAft>
                <a:spcPts val="300"/>
              </a:spcAft>
            </a:pPr>
            <a:r>
              <a:rPr lang="en-US" altLang="ko-KR" sz="900" spc="-40" dirty="0" smtClean="0">
                <a:latin typeface="맑은 고딕" panose="020B0503020000020004" pitchFamily="50" charset="-127"/>
                <a:ea typeface="맑은 고딕" panose="020B0503020000020004" pitchFamily="50" charset="-127"/>
              </a:rPr>
              <a:t>File/</a:t>
            </a:r>
          </a:p>
          <a:p>
            <a:pPr>
              <a:spcAft>
                <a:spcPts val="300"/>
              </a:spcAft>
            </a:pPr>
            <a:r>
              <a:rPr lang="en-US" altLang="ko-KR" sz="900" spc="-40" dirty="0" smtClean="0">
                <a:latin typeface="맑은 고딕" panose="020B0503020000020004" pitchFamily="50" charset="-127"/>
                <a:ea typeface="맑은 고딕" panose="020B0503020000020004" pitchFamily="50" charset="-127"/>
              </a:rPr>
              <a:t>Image</a:t>
            </a:r>
            <a:endParaRPr lang="ko-KR" altLang="en-US" sz="900" spc="-40" dirty="0">
              <a:latin typeface="맑은 고딕" panose="020B0503020000020004" pitchFamily="50" charset="-127"/>
              <a:ea typeface="맑은 고딕" panose="020B0503020000020004" pitchFamily="50" charset="-127"/>
            </a:endParaRPr>
          </a:p>
        </p:txBody>
      </p:sp>
      <p:sp>
        <p:nvSpPr>
          <p:cNvPr id="192" name="직사각형 191">
            <a:extLst>
              <a:ext uri="{FF2B5EF4-FFF2-40B4-BE49-F238E27FC236}">
                <a16:creationId xmlns:a16="http://schemas.microsoft.com/office/drawing/2014/main" id="{092726A9-8410-4665-801A-56C80FCE9F77}"/>
              </a:ext>
            </a:extLst>
          </p:cNvPr>
          <p:cNvSpPr/>
          <p:nvPr/>
        </p:nvSpPr>
        <p:spPr bwMode="gray">
          <a:xfrm>
            <a:off x="318705" y="5905720"/>
            <a:ext cx="903016" cy="270203"/>
          </a:xfrm>
          <a:prstGeom prst="rect">
            <a:avLst/>
          </a:prstGeom>
          <a:solidFill>
            <a:srgbClr val="FFFFFF"/>
          </a:solidFill>
          <a:ln w="9525">
            <a:noFill/>
          </a:ln>
        </p:spPr>
        <p:txBody>
          <a:bodyPr vert="horz" wrap="square" lIns="0" tIns="72000" rIns="0" bIns="72000" rtlCol="0" anchor="ctr" anchorCtr="0">
            <a:noAutofit/>
          </a:bodyPr>
          <a:lstStyle/>
          <a:p>
            <a:pPr marL="0" marR="0" lvl="0" indent="0" algn="ctr" defTabSz="727510" eaLnBrk="1" fontAlgn="auto" latinLnBrk="0" hangingPunct="1">
              <a:lnSpc>
                <a:spcPct val="100000"/>
              </a:lnSpc>
              <a:spcBef>
                <a:spcPts val="0"/>
              </a:spcBef>
              <a:spcAft>
                <a:spcPts val="300"/>
              </a:spcAft>
              <a:buClrTx/>
              <a:buSzPct val="100000"/>
              <a:buFontTx/>
              <a:buNone/>
              <a:tabLst/>
              <a:defRPr/>
            </a:pPr>
            <a:r>
              <a:rPr lang="en-US" sz="1200" b="1" dirty="0" smtClean="0">
                <a:latin typeface="맑은 고딕" panose="020B0503020000020004" pitchFamily="50" charset="-127"/>
                <a:ea typeface="맑은 고딕" panose="020B0503020000020004" pitchFamily="50" charset="-127"/>
              </a:rPr>
              <a:t>Fab/</a:t>
            </a:r>
            <a:r>
              <a:rPr lang="en-US" altLang="ko-KR" sz="1200" b="1" dirty="0" smtClean="0">
                <a:latin typeface="맑은 고딕" panose="020B0503020000020004" pitchFamily="50" charset="-127"/>
                <a:ea typeface="맑은 고딕" panose="020B0503020000020004" pitchFamily="50" charset="-127"/>
              </a:rPr>
              <a:t>R&amp;D</a:t>
            </a:r>
            <a:endParaRPr lang="nl-NL" sz="1200" b="1" dirty="0">
              <a:latin typeface="맑은 고딕" panose="020B0503020000020004" pitchFamily="50" charset="-127"/>
              <a:ea typeface="맑은 고딕" panose="020B0503020000020004" pitchFamily="50" charset="-127"/>
            </a:endParaRPr>
          </a:p>
        </p:txBody>
      </p:sp>
      <p:cxnSp>
        <p:nvCxnSpPr>
          <p:cNvPr id="193" name="직선 화살표 연결선 192"/>
          <p:cNvCxnSpPr>
            <a:stCxn id="197" idx="7"/>
            <a:endCxn id="208" idx="1"/>
          </p:cNvCxnSpPr>
          <p:nvPr/>
        </p:nvCxnSpPr>
        <p:spPr>
          <a:xfrm flipV="1">
            <a:off x="1124086" y="5633837"/>
            <a:ext cx="2641579" cy="2309"/>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94" name="그룹 193"/>
          <p:cNvGrpSpPr/>
          <p:nvPr/>
        </p:nvGrpSpPr>
        <p:grpSpPr>
          <a:xfrm>
            <a:off x="532503" y="5481205"/>
            <a:ext cx="591688" cy="413540"/>
            <a:chOff x="2501445" y="2662598"/>
            <a:chExt cx="1942711" cy="1302101"/>
          </a:xfrm>
        </p:grpSpPr>
        <p:sp>
          <p:nvSpPr>
            <p:cNvPr id="195" name="Graphic 4">
              <a:extLst>
                <a:ext uri="{FF2B5EF4-FFF2-40B4-BE49-F238E27FC236}">
                  <a16:creationId xmlns:a16="http://schemas.microsoft.com/office/drawing/2014/main" id="{25027C9B-0CB9-5D4C-8904-487225FF9F82}"/>
                </a:ext>
              </a:extLst>
            </p:cNvPr>
            <p:cNvSpPr/>
            <p:nvPr/>
          </p:nvSpPr>
          <p:spPr>
            <a:xfrm>
              <a:off x="3853448" y="2947887"/>
              <a:ext cx="178163" cy="420291"/>
            </a:xfrm>
            <a:custGeom>
              <a:avLst/>
              <a:gdLst>
                <a:gd name="connsiteX0" fmla="*/ 10863 w 19091"/>
                <a:gd name="connsiteY0" fmla="*/ 1915 h 45036"/>
                <a:gd name="connsiteX1" fmla="*/ 1917 w 19091"/>
                <a:gd name="connsiteY1" fmla="*/ 1915 h 45036"/>
                <a:gd name="connsiteX2" fmla="*/ 1917 w 19091"/>
                <a:gd name="connsiteY2" fmla="*/ 10853 h 45036"/>
                <a:gd name="connsiteX3" fmla="*/ 1917 w 19091"/>
                <a:gd name="connsiteY3" fmla="*/ 10853 h 45036"/>
                <a:gd name="connsiteX4" fmla="*/ 1917 w 19091"/>
                <a:gd name="connsiteY4" fmla="*/ 34474 h 45036"/>
                <a:gd name="connsiteX5" fmla="*/ 2556 w 19091"/>
                <a:gd name="connsiteY5" fmla="*/ 43411 h 45036"/>
                <a:gd name="connsiteX6" fmla="*/ 11502 w 19091"/>
                <a:gd name="connsiteY6" fmla="*/ 42773 h 45036"/>
                <a:gd name="connsiteX7" fmla="*/ 10863 w 19091"/>
                <a:gd name="connsiteY7" fmla="*/ 1915 h 4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91" h="45036">
                  <a:moveTo>
                    <a:pt x="10863" y="1915"/>
                  </a:moveTo>
                  <a:cubicBezTo>
                    <a:pt x="8307" y="-638"/>
                    <a:pt x="4473" y="-638"/>
                    <a:pt x="1917" y="1915"/>
                  </a:cubicBezTo>
                  <a:cubicBezTo>
                    <a:pt x="-639" y="4469"/>
                    <a:pt x="-639" y="8299"/>
                    <a:pt x="1917" y="10853"/>
                  </a:cubicBezTo>
                  <a:lnTo>
                    <a:pt x="1917" y="10853"/>
                  </a:lnTo>
                  <a:cubicBezTo>
                    <a:pt x="8307" y="17237"/>
                    <a:pt x="8307" y="27451"/>
                    <a:pt x="1917" y="34474"/>
                  </a:cubicBezTo>
                  <a:cubicBezTo>
                    <a:pt x="-639" y="37027"/>
                    <a:pt x="0" y="41496"/>
                    <a:pt x="2556" y="43411"/>
                  </a:cubicBezTo>
                  <a:cubicBezTo>
                    <a:pt x="5112" y="45965"/>
                    <a:pt x="9585" y="45326"/>
                    <a:pt x="11502" y="42773"/>
                  </a:cubicBezTo>
                  <a:cubicBezTo>
                    <a:pt x="21726" y="30643"/>
                    <a:pt x="21726" y="12768"/>
                    <a:pt x="10863" y="1915"/>
                  </a:cubicBezTo>
                  <a:close/>
                </a:path>
              </a:pathLst>
            </a:custGeom>
            <a:solidFill>
              <a:schemeClr val="bg1">
                <a:lumMod val="50000"/>
              </a:schemeClr>
            </a:solidFill>
            <a:ln w="6390" cap="flat">
              <a:noFill/>
              <a:prstDash val="solid"/>
              <a:miter/>
            </a:ln>
          </p:spPr>
          <p:txBody>
            <a:bodyPr rtlCol="0" anchor="ctr"/>
            <a:lstStyle/>
            <a:p>
              <a:endParaRPr lang="en-US"/>
            </a:p>
          </p:txBody>
        </p:sp>
        <p:sp>
          <p:nvSpPr>
            <p:cNvPr id="196" name="Graphic 4">
              <a:extLst>
                <a:ext uri="{FF2B5EF4-FFF2-40B4-BE49-F238E27FC236}">
                  <a16:creationId xmlns:a16="http://schemas.microsoft.com/office/drawing/2014/main" id="{FDCF2699-21C7-9A48-A788-2DA6FC52622C}"/>
                </a:ext>
              </a:extLst>
            </p:cNvPr>
            <p:cNvSpPr/>
            <p:nvPr/>
          </p:nvSpPr>
          <p:spPr>
            <a:xfrm>
              <a:off x="4008486" y="2798943"/>
              <a:ext cx="244488" cy="703004"/>
            </a:xfrm>
            <a:custGeom>
              <a:avLst/>
              <a:gdLst>
                <a:gd name="connsiteX0" fmla="*/ 10863 w 26198"/>
                <a:gd name="connsiteY0" fmla="*/ 1915 h 75330"/>
                <a:gd name="connsiteX1" fmla="*/ 1917 w 26198"/>
                <a:gd name="connsiteY1" fmla="*/ 1915 h 75330"/>
                <a:gd name="connsiteX2" fmla="*/ 1917 w 26198"/>
                <a:gd name="connsiteY2" fmla="*/ 10853 h 75330"/>
                <a:gd name="connsiteX3" fmla="*/ 1917 w 26198"/>
                <a:gd name="connsiteY3" fmla="*/ 10853 h 75330"/>
                <a:gd name="connsiteX4" fmla="*/ 13419 w 26198"/>
                <a:gd name="connsiteY4" fmla="*/ 38304 h 75330"/>
                <a:gd name="connsiteX5" fmla="*/ 2556 w 26198"/>
                <a:gd name="connsiteY5" fmla="*/ 64478 h 75330"/>
                <a:gd name="connsiteX6" fmla="*/ 2556 w 26198"/>
                <a:gd name="connsiteY6" fmla="*/ 73416 h 75330"/>
                <a:gd name="connsiteX7" fmla="*/ 7029 w 26198"/>
                <a:gd name="connsiteY7" fmla="*/ 75331 h 75330"/>
                <a:gd name="connsiteX8" fmla="*/ 11502 w 26198"/>
                <a:gd name="connsiteY8" fmla="*/ 73416 h 75330"/>
                <a:gd name="connsiteX9" fmla="*/ 26199 w 26198"/>
                <a:gd name="connsiteY9" fmla="*/ 38304 h 75330"/>
                <a:gd name="connsiteX10" fmla="*/ 10863 w 26198"/>
                <a:gd name="connsiteY10" fmla="*/ 1915 h 7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198" h="75330">
                  <a:moveTo>
                    <a:pt x="10863" y="1915"/>
                  </a:moveTo>
                  <a:cubicBezTo>
                    <a:pt x="8307" y="-638"/>
                    <a:pt x="4473" y="-638"/>
                    <a:pt x="1917" y="1915"/>
                  </a:cubicBezTo>
                  <a:cubicBezTo>
                    <a:pt x="-639" y="4469"/>
                    <a:pt x="-639" y="8299"/>
                    <a:pt x="1917" y="10853"/>
                  </a:cubicBezTo>
                  <a:lnTo>
                    <a:pt x="1917" y="10853"/>
                  </a:lnTo>
                  <a:cubicBezTo>
                    <a:pt x="8946" y="17875"/>
                    <a:pt x="13419" y="28090"/>
                    <a:pt x="13419" y="38304"/>
                  </a:cubicBezTo>
                  <a:cubicBezTo>
                    <a:pt x="12780" y="47880"/>
                    <a:pt x="8946" y="57456"/>
                    <a:pt x="2556" y="64478"/>
                  </a:cubicBezTo>
                  <a:cubicBezTo>
                    <a:pt x="0" y="67032"/>
                    <a:pt x="0" y="70862"/>
                    <a:pt x="2556" y="73416"/>
                  </a:cubicBezTo>
                  <a:cubicBezTo>
                    <a:pt x="3834" y="74693"/>
                    <a:pt x="5112" y="75331"/>
                    <a:pt x="7029" y="75331"/>
                  </a:cubicBezTo>
                  <a:cubicBezTo>
                    <a:pt x="8946" y="75331"/>
                    <a:pt x="10224" y="74693"/>
                    <a:pt x="11502" y="73416"/>
                  </a:cubicBezTo>
                  <a:cubicBezTo>
                    <a:pt x="20448" y="63840"/>
                    <a:pt x="25560" y="51072"/>
                    <a:pt x="26199" y="38304"/>
                  </a:cubicBezTo>
                  <a:cubicBezTo>
                    <a:pt x="26199" y="24898"/>
                    <a:pt x="20448" y="11491"/>
                    <a:pt x="10863" y="1915"/>
                  </a:cubicBezTo>
                  <a:close/>
                </a:path>
              </a:pathLst>
            </a:custGeom>
            <a:solidFill>
              <a:schemeClr val="bg1">
                <a:lumMod val="50000"/>
              </a:schemeClr>
            </a:solidFill>
            <a:ln w="6390" cap="flat">
              <a:noFill/>
              <a:prstDash val="solid"/>
              <a:miter/>
            </a:ln>
          </p:spPr>
          <p:txBody>
            <a:bodyPr rtlCol="0" anchor="ctr"/>
            <a:lstStyle/>
            <a:p>
              <a:endParaRPr lang="en-US"/>
            </a:p>
          </p:txBody>
        </p:sp>
        <p:sp>
          <p:nvSpPr>
            <p:cNvPr id="197" name="Graphic 4">
              <a:extLst>
                <a:ext uri="{FF2B5EF4-FFF2-40B4-BE49-F238E27FC236}">
                  <a16:creationId xmlns:a16="http://schemas.microsoft.com/office/drawing/2014/main" id="{7A70A760-3038-7D41-AAD3-00B9E926229A}"/>
                </a:ext>
              </a:extLst>
            </p:cNvPr>
            <p:cNvSpPr/>
            <p:nvPr/>
          </p:nvSpPr>
          <p:spPr>
            <a:xfrm>
              <a:off x="4146334" y="2662598"/>
              <a:ext cx="297822" cy="985596"/>
            </a:xfrm>
            <a:custGeom>
              <a:avLst/>
              <a:gdLst>
                <a:gd name="connsiteX0" fmla="*/ 10790 w 31913"/>
                <a:gd name="connsiteY0" fmla="*/ 1842 h 105611"/>
                <a:gd name="connsiteX1" fmla="*/ 1844 w 31913"/>
                <a:gd name="connsiteY1" fmla="*/ 2480 h 105611"/>
                <a:gd name="connsiteX2" fmla="*/ 2483 w 31913"/>
                <a:gd name="connsiteY2" fmla="*/ 11418 h 105611"/>
                <a:gd name="connsiteX3" fmla="*/ 19096 w 31913"/>
                <a:gd name="connsiteY3" fmla="*/ 52276 h 105611"/>
                <a:gd name="connsiteX4" fmla="*/ 2483 w 31913"/>
                <a:gd name="connsiteY4" fmla="*/ 94410 h 105611"/>
                <a:gd name="connsiteX5" fmla="*/ 1844 w 31913"/>
                <a:gd name="connsiteY5" fmla="*/ 103347 h 105611"/>
                <a:gd name="connsiteX6" fmla="*/ 10790 w 31913"/>
                <a:gd name="connsiteY6" fmla="*/ 103986 h 105611"/>
                <a:gd name="connsiteX7" fmla="*/ 31876 w 31913"/>
                <a:gd name="connsiteY7" fmla="*/ 52276 h 105611"/>
                <a:gd name="connsiteX8" fmla="*/ 10790 w 31913"/>
                <a:gd name="connsiteY8" fmla="*/ 1842 h 10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13" h="105611">
                  <a:moveTo>
                    <a:pt x="10790" y="1842"/>
                  </a:moveTo>
                  <a:cubicBezTo>
                    <a:pt x="8234" y="-712"/>
                    <a:pt x="4400" y="-712"/>
                    <a:pt x="1844" y="2480"/>
                  </a:cubicBezTo>
                  <a:cubicBezTo>
                    <a:pt x="-712" y="5672"/>
                    <a:pt x="-712" y="8864"/>
                    <a:pt x="2483" y="11418"/>
                  </a:cubicBezTo>
                  <a:cubicBezTo>
                    <a:pt x="13345" y="22271"/>
                    <a:pt x="19096" y="36954"/>
                    <a:pt x="19096" y="52276"/>
                  </a:cubicBezTo>
                  <a:cubicBezTo>
                    <a:pt x="19735" y="68236"/>
                    <a:pt x="13345" y="83557"/>
                    <a:pt x="2483" y="94410"/>
                  </a:cubicBezTo>
                  <a:cubicBezTo>
                    <a:pt x="-73" y="96963"/>
                    <a:pt x="-712" y="100794"/>
                    <a:pt x="1844" y="103347"/>
                  </a:cubicBezTo>
                  <a:cubicBezTo>
                    <a:pt x="4400" y="105901"/>
                    <a:pt x="8234" y="106539"/>
                    <a:pt x="10790" y="103986"/>
                  </a:cubicBezTo>
                  <a:cubicBezTo>
                    <a:pt x="24848" y="90579"/>
                    <a:pt x="32515" y="71427"/>
                    <a:pt x="31876" y="52276"/>
                  </a:cubicBezTo>
                  <a:cubicBezTo>
                    <a:pt x="31238" y="33124"/>
                    <a:pt x="24208" y="15248"/>
                    <a:pt x="10790" y="1842"/>
                  </a:cubicBezTo>
                  <a:close/>
                </a:path>
              </a:pathLst>
            </a:custGeom>
            <a:solidFill>
              <a:schemeClr val="bg1">
                <a:lumMod val="50000"/>
              </a:schemeClr>
            </a:solidFill>
            <a:ln w="6390" cap="flat">
              <a:noFill/>
              <a:prstDash val="solid"/>
              <a:miter/>
            </a:ln>
          </p:spPr>
          <p:txBody>
            <a:bodyPr rtlCol="0" anchor="ctr"/>
            <a:lstStyle/>
            <a:p>
              <a:endParaRPr lang="en-US"/>
            </a:p>
          </p:txBody>
        </p:sp>
        <p:sp>
          <p:nvSpPr>
            <p:cNvPr id="198" name="Graphic 4">
              <a:extLst>
                <a:ext uri="{FF2B5EF4-FFF2-40B4-BE49-F238E27FC236}">
                  <a16:creationId xmlns:a16="http://schemas.microsoft.com/office/drawing/2014/main" id="{2953DEE8-BC19-9440-ADE1-8A160D1BD5D0}"/>
                </a:ext>
              </a:extLst>
            </p:cNvPr>
            <p:cNvSpPr/>
            <p:nvPr/>
          </p:nvSpPr>
          <p:spPr>
            <a:xfrm>
              <a:off x="2501445" y="2723530"/>
              <a:ext cx="1235389" cy="1241169"/>
            </a:xfrm>
            <a:custGeom>
              <a:avLst/>
              <a:gdLst>
                <a:gd name="connsiteX0" fmla="*/ 183653 w 211596"/>
                <a:gd name="connsiteY0" fmla="*/ 45965 h 212586"/>
                <a:gd name="connsiteX1" fmla="*/ 172790 w 211596"/>
                <a:gd name="connsiteY1" fmla="*/ 47880 h 212586"/>
                <a:gd name="connsiteX2" fmla="*/ 132533 w 211596"/>
                <a:gd name="connsiteY2" fmla="*/ 24259 h 212586"/>
                <a:gd name="connsiteX3" fmla="*/ 108251 w 211596"/>
                <a:gd name="connsiteY3" fmla="*/ 0 h 212586"/>
                <a:gd name="connsiteX4" fmla="*/ 83970 w 211596"/>
                <a:gd name="connsiteY4" fmla="*/ 24259 h 212586"/>
                <a:gd name="connsiteX5" fmla="*/ 85248 w 211596"/>
                <a:gd name="connsiteY5" fmla="*/ 31281 h 212586"/>
                <a:gd name="connsiteX6" fmla="*/ 54576 w 211596"/>
                <a:gd name="connsiteY6" fmla="*/ 57456 h 212586"/>
                <a:gd name="connsiteX7" fmla="*/ 44991 w 211596"/>
                <a:gd name="connsiteY7" fmla="*/ 54902 h 212586"/>
                <a:gd name="connsiteX8" fmla="*/ 26460 w 211596"/>
                <a:gd name="connsiteY8" fmla="*/ 74693 h 212586"/>
                <a:gd name="connsiteX9" fmla="*/ 31572 w 211596"/>
                <a:gd name="connsiteY9" fmla="*/ 87461 h 212586"/>
                <a:gd name="connsiteX10" fmla="*/ 20709 w 211596"/>
                <a:gd name="connsiteY10" fmla="*/ 81715 h 212586"/>
                <a:gd name="connsiteX11" fmla="*/ 11764 w 211596"/>
                <a:gd name="connsiteY11" fmla="*/ 84269 h 212586"/>
                <a:gd name="connsiteX12" fmla="*/ 901 w 211596"/>
                <a:gd name="connsiteY12" fmla="*/ 102782 h 212586"/>
                <a:gd name="connsiteX13" fmla="*/ 3457 w 211596"/>
                <a:gd name="connsiteY13" fmla="*/ 111720 h 212586"/>
                <a:gd name="connsiteX14" fmla="*/ 12402 w 211596"/>
                <a:gd name="connsiteY14" fmla="*/ 109166 h 212586"/>
                <a:gd name="connsiteX15" fmla="*/ 20070 w 211596"/>
                <a:gd name="connsiteY15" fmla="*/ 96398 h 212586"/>
                <a:gd name="connsiteX16" fmla="*/ 35406 w 211596"/>
                <a:gd name="connsiteY16" fmla="*/ 105336 h 212586"/>
                <a:gd name="connsiteX17" fmla="*/ 27738 w 211596"/>
                <a:gd name="connsiteY17" fmla="*/ 118104 h 212586"/>
                <a:gd name="connsiteX18" fmla="*/ 30294 w 211596"/>
                <a:gd name="connsiteY18" fmla="*/ 127041 h 212586"/>
                <a:gd name="connsiteX19" fmla="*/ 33489 w 211596"/>
                <a:gd name="connsiteY19" fmla="*/ 127680 h 212586"/>
                <a:gd name="connsiteX20" fmla="*/ 39240 w 211596"/>
                <a:gd name="connsiteY20" fmla="*/ 124488 h 212586"/>
                <a:gd name="connsiteX21" fmla="*/ 49464 w 211596"/>
                <a:gd name="connsiteY21" fmla="*/ 105974 h 212586"/>
                <a:gd name="connsiteX22" fmla="*/ 46908 w 211596"/>
                <a:gd name="connsiteY22" fmla="*/ 97037 h 212586"/>
                <a:gd name="connsiteX23" fmla="*/ 39879 w 211596"/>
                <a:gd name="connsiteY23" fmla="*/ 93206 h 212586"/>
                <a:gd name="connsiteX24" fmla="*/ 44352 w 211596"/>
                <a:gd name="connsiteY24" fmla="*/ 93845 h 212586"/>
                <a:gd name="connsiteX25" fmla="*/ 63522 w 211596"/>
                <a:gd name="connsiteY25" fmla="*/ 74693 h 212586"/>
                <a:gd name="connsiteX26" fmla="*/ 62244 w 211596"/>
                <a:gd name="connsiteY26" fmla="*/ 68309 h 212586"/>
                <a:gd name="connsiteX27" fmla="*/ 91638 w 211596"/>
                <a:gd name="connsiteY27" fmla="*/ 43411 h 212586"/>
                <a:gd name="connsiteX28" fmla="*/ 126143 w 211596"/>
                <a:gd name="connsiteY28" fmla="*/ 41496 h 212586"/>
                <a:gd name="connsiteX29" fmla="*/ 128699 w 211596"/>
                <a:gd name="connsiteY29" fmla="*/ 37665 h 212586"/>
                <a:gd name="connsiteX30" fmla="*/ 161927 w 211596"/>
                <a:gd name="connsiteY30" fmla="*/ 56817 h 212586"/>
                <a:gd name="connsiteX31" fmla="*/ 155537 w 211596"/>
                <a:gd name="connsiteY31" fmla="*/ 74693 h 212586"/>
                <a:gd name="connsiteX32" fmla="*/ 165122 w 211596"/>
                <a:gd name="connsiteY32" fmla="*/ 95760 h 212586"/>
                <a:gd name="connsiteX33" fmla="*/ 126782 w 211596"/>
                <a:gd name="connsiteY33" fmla="*/ 144916 h 212586"/>
                <a:gd name="connsiteX34" fmla="*/ 82692 w 211596"/>
                <a:gd name="connsiteY34" fmla="*/ 151939 h 212586"/>
                <a:gd name="connsiteX35" fmla="*/ 89721 w 211596"/>
                <a:gd name="connsiteY35" fmla="*/ 195988 h 212586"/>
                <a:gd name="connsiteX36" fmla="*/ 96750 w 211596"/>
                <a:gd name="connsiteY36" fmla="*/ 199819 h 212586"/>
                <a:gd name="connsiteX37" fmla="*/ 63522 w 211596"/>
                <a:gd name="connsiteY37" fmla="*/ 199819 h 212586"/>
                <a:gd name="connsiteX38" fmla="*/ 57132 w 211596"/>
                <a:gd name="connsiteY38" fmla="*/ 206203 h 212586"/>
                <a:gd name="connsiteX39" fmla="*/ 63522 w 211596"/>
                <a:gd name="connsiteY39" fmla="*/ 212587 h 212586"/>
                <a:gd name="connsiteX40" fmla="*/ 153620 w 211596"/>
                <a:gd name="connsiteY40" fmla="*/ 212587 h 212586"/>
                <a:gd name="connsiteX41" fmla="*/ 160010 w 211596"/>
                <a:gd name="connsiteY41" fmla="*/ 206203 h 212586"/>
                <a:gd name="connsiteX42" fmla="*/ 153620 w 211596"/>
                <a:gd name="connsiteY42" fmla="*/ 199819 h 212586"/>
                <a:gd name="connsiteX43" fmla="*/ 119753 w 211596"/>
                <a:gd name="connsiteY43" fmla="*/ 199819 h 212586"/>
                <a:gd name="connsiteX44" fmla="*/ 137645 w 211596"/>
                <a:gd name="connsiteY44" fmla="*/ 159600 h 212586"/>
                <a:gd name="connsiteX45" fmla="*/ 135089 w 211596"/>
                <a:gd name="connsiteY45" fmla="*/ 155131 h 212586"/>
                <a:gd name="connsiteX46" fmla="*/ 175985 w 211596"/>
                <a:gd name="connsiteY46" fmla="*/ 102782 h 212586"/>
                <a:gd name="connsiteX47" fmla="*/ 210490 w 211596"/>
                <a:gd name="connsiteY47" fmla="*/ 82992 h 212586"/>
                <a:gd name="connsiteX48" fmla="*/ 190682 w 211596"/>
                <a:gd name="connsiteY48" fmla="*/ 48518 h 212586"/>
                <a:gd name="connsiteX49" fmla="*/ 183653 w 211596"/>
                <a:gd name="connsiteY49" fmla="*/ 45965 h 212586"/>
                <a:gd name="connsiteX50" fmla="*/ 183653 w 211596"/>
                <a:gd name="connsiteY50" fmla="*/ 45965 h 212586"/>
                <a:gd name="connsiteX51" fmla="*/ 108251 w 211596"/>
                <a:gd name="connsiteY51" fmla="*/ 187689 h 212586"/>
                <a:gd name="connsiteX52" fmla="*/ 89721 w 211596"/>
                <a:gd name="connsiteY52" fmla="*/ 168537 h 212586"/>
                <a:gd name="connsiteX53" fmla="*/ 108891 w 211596"/>
                <a:gd name="connsiteY53" fmla="*/ 150024 h 212586"/>
                <a:gd name="connsiteX54" fmla="*/ 127421 w 211596"/>
                <a:gd name="connsiteY54" fmla="*/ 168537 h 212586"/>
                <a:gd name="connsiteX55" fmla="*/ 108251 w 211596"/>
                <a:gd name="connsiteY55" fmla="*/ 187689 h 212586"/>
                <a:gd name="connsiteX56" fmla="*/ 108251 w 211596"/>
                <a:gd name="connsiteY56" fmla="*/ 187689 h 212586"/>
                <a:gd name="connsiteX57" fmla="*/ 44352 w 211596"/>
                <a:gd name="connsiteY57" fmla="*/ 79800 h 212586"/>
                <a:gd name="connsiteX58" fmla="*/ 36684 w 211596"/>
                <a:gd name="connsiteY58" fmla="*/ 74693 h 212586"/>
                <a:gd name="connsiteX59" fmla="*/ 41796 w 211596"/>
                <a:gd name="connsiteY59" fmla="*/ 67032 h 212586"/>
                <a:gd name="connsiteX60" fmla="*/ 44352 w 211596"/>
                <a:gd name="connsiteY60" fmla="*/ 67032 h 212586"/>
                <a:gd name="connsiteX61" fmla="*/ 49464 w 211596"/>
                <a:gd name="connsiteY61" fmla="*/ 74693 h 212586"/>
                <a:gd name="connsiteX62" fmla="*/ 44352 w 211596"/>
                <a:gd name="connsiteY62" fmla="*/ 79800 h 212586"/>
                <a:gd name="connsiteX63" fmla="*/ 108251 w 211596"/>
                <a:gd name="connsiteY63" fmla="*/ 35750 h 212586"/>
                <a:gd name="connsiteX64" fmla="*/ 96750 w 211596"/>
                <a:gd name="connsiteY64" fmla="*/ 24259 h 212586"/>
                <a:gd name="connsiteX65" fmla="*/ 108251 w 211596"/>
                <a:gd name="connsiteY65" fmla="*/ 12768 h 212586"/>
                <a:gd name="connsiteX66" fmla="*/ 119753 w 211596"/>
                <a:gd name="connsiteY66" fmla="*/ 24259 h 212586"/>
                <a:gd name="connsiteX67" fmla="*/ 108251 w 211596"/>
                <a:gd name="connsiteY67" fmla="*/ 35750 h 212586"/>
                <a:gd name="connsiteX68" fmla="*/ 108251 w 211596"/>
                <a:gd name="connsiteY68" fmla="*/ 35750 h 212586"/>
                <a:gd name="connsiteX69" fmla="*/ 183653 w 211596"/>
                <a:gd name="connsiteY69" fmla="*/ 88737 h 212586"/>
                <a:gd name="connsiteX70" fmla="*/ 168317 w 211596"/>
                <a:gd name="connsiteY70" fmla="*/ 73416 h 212586"/>
                <a:gd name="connsiteX71" fmla="*/ 183653 w 211596"/>
                <a:gd name="connsiteY71" fmla="*/ 58094 h 212586"/>
                <a:gd name="connsiteX72" fmla="*/ 198989 w 211596"/>
                <a:gd name="connsiteY72" fmla="*/ 73416 h 212586"/>
                <a:gd name="connsiteX73" fmla="*/ 198989 w 211596"/>
                <a:gd name="connsiteY73" fmla="*/ 73416 h 212586"/>
                <a:gd name="connsiteX74" fmla="*/ 183653 w 211596"/>
                <a:gd name="connsiteY74" fmla="*/ 88737 h 212586"/>
                <a:gd name="connsiteX75" fmla="*/ 183653 w 211596"/>
                <a:gd name="connsiteY75" fmla="*/ 88737 h 212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211596" h="212586">
                  <a:moveTo>
                    <a:pt x="183653" y="45965"/>
                  </a:moveTo>
                  <a:cubicBezTo>
                    <a:pt x="179819" y="45965"/>
                    <a:pt x="176624" y="46603"/>
                    <a:pt x="172790" y="47880"/>
                  </a:cubicBezTo>
                  <a:lnTo>
                    <a:pt x="132533" y="24259"/>
                  </a:lnTo>
                  <a:cubicBezTo>
                    <a:pt x="132533" y="10853"/>
                    <a:pt x="121671" y="0"/>
                    <a:pt x="108251" y="0"/>
                  </a:cubicBezTo>
                  <a:cubicBezTo>
                    <a:pt x="94833" y="0"/>
                    <a:pt x="83970" y="10853"/>
                    <a:pt x="83970" y="24259"/>
                  </a:cubicBezTo>
                  <a:cubicBezTo>
                    <a:pt x="83970" y="26813"/>
                    <a:pt x="84609" y="29366"/>
                    <a:pt x="85248" y="31281"/>
                  </a:cubicBezTo>
                  <a:lnTo>
                    <a:pt x="54576" y="57456"/>
                  </a:lnTo>
                  <a:cubicBezTo>
                    <a:pt x="51381" y="55541"/>
                    <a:pt x="48186" y="54902"/>
                    <a:pt x="44991" y="54902"/>
                  </a:cubicBezTo>
                  <a:cubicBezTo>
                    <a:pt x="34128" y="54902"/>
                    <a:pt x="25822" y="63840"/>
                    <a:pt x="26460" y="74693"/>
                  </a:cubicBezTo>
                  <a:cubicBezTo>
                    <a:pt x="26460" y="79161"/>
                    <a:pt x="28377" y="84269"/>
                    <a:pt x="31572" y="87461"/>
                  </a:cubicBezTo>
                  <a:lnTo>
                    <a:pt x="20709" y="81715"/>
                  </a:lnTo>
                  <a:cubicBezTo>
                    <a:pt x="17514" y="79800"/>
                    <a:pt x="13680" y="81077"/>
                    <a:pt x="11764" y="84269"/>
                  </a:cubicBezTo>
                  <a:lnTo>
                    <a:pt x="901" y="102782"/>
                  </a:lnTo>
                  <a:cubicBezTo>
                    <a:pt x="-1016" y="105974"/>
                    <a:pt x="262" y="109804"/>
                    <a:pt x="3457" y="111720"/>
                  </a:cubicBezTo>
                  <a:cubicBezTo>
                    <a:pt x="6652" y="113635"/>
                    <a:pt x="10486" y="112358"/>
                    <a:pt x="12402" y="109166"/>
                  </a:cubicBezTo>
                  <a:lnTo>
                    <a:pt x="20070" y="96398"/>
                  </a:lnTo>
                  <a:lnTo>
                    <a:pt x="35406" y="105336"/>
                  </a:lnTo>
                  <a:lnTo>
                    <a:pt x="27738" y="118104"/>
                  </a:lnTo>
                  <a:cubicBezTo>
                    <a:pt x="25822" y="121296"/>
                    <a:pt x="27099" y="125126"/>
                    <a:pt x="30294" y="127041"/>
                  </a:cubicBezTo>
                  <a:cubicBezTo>
                    <a:pt x="30933" y="127680"/>
                    <a:pt x="32211" y="127680"/>
                    <a:pt x="33489" y="127680"/>
                  </a:cubicBezTo>
                  <a:cubicBezTo>
                    <a:pt x="36045" y="127680"/>
                    <a:pt x="37962" y="126403"/>
                    <a:pt x="39240" y="124488"/>
                  </a:cubicBezTo>
                  <a:lnTo>
                    <a:pt x="49464" y="105974"/>
                  </a:lnTo>
                  <a:cubicBezTo>
                    <a:pt x="51381" y="102782"/>
                    <a:pt x="50103" y="98952"/>
                    <a:pt x="46908" y="97037"/>
                  </a:cubicBezTo>
                  <a:lnTo>
                    <a:pt x="39879" y="93206"/>
                  </a:lnTo>
                  <a:cubicBezTo>
                    <a:pt x="41157" y="93845"/>
                    <a:pt x="43074" y="93845"/>
                    <a:pt x="44352" y="93845"/>
                  </a:cubicBezTo>
                  <a:cubicBezTo>
                    <a:pt x="55215" y="93845"/>
                    <a:pt x="63522" y="85545"/>
                    <a:pt x="63522" y="74693"/>
                  </a:cubicBezTo>
                  <a:cubicBezTo>
                    <a:pt x="63522" y="72777"/>
                    <a:pt x="62883" y="70224"/>
                    <a:pt x="62244" y="68309"/>
                  </a:cubicBezTo>
                  <a:lnTo>
                    <a:pt x="91638" y="43411"/>
                  </a:lnTo>
                  <a:cubicBezTo>
                    <a:pt x="101223" y="52349"/>
                    <a:pt x="116558" y="51710"/>
                    <a:pt x="126143" y="41496"/>
                  </a:cubicBezTo>
                  <a:cubicBezTo>
                    <a:pt x="127421" y="40219"/>
                    <a:pt x="128061" y="38942"/>
                    <a:pt x="128699" y="37665"/>
                  </a:cubicBezTo>
                  <a:lnTo>
                    <a:pt x="161927" y="56817"/>
                  </a:lnTo>
                  <a:cubicBezTo>
                    <a:pt x="158093" y="61925"/>
                    <a:pt x="155537" y="67670"/>
                    <a:pt x="155537" y="74693"/>
                  </a:cubicBezTo>
                  <a:cubicBezTo>
                    <a:pt x="155537" y="82992"/>
                    <a:pt x="159371" y="90653"/>
                    <a:pt x="165122" y="95760"/>
                  </a:cubicBezTo>
                  <a:lnTo>
                    <a:pt x="126782" y="144916"/>
                  </a:lnTo>
                  <a:cubicBezTo>
                    <a:pt x="112725" y="134702"/>
                    <a:pt x="92916" y="137894"/>
                    <a:pt x="82692" y="151939"/>
                  </a:cubicBezTo>
                  <a:cubicBezTo>
                    <a:pt x="72468" y="165984"/>
                    <a:pt x="75663" y="185774"/>
                    <a:pt x="89721" y="195988"/>
                  </a:cubicBezTo>
                  <a:cubicBezTo>
                    <a:pt x="91638" y="197265"/>
                    <a:pt x="94194" y="198542"/>
                    <a:pt x="96750" y="199819"/>
                  </a:cubicBezTo>
                  <a:lnTo>
                    <a:pt x="63522" y="199819"/>
                  </a:lnTo>
                  <a:cubicBezTo>
                    <a:pt x="59688" y="199819"/>
                    <a:pt x="57132" y="202372"/>
                    <a:pt x="57132" y="206203"/>
                  </a:cubicBezTo>
                  <a:cubicBezTo>
                    <a:pt x="57132" y="210033"/>
                    <a:pt x="59688" y="212587"/>
                    <a:pt x="63522" y="212587"/>
                  </a:cubicBezTo>
                  <a:lnTo>
                    <a:pt x="153620" y="212587"/>
                  </a:lnTo>
                  <a:cubicBezTo>
                    <a:pt x="157454" y="212587"/>
                    <a:pt x="160010" y="210033"/>
                    <a:pt x="160010" y="206203"/>
                  </a:cubicBezTo>
                  <a:cubicBezTo>
                    <a:pt x="160010" y="202372"/>
                    <a:pt x="157454" y="199819"/>
                    <a:pt x="153620" y="199819"/>
                  </a:cubicBezTo>
                  <a:lnTo>
                    <a:pt x="119753" y="199819"/>
                  </a:lnTo>
                  <a:cubicBezTo>
                    <a:pt x="135728" y="193435"/>
                    <a:pt x="144035" y="175560"/>
                    <a:pt x="137645" y="159600"/>
                  </a:cubicBezTo>
                  <a:cubicBezTo>
                    <a:pt x="137006" y="157684"/>
                    <a:pt x="136367" y="156408"/>
                    <a:pt x="135089" y="155131"/>
                  </a:cubicBezTo>
                  <a:lnTo>
                    <a:pt x="175985" y="102782"/>
                  </a:lnTo>
                  <a:cubicBezTo>
                    <a:pt x="190682" y="106612"/>
                    <a:pt x="206017" y="97675"/>
                    <a:pt x="210490" y="82992"/>
                  </a:cubicBezTo>
                  <a:cubicBezTo>
                    <a:pt x="214964" y="68309"/>
                    <a:pt x="205379" y="52987"/>
                    <a:pt x="190682" y="48518"/>
                  </a:cubicBezTo>
                  <a:cubicBezTo>
                    <a:pt x="188765" y="45326"/>
                    <a:pt x="186209" y="45326"/>
                    <a:pt x="183653" y="45965"/>
                  </a:cubicBezTo>
                  <a:lnTo>
                    <a:pt x="183653" y="45965"/>
                  </a:lnTo>
                  <a:close/>
                  <a:moveTo>
                    <a:pt x="108251" y="187689"/>
                  </a:moveTo>
                  <a:cubicBezTo>
                    <a:pt x="98028" y="187689"/>
                    <a:pt x="89721" y="178752"/>
                    <a:pt x="89721" y="168537"/>
                  </a:cubicBezTo>
                  <a:cubicBezTo>
                    <a:pt x="89721" y="158323"/>
                    <a:pt x="98667" y="150024"/>
                    <a:pt x="108891" y="150024"/>
                  </a:cubicBezTo>
                  <a:cubicBezTo>
                    <a:pt x="119114" y="150024"/>
                    <a:pt x="127421" y="158323"/>
                    <a:pt x="127421" y="168537"/>
                  </a:cubicBezTo>
                  <a:cubicBezTo>
                    <a:pt x="127421" y="179390"/>
                    <a:pt x="119114" y="187689"/>
                    <a:pt x="108251" y="187689"/>
                  </a:cubicBezTo>
                  <a:cubicBezTo>
                    <a:pt x="108251" y="187689"/>
                    <a:pt x="108251" y="187689"/>
                    <a:pt x="108251" y="187689"/>
                  </a:cubicBezTo>
                  <a:close/>
                  <a:moveTo>
                    <a:pt x="44352" y="79800"/>
                  </a:moveTo>
                  <a:cubicBezTo>
                    <a:pt x="41157" y="80438"/>
                    <a:pt x="37323" y="78523"/>
                    <a:pt x="36684" y="74693"/>
                  </a:cubicBezTo>
                  <a:cubicBezTo>
                    <a:pt x="36045" y="71501"/>
                    <a:pt x="37962" y="67670"/>
                    <a:pt x="41796" y="67032"/>
                  </a:cubicBezTo>
                  <a:cubicBezTo>
                    <a:pt x="42435" y="67032"/>
                    <a:pt x="43713" y="67032"/>
                    <a:pt x="44352" y="67032"/>
                  </a:cubicBezTo>
                  <a:cubicBezTo>
                    <a:pt x="47547" y="67670"/>
                    <a:pt x="50103" y="71501"/>
                    <a:pt x="49464" y="74693"/>
                  </a:cubicBezTo>
                  <a:cubicBezTo>
                    <a:pt x="48825" y="77885"/>
                    <a:pt x="46908" y="79161"/>
                    <a:pt x="44352" y="79800"/>
                  </a:cubicBezTo>
                  <a:close/>
                  <a:moveTo>
                    <a:pt x="108251" y="35750"/>
                  </a:moveTo>
                  <a:cubicBezTo>
                    <a:pt x="101862" y="35750"/>
                    <a:pt x="96750" y="30643"/>
                    <a:pt x="96750" y="24259"/>
                  </a:cubicBezTo>
                  <a:cubicBezTo>
                    <a:pt x="96750" y="17875"/>
                    <a:pt x="101862" y="12768"/>
                    <a:pt x="108251" y="12768"/>
                  </a:cubicBezTo>
                  <a:cubicBezTo>
                    <a:pt x="114641" y="12768"/>
                    <a:pt x="119753" y="17875"/>
                    <a:pt x="119753" y="24259"/>
                  </a:cubicBezTo>
                  <a:cubicBezTo>
                    <a:pt x="119753" y="30643"/>
                    <a:pt x="114641" y="35750"/>
                    <a:pt x="108251" y="35750"/>
                  </a:cubicBezTo>
                  <a:lnTo>
                    <a:pt x="108251" y="35750"/>
                  </a:lnTo>
                  <a:close/>
                  <a:moveTo>
                    <a:pt x="183653" y="88737"/>
                  </a:moveTo>
                  <a:cubicBezTo>
                    <a:pt x="175346" y="88737"/>
                    <a:pt x="168317" y="81715"/>
                    <a:pt x="168317" y="73416"/>
                  </a:cubicBezTo>
                  <a:cubicBezTo>
                    <a:pt x="168317" y="65117"/>
                    <a:pt x="175346" y="58094"/>
                    <a:pt x="183653" y="58094"/>
                  </a:cubicBezTo>
                  <a:cubicBezTo>
                    <a:pt x="191960" y="58094"/>
                    <a:pt x="198989" y="65117"/>
                    <a:pt x="198989" y="73416"/>
                  </a:cubicBezTo>
                  <a:cubicBezTo>
                    <a:pt x="198989" y="73416"/>
                    <a:pt x="198989" y="73416"/>
                    <a:pt x="198989" y="73416"/>
                  </a:cubicBezTo>
                  <a:cubicBezTo>
                    <a:pt x="198989" y="82353"/>
                    <a:pt x="191960" y="88737"/>
                    <a:pt x="183653" y="88737"/>
                  </a:cubicBezTo>
                  <a:lnTo>
                    <a:pt x="183653" y="88737"/>
                  </a:lnTo>
                  <a:close/>
                </a:path>
              </a:pathLst>
            </a:custGeom>
            <a:solidFill>
              <a:schemeClr val="bg1">
                <a:lumMod val="50000"/>
              </a:schemeClr>
            </a:solidFill>
            <a:ln w="6390" cap="flat">
              <a:noFill/>
              <a:prstDash val="solid"/>
              <a:miter/>
            </a:ln>
          </p:spPr>
          <p:txBody>
            <a:bodyPr rtlCol="0" anchor="ctr"/>
            <a:lstStyle/>
            <a:p>
              <a:endParaRPr lang="en-US"/>
            </a:p>
          </p:txBody>
        </p:sp>
      </p:grpSp>
      <p:cxnSp>
        <p:nvCxnSpPr>
          <p:cNvPr id="199" name="직선 화살표 연결선 198"/>
          <p:cNvCxnSpPr>
            <a:endCxn id="172" idx="3"/>
          </p:cNvCxnSpPr>
          <p:nvPr/>
        </p:nvCxnSpPr>
        <p:spPr>
          <a:xfrm flipV="1">
            <a:off x="6680443" y="4673935"/>
            <a:ext cx="9023" cy="510622"/>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0" name="직사각형 199"/>
          <p:cNvSpPr/>
          <p:nvPr/>
        </p:nvSpPr>
        <p:spPr>
          <a:xfrm>
            <a:off x="6500246" y="5446899"/>
            <a:ext cx="939123" cy="449315"/>
          </a:xfrm>
          <a:prstGeom prst="rect">
            <a:avLst/>
          </a:prstGeom>
        </p:spPr>
        <p:txBody>
          <a:bodyPr wrap="square">
            <a:spAutoFit/>
          </a:bodyPr>
          <a:lstStyle/>
          <a:p>
            <a:pPr lvl="0"/>
            <a:r>
              <a:rPr lang="en-US" altLang="ko-KR" sz="1100" b="1" dirty="0" smtClean="0">
                <a:solidFill>
                  <a:prstClr val="white"/>
                </a:solidFill>
                <a:latin typeface="맑은 고딕" panose="020B0503020000020004" pitchFamily="50" charset="-127"/>
                <a:ea typeface="맑은 고딕" panose="020B0503020000020004" pitchFamily="50" charset="-127"/>
              </a:rPr>
              <a:t>Big Data</a:t>
            </a:r>
          </a:p>
          <a:p>
            <a:pPr lvl="0"/>
            <a:r>
              <a:rPr lang="en-US" altLang="ko-KR" sz="1100" b="1" dirty="0" smtClean="0">
                <a:solidFill>
                  <a:prstClr val="white"/>
                </a:solidFill>
                <a:latin typeface="맑은 고딕" panose="020B0503020000020004" pitchFamily="50" charset="-127"/>
                <a:ea typeface="맑은 고딕" panose="020B0503020000020004" pitchFamily="50" charset="-127"/>
              </a:rPr>
              <a:t>Computing</a:t>
            </a:r>
            <a:endParaRPr lang="ko-KR" altLang="en-US" sz="1100" b="1" dirty="0">
              <a:solidFill>
                <a:prstClr val="white"/>
              </a:solidFill>
              <a:latin typeface="맑은 고딕" panose="020B0503020000020004" pitchFamily="50" charset="-127"/>
              <a:ea typeface="맑은 고딕" panose="020B0503020000020004" pitchFamily="50" charset="-127"/>
            </a:endParaRPr>
          </a:p>
        </p:txBody>
      </p:sp>
      <p:cxnSp>
        <p:nvCxnSpPr>
          <p:cNvPr id="201" name="직선 화살표 연결선 200"/>
          <p:cNvCxnSpPr>
            <a:stCxn id="208" idx="3"/>
            <a:endCxn id="215" idx="1"/>
          </p:cNvCxnSpPr>
          <p:nvPr/>
        </p:nvCxnSpPr>
        <p:spPr>
          <a:xfrm flipV="1">
            <a:off x="5615824" y="5632253"/>
            <a:ext cx="192231" cy="1584"/>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202" name="그룹 201"/>
          <p:cNvGrpSpPr/>
          <p:nvPr/>
        </p:nvGrpSpPr>
        <p:grpSpPr>
          <a:xfrm>
            <a:off x="6194685" y="4211021"/>
            <a:ext cx="251392" cy="267398"/>
            <a:chOff x="7900438" y="918284"/>
            <a:chExt cx="264215" cy="284895"/>
          </a:xfrm>
        </p:grpSpPr>
        <p:sp>
          <p:nvSpPr>
            <p:cNvPr id="203" name="원통 202"/>
            <p:cNvSpPr/>
            <p:nvPr/>
          </p:nvSpPr>
          <p:spPr>
            <a:xfrm>
              <a:off x="7908159" y="918284"/>
              <a:ext cx="251900" cy="284895"/>
            </a:xfrm>
            <a:prstGeom prst="can">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b="1" dirty="0">
                <a:solidFill>
                  <a:schemeClr val="tx1"/>
                </a:solidFill>
              </a:endParaRPr>
            </a:p>
          </p:txBody>
        </p:sp>
        <p:grpSp>
          <p:nvGrpSpPr>
            <p:cNvPr id="204" name="그룹 203"/>
            <p:cNvGrpSpPr/>
            <p:nvPr/>
          </p:nvGrpSpPr>
          <p:grpSpPr>
            <a:xfrm>
              <a:off x="7900438" y="1058123"/>
              <a:ext cx="264215" cy="82038"/>
              <a:chOff x="7896826" y="1036145"/>
              <a:chExt cx="259008" cy="82038"/>
            </a:xfrm>
          </p:grpSpPr>
          <p:pic>
            <p:nvPicPr>
              <p:cNvPr id="205" name="그림 204"/>
              <p:cNvPicPr>
                <a:picLocks noChangeAspect="1"/>
              </p:cNvPicPr>
              <p:nvPr/>
            </p:nvPicPr>
            <p:blipFill rotWithShape="1">
              <a:blip r:embed="rId3" cstate="hqprint">
                <a:extLst>
                  <a:ext uri="{28A0092B-C50C-407E-A947-70E740481C1C}">
                    <a14:useLocalDpi xmlns:a14="http://schemas.microsoft.com/office/drawing/2010/main" val="0"/>
                  </a:ext>
                </a:extLst>
              </a:blip>
              <a:srcRect l="6709" t="78889" r="20972"/>
              <a:stretch/>
            </p:blipFill>
            <p:spPr>
              <a:xfrm>
                <a:off x="7896826" y="1036145"/>
                <a:ext cx="259008" cy="38071"/>
              </a:xfrm>
              <a:prstGeom prst="rect">
                <a:avLst/>
              </a:prstGeom>
              <a:ln>
                <a:solidFill>
                  <a:schemeClr val="bg1">
                    <a:lumMod val="75000"/>
                  </a:schemeClr>
                </a:solidFill>
              </a:ln>
            </p:spPr>
          </p:pic>
          <p:pic>
            <p:nvPicPr>
              <p:cNvPr id="206" name="그림 205"/>
              <p:cNvPicPr>
                <a:picLocks noChangeAspect="1"/>
              </p:cNvPicPr>
              <p:nvPr/>
            </p:nvPicPr>
            <p:blipFill rotWithShape="1">
              <a:blip r:embed="rId3" cstate="hqprint">
                <a:extLst>
                  <a:ext uri="{28A0092B-C50C-407E-A947-70E740481C1C}">
                    <a14:useLocalDpi xmlns:a14="http://schemas.microsoft.com/office/drawing/2010/main" val="0"/>
                  </a:ext>
                </a:extLst>
              </a:blip>
              <a:srcRect l="6709" t="78889" r="20972"/>
              <a:stretch/>
            </p:blipFill>
            <p:spPr>
              <a:xfrm>
                <a:off x="7896826" y="1080112"/>
                <a:ext cx="259007" cy="38071"/>
              </a:xfrm>
              <a:prstGeom prst="rect">
                <a:avLst/>
              </a:prstGeom>
              <a:ln>
                <a:solidFill>
                  <a:schemeClr val="bg1">
                    <a:lumMod val="75000"/>
                  </a:schemeClr>
                </a:solidFill>
              </a:ln>
            </p:spPr>
          </p:pic>
        </p:grpSp>
      </p:grpSp>
      <p:sp>
        <p:nvSpPr>
          <p:cNvPr id="207" name="직사각형 206"/>
          <p:cNvSpPr/>
          <p:nvPr/>
        </p:nvSpPr>
        <p:spPr>
          <a:xfrm>
            <a:off x="6109234" y="3754079"/>
            <a:ext cx="1160462" cy="231481"/>
          </a:xfrm>
          <a:prstGeom prst="rect">
            <a:avLst/>
          </a:prstGeom>
        </p:spPr>
        <p:txBody>
          <a:bodyPr wrap="square" lIns="0" rIns="0" anchor="ctr" anchorCtr="0">
            <a:noAutofit/>
          </a:bodyPr>
          <a:lstStyle/>
          <a:p>
            <a:pPr algn="ctr" latinLnBrk="0">
              <a:lnSpc>
                <a:spcPct val="110000"/>
              </a:lnSpc>
            </a:pPr>
            <a:r>
              <a:rPr lang="en-US" altLang="ko-KR" sz="1050" b="1" i="1" dirty="0" smtClean="0">
                <a:effectLst>
                  <a:glow rad="152400">
                    <a:schemeClr val="bg1"/>
                  </a:glow>
                </a:effectLst>
                <a:latin typeface="맑은 고딕" panose="020B0503020000020004" pitchFamily="50" charset="-127"/>
                <a:ea typeface="맑은 고딕" panose="020B0503020000020004" pitchFamily="50" charset="-127"/>
              </a:rPr>
              <a:t>“</a:t>
            </a:r>
            <a:r>
              <a:rPr lang="ko-KR" altLang="en-US" sz="1050" b="1" i="1" dirty="0" smtClean="0">
                <a:effectLst>
                  <a:glow rad="152400">
                    <a:schemeClr val="bg1"/>
                  </a:glow>
                </a:effectLst>
                <a:latin typeface="맑은 고딕" panose="020B0503020000020004" pitchFamily="50" charset="-127"/>
                <a:ea typeface="맑은 고딕" panose="020B0503020000020004" pitchFamily="50" charset="-127"/>
              </a:rPr>
              <a:t>전사 데이터</a:t>
            </a:r>
            <a:r>
              <a:rPr lang="en-US" altLang="ko-KR" sz="1050" b="1" i="1" dirty="0" smtClean="0">
                <a:effectLst>
                  <a:glow rad="152400">
                    <a:schemeClr val="bg1"/>
                  </a:glow>
                </a:effectLst>
                <a:latin typeface="맑은 고딕" panose="020B0503020000020004" pitchFamily="50" charset="-127"/>
                <a:ea typeface="맑은 고딕" panose="020B0503020000020004" pitchFamily="50" charset="-127"/>
              </a:rPr>
              <a:t/>
            </a:r>
            <a:br>
              <a:rPr lang="en-US" altLang="ko-KR" sz="1050" b="1" i="1" dirty="0" smtClean="0">
                <a:effectLst>
                  <a:glow rad="152400">
                    <a:schemeClr val="bg1"/>
                  </a:glow>
                </a:effectLst>
                <a:latin typeface="맑은 고딕" panose="020B0503020000020004" pitchFamily="50" charset="-127"/>
                <a:ea typeface="맑은 고딕" panose="020B0503020000020004" pitchFamily="50" charset="-127"/>
              </a:rPr>
            </a:br>
            <a:r>
              <a:rPr lang="ko-KR" altLang="en-US" sz="1050" b="1" i="1" dirty="0" smtClean="0">
                <a:effectLst>
                  <a:glow rad="152400">
                    <a:schemeClr val="bg1"/>
                  </a:glow>
                </a:effectLst>
                <a:latin typeface="맑은 고딕" panose="020B0503020000020004" pitchFamily="50" charset="-127"/>
                <a:ea typeface="맑은 고딕" panose="020B0503020000020004" pitchFamily="50" charset="-127"/>
              </a:rPr>
              <a:t>중앙 </a:t>
            </a:r>
            <a:r>
              <a:rPr lang="ko-KR" altLang="en-US" sz="1050" b="1" i="1" dirty="0" err="1" smtClean="0">
                <a:effectLst>
                  <a:glow rad="152400">
                    <a:schemeClr val="bg1"/>
                  </a:glow>
                </a:effectLst>
                <a:latin typeface="맑은 고딕" panose="020B0503020000020004" pitchFamily="50" charset="-127"/>
                <a:ea typeface="맑은 고딕" panose="020B0503020000020004" pitchFamily="50" charset="-127"/>
              </a:rPr>
              <a:t>적재소</a:t>
            </a:r>
            <a:r>
              <a:rPr lang="en-US" altLang="ko-KR" sz="1050" b="1" i="1" dirty="0" smtClean="0">
                <a:effectLst>
                  <a:glow rad="152400">
                    <a:schemeClr val="bg1"/>
                  </a:glow>
                </a:effectLst>
                <a:latin typeface="맑은 고딕" panose="020B0503020000020004" pitchFamily="50" charset="-127"/>
                <a:ea typeface="맑은 고딕" panose="020B0503020000020004" pitchFamily="50" charset="-127"/>
              </a:rPr>
              <a:t>”</a:t>
            </a:r>
            <a:endParaRPr lang="ko-KR" altLang="en-US" sz="1050" b="1" i="1" dirty="0">
              <a:effectLst>
                <a:glow rad="152400">
                  <a:schemeClr val="bg1"/>
                </a:glow>
              </a:effectLst>
              <a:latin typeface="맑은 고딕" panose="020B0503020000020004" pitchFamily="50" charset="-127"/>
              <a:ea typeface="맑은 고딕" panose="020B0503020000020004" pitchFamily="50" charset="-127"/>
            </a:endParaRPr>
          </a:p>
        </p:txBody>
      </p:sp>
      <p:sp>
        <p:nvSpPr>
          <p:cNvPr id="208" name="직사각형 207">
            <a:extLst>
              <a:ext uri="{FF2B5EF4-FFF2-40B4-BE49-F238E27FC236}">
                <a16:creationId xmlns:a16="http://schemas.microsoft.com/office/drawing/2014/main" id="{FDB5A00A-1A17-4B51-B315-D437A5721601}"/>
              </a:ext>
            </a:extLst>
          </p:cNvPr>
          <p:cNvSpPr/>
          <p:nvPr/>
        </p:nvSpPr>
        <p:spPr bwMode="gray">
          <a:xfrm>
            <a:off x="3765665" y="5289979"/>
            <a:ext cx="1850159" cy="687716"/>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0" rtlCol="0" anchor="ctr" anchorCtr="0"/>
          <a:lstStyle/>
          <a:p>
            <a:pPr algn="ctr"/>
            <a:r>
              <a:rPr lang="nl-NL" sz="1050" b="1" dirty="0" smtClean="0">
                <a:solidFill>
                  <a:schemeClr val="tx1">
                    <a:lumMod val="75000"/>
                    <a:lumOff val="25000"/>
                  </a:schemeClr>
                </a:solidFill>
                <a:latin typeface="맑은 고딕" panose="020B0503020000020004" pitchFamily="50" charset="-127"/>
                <a:ea typeface="맑은 고딕" panose="020B0503020000020004" pitchFamily="50" charset="-127"/>
              </a:rPr>
              <a:t>EDS/FDS</a:t>
            </a:r>
            <a:br>
              <a:rPr lang="nl-NL" sz="1050" b="1" dirty="0" smtClean="0">
                <a:solidFill>
                  <a:schemeClr val="tx1">
                    <a:lumMod val="75000"/>
                    <a:lumOff val="25000"/>
                  </a:schemeClr>
                </a:solidFill>
                <a:latin typeface="맑은 고딕" panose="020B0503020000020004" pitchFamily="50" charset="-127"/>
                <a:ea typeface="맑은 고딕" panose="020B0503020000020004" pitchFamily="50" charset="-127"/>
              </a:rPr>
            </a:br>
            <a:r>
              <a:rPr lang="nl-NL" sz="1050" dirty="0">
                <a:solidFill>
                  <a:schemeClr val="tx1">
                    <a:lumMod val="75000"/>
                    <a:lumOff val="25000"/>
                  </a:schemeClr>
                </a:solidFill>
                <a:latin typeface="맑은 고딕" panose="020B0503020000020004" pitchFamily="50" charset="-127"/>
                <a:ea typeface="맑은 고딕" panose="020B0503020000020004" pitchFamily="50" charset="-127"/>
              </a:rPr>
              <a:t>Edge Data Service</a:t>
            </a:r>
            <a:br>
              <a:rPr lang="nl-NL" sz="1050" dirty="0">
                <a:solidFill>
                  <a:schemeClr val="tx1">
                    <a:lumMod val="75000"/>
                    <a:lumOff val="25000"/>
                  </a:schemeClr>
                </a:solidFill>
                <a:latin typeface="맑은 고딕" panose="020B0503020000020004" pitchFamily="50" charset="-127"/>
                <a:ea typeface="맑은 고딕" panose="020B0503020000020004" pitchFamily="50" charset="-127"/>
              </a:rPr>
            </a:br>
            <a:r>
              <a:rPr lang="nl-NL" sz="1050" dirty="0">
                <a:solidFill>
                  <a:schemeClr val="tx1">
                    <a:lumMod val="75000"/>
                    <a:lumOff val="25000"/>
                  </a:schemeClr>
                </a:solidFill>
                <a:latin typeface="맑은 고딕" panose="020B0503020000020004" pitchFamily="50" charset="-127"/>
                <a:ea typeface="맑은 고딕" panose="020B0503020000020004" pitchFamily="50" charset="-127"/>
              </a:rPr>
              <a:t>File Data Service</a:t>
            </a:r>
          </a:p>
        </p:txBody>
      </p:sp>
      <p:sp>
        <p:nvSpPr>
          <p:cNvPr id="209" name="직사각형 208"/>
          <p:cNvSpPr/>
          <p:nvPr/>
        </p:nvSpPr>
        <p:spPr>
          <a:xfrm>
            <a:off x="3725057" y="4952412"/>
            <a:ext cx="1935666" cy="341270"/>
          </a:xfrm>
          <a:prstGeom prst="rect">
            <a:avLst/>
          </a:prstGeom>
        </p:spPr>
        <p:txBody>
          <a:bodyPr wrap="square" lIns="0" rIns="0" anchor="ctr" anchorCtr="0">
            <a:noAutofit/>
          </a:bodyPr>
          <a:lstStyle/>
          <a:p>
            <a:pPr algn="ctr" latinLnBrk="0">
              <a:lnSpc>
                <a:spcPct val="110000"/>
              </a:lnSpc>
            </a:pPr>
            <a:r>
              <a:rPr lang="ko-KR" altLang="en-US" sz="1050" b="1" i="1" dirty="0">
                <a:effectLst>
                  <a:glow rad="152400">
                    <a:schemeClr val="bg1"/>
                  </a:glow>
                </a:effectLst>
                <a:latin typeface="맑은 고딕" panose="020B0503020000020004" pitchFamily="50" charset="-127"/>
                <a:ea typeface="맑은 고딕" panose="020B0503020000020004" pitchFamily="50" charset="-127"/>
              </a:rPr>
              <a:t>“장비 </a:t>
            </a:r>
            <a:r>
              <a:rPr lang="ko-KR" altLang="en-US" sz="1050" b="1" i="1" dirty="0" smtClean="0">
                <a:effectLst>
                  <a:glow rad="152400">
                    <a:schemeClr val="bg1"/>
                  </a:glow>
                </a:effectLst>
                <a:latin typeface="맑은 고딕" panose="020B0503020000020004" pitchFamily="50" charset="-127"/>
                <a:ea typeface="맑은 고딕" panose="020B0503020000020004" pitchFamily="50" charset="-127"/>
              </a:rPr>
              <a:t>비정형 데이터 </a:t>
            </a:r>
            <a:r>
              <a:rPr lang="ko-KR" altLang="en-US" sz="1050" b="1" i="1" dirty="0">
                <a:effectLst>
                  <a:glow rad="152400">
                    <a:schemeClr val="bg1"/>
                  </a:glow>
                </a:effectLst>
                <a:latin typeface="맑은 고딕" panose="020B0503020000020004" pitchFamily="50" charset="-127"/>
                <a:ea typeface="맑은 고딕" panose="020B0503020000020004" pitchFamily="50" charset="-127"/>
              </a:rPr>
              <a:t>처리</a:t>
            </a:r>
            <a:r>
              <a:rPr lang="en-US" altLang="ko-KR" sz="1050" b="1" i="1" dirty="0">
                <a:effectLst>
                  <a:glow rad="152400">
                    <a:schemeClr val="bg1"/>
                  </a:glow>
                </a:effectLst>
                <a:latin typeface="맑은 고딕" panose="020B0503020000020004" pitchFamily="50" charset="-127"/>
                <a:ea typeface="맑은 고딕" panose="020B0503020000020004" pitchFamily="50" charset="-127"/>
              </a:rPr>
              <a:t>”</a:t>
            </a:r>
            <a:endParaRPr lang="ko-KR" altLang="en-US" sz="1050" b="1" i="1" dirty="0">
              <a:effectLst>
                <a:glow rad="152400">
                  <a:schemeClr val="bg1"/>
                </a:glow>
              </a:effectLst>
              <a:latin typeface="맑은 고딕" panose="020B0503020000020004" pitchFamily="50" charset="-127"/>
              <a:ea typeface="맑은 고딕" panose="020B0503020000020004" pitchFamily="50" charset="-127"/>
            </a:endParaRPr>
          </a:p>
        </p:txBody>
      </p:sp>
      <p:sp>
        <p:nvSpPr>
          <p:cNvPr id="210" name="직사각형 209"/>
          <p:cNvSpPr/>
          <p:nvPr/>
        </p:nvSpPr>
        <p:spPr>
          <a:xfrm>
            <a:off x="6006358" y="3379483"/>
            <a:ext cx="1334999" cy="225238"/>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rtlCol="0" anchor="ctr" anchorCtr="0"/>
          <a:lstStyle/>
          <a:p>
            <a:pPr algn="ctr"/>
            <a:r>
              <a:rPr lang="en-US" altLang="ko-KR" sz="1000" b="1" dirty="0" smtClean="0">
                <a:solidFill>
                  <a:schemeClr val="tx1"/>
                </a:solidFill>
                <a:latin typeface="맑은 고딕" panose="020B0503020000020004" pitchFamily="50" charset="-127"/>
                <a:ea typeface="맑은 고딕" panose="020B0503020000020004" pitchFamily="50" charset="-127"/>
              </a:rPr>
              <a:t>   Data Lake</a:t>
            </a:r>
            <a:endParaRPr lang="ko-KR" altLang="en-US" sz="1000" b="1" dirty="0" err="1">
              <a:solidFill>
                <a:schemeClr val="tx1"/>
              </a:solidFill>
              <a:latin typeface="맑은 고딕" panose="020B0503020000020004" pitchFamily="50" charset="-127"/>
              <a:ea typeface="맑은 고딕" panose="020B0503020000020004" pitchFamily="50" charset="-127"/>
            </a:endParaRPr>
          </a:p>
        </p:txBody>
      </p:sp>
      <p:grpSp>
        <p:nvGrpSpPr>
          <p:cNvPr id="211" name="그룹 210"/>
          <p:cNvGrpSpPr/>
          <p:nvPr/>
        </p:nvGrpSpPr>
        <p:grpSpPr>
          <a:xfrm>
            <a:off x="6069191" y="3427991"/>
            <a:ext cx="173264" cy="133045"/>
            <a:chOff x="5376908" y="3717122"/>
            <a:chExt cx="357181" cy="310192"/>
          </a:xfrm>
        </p:grpSpPr>
        <p:sp>
          <p:nvSpPr>
            <p:cNvPr id="212" name="Graphic 4">
              <a:extLst>
                <a:ext uri="{FF2B5EF4-FFF2-40B4-BE49-F238E27FC236}">
                  <a16:creationId xmlns:a16="http://schemas.microsoft.com/office/drawing/2014/main" id="{BC7B6B32-3796-9940-BB7D-284498FAA958}"/>
                </a:ext>
              </a:extLst>
            </p:cNvPr>
            <p:cNvSpPr/>
            <p:nvPr/>
          </p:nvSpPr>
          <p:spPr>
            <a:xfrm>
              <a:off x="5376908" y="3717122"/>
              <a:ext cx="357181" cy="310192"/>
            </a:xfrm>
            <a:custGeom>
              <a:avLst/>
              <a:gdLst>
                <a:gd name="connsiteX0" fmla="*/ 241540 w 246258"/>
                <a:gd name="connsiteY0" fmla="*/ 65117 h 213863"/>
                <a:gd name="connsiteX1" fmla="*/ 130355 w 246258"/>
                <a:gd name="connsiteY1" fmla="*/ 1915 h 213863"/>
                <a:gd name="connsiteX2" fmla="*/ 116297 w 246258"/>
                <a:gd name="connsiteY2" fmla="*/ 1915 h 213863"/>
                <a:gd name="connsiteX3" fmla="*/ 5112 w 246258"/>
                <a:gd name="connsiteY3" fmla="*/ 65117 h 213863"/>
                <a:gd name="connsiteX4" fmla="*/ 1278 w 246258"/>
                <a:gd name="connsiteY4" fmla="*/ 79161 h 213863"/>
                <a:gd name="connsiteX5" fmla="*/ 8307 w 246258"/>
                <a:gd name="connsiteY5" fmla="*/ 84269 h 213863"/>
                <a:gd name="connsiteX6" fmla="*/ 23643 w 246258"/>
                <a:gd name="connsiteY6" fmla="*/ 87460 h 213863"/>
                <a:gd name="connsiteX7" fmla="*/ 23643 w 246258"/>
                <a:gd name="connsiteY7" fmla="*/ 207479 h 213863"/>
                <a:gd name="connsiteX8" fmla="*/ 30033 w 246258"/>
                <a:gd name="connsiteY8" fmla="*/ 213863 h 213863"/>
                <a:gd name="connsiteX9" fmla="*/ 215980 w 246258"/>
                <a:gd name="connsiteY9" fmla="*/ 213863 h 213863"/>
                <a:gd name="connsiteX10" fmla="*/ 222370 w 246258"/>
                <a:gd name="connsiteY10" fmla="*/ 207479 h 213863"/>
                <a:gd name="connsiteX11" fmla="*/ 222370 w 246258"/>
                <a:gd name="connsiteY11" fmla="*/ 87460 h 213863"/>
                <a:gd name="connsiteX12" fmla="*/ 237706 w 246258"/>
                <a:gd name="connsiteY12" fmla="*/ 84269 h 213863"/>
                <a:gd name="connsiteX13" fmla="*/ 246012 w 246258"/>
                <a:gd name="connsiteY13" fmla="*/ 72139 h 213863"/>
                <a:gd name="connsiteX14" fmla="*/ 241540 w 246258"/>
                <a:gd name="connsiteY14" fmla="*/ 65117 h 213863"/>
                <a:gd name="connsiteX15" fmla="*/ 241540 w 246258"/>
                <a:gd name="connsiteY15" fmla="*/ 65117 h 213863"/>
                <a:gd name="connsiteX16" fmla="*/ 214702 w 246258"/>
                <a:gd name="connsiteY16" fmla="*/ 75331 h 213863"/>
                <a:gd name="connsiteX17" fmla="*/ 209590 w 246258"/>
                <a:gd name="connsiteY17" fmla="*/ 81715 h 213863"/>
                <a:gd name="connsiteX18" fmla="*/ 209590 w 246258"/>
                <a:gd name="connsiteY18" fmla="*/ 200457 h 213863"/>
                <a:gd name="connsiteX19" fmla="*/ 37062 w 246258"/>
                <a:gd name="connsiteY19" fmla="*/ 200457 h 213863"/>
                <a:gd name="connsiteX20" fmla="*/ 37062 w 246258"/>
                <a:gd name="connsiteY20" fmla="*/ 81715 h 213863"/>
                <a:gd name="connsiteX21" fmla="*/ 31949 w 246258"/>
                <a:gd name="connsiteY21" fmla="*/ 75331 h 213863"/>
                <a:gd name="connsiteX22" fmla="*/ 17253 w 246258"/>
                <a:gd name="connsiteY22" fmla="*/ 72139 h 213863"/>
                <a:gd name="connsiteX23" fmla="*/ 122687 w 246258"/>
                <a:gd name="connsiteY23" fmla="*/ 12130 h 213863"/>
                <a:gd name="connsiteX24" fmla="*/ 123965 w 246258"/>
                <a:gd name="connsiteY24" fmla="*/ 12130 h 213863"/>
                <a:gd name="connsiteX25" fmla="*/ 229399 w 246258"/>
                <a:gd name="connsiteY25" fmla="*/ 72139 h 213863"/>
                <a:gd name="connsiteX26" fmla="*/ 214702 w 246258"/>
                <a:gd name="connsiteY26" fmla="*/ 75331 h 21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46258" h="213863">
                  <a:moveTo>
                    <a:pt x="241540" y="65117"/>
                  </a:moveTo>
                  <a:lnTo>
                    <a:pt x="130355" y="1915"/>
                  </a:lnTo>
                  <a:cubicBezTo>
                    <a:pt x="125882" y="-638"/>
                    <a:pt x="120770" y="-638"/>
                    <a:pt x="116297" y="1915"/>
                  </a:cubicBezTo>
                  <a:lnTo>
                    <a:pt x="5112" y="65117"/>
                  </a:lnTo>
                  <a:cubicBezTo>
                    <a:pt x="0" y="67670"/>
                    <a:pt x="-1278" y="74054"/>
                    <a:pt x="1278" y="79161"/>
                  </a:cubicBezTo>
                  <a:cubicBezTo>
                    <a:pt x="2556" y="81715"/>
                    <a:pt x="5112" y="83630"/>
                    <a:pt x="8307" y="84269"/>
                  </a:cubicBezTo>
                  <a:lnTo>
                    <a:pt x="23643" y="87460"/>
                  </a:lnTo>
                  <a:lnTo>
                    <a:pt x="23643" y="207479"/>
                  </a:lnTo>
                  <a:cubicBezTo>
                    <a:pt x="23643" y="211310"/>
                    <a:pt x="26199" y="213863"/>
                    <a:pt x="30033" y="213863"/>
                  </a:cubicBezTo>
                  <a:lnTo>
                    <a:pt x="215980" y="213863"/>
                  </a:lnTo>
                  <a:cubicBezTo>
                    <a:pt x="219814" y="213863"/>
                    <a:pt x="222370" y="211310"/>
                    <a:pt x="222370" y="207479"/>
                  </a:cubicBezTo>
                  <a:lnTo>
                    <a:pt x="222370" y="87460"/>
                  </a:lnTo>
                  <a:lnTo>
                    <a:pt x="237706" y="84269"/>
                  </a:lnTo>
                  <a:cubicBezTo>
                    <a:pt x="243457" y="83630"/>
                    <a:pt x="247291" y="77885"/>
                    <a:pt x="246012" y="72139"/>
                  </a:cubicBezTo>
                  <a:cubicBezTo>
                    <a:pt x="246012" y="68947"/>
                    <a:pt x="244096" y="66393"/>
                    <a:pt x="241540" y="65117"/>
                  </a:cubicBezTo>
                  <a:lnTo>
                    <a:pt x="241540" y="65117"/>
                  </a:lnTo>
                  <a:close/>
                  <a:moveTo>
                    <a:pt x="214702" y="75331"/>
                  </a:moveTo>
                  <a:cubicBezTo>
                    <a:pt x="211507" y="75969"/>
                    <a:pt x="209590" y="78523"/>
                    <a:pt x="209590" y="81715"/>
                  </a:cubicBezTo>
                  <a:lnTo>
                    <a:pt x="209590" y="200457"/>
                  </a:lnTo>
                  <a:lnTo>
                    <a:pt x="37062" y="200457"/>
                  </a:lnTo>
                  <a:lnTo>
                    <a:pt x="37062" y="81715"/>
                  </a:lnTo>
                  <a:cubicBezTo>
                    <a:pt x="37062" y="78523"/>
                    <a:pt x="35144" y="75969"/>
                    <a:pt x="31949" y="75331"/>
                  </a:cubicBezTo>
                  <a:lnTo>
                    <a:pt x="17253" y="72139"/>
                  </a:lnTo>
                  <a:lnTo>
                    <a:pt x="122687" y="12130"/>
                  </a:lnTo>
                  <a:cubicBezTo>
                    <a:pt x="123326" y="12130"/>
                    <a:pt x="123965" y="12130"/>
                    <a:pt x="123965" y="12130"/>
                  </a:cubicBezTo>
                  <a:lnTo>
                    <a:pt x="229399" y="72139"/>
                  </a:lnTo>
                  <a:lnTo>
                    <a:pt x="214702" y="75331"/>
                  </a:lnTo>
                  <a:close/>
                </a:path>
              </a:pathLst>
            </a:custGeom>
            <a:solidFill>
              <a:schemeClr val="bg1"/>
            </a:solidFill>
            <a:ln w="6390" cap="flat">
              <a:solidFill>
                <a:schemeClr val="bg1">
                  <a:lumMod val="50000"/>
                </a:schemeClr>
              </a:solidFill>
              <a:prstDash val="solid"/>
              <a:miter/>
            </a:ln>
          </p:spPr>
          <p:txBody>
            <a:bodyPr rtlCol="0" anchor="ctr"/>
            <a:lstStyle/>
            <a:p>
              <a:endParaRPr lang="en-US"/>
            </a:p>
          </p:txBody>
        </p:sp>
        <p:pic>
          <p:nvPicPr>
            <p:cNvPr id="213" name="그림 212"/>
            <p:cNvPicPr>
              <a:picLocks noChangeAspect="1"/>
            </p:cNvPicPr>
            <p:nvPr/>
          </p:nvPicPr>
          <p:blipFill rotWithShape="1">
            <a:blip r:embed="rId3" cstate="hqprint">
              <a:extLst>
                <a:ext uri="{28A0092B-C50C-407E-A947-70E740481C1C}">
                  <a14:useLocalDpi xmlns:a14="http://schemas.microsoft.com/office/drawing/2010/main" val="0"/>
                </a:ext>
              </a:extLst>
            </a:blip>
            <a:srcRect l="6709" t="78889" r="20972"/>
            <a:stretch/>
          </p:blipFill>
          <p:spPr>
            <a:xfrm>
              <a:off x="5409355" y="3892915"/>
              <a:ext cx="274087" cy="40691"/>
            </a:xfrm>
            <a:prstGeom prst="rect">
              <a:avLst/>
            </a:prstGeom>
            <a:ln>
              <a:solidFill>
                <a:schemeClr val="bg1">
                  <a:lumMod val="50000"/>
                </a:schemeClr>
              </a:solidFill>
            </a:ln>
          </p:spPr>
        </p:pic>
        <p:pic>
          <p:nvPicPr>
            <p:cNvPr id="214" name="그림 213"/>
            <p:cNvPicPr>
              <a:picLocks noChangeAspect="1"/>
            </p:cNvPicPr>
            <p:nvPr/>
          </p:nvPicPr>
          <p:blipFill rotWithShape="1">
            <a:blip r:embed="rId3" cstate="hqprint">
              <a:extLst>
                <a:ext uri="{28A0092B-C50C-407E-A947-70E740481C1C}">
                  <a14:useLocalDpi xmlns:a14="http://schemas.microsoft.com/office/drawing/2010/main" val="0"/>
                </a:ext>
              </a:extLst>
            </a:blip>
            <a:srcRect l="6709" t="78889" r="20972"/>
            <a:stretch/>
          </p:blipFill>
          <p:spPr>
            <a:xfrm>
              <a:off x="5409355" y="3941331"/>
              <a:ext cx="274087" cy="40691"/>
            </a:xfrm>
            <a:prstGeom prst="rect">
              <a:avLst/>
            </a:prstGeom>
            <a:ln>
              <a:solidFill>
                <a:schemeClr val="bg1">
                  <a:lumMod val="50000"/>
                </a:schemeClr>
              </a:solidFill>
            </a:ln>
          </p:spPr>
        </p:pic>
      </p:grpSp>
      <p:sp>
        <p:nvSpPr>
          <p:cNvPr id="215" name="직사각형 214"/>
          <p:cNvSpPr/>
          <p:nvPr/>
        </p:nvSpPr>
        <p:spPr>
          <a:xfrm>
            <a:off x="5808055" y="5286811"/>
            <a:ext cx="1586235" cy="690884"/>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0" rtlCol="0" anchor="ctr" anchorCtr="0"/>
          <a:lstStyle/>
          <a:p>
            <a:pPr algn="ctr"/>
            <a:r>
              <a:rPr lang="en-US" altLang="ko-KR" sz="1050" b="1" dirty="0">
                <a:solidFill>
                  <a:schemeClr val="tx1">
                    <a:lumMod val="75000"/>
                    <a:lumOff val="25000"/>
                  </a:schemeClr>
                </a:solidFill>
                <a:latin typeface="맑은 고딕" panose="020B0503020000020004" pitchFamily="50" charset="-127"/>
                <a:ea typeface="맑은 고딕" panose="020B0503020000020004" pitchFamily="50" charset="-127"/>
              </a:rPr>
              <a:t>Big </a:t>
            </a:r>
            <a:r>
              <a:rPr lang="en-US" altLang="ko-KR" sz="1050" b="1" dirty="0" smtClean="0">
                <a:solidFill>
                  <a:schemeClr val="tx1">
                    <a:lumMod val="75000"/>
                    <a:lumOff val="25000"/>
                  </a:schemeClr>
                </a:solidFill>
                <a:latin typeface="맑은 고딕" panose="020B0503020000020004" pitchFamily="50" charset="-127"/>
                <a:ea typeface="맑은 고딕" panose="020B0503020000020004" pitchFamily="50" charset="-127"/>
              </a:rPr>
              <a:t>Data Computing</a:t>
            </a:r>
            <a:br>
              <a:rPr lang="en-US" altLang="ko-KR" sz="1050" b="1" dirty="0" smtClean="0">
                <a:solidFill>
                  <a:schemeClr val="tx1">
                    <a:lumMod val="75000"/>
                    <a:lumOff val="25000"/>
                  </a:schemeClr>
                </a:solidFill>
                <a:latin typeface="맑은 고딕" panose="020B0503020000020004" pitchFamily="50" charset="-127"/>
                <a:ea typeface="맑은 고딕" panose="020B0503020000020004" pitchFamily="50" charset="-127"/>
              </a:rPr>
            </a:br>
            <a:r>
              <a:rPr lang="en-US" altLang="ko-KR" sz="1050" dirty="0" smtClean="0">
                <a:solidFill>
                  <a:schemeClr val="tx1">
                    <a:lumMod val="75000"/>
                    <a:lumOff val="25000"/>
                  </a:schemeClr>
                </a:solidFill>
                <a:latin typeface="맑은 고딕" panose="020B0503020000020004" pitchFamily="50" charset="-127"/>
                <a:ea typeface="맑은 고딕" panose="020B0503020000020004" pitchFamily="50" charset="-127"/>
              </a:rPr>
              <a:t>T-Hadoop</a:t>
            </a:r>
            <a:endParaRPr lang="ko-KR" altLang="en-US" sz="10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216" name="직사각형 215"/>
          <p:cNvSpPr/>
          <p:nvPr/>
        </p:nvSpPr>
        <p:spPr>
          <a:xfrm>
            <a:off x="5930714" y="4975870"/>
            <a:ext cx="1340917" cy="412936"/>
          </a:xfrm>
          <a:prstGeom prst="rect">
            <a:avLst/>
          </a:prstGeom>
        </p:spPr>
        <p:txBody>
          <a:bodyPr wrap="square" lIns="0" rIns="0" anchor="ctr" anchorCtr="0">
            <a:noAutofit/>
          </a:bodyPr>
          <a:lstStyle/>
          <a:p>
            <a:pPr algn="ctr" latinLnBrk="0">
              <a:lnSpc>
                <a:spcPct val="110000"/>
              </a:lnSpc>
            </a:pPr>
            <a:r>
              <a:rPr lang="en-US" altLang="ko-KR" sz="1050" b="1" i="1" dirty="0" smtClean="0">
                <a:effectLst>
                  <a:glow rad="152400">
                    <a:schemeClr val="bg1"/>
                  </a:glow>
                </a:effectLst>
                <a:latin typeface="맑은 고딕" panose="020B0503020000020004" pitchFamily="50" charset="-127"/>
                <a:ea typeface="맑은 고딕" panose="020B0503020000020004" pitchFamily="50" charset="-127"/>
              </a:rPr>
              <a:t>“</a:t>
            </a:r>
            <a:r>
              <a:rPr lang="ko-KR" altLang="en-US" sz="1050" b="1" i="1" dirty="0" smtClean="0">
                <a:effectLst>
                  <a:glow rad="152400">
                    <a:schemeClr val="bg1"/>
                  </a:glow>
                </a:effectLst>
                <a:latin typeface="맑은 고딕" panose="020B0503020000020004" pitchFamily="50" charset="-127"/>
                <a:ea typeface="맑은 고딕" panose="020B0503020000020004" pitchFamily="50" charset="-127"/>
              </a:rPr>
              <a:t>대용량 </a:t>
            </a:r>
            <a:r>
              <a:rPr lang="en-US" altLang="ko-KR" sz="1050" b="1" i="1" dirty="0" smtClean="0">
                <a:effectLst>
                  <a:glow rad="152400">
                    <a:schemeClr val="bg1"/>
                  </a:glow>
                </a:effectLst>
                <a:latin typeface="맑은 고딕" panose="020B0503020000020004" pitchFamily="50" charset="-127"/>
                <a:ea typeface="맑은 고딕" panose="020B0503020000020004" pitchFamily="50" charset="-127"/>
              </a:rPr>
              <a:t>Big Data</a:t>
            </a:r>
            <a:br>
              <a:rPr lang="en-US" altLang="ko-KR" sz="1050" b="1" i="1" dirty="0" smtClean="0">
                <a:effectLst>
                  <a:glow rad="152400">
                    <a:schemeClr val="bg1"/>
                  </a:glow>
                </a:effectLst>
                <a:latin typeface="맑은 고딕" panose="020B0503020000020004" pitchFamily="50" charset="-127"/>
                <a:ea typeface="맑은 고딕" panose="020B0503020000020004" pitchFamily="50" charset="-127"/>
              </a:rPr>
            </a:br>
            <a:r>
              <a:rPr lang="ko-KR" altLang="en-US" sz="1050" b="1" i="1" dirty="0" smtClean="0">
                <a:effectLst>
                  <a:glow rad="152400">
                    <a:schemeClr val="bg1"/>
                  </a:glow>
                </a:effectLst>
                <a:latin typeface="맑은 고딕" panose="020B0503020000020004" pitchFamily="50" charset="-127"/>
                <a:ea typeface="맑은 고딕" panose="020B0503020000020004" pitchFamily="50" charset="-127"/>
              </a:rPr>
              <a:t>처리 및 적재</a:t>
            </a:r>
            <a:r>
              <a:rPr lang="en-US" altLang="ko-KR" sz="1050" b="1" i="1" dirty="0" smtClean="0">
                <a:effectLst>
                  <a:glow rad="152400">
                    <a:schemeClr val="bg1"/>
                  </a:glow>
                </a:effectLst>
                <a:latin typeface="맑은 고딕" panose="020B0503020000020004" pitchFamily="50" charset="-127"/>
                <a:ea typeface="맑은 고딕" panose="020B0503020000020004" pitchFamily="50" charset="-127"/>
              </a:rPr>
              <a:t>”</a:t>
            </a:r>
            <a:endParaRPr lang="ko-KR" altLang="en-US" sz="1050" b="1" i="1" dirty="0">
              <a:effectLst>
                <a:glow rad="152400">
                  <a:schemeClr val="bg1"/>
                </a:glow>
              </a:effectLst>
              <a:latin typeface="맑은 고딕" panose="020B0503020000020004" pitchFamily="50" charset="-127"/>
              <a:ea typeface="맑은 고딕" panose="020B0503020000020004" pitchFamily="50" charset="-127"/>
            </a:endParaRPr>
          </a:p>
        </p:txBody>
      </p:sp>
      <p:sp>
        <p:nvSpPr>
          <p:cNvPr id="217" name="TextBox 216"/>
          <p:cNvSpPr txBox="1"/>
          <p:nvPr/>
        </p:nvSpPr>
        <p:spPr>
          <a:xfrm>
            <a:off x="3693980" y="2600691"/>
            <a:ext cx="450407" cy="276999"/>
          </a:xfrm>
          <a:prstGeom prst="rect">
            <a:avLst/>
          </a:prstGeom>
          <a:noFill/>
        </p:spPr>
        <p:txBody>
          <a:bodyPr wrap="square" lIns="0" tIns="0" rIns="0" bIns="0" rtlCol="0" anchor="ctr" anchorCtr="0">
            <a:spAutoFit/>
          </a:bodyPr>
          <a:lstStyle>
            <a:lvl1pPr algn="ctr">
              <a:spcAft>
                <a:spcPts val="300"/>
              </a:spcAft>
              <a:defRPr sz="900" spc="-40">
                <a:latin typeface="맑은 고딕" panose="020B0503020000020004" pitchFamily="50" charset="-127"/>
                <a:ea typeface="맑은 고딕" panose="020B0503020000020004" pitchFamily="50" charset="-127"/>
              </a:defRPr>
            </a:lvl1pPr>
          </a:lstStyle>
          <a:p>
            <a:r>
              <a:rPr lang="en-US" altLang="ko-KR" dirty="0"/>
              <a:t>Event</a:t>
            </a:r>
            <a:br>
              <a:rPr lang="en-US" altLang="ko-KR" dirty="0"/>
            </a:br>
            <a:r>
              <a:rPr lang="en-US" altLang="ko-KR" dirty="0"/>
              <a:t>Pipeline</a:t>
            </a:r>
            <a:endParaRPr lang="ko-KR" altLang="en-US" dirty="0"/>
          </a:p>
        </p:txBody>
      </p:sp>
      <p:sp>
        <p:nvSpPr>
          <p:cNvPr id="218" name="직사각형 217"/>
          <p:cNvSpPr/>
          <p:nvPr/>
        </p:nvSpPr>
        <p:spPr>
          <a:xfrm>
            <a:off x="7633585" y="1842561"/>
            <a:ext cx="2810254" cy="300317"/>
          </a:xfrm>
          <a:prstGeom prst="rect">
            <a:avLst/>
          </a:prstGeom>
          <a:solidFill>
            <a:schemeClr val="bg1">
              <a:lumMod val="6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smtClean="0">
                <a:solidFill>
                  <a:schemeClr val="bg1"/>
                </a:solidFill>
                <a:latin typeface="맑은 고딕" panose="020B0503020000020004" pitchFamily="50" charset="-127"/>
                <a:ea typeface="맑은 고딕" panose="020B0503020000020004" pitchFamily="50" charset="-127"/>
              </a:rPr>
              <a:t>서비스 제공</a:t>
            </a:r>
            <a:endParaRPr lang="en-US" altLang="ko-KR" sz="1200" b="1" dirty="0">
              <a:solidFill>
                <a:schemeClr val="bg1"/>
              </a:solidFill>
              <a:latin typeface="맑은 고딕" panose="020B0503020000020004" pitchFamily="50" charset="-127"/>
              <a:ea typeface="맑은 고딕" panose="020B0503020000020004" pitchFamily="50" charset="-127"/>
            </a:endParaRPr>
          </a:p>
        </p:txBody>
      </p:sp>
      <p:sp>
        <p:nvSpPr>
          <p:cNvPr id="219" name="직사각형 218">
            <a:extLst>
              <a:ext uri="{FF2B5EF4-FFF2-40B4-BE49-F238E27FC236}">
                <a16:creationId xmlns:a16="http://schemas.microsoft.com/office/drawing/2014/main" id="{FDB5A00A-1A17-4B51-B315-D437A5721601}"/>
              </a:ext>
            </a:extLst>
          </p:cNvPr>
          <p:cNvSpPr/>
          <p:nvPr/>
        </p:nvSpPr>
        <p:spPr bwMode="gray">
          <a:xfrm>
            <a:off x="7660191" y="4343954"/>
            <a:ext cx="2783647" cy="1874921"/>
          </a:xfrm>
          <a:prstGeom prst="rect">
            <a:avLst/>
          </a:prstGeom>
          <a:solidFill>
            <a:schemeClr val="bg1"/>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rtlCol="0" anchor="t" anchorCtr="0"/>
          <a:lstStyle/>
          <a:p>
            <a:pPr algn="ctr"/>
            <a:r>
              <a:rPr lang="nl-NL" sz="1100" b="1" dirty="0">
                <a:solidFill>
                  <a:schemeClr val="tx1"/>
                </a:solidFill>
                <a:latin typeface="맑은 고딕" panose="020B0503020000020004" pitchFamily="50" charset="-127"/>
                <a:ea typeface="맑은 고딕" panose="020B0503020000020004" pitchFamily="50" charset="-127"/>
              </a:rPr>
              <a:t>  </a:t>
            </a:r>
            <a:r>
              <a:rPr lang="nl-NL" sz="1100" b="1" dirty="0" smtClean="0">
                <a:solidFill>
                  <a:schemeClr val="tx1"/>
                </a:solidFill>
                <a:latin typeface="맑은 고딕" panose="020B0503020000020004" pitchFamily="50" charset="-127"/>
                <a:ea typeface="맑은 고딕" panose="020B0503020000020004" pitchFamily="50" charset="-127"/>
              </a:rPr>
              <a:t>Data Lake Service</a:t>
            </a:r>
            <a:endParaRPr lang="nl-NL" sz="1100" b="1" dirty="0">
              <a:solidFill>
                <a:schemeClr val="tx1"/>
              </a:solidFill>
              <a:latin typeface="맑은 고딕" panose="020B0503020000020004" pitchFamily="50" charset="-127"/>
              <a:ea typeface="맑은 고딕" panose="020B0503020000020004" pitchFamily="50" charset="-127"/>
            </a:endParaRPr>
          </a:p>
        </p:txBody>
      </p:sp>
      <p:sp>
        <p:nvSpPr>
          <p:cNvPr id="220" name="직사각형 219">
            <a:extLst>
              <a:ext uri="{FF2B5EF4-FFF2-40B4-BE49-F238E27FC236}">
                <a16:creationId xmlns:a16="http://schemas.microsoft.com/office/drawing/2014/main" id="{FDB5A00A-1A17-4B51-B315-D437A5721601}"/>
              </a:ext>
            </a:extLst>
          </p:cNvPr>
          <p:cNvSpPr/>
          <p:nvPr/>
        </p:nvSpPr>
        <p:spPr bwMode="gray">
          <a:xfrm>
            <a:off x="7783910" y="4704491"/>
            <a:ext cx="995921" cy="248283"/>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algn="ctr"/>
            <a:r>
              <a:rPr lang="en-US" altLang="ko-KR" sz="1000" b="1" dirty="0" smtClean="0">
                <a:solidFill>
                  <a:schemeClr val="tx1">
                    <a:lumMod val="75000"/>
                    <a:lumOff val="25000"/>
                  </a:schemeClr>
                </a:solidFill>
                <a:latin typeface="맑은 고딕" panose="020B0503020000020004" pitchFamily="50" charset="-127"/>
                <a:ea typeface="맑은 고딕" panose="020B0503020000020004" pitchFamily="50" charset="-127"/>
              </a:rPr>
              <a:t>Workbench</a:t>
            </a:r>
            <a:endParaRPr lang="en-US" altLang="ko-KR" sz="1000" b="1"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221" name="직사각형 220">
            <a:extLst>
              <a:ext uri="{FF2B5EF4-FFF2-40B4-BE49-F238E27FC236}">
                <a16:creationId xmlns:a16="http://schemas.microsoft.com/office/drawing/2014/main" id="{FDB5A00A-1A17-4B51-B315-D437A5721601}"/>
              </a:ext>
            </a:extLst>
          </p:cNvPr>
          <p:cNvSpPr/>
          <p:nvPr/>
        </p:nvSpPr>
        <p:spPr bwMode="gray">
          <a:xfrm>
            <a:off x="7903798" y="5032132"/>
            <a:ext cx="889489" cy="30031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algn="ctr"/>
            <a:r>
              <a:rPr lang="en-US" altLang="ko-KR" sz="1000" b="1" dirty="0" smtClean="0">
                <a:solidFill>
                  <a:schemeClr val="tx1">
                    <a:lumMod val="75000"/>
                    <a:lumOff val="25000"/>
                  </a:schemeClr>
                </a:solidFill>
                <a:latin typeface="맑은 고딕" panose="020B0503020000020004" pitchFamily="50" charset="-127"/>
                <a:ea typeface="맑은 고딕" panose="020B0503020000020004" pitchFamily="50" charset="-127"/>
              </a:rPr>
              <a:t>Catalog</a:t>
            </a:r>
            <a:endParaRPr lang="en-US" altLang="ko-KR" sz="1000" b="1"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222" name="직사각형 221">
            <a:extLst>
              <a:ext uri="{FF2B5EF4-FFF2-40B4-BE49-F238E27FC236}">
                <a16:creationId xmlns:a16="http://schemas.microsoft.com/office/drawing/2014/main" id="{FDB5A00A-1A17-4B51-B315-D437A5721601}"/>
              </a:ext>
            </a:extLst>
          </p:cNvPr>
          <p:cNvSpPr/>
          <p:nvPr/>
        </p:nvSpPr>
        <p:spPr bwMode="gray">
          <a:xfrm>
            <a:off x="7903798" y="5411807"/>
            <a:ext cx="889489" cy="30031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algn="ctr"/>
            <a:r>
              <a:rPr lang="en-US" altLang="ko-KR" sz="1000" b="1" dirty="0" smtClean="0">
                <a:solidFill>
                  <a:schemeClr val="tx1">
                    <a:lumMod val="75000"/>
                    <a:lumOff val="25000"/>
                  </a:schemeClr>
                </a:solidFill>
                <a:latin typeface="맑은 고딕" panose="020B0503020000020004" pitchFamily="50" charset="-127"/>
                <a:ea typeface="맑은 고딕" panose="020B0503020000020004" pitchFamily="50" charset="-127"/>
              </a:rPr>
              <a:t>Hyperset </a:t>
            </a:r>
            <a:endParaRPr lang="en-US" altLang="ko-KR" sz="1000" b="1"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223" name="직사각형 222">
            <a:extLst>
              <a:ext uri="{FF2B5EF4-FFF2-40B4-BE49-F238E27FC236}">
                <a16:creationId xmlns:a16="http://schemas.microsoft.com/office/drawing/2014/main" id="{FDB5A00A-1A17-4B51-B315-D437A5721601}"/>
              </a:ext>
            </a:extLst>
          </p:cNvPr>
          <p:cNvSpPr/>
          <p:nvPr/>
        </p:nvSpPr>
        <p:spPr bwMode="gray">
          <a:xfrm>
            <a:off x="8842501" y="5069479"/>
            <a:ext cx="1568791" cy="22562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marL="88900" indent="-88900">
              <a:buFont typeface="Arial" panose="020B0604020202020204" pitchFamily="34" charset="0"/>
              <a:buChar char="•"/>
            </a:pPr>
            <a:r>
              <a:rPr lang="ko-KR" altLang="en-US" sz="8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데이터 검색</a:t>
            </a:r>
            <a:r>
              <a:rPr lang="en-US" altLang="ko-KR" sz="8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8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추출</a:t>
            </a:r>
            <a:endParaRPr lang="en-US" altLang="ko-KR" sz="800" b="1" spc="-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224" name="직사각형 223">
            <a:extLst>
              <a:ext uri="{FF2B5EF4-FFF2-40B4-BE49-F238E27FC236}">
                <a16:creationId xmlns:a16="http://schemas.microsoft.com/office/drawing/2014/main" id="{FDB5A00A-1A17-4B51-B315-D437A5721601}"/>
              </a:ext>
            </a:extLst>
          </p:cNvPr>
          <p:cNvSpPr/>
          <p:nvPr/>
        </p:nvSpPr>
        <p:spPr bwMode="gray">
          <a:xfrm>
            <a:off x="8842501" y="4727153"/>
            <a:ext cx="1568791" cy="22562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marL="88900" indent="-88900">
              <a:buFont typeface="Arial" panose="020B0604020202020204" pitchFamily="34" charset="0"/>
              <a:buChar char="•"/>
            </a:pPr>
            <a:r>
              <a:rPr lang="en-US" altLang="ko-KR" sz="8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Data Lake </a:t>
            </a:r>
            <a:r>
              <a:rPr lang="ko-KR" altLang="en-US" sz="8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통합 인입점</a:t>
            </a:r>
            <a:endParaRPr lang="en-US" altLang="ko-KR" sz="800" b="1" spc="-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225" name="직사각형 224">
            <a:extLst>
              <a:ext uri="{FF2B5EF4-FFF2-40B4-BE49-F238E27FC236}">
                <a16:creationId xmlns:a16="http://schemas.microsoft.com/office/drawing/2014/main" id="{FDB5A00A-1A17-4B51-B315-D437A5721601}"/>
              </a:ext>
            </a:extLst>
          </p:cNvPr>
          <p:cNvSpPr/>
          <p:nvPr/>
        </p:nvSpPr>
        <p:spPr bwMode="gray">
          <a:xfrm>
            <a:off x="8842501" y="5462146"/>
            <a:ext cx="1568791" cy="22562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marL="88900" indent="-88900">
              <a:buFont typeface="Arial" panose="020B0604020202020204" pitchFamily="34" charset="0"/>
              <a:buChar char="•"/>
            </a:pPr>
            <a:r>
              <a:rPr lang="ko-KR" altLang="en-US" sz="8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쿼리 생성</a:t>
            </a:r>
            <a:r>
              <a:rPr lang="en-US" altLang="ko-KR" sz="8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8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실행</a:t>
            </a:r>
            <a:endParaRPr lang="en-US" altLang="ko-KR" sz="800" b="1" spc="-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226" name="직사각형 225">
            <a:extLst>
              <a:ext uri="{FF2B5EF4-FFF2-40B4-BE49-F238E27FC236}">
                <a16:creationId xmlns:a16="http://schemas.microsoft.com/office/drawing/2014/main" id="{FDB5A00A-1A17-4B51-B315-D437A5721601}"/>
              </a:ext>
            </a:extLst>
          </p:cNvPr>
          <p:cNvSpPr/>
          <p:nvPr/>
        </p:nvSpPr>
        <p:spPr bwMode="gray">
          <a:xfrm>
            <a:off x="7903798" y="5791482"/>
            <a:ext cx="889489" cy="30031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algn="ctr"/>
            <a:r>
              <a:rPr lang="en-US" altLang="ko-KR" sz="1000" b="1" dirty="0" smtClean="0">
                <a:solidFill>
                  <a:schemeClr val="tx1">
                    <a:lumMod val="75000"/>
                    <a:lumOff val="25000"/>
                  </a:schemeClr>
                </a:solidFill>
                <a:latin typeface="맑은 고딕" panose="020B0503020000020004" pitchFamily="50" charset="-127"/>
                <a:ea typeface="맑은 고딕" panose="020B0503020000020004" pitchFamily="50" charset="-127"/>
              </a:rPr>
              <a:t>Workflow</a:t>
            </a:r>
            <a:endParaRPr lang="en-US" altLang="ko-KR" sz="1000" b="1"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227" name="직사각형 226">
            <a:extLst>
              <a:ext uri="{FF2B5EF4-FFF2-40B4-BE49-F238E27FC236}">
                <a16:creationId xmlns:a16="http://schemas.microsoft.com/office/drawing/2014/main" id="{FDB5A00A-1A17-4B51-B315-D437A5721601}"/>
              </a:ext>
            </a:extLst>
          </p:cNvPr>
          <p:cNvSpPr/>
          <p:nvPr/>
        </p:nvSpPr>
        <p:spPr bwMode="gray">
          <a:xfrm>
            <a:off x="8842501" y="5857605"/>
            <a:ext cx="1568791" cy="22562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marL="88900" indent="-88900">
              <a:buFont typeface="Arial" panose="020B0604020202020204" pitchFamily="34" charset="0"/>
              <a:buChar char="•"/>
            </a:pPr>
            <a:r>
              <a:rPr lang="ko-KR" altLang="en-US" sz="8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데이터 파이프라인 생성</a:t>
            </a:r>
            <a:r>
              <a:rPr lang="en-US" altLang="ko-KR" sz="8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8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실행</a:t>
            </a:r>
            <a:endParaRPr lang="en-US" altLang="ko-KR" sz="800" b="1" spc="-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228" name="직사각형 227">
            <a:extLst>
              <a:ext uri="{FF2B5EF4-FFF2-40B4-BE49-F238E27FC236}">
                <a16:creationId xmlns:a16="http://schemas.microsoft.com/office/drawing/2014/main" id="{FDB5A00A-1A17-4B51-B315-D437A5721601}"/>
              </a:ext>
            </a:extLst>
          </p:cNvPr>
          <p:cNvSpPr/>
          <p:nvPr/>
        </p:nvSpPr>
        <p:spPr bwMode="gray">
          <a:xfrm>
            <a:off x="10629287" y="2257387"/>
            <a:ext cx="1138101" cy="3961489"/>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rtlCol="0" anchor="t" anchorCtr="0"/>
          <a:lstStyle/>
          <a:p>
            <a:pPr algn="ctr"/>
            <a:endParaRPr lang="nl-NL" sz="1200" b="1"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229" name="직사각형 228"/>
          <p:cNvSpPr/>
          <p:nvPr/>
        </p:nvSpPr>
        <p:spPr>
          <a:xfrm>
            <a:off x="10625975" y="1842561"/>
            <a:ext cx="1140175" cy="300317"/>
          </a:xfrm>
          <a:prstGeom prst="rect">
            <a:avLst/>
          </a:prstGeom>
          <a:solidFill>
            <a:schemeClr val="bg1">
              <a:lumMod val="6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smtClean="0">
                <a:solidFill>
                  <a:schemeClr val="bg1"/>
                </a:solidFill>
                <a:latin typeface="맑은 고딕" panose="020B0503020000020004" pitchFamily="50" charset="-127"/>
                <a:ea typeface="맑은 고딕" panose="020B0503020000020004" pitchFamily="50" charset="-127"/>
              </a:rPr>
              <a:t>활용 방식</a:t>
            </a:r>
            <a:endParaRPr lang="en-US" altLang="ko-KR" sz="1200" b="1" dirty="0">
              <a:solidFill>
                <a:schemeClr val="bg1"/>
              </a:solidFill>
              <a:latin typeface="맑은 고딕" panose="020B0503020000020004" pitchFamily="50" charset="-127"/>
              <a:ea typeface="맑은 고딕" panose="020B0503020000020004" pitchFamily="50" charset="-127"/>
            </a:endParaRPr>
          </a:p>
        </p:txBody>
      </p:sp>
      <p:grpSp>
        <p:nvGrpSpPr>
          <p:cNvPr id="230" name="그룹 229"/>
          <p:cNvGrpSpPr/>
          <p:nvPr/>
        </p:nvGrpSpPr>
        <p:grpSpPr>
          <a:xfrm>
            <a:off x="10712105" y="5127107"/>
            <a:ext cx="972467" cy="1003169"/>
            <a:chOff x="10801755" y="5477634"/>
            <a:chExt cx="972467" cy="962025"/>
          </a:xfrm>
        </p:grpSpPr>
        <p:sp>
          <p:nvSpPr>
            <p:cNvPr id="231" name="직사각형 230">
              <a:extLst>
                <a:ext uri="{FF2B5EF4-FFF2-40B4-BE49-F238E27FC236}">
                  <a16:creationId xmlns:a16="http://schemas.microsoft.com/office/drawing/2014/main" id="{FDB5A00A-1A17-4B51-B315-D437A5721601}"/>
                </a:ext>
              </a:extLst>
            </p:cNvPr>
            <p:cNvSpPr/>
            <p:nvPr/>
          </p:nvSpPr>
          <p:spPr bwMode="gray">
            <a:xfrm>
              <a:off x="10801755" y="5477634"/>
              <a:ext cx="972467" cy="962025"/>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nchorCtr="0"/>
            <a:lstStyle/>
            <a:p>
              <a:pPr algn="ctr"/>
              <a:r>
                <a:rPr lang="en-US" altLang="ko-KR" sz="1100" b="1" dirty="0" smtClean="0">
                  <a:solidFill>
                    <a:schemeClr val="tx1">
                      <a:lumMod val="75000"/>
                      <a:lumOff val="25000"/>
                    </a:schemeClr>
                  </a:solidFill>
                  <a:latin typeface="맑은 고딕" panose="020B0503020000020004" pitchFamily="50" charset="-127"/>
                  <a:ea typeface="맑은 고딕" panose="020B0503020000020004" pitchFamily="50" charset="-127"/>
                </a:rPr>
                <a:t>Data Mart</a:t>
              </a:r>
            </a:p>
          </p:txBody>
        </p:sp>
        <p:sp>
          <p:nvSpPr>
            <p:cNvPr id="232" name="직사각형 231">
              <a:extLst>
                <a:ext uri="{FF2B5EF4-FFF2-40B4-BE49-F238E27FC236}">
                  <a16:creationId xmlns:a16="http://schemas.microsoft.com/office/drawing/2014/main" id="{FDB5A00A-1A17-4B51-B315-D437A5721601}"/>
                </a:ext>
              </a:extLst>
            </p:cNvPr>
            <p:cNvSpPr/>
            <p:nvPr/>
          </p:nvSpPr>
          <p:spPr bwMode="gray">
            <a:xfrm>
              <a:off x="10896885" y="5755176"/>
              <a:ext cx="780724" cy="264808"/>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algn="ctr"/>
              <a:r>
                <a:rPr lang="ko-KR" altLang="en-US" sz="1050" b="1" dirty="0" smtClean="0">
                  <a:solidFill>
                    <a:schemeClr val="tx1">
                      <a:lumMod val="75000"/>
                      <a:lumOff val="25000"/>
                    </a:schemeClr>
                  </a:solidFill>
                  <a:latin typeface="맑은 고딕" panose="020B0503020000020004" pitchFamily="50" charset="-127"/>
                </a:rPr>
                <a:t>개인용</a:t>
              </a:r>
              <a:endParaRPr lang="en-US" altLang="ko-KR" sz="1050" b="1" dirty="0">
                <a:solidFill>
                  <a:schemeClr val="tx1">
                    <a:lumMod val="75000"/>
                    <a:lumOff val="25000"/>
                  </a:schemeClr>
                </a:solidFill>
                <a:latin typeface="맑은 고딕" panose="020B0503020000020004" pitchFamily="50" charset="-127"/>
              </a:endParaRPr>
            </a:p>
          </p:txBody>
        </p:sp>
        <p:sp>
          <p:nvSpPr>
            <p:cNvPr id="233" name="직사각형 232">
              <a:extLst>
                <a:ext uri="{FF2B5EF4-FFF2-40B4-BE49-F238E27FC236}">
                  <a16:creationId xmlns:a16="http://schemas.microsoft.com/office/drawing/2014/main" id="{FDB5A00A-1A17-4B51-B315-D437A5721601}"/>
                </a:ext>
              </a:extLst>
            </p:cNvPr>
            <p:cNvSpPr/>
            <p:nvPr/>
          </p:nvSpPr>
          <p:spPr bwMode="gray">
            <a:xfrm>
              <a:off x="10896885" y="6093721"/>
              <a:ext cx="780724" cy="264808"/>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algn="ctr"/>
              <a:r>
                <a:rPr lang="ko-KR" altLang="en-US" sz="1050" b="1" dirty="0" smtClean="0">
                  <a:solidFill>
                    <a:schemeClr val="tx1">
                      <a:lumMod val="75000"/>
                      <a:lumOff val="25000"/>
                    </a:schemeClr>
                  </a:solidFill>
                  <a:latin typeface="맑은 고딕" panose="020B0503020000020004" pitchFamily="50" charset="-127"/>
                  <a:ea typeface="맑은 고딕" panose="020B0503020000020004" pitchFamily="50" charset="-127"/>
                </a:rPr>
                <a:t>부서</a:t>
              </a:r>
              <a:r>
                <a:rPr lang="ko-KR" altLang="en-US" sz="1050" b="1" dirty="0">
                  <a:solidFill>
                    <a:schemeClr val="tx1">
                      <a:lumMod val="75000"/>
                      <a:lumOff val="25000"/>
                    </a:schemeClr>
                  </a:solidFill>
                  <a:latin typeface="맑은 고딕" panose="020B0503020000020004" pitchFamily="50" charset="-127"/>
                  <a:ea typeface="맑은 고딕" panose="020B0503020000020004" pitchFamily="50" charset="-127"/>
                </a:rPr>
                <a:t>용</a:t>
              </a:r>
              <a:endParaRPr lang="en-US" altLang="ko-KR" sz="1050" b="1"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grpSp>
        <p:nvGrpSpPr>
          <p:cNvPr id="234" name="그룹 233"/>
          <p:cNvGrpSpPr/>
          <p:nvPr/>
        </p:nvGrpSpPr>
        <p:grpSpPr>
          <a:xfrm>
            <a:off x="10712105" y="3717885"/>
            <a:ext cx="972467" cy="1299429"/>
            <a:chOff x="10801755" y="4108819"/>
            <a:chExt cx="972467" cy="1246134"/>
          </a:xfrm>
        </p:grpSpPr>
        <p:sp>
          <p:nvSpPr>
            <p:cNvPr id="235" name="직사각형 234">
              <a:extLst>
                <a:ext uri="{FF2B5EF4-FFF2-40B4-BE49-F238E27FC236}">
                  <a16:creationId xmlns:a16="http://schemas.microsoft.com/office/drawing/2014/main" id="{FDB5A00A-1A17-4B51-B315-D437A5721601}"/>
                </a:ext>
              </a:extLst>
            </p:cNvPr>
            <p:cNvSpPr/>
            <p:nvPr/>
          </p:nvSpPr>
          <p:spPr bwMode="gray">
            <a:xfrm>
              <a:off x="10801755" y="4108819"/>
              <a:ext cx="972467" cy="1246134"/>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nchorCtr="0"/>
            <a:lstStyle/>
            <a:p>
              <a:pPr algn="ctr"/>
              <a:r>
                <a:rPr lang="en-US" altLang="ko-KR" sz="1100" b="1" dirty="0" smtClean="0">
                  <a:solidFill>
                    <a:schemeClr val="tx1">
                      <a:lumMod val="75000"/>
                      <a:lumOff val="25000"/>
                    </a:schemeClr>
                  </a:solidFill>
                  <a:latin typeface="맑은 고딕" panose="020B0503020000020004" pitchFamily="50" charset="-127"/>
                  <a:ea typeface="맑은 고딕" panose="020B0503020000020004" pitchFamily="50" charset="-127"/>
                </a:rPr>
                <a:t>Legacy </a:t>
              </a:r>
              <a:r>
                <a:rPr lang="ko-KR" altLang="en-US" sz="1100" b="1" dirty="0" smtClean="0">
                  <a:solidFill>
                    <a:schemeClr val="tx1">
                      <a:lumMod val="75000"/>
                      <a:lumOff val="25000"/>
                    </a:schemeClr>
                  </a:solidFill>
                  <a:latin typeface="맑은 고딕" panose="020B0503020000020004" pitchFamily="50" charset="-127"/>
                  <a:ea typeface="맑은 고딕" panose="020B0503020000020004" pitchFamily="50" charset="-127"/>
                </a:rPr>
                <a:t>연계</a:t>
              </a:r>
              <a:endParaRPr lang="en-US" altLang="ko-KR" sz="1100" b="1" dirty="0" smtClean="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236" name="직사각형 235">
              <a:extLst>
                <a:ext uri="{FF2B5EF4-FFF2-40B4-BE49-F238E27FC236}">
                  <a16:creationId xmlns:a16="http://schemas.microsoft.com/office/drawing/2014/main" id="{FDB5A00A-1A17-4B51-B315-D437A5721601}"/>
                </a:ext>
              </a:extLst>
            </p:cNvPr>
            <p:cNvSpPr/>
            <p:nvPr/>
          </p:nvSpPr>
          <p:spPr bwMode="gray">
            <a:xfrm>
              <a:off x="10897626" y="4386361"/>
              <a:ext cx="780724" cy="264808"/>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algn="ctr"/>
              <a:r>
                <a:rPr lang="en-US" altLang="ko-KR" sz="1050" b="1" dirty="0" smtClean="0">
                  <a:solidFill>
                    <a:schemeClr val="tx1">
                      <a:lumMod val="75000"/>
                      <a:lumOff val="25000"/>
                    </a:schemeClr>
                  </a:solidFill>
                  <a:latin typeface="맑은 고딕" panose="020B0503020000020004" pitchFamily="50" charset="-127"/>
                  <a:ea typeface="맑은 고딕" panose="020B0503020000020004" pitchFamily="50" charset="-127"/>
                </a:rPr>
                <a:t>MES</a:t>
              </a:r>
              <a:endParaRPr lang="en-US" altLang="ko-KR" sz="1050" b="1"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237" name="직사각형 236">
              <a:extLst>
                <a:ext uri="{FF2B5EF4-FFF2-40B4-BE49-F238E27FC236}">
                  <a16:creationId xmlns:a16="http://schemas.microsoft.com/office/drawing/2014/main" id="{FDB5A00A-1A17-4B51-B315-D437A5721601}"/>
                </a:ext>
              </a:extLst>
            </p:cNvPr>
            <p:cNvSpPr/>
            <p:nvPr/>
          </p:nvSpPr>
          <p:spPr bwMode="gray">
            <a:xfrm>
              <a:off x="10897626" y="4709566"/>
              <a:ext cx="780724" cy="264808"/>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algn="ctr"/>
              <a:r>
                <a:rPr lang="en-US" altLang="ko-KR" sz="1050" b="1" dirty="0" smtClean="0">
                  <a:solidFill>
                    <a:schemeClr val="tx1">
                      <a:lumMod val="75000"/>
                      <a:lumOff val="25000"/>
                    </a:schemeClr>
                  </a:solidFill>
                  <a:latin typeface="맑은 고딕" panose="020B0503020000020004" pitchFamily="50" charset="-127"/>
                  <a:ea typeface="맑은 고딕" panose="020B0503020000020004" pitchFamily="50" charset="-127"/>
                </a:rPr>
                <a:t>TAS</a:t>
              </a:r>
              <a:endParaRPr lang="en-US" altLang="ko-KR" sz="1050" b="1"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238" name="직사각형 237">
              <a:extLst>
                <a:ext uri="{FF2B5EF4-FFF2-40B4-BE49-F238E27FC236}">
                  <a16:creationId xmlns:a16="http://schemas.microsoft.com/office/drawing/2014/main" id="{FDB5A00A-1A17-4B51-B315-D437A5721601}"/>
                </a:ext>
              </a:extLst>
            </p:cNvPr>
            <p:cNvSpPr/>
            <p:nvPr/>
          </p:nvSpPr>
          <p:spPr bwMode="gray">
            <a:xfrm>
              <a:off x="10897626" y="5032771"/>
              <a:ext cx="780724" cy="24114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algn="ctr"/>
              <a:r>
                <a:rPr lang="en-US" altLang="ko-KR" sz="1050" b="1" dirty="0" smtClean="0">
                  <a:solidFill>
                    <a:schemeClr val="tx1">
                      <a:lumMod val="75000"/>
                      <a:lumOff val="25000"/>
                    </a:schemeClr>
                  </a:solidFill>
                  <a:latin typeface="맑은 고딕" panose="020B0503020000020004" pitchFamily="50" charset="-127"/>
                  <a:ea typeface="맑은 고딕" panose="020B0503020000020004" pitchFamily="50" charset="-127"/>
                </a:rPr>
                <a:t>…</a:t>
              </a:r>
              <a:endParaRPr lang="en-US" altLang="ko-KR" sz="1050" b="1"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grpSp>
        <p:nvGrpSpPr>
          <p:cNvPr id="239" name="그룹 238"/>
          <p:cNvGrpSpPr/>
          <p:nvPr/>
        </p:nvGrpSpPr>
        <p:grpSpPr>
          <a:xfrm>
            <a:off x="7783910" y="2636654"/>
            <a:ext cx="2627382" cy="1319205"/>
            <a:chOff x="7873560" y="2942402"/>
            <a:chExt cx="2627382" cy="1736755"/>
          </a:xfrm>
        </p:grpSpPr>
        <p:sp>
          <p:nvSpPr>
            <p:cNvPr id="240" name="직사각형 239">
              <a:extLst>
                <a:ext uri="{FF2B5EF4-FFF2-40B4-BE49-F238E27FC236}">
                  <a16:creationId xmlns:a16="http://schemas.microsoft.com/office/drawing/2014/main" id="{FDB5A00A-1A17-4B51-B315-D437A5721601}"/>
                </a:ext>
              </a:extLst>
            </p:cNvPr>
            <p:cNvSpPr/>
            <p:nvPr/>
          </p:nvSpPr>
          <p:spPr bwMode="gray">
            <a:xfrm>
              <a:off x="7993448" y="3246250"/>
              <a:ext cx="889489" cy="300317"/>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algn="ctr"/>
              <a:r>
                <a:rPr lang="en-US" altLang="ko-KR" sz="1050" b="1" dirty="0" smtClean="0">
                  <a:solidFill>
                    <a:schemeClr val="tx1">
                      <a:lumMod val="75000"/>
                      <a:lumOff val="25000"/>
                    </a:schemeClr>
                  </a:solidFill>
                  <a:latin typeface="맑은 고딕" panose="020B0503020000020004" pitchFamily="50" charset="-127"/>
                  <a:ea typeface="맑은 고딕" panose="020B0503020000020004" pitchFamily="50" charset="-127"/>
                </a:rPr>
                <a:t>h-CONNECT</a:t>
              </a:r>
              <a:endParaRPr lang="en-US" altLang="ko-KR" sz="1050" b="1"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241" name="직사각형 240">
              <a:extLst>
                <a:ext uri="{FF2B5EF4-FFF2-40B4-BE49-F238E27FC236}">
                  <a16:creationId xmlns:a16="http://schemas.microsoft.com/office/drawing/2014/main" id="{FDB5A00A-1A17-4B51-B315-D437A5721601}"/>
                </a:ext>
              </a:extLst>
            </p:cNvPr>
            <p:cNvSpPr/>
            <p:nvPr/>
          </p:nvSpPr>
          <p:spPr bwMode="gray">
            <a:xfrm>
              <a:off x="7993448" y="3624794"/>
              <a:ext cx="889489" cy="300317"/>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algn="ctr"/>
              <a:r>
                <a:rPr lang="en-US" altLang="ko-KR" sz="1050" b="1" dirty="0" smtClean="0">
                  <a:solidFill>
                    <a:schemeClr val="tx1">
                      <a:lumMod val="75000"/>
                      <a:lumOff val="25000"/>
                    </a:schemeClr>
                  </a:solidFill>
                  <a:latin typeface="맑은 고딕" panose="020B0503020000020004" pitchFamily="50" charset="-127"/>
                  <a:ea typeface="맑은 고딕" panose="020B0503020000020004" pitchFamily="50" charset="-127"/>
                </a:rPr>
                <a:t>h-API</a:t>
              </a:r>
              <a:endParaRPr lang="en-US" altLang="ko-KR" sz="1050" dirty="0" smtClean="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242" name="직사각형 241">
              <a:extLst>
                <a:ext uri="{FF2B5EF4-FFF2-40B4-BE49-F238E27FC236}">
                  <a16:creationId xmlns:a16="http://schemas.microsoft.com/office/drawing/2014/main" id="{FDB5A00A-1A17-4B51-B315-D437A5721601}"/>
                </a:ext>
              </a:extLst>
            </p:cNvPr>
            <p:cNvSpPr/>
            <p:nvPr/>
          </p:nvSpPr>
          <p:spPr bwMode="gray">
            <a:xfrm>
              <a:off x="7993448" y="4003337"/>
              <a:ext cx="889489" cy="300317"/>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algn="ctr"/>
              <a:r>
                <a:rPr lang="en-US" altLang="ko-KR" sz="1050" b="1" dirty="0" smtClean="0">
                  <a:solidFill>
                    <a:schemeClr val="tx1">
                      <a:lumMod val="75000"/>
                      <a:lumOff val="25000"/>
                    </a:schemeClr>
                  </a:solidFill>
                  <a:latin typeface="맑은 고딕" panose="020B0503020000020004" pitchFamily="50" charset="-127"/>
                  <a:ea typeface="맑은 고딕" panose="020B0503020000020004" pitchFamily="50" charset="-127"/>
                </a:rPr>
                <a:t>h-Bridge</a:t>
              </a:r>
              <a:endParaRPr lang="en-US" altLang="ko-KR" sz="1050" b="1"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243" name="직사각형 242">
              <a:extLst>
                <a:ext uri="{FF2B5EF4-FFF2-40B4-BE49-F238E27FC236}">
                  <a16:creationId xmlns:a16="http://schemas.microsoft.com/office/drawing/2014/main" id="{FDB5A00A-1A17-4B51-B315-D437A5721601}"/>
                </a:ext>
              </a:extLst>
            </p:cNvPr>
            <p:cNvSpPr/>
            <p:nvPr/>
          </p:nvSpPr>
          <p:spPr bwMode="gray">
            <a:xfrm>
              <a:off x="8952335" y="2942402"/>
              <a:ext cx="1520825" cy="22562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marL="88900" indent="-88900">
                <a:buFont typeface="Arial" panose="020B0604020202020204" pitchFamily="34" charset="0"/>
                <a:buChar char="•"/>
              </a:pPr>
              <a:r>
                <a:rPr lang="en-US" altLang="ko-KR" sz="9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Data Hub </a:t>
              </a:r>
              <a:r>
                <a:rPr lang="ko-KR" altLang="en-US" sz="9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통합 인입점</a:t>
              </a:r>
              <a:endParaRPr lang="en-US" altLang="ko-KR" sz="900" b="1" spc="-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244" name="직사각형 243">
              <a:extLst>
                <a:ext uri="{FF2B5EF4-FFF2-40B4-BE49-F238E27FC236}">
                  <a16:creationId xmlns:a16="http://schemas.microsoft.com/office/drawing/2014/main" id="{FDB5A00A-1A17-4B51-B315-D437A5721601}"/>
                </a:ext>
              </a:extLst>
            </p:cNvPr>
            <p:cNvSpPr/>
            <p:nvPr/>
          </p:nvSpPr>
          <p:spPr bwMode="gray">
            <a:xfrm>
              <a:off x="7873560" y="2942402"/>
              <a:ext cx="1009377" cy="225622"/>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algn="ctr"/>
              <a:r>
                <a:rPr lang="en-US" altLang="ko-KR" sz="1050" b="1" dirty="0" smtClean="0">
                  <a:solidFill>
                    <a:schemeClr val="tx1">
                      <a:lumMod val="75000"/>
                      <a:lumOff val="25000"/>
                    </a:schemeClr>
                  </a:solidFill>
                  <a:latin typeface="맑은 고딕" panose="020B0503020000020004" pitchFamily="50" charset="-127"/>
                  <a:ea typeface="맑은 고딕" panose="020B0503020000020004" pitchFamily="50" charset="-127"/>
                </a:rPr>
                <a:t>h-Portal</a:t>
              </a:r>
              <a:endParaRPr lang="en-US" altLang="ko-KR" sz="1050" b="1"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245" name="직사각형 244">
              <a:extLst>
                <a:ext uri="{FF2B5EF4-FFF2-40B4-BE49-F238E27FC236}">
                  <a16:creationId xmlns:a16="http://schemas.microsoft.com/office/drawing/2014/main" id="{FDB5A00A-1A17-4B51-B315-D437A5721601}"/>
                </a:ext>
              </a:extLst>
            </p:cNvPr>
            <p:cNvSpPr/>
            <p:nvPr/>
          </p:nvSpPr>
          <p:spPr bwMode="gray">
            <a:xfrm>
              <a:off x="8964999" y="3283598"/>
              <a:ext cx="1332744" cy="22562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marL="88900" indent="-88900">
                <a:buFont typeface="Arial" panose="020B0604020202020204" pitchFamily="34" charset="0"/>
                <a:buChar char="•"/>
              </a:pPr>
              <a:r>
                <a:rPr lang="ko-KR" altLang="en-US" sz="9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실시간 </a:t>
              </a:r>
              <a:r>
                <a:rPr lang="en-US" altLang="ko-KR" sz="9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DB </a:t>
              </a:r>
              <a:r>
                <a:rPr lang="ko-KR" altLang="en-US" sz="9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복제</a:t>
              </a:r>
              <a:endParaRPr lang="en-US" altLang="ko-KR" sz="900" b="1" spc="-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246" name="직사각형 245">
              <a:extLst>
                <a:ext uri="{FF2B5EF4-FFF2-40B4-BE49-F238E27FC236}">
                  <a16:creationId xmlns:a16="http://schemas.microsoft.com/office/drawing/2014/main" id="{FDB5A00A-1A17-4B51-B315-D437A5721601}"/>
                </a:ext>
              </a:extLst>
            </p:cNvPr>
            <p:cNvSpPr/>
            <p:nvPr/>
          </p:nvSpPr>
          <p:spPr bwMode="gray">
            <a:xfrm>
              <a:off x="8932151" y="3662142"/>
              <a:ext cx="1568791" cy="22562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marL="88900" indent="-88900">
                <a:buFont typeface="Arial" panose="020B0604020202020204" pitchFamily="34" charset="0"/>
                <a:buChar char="•"/>
              </a:pPr>
              <a:r>
                <a:rPr lang="ko-KR" altLang="en-US" sz="9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실시간 </a:t>
              </a:r>
              <a:r>
                <a:rPr lang="en-US" altLang="ko-KR" sz="9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API </a:t>
              </a:r>
              <a:r>
                <a:rPr lang="ko-KR" altLang="en-US" sz="9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생성</a:t>
              </a:r>
              <a:r>
                <a:rPr lang="en-US" altLang="ko-KR" sz="9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9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실행</a:t>
              </a:r>
              <a:endParaRPr lang="en-US" altLang="ko-KR" sz="900" b="1" spc="-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247" name="직사각형 246">
              <a:extLst>
                <a:ext uri="{FF2B5EF4-FFF2-40B4-BE49-F238E27FC236}">
                  <a16:creationId xmlns:a16="http://schemas.microsoft.com/office/drawing/2014/main" id="{FDB5A00A-1A17-4B51-B315-D437A5721601}"/>
                </a:ext>
              </a:extLst>
            </p:cNvPr>
            <p:cNvSpPr/>
            <p:nvPr/>
          </p:nvSpPr>
          <p:spPr bwMode="gray">
            <a:xfrm>
              <a:off x="8932151" y="4040684"/>
              <a:ext cx="1568791" cy="22562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marL="88900" indent="-88900">
                <a:buFont typeface="Arial" panose="020B0604020202020204" pitchFamily="34" charset="0"/>
                <a:buChar char="•"/>
              </a:pPr>
              <a:r>
                <a:rPr lang="ko-KR" altLang="en-US" sz="9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실시간 </a:t>
              </a:r>
              <a:r>
                <a:rPr lang="en-US" altLang="ko-KR" sz="9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Action </a:t>
              </a:r>
              <a:r>
                <a:rPr lang="ko-KR" altLang="en-US" sz="9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생성</a:t>
              </a:r>
              <a:r>
                <a:rPr lang="en-US" altLang="ko-KR" sz="9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9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실행</a:t>
              </a:r>
              <a:endParaRPr lang="en-US" altLang="ko-KR" sz="900" b="1" spc="-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cxnSp>
          <p:nvCxnSpPr>
            <p:cNvPr id="248" name="꺾인 연결선 247"/>
            <p:cNvCxnSpPr>
              <a:endCxn id="240" idx="1"/>
            </p:cNvCxnSpPr>
            <p:nvPr/>
          </p:nvCxnSpPr>
          <p:spPr>
            <a:xfrm rot="16200000" flipH="1">
              <a:off x="7844554" y="3247515"/>
              <a:ext cx="228387" cy="69400"/>
            </a:xfrm>
            <a:prstGeom prst="bentConnector2">
              <a:avLst/>
            </a:prstGeom>
          </p:spPr>
          <p:style>
            <a:lnRef idx="1">
              <a:schemeClr val="dk1"/>
            </a:lnRef>
            <a:fillRef idx="0">
              <a:schemeClr val="dk1"/>
            </a:fillRef>
            <a:effectRef idx="0">
              <a:schemeClr val="dk1"/>
            </a:effectRef>
            <a:fontRef idx="minor">
              <a:schemeClr val="tx1"/>
            </a:fontRef>
          </p:style>
        </p:cxnSp>
        <p:cxnSp>
          <p:nvCxnSpPr>
            <p:cNvPr id="249" name="꺾인 연결선 248"/>
            <p:cNvCxnSpPr>
              <a:endCxn id="241" idx="1"/>
            </p:cNvCxnSpPr>
            <p:nvPr/>
          </p:nvCxnSpPr>
          <p:spPr>
            <a:xfrm rot="16200000" flipH="1">
              <a:off x="7763299" y="3544803"/>
              <a:ext cx="390900" cy="69398"/>
            </a:xfrm>
            <a:prstGeom prst="bentConnector2">
              <a:avLst/>
            </a:prstGeom>
          </p:spPr>
          <p:style>
            <a:lnRef idx="1">
              <a:schemeClr val="dk1"/>
            </a:lnRef>
            <a:fillRef idx="0">
              <a:schemeClr val="dk1"/>
            </a:fillRef>
            <a:effectRef idx="0">
              <a:schemeClr val="dk1"/>
            </a:effectRef>
            <a:fontRef idx="minor">
              <a:schemeClr val="tx1"/>
            </a:fontRef>
          </p:style>
        </p:cxnSp>
        <p:cxnSp>
          <p:nvCxnSpPr>
            <p:cNvPr id="250" name="꺾인 연결선 249"/>
            <p:cNvCxnSpPr>
              <a:endCxn id="242" idx="1"/>
            </p:cNvCxnSpPr>
            <p:nvPr/>
          </p:nvCxnSpPr>
          <p:spPr>
            <a:xfrm rot="16200000" flipH="1">
              <a:off x="7770026" y="3930072"/>
              <a:ext cx="378200" cy="68645"/>
            </a:xfrm>
            <a:prstGeom prst="bentConnector2">
              <a:avLst/>
            </a:prstGeom>
          </p:spPr>
          <p:style>
            <a:lnRef idx="1">
              <a:schemeClr val="dk1"/>
            </a:lnRef>
            <a:fillRef idx="0">
              <a:schemeClr val="dk1"/>
            </a:fillRef>
            <a:effectRef idx="0">
              <a:schemeClr val="dk1"/>
            </a:effectRef>
            <a:fontRef idx="minor">
              <a:schemeClr val="tx1"/>
            </a:fontRef>
          </p:style>
        </p:cxnSp>
        <p:sp>
          <p:nvSpPr>
            <p:cNvPr id="251" name="직사각형 250">
              <a:extLst>
                <a:ext uri="{FF2B5EF4-FFF2-40B4-BE49-F238E27FC236}">
                  <a16:creationId xmlns:a16="http://schemas.microsoft.com/office/drawing/2014/main" id="{FDB5A00A-1A17-4B51-B315-D437A5721601}"/>
                </a:ext>
              </a:extLst>
            </p:cNvPr>
            <p:cNvSpPr/>
            <p:nvPr/>
          </p:nvSpPr>
          <p:spPr bwMode="gray">
            <a:xfrm>
              <a:off x="7993448" y="4378840"/>
              <a:ext cx="889489" cy="300317"/>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algn="ctr"/>
              <a:r>
                <a:rPr lang="en-US" altLang="ko-KR" sz="1050" b="1" dirty="0" smtClean="0">
                  <a:solidFill>
                    <a:schemeClr val="tx1">
                      <a:lumMod val="75000"/>
                      <a:lumOff val="25000"/>
                    </a:schemeClr>
                  </a:solidFill>
                  <a:latin typeface="맑은 고딕" panose="020B0503020000020004" pitchFamily="50" charset="-127"/>
                  <a:ea typeface="맑은 고딕" panose="020B0503020000020004" pitchFamily="50" charset="-127"/>
                </a:rPr>
                <a:t>RV-Sender</a:t>
              </a:r>
              <a:endParaRPr lang="en-US" altLang="ko-KR" sz="1050" b="1"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252" name="직사각형 251">
              <a:extLst>
                <a:ext uri="{FF2B5EF4-FFF2-40B4-BE49-F238E27FC236}">
                  <a16:creationId xmlns:a16="http://schemas.microsoft.com/office/drawing/2014/main" id="{FDB5A00A-1A17-4B51-B315-D437A5721601}"/>
                </a:ext>
              </a:extLst>
            </p:cNvPr>
            <p:cNvSpPr/>
            <p:nvPr/>
          </p:nvSpPr>
          <p:spPr bwMode="gray">
            <a:xfrm>
              <a:off x="8932151" y="4416187"/>
              <a:ext cx="1568791" cy="22562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marL="88900" indent="-88900">
                <a:buFont typeface="Arial" panose="020B0604020202020204" pitchFamily="34" charset="0"/>
                <a:buChar char="•"/>
              </a:pPr>
              <a:r>
                <a:rPr lang="ko-KR" altLang="en-US" sz="9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실시간 </a:t>
              </a:r>
              <a:r>
                <a:rPr lang="en-US" altLang="ko-KR" sz="9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RV </a:t>
              </a:r>
              <a:r>
                <a:rPr lang="en-US" altLang="ko-KR" sz="900" b="1" spc="-50" dirty="0" err="1" smtClean="0">
                  <a:solidFill>
                    <a:schemeClr val="tx1">
                      <a:lumMod val="75000"/>
                      <a:lumOff val="25000"/>
                    </a:schemeClr>
                  </a:solidFill>
                  <a:latin typeface="맑은 고딕" panose="020B0503020000020004" pitchFamily="50" charset="-127"/>
                  <a:ea typeface="맑은 고딕" panose="020B0503020000020004" pitchFamily="50" charset="-127"/>
                </a:rPr>
                <a:t>Msg</a:t>
              </a:r>
              <a:r>
                <a:rPr lang="en-US" altLang="ko-KR" sz="9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 </a:t>
              </a:r>
              <a:r>
                <a:rPr lang="ko-KR" altLang="en-US" sz="900" b="1" spc="-50" dirty="0" smtClean="0">
                  <a:solidFill>
                    <a:schemeClr val="tx1">
                      <a:lumMod val="75000"/>
                      <a:lumOff val="25000"/>
                    </a:schemeClr>
                  </a:solidFill>
                  <a:latin typeface="맑은 고딕" panose="020B0503020000020004" pitchFamily="50" charset="-127"/>
                  <a:ea typeface="맑은 고딕" panose="020B0503020000020004" pitchFamily="50" charset="-127"/>
                </a:rPr>
                <a:t>전송</a:t>
              </a:r>
              <a:endParaRPr lang="en-US" altLang="ko-KR" sz="900" b="1" spc="-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cxnSp>
          <p:nvCxnSpPr>
            <p:cNvPr id="253" name="꺾인 연결선 252"/>
            <p:cNvCxnSpPr>
              <a:endCxn id="251" idx="1"/>
            </p:cNvCxnSpPr>
            <p:nvPr/>
          </p:nvCxnSpPr>
          <p:spPr>
            <a:xfrm rot="16200000" flipH="1">
              <a:off x="7765147" y="4300696"/>
              <a:ext cx="387958" cy="68645"/>
            </a:xfrm>
            <a:prstGeom prst="bentConnector2">
              <a:avLst/>
            </a:prstGeom>
          </p:spPr>
          <p:style>
            <a:lnRef idx="1">
              <a:schemeClr val="dk1"/>
            </a:lnRef>
            <a:fillRef idx="0">
              <a:schemeClr val="dk1"/>
            </a:fillRef>
            <a:effectRef idx="0">
              <a:schemeClr val="dk1"/>
            </a:effectRef>
            <a:fontRef idx="minor">
              <a:schemeClr val="tx1"/>
            </a:fontRef>
          </p:style>
        </p:cxnSp>
      </p:grpSp>
      <p:cxnSp>
        <p:nvCxnSpPr>
          <p:cNvPr id="254" name="꺾인 연결선 253"/>
          <p:cNvCxnSpPr/>
          <p:nvPr/>
        </p:nvCxnSpPr>
        <p:spPr>
          <a:xfrm rot="16200000" flipH="1">
            <a:off x="7759976" y="5018535"/>
            <a:ext cx="218246" cy="69398"/>
          </a:xfrm>
          <a:prstGeom prst="bentConnector2">
            <a:avLst/>
          </a:prstGeom>
        </p:spPr>
        <p:style>
          <a:lnRef idx="1">
            <a:schemeClr val="dk1"/>
          </a:lnRef>
          <a:fillRef idx="0">
            <a:schemeClr val="dk1"/>
          </a:fillRef>
          <a:effectRef idx="0">
            <a:schemeClr val="dk1"/>
          </a:effectRef>
          <a:fontRef idx="minor">
            <a:schemeClr val="tx1"/>
          </a:fontRef>
        </p:style>
      </p:cxnSp>
      <p:cxnSp>
        <p:nvCxnSpPr>
          <p:cNvPr id="255" name="꺾인 연결선 254"/>
          <p:cNvCxnSpPr/>
          <p:nvPr/>
        </p:nvCxnSpPr>
        <p:spPr>
          <a:xfrm rot="16200000" flipH="1">
            <a:off x="7668581" y="5325962"/>
            <a:ext cx="401038" cy="69396"/>
          </a:xfrm>
          <a:prstGeom prst="bentConnector2">
            <a:avLst/>
          </a:prstGeom>
        </p:spPr>
        <p:style>
          <a:lnRef idx="1">
            <a:schemeClr val="dk1"/>
          </a:lnRef>
          <a:fillRef idx="0">
            <a:schemeClr val="dk1"/>
          </a:fillRef>
          <a:effectRef idx="0">
            <a:schemeClr val="dk1"/>
          </a:effectRef>
          <a:fontRef idx="minor">
            <a:schemeClr val="tx1"/>
          </a:fontRef>
        </p:style>
      </p:cxnSp>
      <p:cxnSp>
        <p:nvCxnSpPr>
          <p:cNvPr id="256" name="꺾인 연결선 255"/>
          <p:cNvCxnSpPr/>
          <p:nvPr/>
        </p:nvCxnSpPr>
        <p:spPr>
          <a:xfrm rot="16200000" flipH="1">
            <a:off x="7671542" y="5727745"/>
            <a:ext cx="395115" cy="69396"/>
          </a:xfrm>
          <a:prstGeom prst="bentConnector2">
            <a:avLst/>
          </a:prstGeom>
        </p:spPr>
        <p:style>
          <a:lnRef idx="1">
            <a:schemeClr val="dk1"/>
          </a:lnRef>
          <a:fillRef idx="0">
            <a:schemeClr val="dk1"/>
          </a:fillRef>
          <a:effectRef idx="0">
            <a:schemeClr val="dk1"/>
          </a:effectRef>
          <a:fontRef idx="minor">
            <a:schemeClr val="tx1"/>
          </a:fontRef>
        </p:style>
      </p:cxnSp>
      <p:grpSp>
        <p:nvGrpSpPr>
          <p:cNvPr id="257" name="그룹 256"/>
          <p:cNvGrpSpPr/>
          <p:nvPr/>
        </p:nvGrpSpPr>
        <p:grpSpPr>
          <a:xfrm>
            <a:off x="10712105" y="2377563"/>
            <a:ext cx="972467" cy="1230529"/>
            <a:chOff x="10801755" y="2840860"/>
            <a:chExt cx="972467" cy="1180060"/>
          </a:xfrm>
        </p:grpSpPr>
        <p:sp>
          <p:nvSpPr>
            <p:cNvPr id="258" name="직사각형 257">
              <a:extLst>
                <a:ext uri="{FF2B5EF4-FFF2-40B4-BE49-F238E27FC236}">
                  <a16:creationId xmlns:a16="http://schemas.microsoft.com/office/drawing/2014/main" id="{FDB5A00A-1A17-4B51-B315-D437A5721601}"/>
                </a:ext>
              </a:extLst>
            </p:cNvPr>
            <p:cNvSpPr/>
            <p:nvPr/>
          </p:nvSpPr>
          <p:spPr bwMode="gray">
            <a:xfrm>
              <a:off x="10801755" y="2840860"/>
              <a:ext cx="972467" cy="118006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nchorCtr="0"/>
            <a:lstStyle/>
            <a:p>
              <a:pPr algn="ctr"/>
              <a:r>
                <a:rPr lang="ko-KR" altLang="en-US" sz="1100" b="1" dirty="0" smtClean="0">
                  <a:solidFill>
                    <a:schemeClr val="tx1">
                      <a:lumMod val="75000"/>
                      <a:lumOff val="25000"/>
                    </a:schemeClr>
                  </a:solidFill>
                  <a:latin typeface="맑은 고딕" panose="020B0503020000020004" pitchFamily="50" charset="-127"/>
                  <a:ea typeface="맑은 고딕" panose="020B0503020000020004" pitchFamily="50" charset="-127"/>
                </a:rPr>
                <a:t>분석</a:t>
              </a:r>
              <a:r>
                <a:rPr lang="en-US" altLang="ko-KR" sz="1100" b="1" dirty="0" smtClean="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1100" b="1" dirty="0" smtClean="0">
                  <a:solidFill>
                    <a:schemeClr val="tx1">
                      <a:lumMod val="75000"/>
                      <a:lumOff val="25000"/>
                    </a:schemeClr>
                  </a:solidFill>
                  <a:latin typeface="맑은 고딕" panose="020B0503020000020004" pitchFamily="50" charset="-127"/>
                  <a:ea typeface="맑은 고딕" panose="020B0503020000020004" pitchFamily="50" charset="-127"/>
                </a:rPr>
                <a:t>시각화</a:t>
              </a:r>
              <a:endParaRPr lang="en-US" altLang="ko-KR" sz="1100" b="1" dirty="0" smtClean="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259" name="직사각형 258">
              <a:extLst>
                <a:ext uri="{FF2B5EF4-FFF2-40B4-BE49-F238E27FC236}">
                  <a16:creationId xmlns:a16="http://schemas.microsoft.com/office/drawing/2014/main" id="{FDB5A00A-1A17-4B51-B315-D437A5721601}"/>
                </a:ext>
              </a:extLst>
            </p:cNvPr>
            <p:cNvSpPr/>
            <p:nvPr/>
          </p:nvSpPr>
          <p:spPr bwMode="gray">
            <a:xfrm>
              <a:off x="10897626" y="3057465"/>
              <a:ext cx="780724" cy="264808"/>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algn="ctr"/>
              <a:r>
                <a:rPr lang="en-US" altLang="ko-KR" sz="1050" b="1" dirty="0" smtClean="0">
                  <a:solidFill>
                    <a:schemeClr val="tx1">
                      <a:lumMod val="75000"/>
                      <a:lumOff val="25000"/>
                    </a:schemeClr>
                  </a:solidFill>
                  <a:latin typeface="맑은 고딕" panose="020B0503020000020004" pitchFamily="50" charset="-127"/>
                  <a:ea typeface="맑은 고딕" panose="020B0503020000020004" pitchFamily="50" charset="-127"/>
                </a:rPr>
                <a:t>IPA</a:t>
              </a:r>
              <a:endParaRPr lang="en-US" altLang="ko-KR" sz="1050" b="1"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260" name="직사각형 259">
              <a:extLst>
                <a:ext uri="{FF2B5EF4-FFF2-40B4-BE49-F238E27FC236}">
                  <a16:creationId xmlns:a16="http://schemas.microsoft.com/office/drawing/2014/main" id="{FDB5A00A-1A17-4B51-B315-D437A5721601}"/>
                </a:ext>
              </a:extLst>
            </p:cNvPr>
            <p:cNvSpPr/>
            <p:nvPr/>
          </p:nvSpPr>
          <p:spPr bwMode="gray">
            <a:xfrm>
              <a:off x="10897626" y="3396010"/>
              <a:ext cx="780724" cy="264808"/>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algn="ctr"/>
              <a:r>
                <a:rPr lang="en-US" altLang="ko-KR" sz="1050" b="1" dirty="0" smtClean="0">
                  <a:solidFill>
                    <a:schemeClr val="tx1">
                      <a:lumMod val="75000"/>
                      <a:lumOff val="25000"/>
                    </a:schemeClr>
                  </a:solidFill>
                  <a:latin typeface="맑은 고딕" panose="020B0503020000020004" pitchFamily="50" charset="-127"/>
                  <a:ea typeface="맑은 고딕" panose="020B0503020000020004" pitchFamily="50" charset="-127"/>
                </a:rPr>
                <a:t>Jupyter</a:t>
              </a:r>
              <a:endParaRPr lang="en-US" altLang="ko-KR" sz="1050" b="1"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261" name="직사각형 260">
              <a:extLst>
                <a:ext uri="{FF2B5EF4-FFF2-40B4-BE49-F238E27FC236}">
                  <a16:creationId xmlns:a16="http://schemas.microsoft.com/office/drawing/2014/main" id="{FDB5A00A-1A17-4B51-B315-D437A5721601}"/>
                </a:ext>
              </a:extLst>
            </p:cNvPr>
            <p:cNvSpPr/>
            <p:nvPr/>
          </p:nvSpPr>
          <p:spPr bwMode="gray">
            <a:xfrm>
              <a:off x="10897626" y="3725075"/>
              <a:ext cx="780724" cy="264808"/>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nchorCtr="0"/>
            <a:lstStyle/>
            <a:p>
              <a:pPr algn="ctr"/>
              <a:r>
                <a:rPr lang="en-US" altLang="ko-KR" sz="1050" b="1" dirty="0" smtClean="0">
                  <a:solidFill>
                    <a:schemeClr val="tx1">
                      <a:lumMod val="75000"/>
                      <a:lumOff val="25000"/>
                    </a:schemeClr>
                  </a:solidFill>
                  <a:latin typeface="맑은 고딕" panose="020B0503020000020004" pitchFamily="50" charset="-127"/>
                  <a:ea typeface="맑은 고딕" panose="020B0503020000020004" pitchFamily="50" charset="-127"/>
                </a:rPr>
                <a:t>Local</a:t>
              </a:r>
              <a:endParaRPr lang="en-US" altLang="ko-KR" sz="1050" b="1"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sp>
        <p:nvSpPr>
          <p:cNvPr id="262" name="직사각형 261">
            <a:extLst>
              <a:ext uri="{FF2B5EF4-FFF2-40B4-BE49-F238E27FC236}">
                <a16:creationId xmlns:a16="http://schemas.microsoft.com/office/drawing/2014/main" id="{FDB5A00A-1A17-4B51-B315-D437A5721601}"/>
              </a:ext>
            </a:extLst>
          </p:cNvPr>
          <p:cNvSpPr/>
          <p:nvPr/>
        </p:nvSpPr>
        <p:spPr bwMode="gray">
          <a:xfrm>
            <a:off x="4167725" y="3887784"/>
            <a:ext cx="1446729" cy="771787"/>
          </a:xfrm>
          <a:prstGeom prst="rect">
            <a:avLst/>
          </a:prstGeom>
          <a:pattFill prst="ltUpDiag">
            <a:fgClr>
              <a:schemeClr val="accent1">
                <a:lumMod val="20000"/>
                <a:lumOff val="80000"/>
              </a:schemeClr>
            </a:fgClr>
            <a:bgClr>
              <a:schemeClr val="bg1"/>
            </a:bgClr>
          </a:patt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rtlCol="0" anchor="t" anchorCtr="0"/>
          <a:lstStyle/>
          <a:p>
            <a:pPr algn="ctr"/>
            <a:r>
              <a:rPr lang="nl-NL" sz="1200" b="1" dirty="0">
                <a:solidFill>
                  <a:schemeClr val="tx1"/>
                </a:solidFill>
                <a:latin typeface="맑은 고딕" panose="020B0503020000020004" pitchFamily="50" charset="-127"/>
                <a:ea typeface="맑은 고딕" panose="020B0503020000020004" pitchFamily="50" charset="-127"/>
              </a:rPr>
              <a:t>Data Product</a:t>
            </a:r>
            <a:r>
              <a:rPr lang="nl-NL" sz="1400" b="1" dirty="0">
                <a:solidFill>
                  <a:schemeClr val="tx1"/>
                </a:solidFill>
                <a:latin typeface="맑은 고딕" panose="020B0503020000020004" pitchFamily="50" charset="-127"/>
                <a:ea typeface="맑은 고딕" panose="020B0503020000020004" pitchFamily="50" charset="-127"/>
              </a:rPr>
              <a:t/>
            </a:r>
            <a:br>
              <a:rPr lang="nl-NL" sz="1400" b="1" dirty="0">
                <a:solidFill>
                  <a:schemeClr val="tx1"/>
                </a:solidFill>
                <a:latin typeface="맑은 고딕" panose="020B0503020000020004" pitchFamily="50" charset="-127"/>
                <a:ea typeface="맑은 고딕" panose="020B0503020000020004" pitchFamily="50" charset="-127"/>
              </a:rPr>
            </a:br>
            <a:endParaRPr lang="nl-NL" sz="1400" b="1" dirty="0">
              <a:solidFill>
                <a:schemeClr val="tx1"/>
              </a:solidFill>
              <a:latin typeface="맑은 고딕" panose="020B0503020000020004" pitchFamily="50" charset="-127"/>
              <a:ea typeface="맑은 고딕" panose="020B0503020000020004" pitchFamily="50" charset="-127"/>
            </a:endParaRPr>
          </a:p>
        </p:txBody>
      </p:sp>
      <p:sp>
        <p:nvSpPr>
          <p:cNvPr id="263" name="모서리가 둥근 직사각형 262"/>
          <p:cNvSpPr/>
          <p:nvPr/>
        </p:nvSpPr>
        <p:spPr>
          <a:xfrm>
            <a:off x="4369743" y="4241259"/>
            <a:ext cx="1017515" cy="325786"/>
          </a:xfrm>
          <a:prstGeom prst="roundRect">
            <a:avLst/>
          </a:prstGeom>
          <a:solidFill>
            <a:schemeClr val="bg1"/>
          </a:solidFill>
          <a:ln w="6350">
            <a:solidFill>
              <a:schemeClr val="bg1">
                <a:lumMod val="50000"/>
              </a:schemeClr>
            </a:solidFill>
          </a:ln>
        </p:spPr>
        <p:txBody>
          <a:bodyPr vert="horz" wrap="square" lIns="0" tIns="0" rIns="0" bIns="0" rtlCol="0" anchor="ctr">
            <a:noAutofit/>
          </a:bodyPr>
          <a:lstStyle/>
          <a:p>
            <a:pPr algn="ctr" defTabSz="727510" latinLnBrk="0">
              <a:spcAft>
                <a:spcPts val="300"/>
              </a:spcAft>
              <a:buSzPct val="100000"/>
            </a:pPr>
            <a:r>
              <a:rPr lang="en-US" altLang="ko-KR" sz="1050" b="1" dirty="0" smtClean="0">
                <a:solidFill>
                  <a:schemeClr val="tx1">
                    <a:lumMod val="75000"/>
                    <a:lumOff val="25000"/>
                  </a:schemeClr>
                </a:solidFill>
                <a:latin typeface="맑은 고딕" panose="020B0503020000020004" pitchFamily="50" charset="-127"/>
              </a:rPr>
              <a:t>Hub Data </a:t>
            </a:r>
            <a:r>
              <a:rPr lang="en-US" altLang="ko-KR" sz="1050" b="1" dirty="0">
                <a:solidFill>
                  <a:schemeClr val="tx1">
                    <a:lumMod val="75000"/>
                    <a:lumOff val="25000"/>
                  </a:schemeClr>
                </a:solidFill>
                <a:latin typeface="맑은 고딕" panose="020B0503020000020004" pitchFamily="50" charset="-127"/>
              </a:rPr>
              <a:t>Product</a:t>
            </a:r>
            <a:endParaRPr lang="ko-KR" altLang="en-US" sz="1050" b="1" dirty="0" err="1">
              <a:solidFill>
                <a:schemeClr val="tx1">
                  <a:lumMod val="75000"/>
                  <a:lumOff val="25000"/>
                </a:schemeClr>
              </a:solidFill>
              <a:latin typeface="맑은 고딕" panose="020B0503020000020004" pitchFamily="50" charset="-127"/>
            </a:endParaRPr>
          </a:p>
        </p:txBody>
      </p:sp>
      <p:cxnSp>
        <p:nvCxnSpPr>
          <p:cNvPr id="264" name="직선 화살표 연결선 263"/>
          <p:cNvCxnSpPr>
            <a:stCxn id="262" idx="3"/>
            <a:endCxn id="172" idx="2"/>
          </p:cNvCxnSpPr>
          <p:nvPr/>
        </p:nvCxnSpPr>
        <p:spPr>
          <a:xfrm>
            <a:off x="5614454" y="4273678"/>
            <a:ext cx="370187" cy="1509"/>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5" name="직사각형 264"/>
          <p:cNvSpPr/>
          <p:nvPr/>
        </p:nvSpPr>
        <p:spPr>
          <a:xfrm>
            <a:off x="5982797" y="4037143"/>
            <a:ext cx="278952" cy="21211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b="1" dirty="0">
              <a:solidFill>
                <a:schemeClr val="tx1"/>
              </a:solidFill>
            </a:endParaRPr>
          </a:p>
        </p:txBody>
      </p:sp>
      <p:cxnSp>
        <p:nvCxnSpPr>
          <p:cNvPr id="266" name="직선 연결선 265"/>
          <p:cNvCxnSpPr>
            <a:stCxn id="169" idx="2"/>
            <a:endCxn id="262" idx="0"/>
          </p:cNvCxnSpPr>
          <p:nvPr/>
        </p:nvCxnSpPr>
        <p:spPr>
          <a:xfrm>
            <a:off x="4891090" y="3803895"/>
            <a:ext cx="0" cy="83889"/>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sp>
        <p:nvSpPr>
          <p:cNvPr id="267" name="Slide Number Placeholder 0"/>
          <p:cNvSpPr>
            <a:spLocks noGrp="1"/>
          </p:cNvSpPr>
          <p:nvPr>
            <p:ph type="sldNum" sz="quarter" idx="4294967295"/>
          </p:nvPr>
        </p:nvSpPr>
        <p:spPr>
          <a:xfrm>
            <a:off x="11183112" y="6419088"/>
            <a:ext cx="54864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6B6B6B"/>
                </a:solidFill>
                <a:latin typeface="Malgun Gothic"/>
                <a:ea typeface="Malgun Gothic"/>
                <a:cs typeface="Malgun Gothic"/>
              </a:defRPr>
            </a:lvl1pPr>
          </a:lstStyle>
          <a:p>
            <a:pPr algn="r"/>
            <a:fld id="{F7021451-1387-4CA6-816F-3879F97B5CBC}" type="slidenum">
              <a:rPr lang="en-US" b="0"/>
              <a:t>2</a:t>
            </a:fld>
            <a:endParaRPr lang="en-US"/>
          </a:p>
        </p:txBody>
      </p:sp>
    </p:spTree>
    <p:extLst>
      <p:ext uri="{BB962C8B-B14F-4D97-AF65-F5344CB8AC3E}">
        <p14:creationId xmlns:p14="http://schemas.microsoft.com/office/powerpoint/2010/main" val="37743144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11274552" cy="292608"/>
          </a:xfrm>
          <a:prstGeom prst="rect">
            <a:avLst/>
          </a:prstGeom>
          <a:noFill/>
          <a:ln/>
        </p:spPr>
        <p:txBody>
          <a:bodyPr wrap="square" lIns="0" tIns="0" rIns="0" bIns="0" rtlCol="0" anchor="ctr"/>
          <a:lstStyle/>
          <a:p>
            <a:pPr marL="0" indent="0">
              <a:buNone/>
            </a:pPr>
            <a:r>
              <a:rPr lang="ko-KR" altLang="en-US" sz="1100" smtClean="0">
                <a:solidFill>
                  <a:srgbClr val="6B6B6B"/>
                </a:solidFill>
              </a:rPr>
              <a:t>업무 설명 </a:t>
            </a:r>
            <a:r>
              <a:rPr lang="en-US" altLang="ko-KR" sz="1100" smtClean="0">
                <a:solidFill>
                  <a:srgbClr val="6B6B6B"/>
                </a:solidFill>
              </a:rPr>
              <a:t>–</a:t>
            </a:r>
            <a:r>
              <a:rPr lang="ko-KR" altLang="en-US" sz="1100" smtClean="0">
                <a:solidFill>
                  <a:srgbClr val="6B6B6B"/>
                </a:solidFill>
              </a:rPr>
              <a:t> </a:t>
            </a:r>
            <a:r>
              <a:rPr lang="en-US" altLang="ko-KR" sz="1100" smtClean="0">
                <a:solidFill>
                  <a:srgbClr val="6B6B6B"/>
                </a:solidFill>
              </a:rPr>
              <a:t>Data Hub</a:t>
            </a:r>
            <a:endParaRPr lang="en-US" sz="1100" dirty="0"/>
          </a:p>
        </p:txBody>
      </p:sp>
      <p:sp>
        <p:nvSpPr>
          <p:cNvPr id="3" name="Text 0"/>
          <p:cNvSpPr>
            <a:spLocks noGrp="1"/>
          </p:cNvSpPr>
          <p:nvPr>
            <p:ph type="title" idx="101" hasCustomPrompt="1"/>
          </p:nvPr>
        </p:nvSpPr>
        <p:spPr>
          <a:xfrm>
            <a:off x="457200" y="512064"/>
            <a:ext cx="11274552" cy="768096"/>
          </a:xfrm>
          <a:prstGeom prst="rect">
            <a:avLst/>
          </a:prstGeom>
          <a:noFill/>
          <a:ln/>
        </p:spPr>
        <p:txBody>
          <a:bodyPr wrap="square" lIns="0" tIns="0" rIns="0" bIns="0" rtlCol="0" anchor="ctr"/>
          <a:lstStyle/>
          <a:p>
            <a:r>
              <a:rPr lang="en-US" altLang="ko-KR">
                <a:solidFill>
                  <a:srgbClr val="C00000"/>
                </a:solidFill>
              </a:rPr>
              <a:t>Data Hub</a:t>
            </a:r>
            <a:r>
              <a:rPr lang="ko-KR" altLang="en-US"/>
              <a:t>는 전사 데이터 </a:t>
            </a:r>
            <a:r>
              <a:rPr lang="en-US" altLang="ko-KR"/>
              <a:t>Interface </a:t>
            </a:r>
            <a:r>
              <a:rPr lang="ko-KR" altLang="en-US"/>
              <a:t>단일 </a:t>
            </a:r>
            <a:r>
              <a:rPr lang="en-US" altLang="ko-KR"/>
              <a:t>Hub </a:t>
            </a:r>
            <a:r>
              <a:rPr lang="ko-KR" altLang="en-US"/>
              <a:t>역할을 수행하는 </a:t>
            </a:r>
            <a:r>
              <a:rPr lang="ko-KR" altLang="en-US">
                <a:solidFill>
                  <a:srgbClr val="C00000"/>
                </a:solidFill>
              </a:rPr>
              <a:t>실시간 데이터 연계 플랫폼</a:t>
            </a:r>
          </a:p>
        </p:txBody>
      </p:sp>
      <p:sp>
        <p:nvSpPr>
          <p:cNvPr id="110" name="오각형 109"/>
          <p:cNvSpPr/>
          <p:nvPr/>
        </p:nvSpPr>
        <p:spPr>
          <a:xfrm>
            <a:off x="456086" y="1893282"/>
            <a:ext cx="1290415" cy="4331199"/>
          </a:xfrm>
          <a:prstGeom prst="homePlate">
            <a:avLst>
              <a:gd name="adj" fmla="val 1205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b="1" dirty="0">
              <a:solidFill>
                <a:schemeClr val="tx1"/>
              </a:solidFill>
            </a:endParaRPr>
          </a:p>
        </p:txBody>
      </p:sp>
      <p:sp>
        <p:nvSpPr>
          <p:cNvPr id="111" name="모서리가 둥근 직사각형 110"/>
          <p:cNvSpPr/>
          <p:nvPr/>
        </p:nvSpPr>
        <p:spPr>
          <a:xfrm>
            <a:off x="1930119" y="1478171"/>
            <a:ext cx="4518639" cy="5141316"/>
          </a:xfrm>
          <a:prstGeom prst="roundRect">
            <a:avLst>
              <a:gd name="adj" fmla="val 1161"/>
            </a:avLst>
          </a:prstGeom>
          <a:pattFill prst="ltUpDiag">
            <a:fgClr>
              <a:schemeClr val="accent1">
                <a:lumMod val="20000"/>
                <a:lumOff val="80000"/>
              </a:schemeClr>
            </a:fgClr>
            <a:bgClr>
              <a:schemeClr val="bg1"/>
            </a:bgClr>
          </a:pattFill>
          <a:ln w="9525">
            <a:solidFill>
              <a:schemeClr val="tx2">
                <a:lumMod val="60000"/>
                <a:lumOff val="4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pPr algn="ctr"/>
            <a:r>
              <a:rPr lang="en-US" altLang="ko-KR" b="1" dirty="0" smtClean="0">
                <a:effectLst>
                  <a:outerShdw blurRad="38100" dist="38100" dir="2700000" algn="tl">
                    <a:srgbClr val="000000">
                      <a:alpha val="43137"/>
                    </a:srgbClr>
                  </a:outerShdw>
                </a:effectLst>
              </a:rPr>
              <a:t>Data Hub</a:t>
            </a:r>
            <a:endParaRPr lang="ko-KR" altLang="en-US" b="1" dirty="0">
              <a:solidFill>
                <a:schemeClr val="tx1"/>
              </a:solidFill>
              <a:effectLst>
                <a:outerShdw blurRad="38100" dist="38100" dir="2700000" algn="tl">
                  <a:srgbClr val="000000">
                    <a:alpha val="43137"/>
                  </a:srgbClr>
                </a:outerShdw>
              </a:effectLst>
            </a:endParaRPr>
          </a:p>
        </p:txBody>
      </p:sp>
      <p:sp>
        <p:nvSpPr>
          <p:cNvPr id="112" name="Graphic 4">
            <a:extLst>
              <a:ext uri="{FF2B5EF4-FFF2-40B4-BE49-F238E27FC236}">
                <a16:creationId xmlns:a16="http://schemas.microsoft.com/office/drawing/2014/main" id="{C4BB8407-1C2E-CB4A-A62A-B8D68852E4D5}"/>
              </a:ext>
            </a:extLst>
          </p:cNvPr>
          <p:cNvSpPr/>
          <p:nvPr/>
        </p:nvSpPr>
        <p:spPr>
          <a:xfrm>
            <a:off x="2766065" y="1558667"/>
            <a:ext cx="311589" cy="320940"/>
          </a:xfrm>
          <a:custGeom>
            <a:avLst/>
            <a:gdLst>
              <a:gd name="connsiteX0" fmla="*/ 174916 w 203738"/>
              <a:gd name="connsiteY0" fmla="*/ 64096 h 219226"/>
              <a:gd name="connsiteX1" fmla="*/ 201754 w 203738"/>
              <a:gd name="connsiteY1" fmla="*/ 37283 h 219226"/>
              <a:gd name="connsiteX2" fmla="*/ 174916 w 203738"/>
              <a:gd name="connsiteY2" fmla="*/ 10470 h 219226"/>
              <a:gd name="connsiteX3" fmla="*/ 148078 w 203738"/>
              <a:gd name="connsiteY3" fmla="*/ 37283 h 219226"/>
              <a:gd name="connsiteX4" fmla="*/ 153190 w 203738"/>
              <a:gd name="connsiteY4" fmla="*/ 53243 h 219226"/>
              <a:gd name="connsiteX5" fmla="*/ 121879 w 203738"/>
              <a:gd name="connsiteY5" fmla="*/ 83248 h 219226"/>
              <a:gd name="connsiteX6" fmla="*/ 88652 w 203738"/>
              <a:gd name="connsiteY6" fmla="*/ 81332 h 219226"/>
              <a:gd name="connsiteX7" fmla="*/ 66287 w 203738"/>
              <a:gd name="connsiteY7" fmla="*/ 45582 h 219226"/>
              <a:gd name="connsiteX8" fmla="*/ 65009 w 203738"/>
              <a:gd name="connsiteY8" fmla="*/ 7278 h 219226"/>
              <a:gd name="connsiteX9" fmla="*/ 26669 w 203738"/>
              <a:gd name="connsiteY9" fmla="*/ 8555 h 219226"/>
              <a:gd name="connsiteX10" fmla="*/ 27947 w 203738"/>
              <a:gd name="connsiteY10" fmla="*/ 46859 h 219226"/>
              <a:gd name="connsiteX11" fmla="*/ 56063 w 203738"/>
              <a:gd name="connsiteY11" fmla="*/ 52604 h 219226"/>
              <a:gd name="connsiteX12" fmla="*/ 79067 w 203738"/>
              <a:gd name="connsiteY12" fmla="*/ 88355 h 219226"/>
              <a:gd name="connsiteX13" fmla="*/ 68204 w 203738"/>
              <a:gd name="connsiteY13" fmla="*/ 110699 h 219226"/>
              <a:gd name="connsiteX14" fmla="*/ 52229 w 203738"/>
              <a:gd name="connsiteY14" fmla="*/ 111975 h 219226"/>
              <a:gd name="connsiteX15" fmla="*/ 17084 w 203738"/>
              <a:gd name="connsiteY15" fmla="*/ 96654 h 219226"/>
              <a:gd name="connsiteX16" fmla="*/ 1749 w 203738"/>
              <a:gd name="connsiteY16" fmla="*/ 131766 h 219226"/>
              <a:gd name="connsiteX17" fmla="*/ 36893 w 203738"/>
              <a:gd name="connsiteY17" fmla="*/ 147087 h 219226"/>
              <a:gd name="connsiteX18" fmla="*/ 54146 w 203738"/>
              <a:gd name="connsiteY18" fmla="*/ 124743 h 219226"/>
              <a:gd name="connsiteX19" fmla="*/ 69482 w 203738"/>
              <a:gd name="connsiteY19" fmla="*/ 123467 h 219226"/>
              <a:gd name="connsiteX20" fmla="*/ 90569 w 203738"/>
              <a:gd name="connsiteY20" fmla="*/ 148364 h 219226"/>
              <a:gd name="connsiteX21" fmla="*/ 85457 w 203738"/>
              <a:gd name="connsiteY21" fmla="*/ 164962 h 219226"/>
              <a:gd name="connsiteX22" fmla="*/ 83540 w 203738"/>
              <a:gd name="connsiteY22" fmla="*/ 164962 h 219226"/>
              <a:gd name="connsiteX23" fmla="*/ 56063 w 203738"/>
              <a:gd name="connsiteY23" fmla="*/ 191775 h 219226"/>
              <a:gd name="connsiteX24" fmla="*/ 82901 w 203738"/>
              <a:gd name="connsiteY24" fmla="*/ 219226 h 219226"/>
              <a:gd name="connsiteX25" fmla="*/ 110378 w 203738"/>
              <a:gd name="connsiteY25" fmla="*/ 192414 h 219226"/>
              <a:gd name="connsiteX26" fmla="*/ 97598 w 203738"/>
              <a:gd name="connsiteY26" fmla="*/ 168793 h 219226"/>
              <a:gd name="connsiteX27" fmla="*/ 103349 w 203738"/>
              <a:gd name="connsiteY27" fmla="*/ 150918 h 219226"/>
              <a:gd name="connsiteX28" fmla="*/ 105266 w 203738"/>
              <a:gd name="connsiteY28" fmla="*/ 150918 h 219226"/>
              <a:gd name="connsiteX29" fmla="*/ 135937 w 203738"/>
              <a:gd name="connsiteY29" fmla="*/ 134319 h 219226"/>
              <a:gd name="connsiteX30" fmla="*/ 153190 w 203738"/>
              <a:gd name="connsiteY30" fmla="*/ 145172 h 219226"/>
              <a:gd name="connsiteX31" fmla="*/ 165331 w 203738"/>
              <a:gd name="connsiteY31" fmla="*/ 180922 h 219226"/>
              <a:gd name="connsiteX32" fmla="*/ 201115 w 203738"/>
              <a:gd name="connsiteY32" fmla="*/ 168793 h 219226"/>
              <a:gd name="connsiteX33" fmla="*/ 188974 w 203738"/>
              <a:gd name="connsiteY33" fmla="*/ 133043 h 219226"/>
              <a:gd name="connsiteX34" fmla="*/ 177472 w 203738"/>
              <a:gd name="connsiteY34" fmla="*/ 130489 h 219226"/>
              <a:gd name="connsiteX35" fmla="*/ 161497 w 203738"/>
              <a:gd name="connsiteY35" fmla="*/ 135596 h 219226"/>
              <a:gd name="connsiteX36" fmla="*/ 141049 w 203738"/>
              <a:gd name="connsiteY36" fmla="*/ 122828 h 219226"/>
              <a:gd name="connsiteX37" fmla="*/ 142327 w 203738"/>
              <a:gd name="connsiteY37" fmla="*/ 114529 h 219226"/>
              <a:gd name="connsiteX38" fmla="*/ 134020 w 203738"/>
              <a:gd name="connsiteY38" fmla="*/ 91547 h 219226"/>
              <a:gd name="connsiteX39" fmla="*/ 165331 w 203738"/>
              <a:gd name="connsiteY39" fmla="*/ 60904 h 219226"/>
              <a:gd name="connsiteX40" fmla="*/ 174916 w 203738"/>
              <a:gd name="connsiteY40" fmla="*/ 64096 h 219226"/>
              <a:gd name="connsiteX41" fmla="*/ 31781 w 203738"/>
              <a:gd name="connsiteY41" fmla="*/ 27068 h 219226"/>
              <a:gd name="connsiteX42" fmla="*/ 45839 w 203738"/>
              <a:gd name="connsiteY42" fmla="*/ 13024 h 219226"/>
              <a:gd name="connsiteX43" fmla="*/ 59897 w 203738"/>
              <a:gd name="connsiteY43" fmla="*/ 27068 h 219226"/>
              <a:gd name="connsiteX44" fmla="*/ 45839 w 203738"/>
              <a:gd name="connsiteY44" fmla="*/ 41113 h 219226"/>
              <a:gd name="connsiteX45" fmla="*/ 31781 w 203738"/>
              <a:gd name="connsiteY45" fmla="*/ 27068 h 219226"/>
              <a:gd name="connsiteX46" fmla="*/ 80984 w 203738"/>
              <a:gd name="connsiteY46" fmla="*/ 205181 h 219226"/>
              <a:gd name="connsiteX47" fmla="*/ 66926 w 203738"/>
              <a:gd name="connsiteY47" fmla="*/ 191137 h 219226"/>
              <a:gd name="connsiteX48" fmla="*/ 80984 w 203738"/>
              <a:gd name="connsiteY48" fmla="*/ 177092 h 219226"/>
              <a:gd name="connsiteX49" fmla="*/ 95042 w 203738"/>
              <a:gd name="connsiteY49" fmla="*/ 191137 h 219226"/>
              <a:gd name="connsiteX50" fmla="*/ 80984 w 203738"/>
              <a:gd name="connsiteY50" fmla="*/ 205181 h 219226"/>
              <a:gd name="connsiteX51" fmla="*/ 80984 w 203738"/>
              <a:gd name="connsiteY51" fmla="*/ 205181 h 219226"/>
              <a:gd name="connsiteX52" fmla="*/ 188974 w 203738"/>
              <a:gd name="connsiteY52" fmla="*/ 157302 h 219226"/>
              <a:gd name="connsiteX53" fmla="*/ 174916 w 203738"/>
              <a:gd name="connsiteY53" fmla="*/ 171346 h 219226"/>
              <a:gd name="connsiteX54" fmla="*/ 160858 w 203738"/>
              <a:gd name="connsiteY54" fmla="*/ 157302 h 219226"/>
              <a:gd name="connsiteX55" fmla="*/ 174916 w 203738"/>
              <a:gd name="connsiteY55" fmla="*/ 143257 h 219226"/>
              <a:gd name="connsiteX56" fmla="*/ 188974 w 203738"/>
              <a:gd name="connsiteY56" fmla="*/ 157302 h 219226"/>
              <a:gd name="connsiteX57" fmla="*/ 188974 w 203738"/>
              <a:gd name="connsiteY57" fmla="*/ 157302 h 219226"/>
              <a:gd name="connsiteX58" fmla="*/ 174916 w 203738"/>
              <a:gd name="connsiteY58" fmla="*/ 23238 h 219226"/>
              <a:gd name="connsiteX59" fmla="*/ 188974 w 203738"/>
              <a:gd name="connsiteY59" fmla="*/ 37283 h 219226"/>
              <a:gd name="connsiteX60" fmla="*/ 174916 w 203738"/>
              <a:gd name="connsiteY60" fmla="*/ 51328 h 219226"/>
              <a:gd name="connsiteX61" fmla="*/ 160858 w 203738"/>
              <a:gd name="connsiteY61" fmla="*/ 37283 h 219226"/>
              <a:gd name="connsiteX62" fmla="*/ 174916 w 203738"/>
              <a:gd name="connsiteY62" fmla="*/ 23238 h 219226"/>
              <a:gd name="connsiteX63" fmla="*/ 174916 w 203738"/>
              <a:gd name="connsiteY63" fmla="*/ 23238 h 219226"/>
              <a:gd name="connsiteX64" fmla="*/ 25391 w 203738"/>
              <a:gd name="connsiteY64" fmla="*/ 135596 h 219226"/>
              <a:gd name="connsiteX65" fmla="*/ 11333 w 203738"/>
              <a:gd name="connsiteY65" fmla="*/ 121551 h 219226"/>
              <a:gd name="connsiteX66" fmla="*/ 25391 w 203738"/>
              <a:gd name="connsiteY66" fmla="*/ 107507 h 219226"/>
              <a:gd name="connsiteX67" fmla="*/ 39449 w 203738"/>
              <a:gd name="connsiteY67" fmla="*/ 121551 h 219226"/>
              <a:gd name="connsiteX68" fmla="*/ 25391 w 203738"/>
              <a:gd name="connsiteY68" fmla="*/ 135596 h 219226"/>
              <a:gd name="connsiteX69" fmla="*/ 103349 w 203738"/>
              <a:gd name="connsiteY69" fmla="*/ 138150 h 219226"/>
              <a:gd name="connsiteX70" fmla="*/ 79706 w 203738"/>
              <a:gd name="connsiteY70" fmla="*/ 114529 h 219226"/>
              <a:gd name="connsiteX71" fmla="*/ 103349 w 203738"/>
              <a:gd name="connsiteY71" fmla="*/ 90270 h 219226"/>
              <a:gd name="connsiteX72" fmla="*/ 126991 w 203738"/>
              <a:gd name="connsiteY72" fmla="*/ 113891 h 219226"/>
              <a:gd name="connsiteX73" fmla="*/ 126991 w 203738"/>
              <a:gd name="connsiteY73" fmla="*/ 113891 h 219226"/>
              <a:gd name="connsiteX74" fmla="*/ 103349 w 203738"/>
              <a:gd name="connsiteY74" fmla="*/ 138150 h 21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03738" h="219226">
                <a:moveTo>
                  <a:pt x="174916" y="64096"/>
                </a:moveTo>
                <a:cubicBezTo>
                  <a:pt x="189613" y="64096"/>
                  <a:pt x="201754" y="51966"/>
                  <a:pt x="201754" y="37283"/>
                </a:cubicBezTo>
                <a:cubicBezTo>
                  <a:pt x="201754" y="22600"/>
                  <a:pt x="189613" y="10470"/>
                  <a:pt x="174916" y="10470"/>
                </a:cubicBezTo>
                <a:cubicBezTo>
                  <a:pt x="160219" y="10470"/>
                  <a:pt x="148078" y="22600"/>
                  <a:pt x="148078" y="37283"/>
                </a:cubicBezTo>
                <a:cubicBezTo>
                  <a:pt x="148078" y="43028"/>
                  <a:pt x="149995" y="48136"/>
                  <a:pt x="153190" y="53243"/>
                </a:cubicBezTo>
                <a:lnTo>
                  <a:pt x="121879" y="83248"/>
                </a:lnTo>
                <a:cubicBezTo>
                  <a:pt x="111656" y="76864"/>
                  <a:pt x="98876" y="76225"/>
                  <a:pt x="88652" y="81332"/>
                </a:cubicBezTo>
                <a:lnTo>
                  <a:pt x="66287" y="45582"/>
                </a:lnTo>
                <a:cubicBezTo>
                  <a:pt x="76511" y="34729"/>
                  <a:pt x="75872" y="17492"/>
                  <a:pt x="65009" y="7278"/>
                </a:cubicBezTo>
                <a:cubicBezTo>
                  <a:pt x="54146" y="-2936"/>
                  <a:pt x="36893" y="-2298"/>
                  <a:pt x="26669" y="8555"/>
                </a:cubicBezTo>
                <a:cubicBezTo>
                  <a:pt x="16445" y="19408"/>
                  <a:pt x="17084" y="36644"/>
                  <a:pt x="27947" y="46859"/>
                </a:cubicBezTo>
                <a:cubicBezTo>
                  <a:pt x="35615" y="53881"/>
                  <a:pt x="46478" y="55796"/>
                  <a:pt x="56063" y="52604"/>
                </a:cubicBezTo>
                <a:lnTo>
                  <a:pt x="79067" y="88355"/>
                </a:lnTo>
                <a:cubicBezTo>
                  <a:pt x="72677" y="94100"/>
                  <a:pt x="68843" y="102400"/>
                  <a:pt x="68204" y="110699"/>
                </a:cubicBezTo>
                <a:lnTo>
                  <a:pt x="52229" y="111975"/>
                </a:lnTo>
                <a:cubicBezTo>
                  <a:pt x="47117" y="97931"/>
                  <a:pt x="31142" y="91547"/>
                  <a:pt x="17084" y="96654"/>
                </a:cubicBezTo>
                <a:cubicBezTo>
                  <a:pt x="3027" y="101761"/>
                  <a:pt x="-3363" y="117721"/>
                  <a:pt x="1749" y="131766"/>
                </a:cubicBezTo>
                <a:cubicBezTo>
                  <a:pt x="6861" y="145811"/>
                  <a:pt x="22835" y="152195"/>
                  <a:pt x="36893" y="147087"/>
                </a:cubicBezTo>
                <a:cubicBezTo>
                  <a:pt x="46478" y="143257"/>
                  <a:pt x="52868" y="134958"/>
                  <a:pt x="54146" y="124743"/>
                </a:cubicBezTo>
                <a:lnTo>
                  <a:pt x="69482" y="123467"/>
                </a:lnTo>
                <a:cubicBezTo>
                  <a:pt x="72038" y="134319"/>
                  <a:pt x="79706" y="143895"/>
                  <a:pt x="90569" y="148364"/>
                </a:cubicBezTo>
                <a:lnTo>
                  <a:pt x="85457" y="164962"/>
                </a:lnTo>
                <a:lnTo>
                  <a:pt x="83540" y="164962"/>
                </a:lnTo>
                <a:cubicBezTo>
                  <a:pt x="68843" y="164962"/>
                  <a:pt x="56063" y="177092"/>
                  <a:pt x="56063" y="191775"/>
                </a:cubicBezTo>
                <a:cubicBezTo>
                  <a:pt x="56063" y="206458"/>
                  <a:pt x="68204" y="219226"/>
                  <a:pt x="82901" y="219226"/>
                </a:cubicBezTo>
                <a:cubicBezTo>
                  <a:pt x="97598" y="219226"/>
                  <a:pt x="110378" y="207097"/>
                  <a:pt x="110378" y="192414"/>
                </a:cubicBezTo>
                <a:cubicBezTo>
                  <a:pt x="110378" y="182838"/>
                  <a:pt x="105266" y="173900"/>
                  <a:pt x="97598" y="168793"/>
                </a:cubicBezTo>
                <a:lnTo>
                  <a:pt x="103349" y="150918"/>
                </a:lnTo>
                <a:lnTo>
                  <a:pt x="105266" y="150918"/>
                </a:lnTo>
                <a:cubicBezTo>
                  <a:pt x="117406" y="150918"/>
                  <a:pt x="128908" y="144534"/>
                  <a:pt x="135937" y="134319"/>
                </a:cubicBezTo>
                <a:lnTo>
                  <a:pt x="153190" y="145172"/>
                </a:lnTo>
                <a:cubicBezTo>
                  <a:pt x="146800" y="158578"/>
                  <a:pt x="152551" y="174538"/>
                  <a:pt x="165331" y="180922"/>
                </a:cubicBezTo>
                <a:cubicBezTo>
                  <a:pt x="178111" y="187306"/>
                  <a:pt x="194725" y="181561"/>
                  <a:pt x="201115" y="168793"/>
                </a:cubicBezTo>
                <a:cubicBezTo>
                  <a:pt x="207505" y="155387"/>
                  <a:pt x="201754" y="139427"/>
                  <a:pt x="188974" y="133043"/>
                </a:cubicBezTo>
                <a:cubicBezTo>
                  <a:pt x="185140" y="131127"/>
                  <a:pt x="181306" y="130489"/>
                  <a:pt x="177472" y="130489"/>
                </a:cubicBezTo>
                <a:cubicBezTo>
                  <a:pt x="171721" y="130489"/>
                  <a:pt x="166609" y="132404"/>
                  <a:pt x="161497" y="135596"/>
                </a:cubicBezTo>
                <a:lnTo>
                  <a:pt x="141049" y="122828"/>
                </a:lnTo>
                <a:cubicBezTo>
                  <a:pt x="141688" y="120275"/>
                  <a:pt x="142327" y="117083"/>
                  <a:pt x="142327" y="114529"/>
                </a:cubicBezTo>
                <a:cubicBezTo>
                  <a:pt x="142327" y="106230"/>
                  <a:pt x="139132" y="97931"/>
                  <a:pt x="134020" y="91547"/>
                </a:cubicBezTo>
                <a:lnTo>
                  <a:pt x="165331" y="60904"/>
                </a:lnTo>
                <a:cubicBezTo>
                  <a:pt x="166609" y="62819"/>
                  <a:pt x="170443" y="64096"/>
                  <a:pt x="174916" y="64096"/>
                </a:cubicBezTo>
                <a:close/>
                <a:moveTo>
                  <a:pt x="31781" y="27068"/>
                </a:moveTo>
                <a:cubicBezTo>
                  <a:pt x="31781" y="19408"/>
                  <a:pt x="38171" y="13024"/>
                  <a:pt x="45839" y="13024"/>
                </a:cubicBezTo>
                <a:cubicBezTo>
                  <a:pt x="53507" y="13024"/>
                  <a:pt x="59897" y="19408"/>
                  <a:pt x="59897" y="27068"/>
                </a:cubicBezTo>
                <a:cubicBezTo>
                  <a:pt x="59897" y="34729"/>
                  <a:pt x="53507" y="41113"/>
                  <a:pt x="45839" y="41113"/>
                </a:cubicBezTo>
                <a:cubicBezTo>
                  <a:pt x="38171" y="41113"/>
                  <a:pt x="31781" y="35368"/>
                  <a:pt x="31781" y="27068"/>
                </a:cubicBezTo>
                <a:close/>
                <a:moveTo>
                  <a:pt x="80984" y="205181"/>
                </a:moveTo>
                <a:cubicBezTo>
                  <a:pt x="73316" y="205181"/>
                  <a:pt x="66926" y="198798"/>
                  <a:pt x="66926" y="191137"/>
                </a:cubicBezTo>
                <a:cubicBezTo>
                  <a:pt x="66926" y="183476"/>
                  <a:pt x="73316" y="177092"/>
                  <a:pt x="80984" y="177092"/>
                </a:cubicBezTo>
                <a:cubicBezTo>
                  <a:pt x="88652" y="177092"/>
                  <a:pt x="95042" y="183476"/>
                  <a:pt x="95042" y="191137"/>
                </a:cubicBezTo>
                <a:cubicBezTo>
                  <a:pt x="95042" y="198798"/>
                  <a:pt x="89291" y="205181"/>
                  <a:pt x="80984" y="205181"/>
                </a:cubicBezTo>
                <a:cubicBezTo>
                  <a:pt x="80984" y="205181"/>
                  <a:pt x="80984" y="205181"/>
                  <a:pt x="80984" y="205181"/>
                </a:cubicBezTo>
                <a:close/>
                <a:moveTo>
                  <a:pt x="188974" y="157302"/>
                </a:moveTo>
                <a:cubicBezTo>
                  <a:pt x="188974" y="164962"/>
                  <a:pt x="182584" y="171346"/>
                  <a:pt x="174916" y="171346"/>
                </a:cubicBezTo>
                <a:cubicBezTo>
                  <a:pt x="167248" y="171346"/>
                  <a:pt x="160858" y="164962"/>
                  <a:pt x="160858" y="157302"/>
                </a:cubicBezTo>
                <a:cubicBezTo>
                  <a:pt x="160858" y="149641"/>
                  <a:pt x="167248" y="143257"/>
                  <a:pt x="174916" y="143257"/>
                </a:cubicBezTo>
                <a:cubicBezTo>
                  <a:pt x="182584" y="143257"/>
                  <a:pt x="188974" y="149641"/>
                  <a:pt x="188974" y="157302"/>
                </a:cubicBezTo>
                <a:lnTo>
                  <a:pt x="188974" y="157302"/>
                </a:lnTo>
                <a:close/>
                <a:moveTo>
                  <a:pt x="174916" y="23238"/>
                </a:moveTo>
                <a:cubicBezTo>
                  <a:pt x="182584" y="23238"/>
                  <a:pt x="188974" y="29622"/>
                  <a:pt x="188974" y="37283"/>
                </a:cubicBezTo>
                <a:cubicBezTo>
                  <a:pt x="188974" y="44944"/>
                  <a:pt x="182584" y="51328"/>
                  <a:pt x="174916" y="51328"/>
                </a:cubicBezTo>
                <a:cubicBezTo>
                  <a:pt x="167248" y="51328"/>
                  <a:pt x="160858" y="44944"/>
                  <a:pt x="160858" y="37283"/>
                </a:cubicBezTo>
                <a:cubicBezTo>
                  <a:pt x="160858" y="29622"/>
                  <a:pt x="166609" y="23238"/>
                  <a:pt x="174916" y="23238"/>
                </a:cubicBezTo>
                <a:cubicBezTo>
                  <a:pt x="174277" y="23238"/>
                  <a:pt x="174916" y="23238"/>
                  <a:pt x="174916" y="23238"/>
                </a:cubicBezTo>
                <a:close/>
                <a:moveTo>
                  <a:pt x="25391" y="135596"/>
                </a:moveTo>
                <a:cubicBezTo>
                  <a:pt x="17723" y="135596"/>
                  <a:pt x="11333" y="129212"/>
                  <a:pt x="11333" y="121551"/>
                </a:cubicBezTo>
                <a:cubicBezTo>
                  <a:pt x="11333" y="113891"/>
                  <a:pt x="17723" y="107507"/>
                  <a:pt x="25391" y="107507"/>
                </a:cubicBezTo>
                <a:cubicBezTo>
                  <a:pt x="33059" y="107507"/>
                  <a:pt x="39449" y="113891"/>
                  <a:pt x="39449" y="121551"/>
                </a:cubicBezTo>
                <a:cubicBezTo>
                  <a:pt x="39449" y="129212"/>
                  <a:pt x="33059" y="135596"/>
                  <a:pt x="25391" y="135596"/>
                </a:cubicBezTo>
                <a:close/>
                <a:moveTo>
                  <a:pt x="103349" y="138150"/>
                </a:moveTo>
                <a:cubicBezTo>
                  <a:pt x="89930" y="138150"/>
                  <a:pt x="79706" y="127297"/>
                  <a:pt x="79706" y="114529"/>
                </a:cubicBezTo>
                <a:cubicBezTo>
                  <a:pt x="79706" y="101123"/>
                  <a:pt x="90569" y="90908"/>
                  <a:pt x="103349" y="90270"/>
                </a:cubicBezTo>
                <a:cubicBezTo>
                  <a:pt x="116767" y="90270"/>
                  <a:pt x="126991" y="101123"/>
                  <a:pt x="126991" y="113891"/>
                </a:cubicBezTo>
                <a:cubicBezTo>
                  <a:pt x="126991" y="113891"/>
                  <a:pt x="126991" y="113891"/>
                  <a:pt x="126991" y="113891"/>
                </a:cubicBezTo>
                <a:cubicBezTo>
                  <a:pt x="126991" y="127297"/>
                  <a:pt x="116767" y="138150"/>
                  <a:pt x="103349" y="138150"/>
                </a:cubicBezTo>
                <a:close/>
              </a:path>
            </a:pathLst>
          </a:custGeom>
          <a:solidFill>
            <a:schemeClr val="tx2"/>
          </a:solidFill>
          <a:ln w="6390" cap="flat">
            <a:solidFill>
              <a:schemeClr val="tx2"/>
            </a:solidFill>
            <a:prstDash val="solid"/>
            <a:miter/>
          </a:ln>
        </p:spPr>
        <p:txBody>
          <a:bodyPr bIns="29250" rtlCol="0" anchor="ctr"/>
          <a:lstStyle/>
          <a:p>
            <a:endParaRPr lang="en-US" sz="975" b="1"/>
          </a:p>
        </p:txBody>
      </p:sp>
      <p:sp>
        <p:nvSpPr>
          <p:cNvPr id="113" name="직사각형 112">
            <a:extLst>
              <a:ext uri="{FF2B5EF4-FFF2-40B4-BE49-F238E27FC236}">
                <a16:creationId xmlns:a16="http://schemas.microsoft.com/office/drawing/2014/main" id="{071C2308-430E-458D-96B1-1FA1B4454057}"/>
              </a:ext>
            </a:extLst>
          </p:cNvPr>
          <p:cNvSpPr/>
          <p:nvPr/>
        </p:nvSpPr>
        <p:spPr>
          <a:xfrm>
            <a:off x="2078688" y="2944592"/>
            <a:ext cx="1346728" cy="3533926"/>
          </a:xfrm>
          <a:prstGeom prst="rect">
            <a:avLst/>
          </a:prstGeom>
          <a:solidFill>
            <a:schemeClr val="bg1"/>
          </a:solidFill>
          <a:ln w="317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pPr algn="ctr"/>
            <a:r>
              <a:rPr lang="en-US" altLang="ko-KR" sz="1200" b="1" dirty="0" smtClean="0">
                <a:solidFill>
                  <a:schemeClr val="tx1">
                    <a:lumMod val="75000"/>
                    <a:lumOff val="25000"/>
                  </a:schemeClr>
                </a:solidFill>
              </a:rPr>
              <a:t>Ingestion</a:t>
            </a:r>
            <a:endParaRPr lang="ko-KR" altLang="en-US" sz="1200" b="1" dirty="0">
              <a:solidFill>
                <a:schemeClr val="tx1">
                  <a:lumMod val="75000"/>
                  <a:lumOff val="25000"/>
                </a:schemeClr>
              </a:solidFill>
            </a:endParaRPr>
          </a:p>
        </p:txBody>
      </p:sp>
      <p:sp>
        <p:nvSpPr>
          <p:cNvPr id="114" name="직사각형 113">
            <a:extLst>
              <a:ext uri="{FF2B5EF4-FFF2-40B4-BE49-F238E27FC236}">
                <a16:creationId xmlns:a16="http://schemas.microsoft.com/office/drawing/2014/main" id="{071C2308-430E-458D-96B1-1FA1B4454057}"/>
              </a:ext>
            </a:extLst>
          </p:cNvPr>
          <p:cNvSpPr/>
          <p:nvPr/>
        </p:nvSpPr>
        <p:spPr>
          <a:xfrm>
            <a:off x="3542585" y="2944592"/>
            <a:ext cx="1346728" cy="3533926"/>
          </a:xfrm>
          <a:prstGeom prst="rect">
            <a:avLst/>
          </a:prstGeom>
          <a:solidFill>
            <a:schemeClr val="bg1"/>
          </a:solidFill>
          <a:ln w="317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pPr algn="ctr"/>
            <a:r>
              <a:rPr lang="en-US" altLang="ko-KR" sz="1200" b="1" dirty="0" smtClean="0">
                <a:solidFill>
                  <a:schemeClr val="tx1">
                    <a:lumMod val="75000"/>
                    <a:lumOff val="25000"/>
                  </a:schemeClr>
                </a:solidFill>
              </a:rPr>
              <a:t>Storage</a:t>
            </a:r>
            <a:br>
              <a:rPr lang="en-US" altLang="ko-KR" sz="1200" b="1" dirty="0" smtClean="0">
                <a:solidFill>
                  <a:schemeClr val="tx1">
                    <a:lumMod val="75000"/>
                    <a:lumOff val="25000"/>
                  </a:schemeClr>
                </a:solidFill>
              </a:rPr>
            </a:br>
            <a:r>
              <a:rPr lang="en-US" altLang="ko-KR" sz="1000" dirty="0" smtClean="0">
                <a:solidFill>
                  <a:schemeClr val="tx1">
                    <a:lumMod val="75000"/>
                    <a:lumOff val="25000"/>
                  </a:schemeClr>
                </a:solidFill>
              </a:rPr>
              <a:t>(Direct Service)</a:t>
            </a:r>
            <a:endParaRPr lang="ko-KR" altLang="en-US" sz="1200" dirty="0">
              <a:solidFill>
                <a:schemeClr val="tx1">
                  <a:lumMod val="75000"/>
                  <a:lumOff val="25000"/>
                </a:schemeClr>
              </a:solidFill>
            </a:endParaRPr>
          </a:p>
        </p:txBody>
      </p:sp>
      <p:sp>
        <p:nvSpPr>
          <p:cNvPr id="115" name="Rounded Rectangle 107">
            <a:extLst>
              <a:ext uri="{FF2B5EF4-FFF2-40B4-BE49-F238E27FC236}">
                <a16:creationId xmlns:a16="http://schemas.microsoft.com/office/drawing/2014/main" id="{9B15D18F-C349-4A99-A5B5-6579964D4516}"/>
              </a:ext>
            </a:extLst>
          </p:cNvPr>
          <p:cNvSpPr/>
          <p:nvPr/>
        </p:nvSpPr>
        <p:spPr>
          <a:xfrm rot="5400000">
            <a:off x="3915179" y="3249079"/>
            <a:ext cx="601281" cy="1000319"/>
          </a:xfrm>
          <a:prstGeom prst="can">
            <a:avLst/>
          </a:prstGeom>
          <a:noFill/>
          <a:ln w="3175" cap="flat" cmpd="sng" algn="ctr">
            <a:solidFill>
              <a:schemeClr val="bg1">
                <a:lumMod val="50000"/>
              </a:schemeClr>
            </a:solidFill>
            <a:prstDash val="solid"/>
          </a:ln>
          <a:effectLst/>
        </p:spPr>
        <p:txBody>
          <a:bodyPr vert="vert270" wrap="square" lIns="0" tIns="0" rIns="0" bIns="0" rtlCol="0" anchor="ctr"/>
          <a:lstStyle/>
          <a:p>
            <a:pPr algn="ctr" latinLnBrk="0"/>
            <a:r>
              <a:rPr lang="en-US" sz="1000" b="1" kern="0" dirty="0" smtClean="0">
                <a:solidFill>
                  <a:schemeClr val="tx1">
                    <a:lumMod val="75000"/>
                    <a:lumOff val="25000"/>
                  </a:schemeClr>
                </a:solidFill>
                <a:latin typeface="+mn-ea"/>
              </a:rPr>
              <a:t>Data Hub</a:t>
            </a:r>
            <a:r>
              <a:rPr lang="en-US" sz="1000" b="1" kern="0" dirty="0">
                <a:solidFill>
                  <a:schemeClr val="tx1">
                    <a:lumMod val="75000"/>
                    <a:lumOff val="25000"/>
                  </a:schemeClr>
                </a:solidFill>
                <a:latin typeface="+mn-ea"/>
              </a:rPr>
              <a:t/>
            </a:r>
            <a:br>
              <a:rPr lang="en-US" sz="1000" b="1" kern="0" dirty="0">
                <a:solidFill>
                  <a:schemeClr val="tx1">
                    <a:lumMod val="75000"/>
                    <a:lumOff val="25000"/>
                  </a:schemeClr>
                </a:solidFill>
                <a:latin typeface="+mn-ea"/>
              </a:rPr>
            </a:br>
            <a:r>
              <a:rPr lang="en-US" sz="1000" b="1" kern="0" dirty="0" smtClean="0">
                <a:solidFill>
                  <a:schemeClr val="tx1">
                    <a:lumMod val="75000"/>
                    <a:lumOff val="25000"/>
                  </a:schemeClr>
                </a:solidFill>
                <a:latin typeface="+mn-ea"/>
              </a:rPr>
              <a:t>Msg Queue</a:t>
            </a:r>
            <a:endParaRPr lang="en-US" sz="1000" b="1" kern="0" dirty="0">
              <a:solidFill>
                <a:schemeClr val="tx1">
                  <a:lumMod val="75000"/>
                  <a:lumOff val="25000"/>
                </a:schemeClr>
              </a:solidFill>
              <a:latin typeface="+mn-ea"/>
            </a:endParaRPr>
          </a:p>
        </p:txBody>
      </p:sp>
      <p:sp>
        <p:nvSpPr>
          <p:cNvPr id="116" name="원통 516">
            <a:extLst>
              <a:ext uri="{FF2B5EF4-FFF2-40B4-BE49-F238E27FC236}">
                <a16:creationId xmlns:a16="http://schemas.microsoft.com/office/drawing/2014/main" id="{9C8F9A06-1276-42F3-A7D5-2E337EB9D54C}"/>
              </a:ext>
            </a:extLst>
          </p:cNvPr>
          <p:cNvSpPr/>
          <p:nvPr/>
        </p:nvSpPr>
        <p:spPr>
          <a:xfrm>
            <a:off x="3715918" y="4377041"/>
            <a:ext cx="1000062" cy="847564"/>
          </a:xfrm>
          <a:prstGeom prst="can">
            <a:avLst>
              <a:gd name="adj" fmla="val 11508"/>
            </a:avLst>
          </a:prstGeom>
          <a:noFill/>
          <a:ln w="3175" cap="flat" cmpd="sng" algn="ctr">
            <a:solidFill>
              <a:schemeClr val="bg1">
                <a:lumMod val="50000"/>
              </a:schemeClr>
            </a:solidFill>
            <a:prstDash val="solid"/>
          </a:ln>
          <a:effectLst/>
        </p:spPr>
        <p:txBody>
          <a:bodyPr vert="horz" wrap="square" lIns="0" tIns="0" rIns="0" bIns="0" rtlCol="0" anchor="t"/>
          <a:lstStyle/>
          <a:p>
            <a:pPr algn="ctr" latinLnBrk="0"/>
            <a:r>
              <a:rPr lang="en-US" altLang="ko-KR" sz="1000" b="1" kern="0" dirty="0" smtClean="0">
                <a:solidFill>
                  <a:schemeClr val="tx1">
                    <a:lumMod val="75000"/>
                    <a:lumOff val="25000"/>
                  </a:schemeClr>
                </a:solidFill>
                <a:latin typeface="+mn-ea"/>
              </a:rPr>
              <a:t>Data Hub DB</a:t>
            </a:r>
            <a:endParaRPr lang="ko-KR" altLang="en-US" sz="1000" b="1" kern="0" dirty="0">
              <a:solidFill>
                <a:schemeClr val="tx1">
                  <a:lumMod val="75000"/>
                  <a:lumOff val="25000"/>
                </a:schemeClr>
              </a:solidFill>
              <a:latin typeface="+mn-ea"/>
            </a:endParaRPr>
          </a:p>
        </p:txBody>
      </p:sp>
      <p:cxnSp>
        <p:nvCxnSpPr>
          <p:cNvPr id="117" name="직선 화살표 연결선 116"/>
          <p:cNvCxnSpPr>
            <a:stCxn id="129" idx="3"/>
            <a:endCxn id="116" idx="2"/>
          </p:cNvCxnSpPr>
          <p:nvPr/>
        </p:nvCxnSpPr>
        <p:spPr>
          <a:xfrm flipV="1">
            <a:off x="3355306" y="4800823"/>
            <a:ext cx="360612" cy="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118" name="직사각형 117">
            <a:extLst>
              <a:ext uri="{FF2B5EF4-FFF2-40B4-BE49-F238E27FC236}">
                <a16:creationId xmlns:a16="http://schemas.microsoft.com/office/drawing/2014/main" id="{071C2308-430E-458D-96B1-1FA1B4454057}"/>
              </a:ext>
            </a:extLst>
          </p:cNvPr>
          <p:cNvSpPr/>
          <p:nvPr/>
        </p:nvSpPr>
        <p:spPr>
          <a:xfrm>
            <a:off x="5002373" y="2944592"/>
            <a:ext cx="1346728" cy="3533926"/>
          </a:xfrm>
          <a:prstGeom prst="rect">
            <a:avLst/>
          </a:prstGeom>
          <a:solidFill>
            <a:schemeClr val="bg1"/>
          </a:solidFill>
          <a:ln w="317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pPr algn="ctr"/>
            <a:r>
              <a:rPr lang="en-US" altLang="ko-KR" sz="1200" b="1" dirty="0" smtClean="0">
                <a:solidFill>
                  <a:schemeClr val="tx1">
                    <a:lumMod val="75000"/>
                    <a:lumOff val="25000"/>
                  </a:schemeClr>
                </a:solidFill>
              </a:rPr>
              <a:t>Delivery Service</a:t>
            </a:r>
            <a:endParaRPr lang="ko-KR" altLang="en-US" sz="1200" b="1" dirty="0">
              <a:solidFill>
                <a:schemeClr val="tx1">
                  <a:lumMod val="75000"/>
                  <a:lumOff val="25000"/>
                </a:schemeClr>
              </a:solidFill>
            </a:endParaRPr>
          </a:p>
        </p:txBody>
      </p:sp>
      <p:sp>
        <p:nvSpPr>
          <p:cNvPr id="119" name="직사각형 118"/>
          <p:cNvSpPr/>
          <p:nvPr/>
        </p:nvSpPr>
        <p:spPr>
          <a:xfrm>
            <a:off x="5105111" y="3336754"/>
            <a:ext cx="1178481" cy="670152"/>
          </a:xfrm>
          <a:prstGeom prst="rect">
            <a:avLst/>
          </a:prstGeom>
          <a:noFill/>
          <a:ln w="3175" cap="flat" cmpd="sng" algn="ctr">
            <a:solidFill>
              <a:schemeClr val="bg1">
                <a:lumMod val="50000"/>
              </a:schemeClr>
            </a:solidFill>
            <a:prstDash val="solid"/>
          </a:ln>
          <a:effectLst/>
        </p:spPr>
        <p:txBody>
          <a:bodyPr vert="horz" wrap="square" lIns="0" tIns="36000" rIns="0" bIns="0" rtlCol="0" anchor="t"/>
          <a:lstStyle/>
          <a:p>
            <a:pPr algn="ctr" latinLnBrk="0"/>
            <a:r>
              <a:rPr lang="en-US" altLang="ko-KR" sz="1000" b="1" kern="0" dirty="0" smtClean="0">
                <a:solidFill>
                  <a:schemeClr val="tx1">
                    <a:lumMod val="75000"/>
                    <a:lumOff val="25000"/>
                  </a:schemeClr>
                </a:solidFill>
                <a:latin typeface="+mn-ea"/>
              </a:rPr>
              <a:t>h-CONNECT</a:t>
            </a:r>
            <a:endParaRPr lang="ko-KR" altLang="en-US" sz="1000" b="1" kern="0" dirty="0" err="1">
              <a:solidFill>
                <a:schemeClr val="tx1">
                  <a:lumMod val="75000"/>
                  <a:lumOff val="25000"/>
                </a:schemeClr>
              </a:solidFill>
              <a:latin typeface="+mn-ea"/>
            </a:endParaRPr>
          </a:p>
        </p:txBody>
      </p:sp>
      <p:sp>
        <p:nvSpPr>
          <p:cNvPr id="120" name="직사각형 119"/>
          <p:cNvSpPr/>
          <p:nvPr/>
        </p:nvSpPr>
        <p:spPr>
          <a:xfrm>
            <a:off x="5105111" y="4118690"/>
            <a:ext cx="1178481" cy="670152"/>
          </a:xfrm>
          <a:prstGeom prst="rect">
            <a:avLst/>
          </a:prstGeom>
          <a:noFill/>
          <a:ln w="3175" cap="flat" cmpd="sng" algn="ctr">
            <a:solidFill>
              <a:schemeClr val="bg1">
                <a:lumMod val="50000"/>
              </a:schemeClr>
            </a:solidFill>
            <a:prstDash val="solid"/>
          </a:ln>
          <a:effectLst/>
        </p:spPr>
        <p:txBody>
          <a:bodyPr vert="horz" wrap="square" lIns="0" tIns="36000" rIns="0" bIns="0" rtlCol="0" anchor="t"/>
          <a:lstStyle/>
          <a:p>
            <a:pPr algn="ctr" latinLnBrk="0"/>
            <a:r>
              <a:rPr lang="en-US" altLang="ko-KR" sz="1000" b="1" kern="0" dirty="0">
                <a:solidFill>
                  <a:schemeClr val="tx1">
                    <a:lumMod val="75000"/>
                    <a:lumOff val="25000"/>
                  </a:schemeClr>
                </a:solidFill>
                <a:latin typeface="+mn-ea"/>
              </a:rPr>
              <a:t>h-API</a:t>
            </a:r>
            <a:endParaRPr lang="ko-KR" altLang="en-US" sz="1000" b="1" kern="0" dirty="0" err="1">
              <a:solidFill>
                <a:schemeClr val="tx1">
                  <a:lumMod val="75000"/>
                  <a:lumOff val="25000"/>
                </a:schemeClr>
              </a:solidFill>
              <a:latin typeface="+mn-ea"/>
            </a:endParaRPr>
          </a:p>
        </p:txBody>
      </p:sp>
      <p:sp>
        <p:nvSpPr>
          <p:cNvPr id="121" name="직사각형 120"/>
          <p:cNvSpPr/>
          <p:nvPr/>
        </p:nvSpPr>
        <p:spPr>
          <a:xfrm>
            <a:off x="5105111" y="4900624"/>
            <a:ext cx="1178481" cy="670152"/>
          </a:xfrm>
          <a:prstGeom prst="rect">
            <a:avLst/>
          </a:prstGeom>
          <a:noFill/>
          <a:ln w="3175" cap="flat" cmpd="sng" algn="ctr">
            <a:solidFill>
              <a:schemeClr val="bg1">
                <a:lumMod val="50000"/>
              </a:schemeClr>
            </a:solidFill>
            <a:prstDash val="solid"/>
          </a:ln>
          <a:effectLst/>
        </p:spPr>
        <p:txBody>
          <a:bodyPr vert="horz" wrap="square" lIns="0" tIns="36000" rIns="0" bIns="0" rtlCol="0" anchor="t"/>
          <a:lstStyle/>
          <a:p>
            <a:pPr algn="ctr" latinLnBrk="0"/>
            <a:r>
              <a:rPr lang="en-US" altLang="ko-KR" sz="1000" b="1" kern="0" dirty="0">
                <a:solidFill>
                  <a:schemeClr val="tx1">
                    <a:lumMod val="75000"/>
                    <a:lumOff val="25000"/>
                  </a:schemeClr>
                </a:solidFill>
                <a:latin typeface="+mn-ea"/>
              </a:rPr>
              <a:t>h-Bridge</a:t>
            </a:r>
            <a:endParaRPr lang="ko-KR" altLang="en-US" sz="1000" b="1" kern="0" dirty="0" err="1">
              <a:solidFill>
                <a:schemeClr val="tx1">
                  <a:lumMod val="75000"/>
                  <a:lumOff val="25000"/>
                </a:schemeClr>
              </a:solidFill>
              <a:latin typeface="+mn-ea"/>
            </a:endParaRPr>
          </a:p>
        </p:txBody>
      </p:sp>
      <p:sp>
        <p:nvSpPr>
          <p:cNvPr id="122" name="직사각형 121"/>
          <p:cNvSpPr/>
          <p:nvPr/>
        </p:nvSpPr>
        <p:spPr>
          <a:xfrm>
            <a:off x="5228937" y="3581100"/>
            <a:ext cx="943204" cy="319627"/>
          </a:xfrm>
          <a:prstGeom prst="rect">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ko-KR" altLang="en-US" sz="1000" b="1" kern="0" dirty="0">
                <a:solidFill>
                  <a:schemeClr val="tx1">
                    <a:lumMod val="75000"/>
                    <a:lumOff val="25000"/>
                  </a:schemeClr>
                </a:solidFill>
                <a:latin typeface="+mn-ea"/>
              </a:rPr>
              <a:t>실시간 </a:t>
            </a:r>
            <a:r>
              <a:rPr lang="en-US" altLang="ko-KR" sz="1000" b="1" kern="0" dirty="0">
                <a:solidFill>
                  <a:schemeClr val="tx1">
                    <a:lumMod val="75000"/>
                    <a:lumOff val="25000"/>
                  </a:schemeClr>
                </a:solidFill>
                <a:latin typeface="+mn-ea"/>
              </a:rPr>
              <a:t>DB </a:t>
            </a:r>
            <a:r>
              <a:rPr lang="ko-KR" altLang="en-US" sz="1000" b="1" kern="0" dirty="0">
                <a:solidFill>
                  <a:schemeClr val="tx1">
                    <a:lumMod val="75000"/>
                    <a:lumOff val="25000"/>
                  </a:schemeClr>
                </a:solidFill>
                <a:latin typeface="+mn-ea"/>
              </a:rPr>
              <a:t>동기화</a:t>
            </a:r>
          </a:p>
        </p:txBody>
      </p:sp>
      <p:sp>
        <p:nvSpPr>
          <p:cNvPr id="123" name="직사각형 122"/>
          <p:cNvSpPr/>
          <p:nvPr/>
        </p:nvSpPr>
        <p:spPr>
          <a:xfrm>
            <a:off x="5228937" y="4377879"/>
            <a:ext cx="943204" cy="319627"/>
          </a:xfrm>
          <a:prstGeom prst="rect">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ko-KR" altLang="en-US" sz="1000" b="1" kern="0" dirty="0">
                <a:solidFill>
                  <a:schemeClr val="tx1">
                    <a:lumMod val="75000"/>
                    <a:lumOff val="25000"/>
                  </a:schemeClr>
                </a:solidFill>
                <a:latin typeface="+mn-ea"/>
              </a:rPr>
              <a:t>실시간 </a:t>
            </a:r>
            <a:r>
              <a:rPr lang="en-US" altLang="ko-KR" sz="1000" b="1" kern="0" dirty="0">
                <a:solidFill>
                  <a:schemeClr val="tx1">
                    <a:lumMod val="75000"/>
                    <a:lumOff val="25000"/>
                  </a:schemeClr>
                </a:solidFill>
                <a:latin typeface="+mn-ea"/>
              </a:rPr>
              <a:t>API</a:t>
            </a:r>
            <a:endParaRPr lang="ko-KR" altLang="en-US" sz="1000" b="1" kern="0" dirty="0" err="1">
              <a:solidFill>
                <a:schemeClr val="tx1">
                  <a:lumMod val="75000"/>
                  <a:lumOff val="25000"/>
                </a:schemeClr>
              </a:solidFill>
              <a:latin typeface="+mn-ea"/>
            </a:endParaRPr>
          </a:p>
        </p:txBody>
      </p:sp>
      <p:sp>
        <p:nvSpPr>
          <p:cNvPr id="124" name="직사각형 123"/>
          <p:cNvSpPr/>
          <p:nvPr/>
        </p:nvSpPr>
        <p:spPr>
          <a:xfrm>
            <a:off x="5228937" y="5148099"/>
            <a:ext cx="943204" cy="319627"/>
          </a:xfrm>
          <a:prstGeom prst="rect">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ko-KR" altLang="en-US" sz="1000" b="1" kern="0" dirty="0">
                <a:solidFill>
                  <a:schemeClr val="tx1">
                    <a:lumMod val="75000"/>
                    <a:lumOff val="25000"/>
                  </a:schemeClr>
                </a:solidFill>
                <a:latin typeface="+mn-ea"/>
              </a:rPr>
              <a:t>실시간 </a:t>
            </a:r>
            <a:r>
              <a:rPr lang="en-US" altLang="ko-KR" sz="1000" b="1" kern="0" dirty="0">
                <a:solidFill>
                  <a:schemeClr val="tx1">
                    <a:lumMod val="75000"/>
                    <a:lumOff val="25000"/>
                  </a:schemeClr>
                </a:solidFill>
                <a:latin typeface="+mn-ea"/>
              </a:rPr>
              <a:t>Action</a:t>
            </a:r>
            <a:endParaRPr lang="ko-KR" altLang="en-US" sz="1000" b="1" kern="0" dirty="0" err="1">
              <a:solidFill>
                <a:schemeClr val="tx1">
                  <a:lumMod val="75000"/>
                  <a:lumOff val="25000"/>
                </a:schemeClr>
              </a:solidFill>
              <a:latin typeface="+mn-ea"/>
            </a:endParaRPr>
          </a:p>
        </p:txBody>
      </p:sp>
      <p:sp>
        <p:nvSpPr>
          <p:cNvPr id="125" name="직사각형 124"/>
          <p:cNvSpPr/>
          <p:nvPr/>
        </p:nvSpPr>
        <p:spPr>
          <a:xfrm>
            <a:off x="5105111" y="5647899"/>
            <a:ext cx="1178481" cy="670152"/>
          </a:xfrm>
          <a:prstGeom prst="rect">
            <a:avLst/>
          </a:prstGeom>
          <a:solidFill>
            <a:srgbClr val="FCE9E1"/>
          </a:solidFill>
          <a:ln w="31525">
            <a:solidFill>
              <a:srgbClr val="D9480F"/>
            </a:solidFill>
            <a:prstDash val="solid"/>
          </a:ln>
        </p:spPr>
        <p:txBody>
          <a:bodyPr vert="horz" wrap="square" lIns="0" tIns="36000" rIns="0" bIns="0" rtlCol="0" anchor="t"/>
          <a:lstStyle/>
          <a:p>
            <a:pPr algn="ctr" latinLnBrk="0"/>
            <a:r>
              <a:rPr lang="en-US" altLang="ko-KR" sz="1000" b="1" kern="0" smtClean="0">
                <a:solidFill>
                  <a:schemeClr val="tx1">
                    <a:lumMod val="75000"/>
                    <a:lumOff val="25000"/>
                  </a:schemeClr>
                </a:solidFill>
                <a:latin typeface="+mn-ea"/>
              </a:rPr>
              <a:t>h-Genie</a:t>
            </a:r>
            <a:endParaRPr lang="ko-KR" altLang="en-US" sz="1000" b="1" kern="0" dirty="0" err="1">
              <a:solidFill>
                <a:schemeClr val="tx1">
                  <a:lumMod val="75000"/>
                  <a:lumOff val="25000"/>
                </a:schemeClr>
              </a:solidFill>
              <a:latin typeface="+mn-ea"/>
            </a:endParaRPr>
          </a:p>
        </p:txBody>
      </p:sp>
      <p:sp>
        <p:nvSpPr>
          <p:cNvPr id="126" name="직사각형 125"/>
          <p:cNvSpPr/>
          <p:nvPr/>
        </p:nvSpPr>
        <p:spPr>
          <a:xfrm>
            <a:off x="5228937" y="5895374"/>
            <a:ext cx="943204" cy="319627"/>
          </a:xfrm>
          <a:prstGeom prst="rect">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en-US" altLang="ko-KR" sz="1000" b="1" kern="0" smtClean="0">
                <a:solidFill>
                  <a:schemeClr val="tx1">
                    <a:lumMod val="75000"/>
                    <a:lumOff val="25000"/>
                  </a:schemeClr>
                </a:solidFill>
                <a:latin typeface="+mn-ea"/>
              </a:rPr>
              <a:t>Text 2 SQL</a:t>
            </a:r>
            <a:endParaRPr lang="ko-KR" altLang="en-US" sz="1000" b="1" kern="0" dirty="0">
              <a:solidFill>
                <a:schemeClr val="tx1">
                  <a:lumMod val="75000"/>
                  <a:lumOff val="25000"/>
                </a:schemeClr>
              </a:solidFill>
              <a:latin typeface="+mn-ea"/>
            </a:endParaRPr>
          </a:p>
        </p:txBody>
      </p:sp>
      <p:sp>
        <p:nvSpPr>
          <p:cNvPr id="127" name="원통 516">
            <a:extLst>
              <a:ext uri="{FF2B5EF4-FFF2-40B4-BE49-F238E27FC236}">
                <a16:creationId xmlns:a16="http://schemas.microsoft.com/office/drawing/2014/main" id="{9C8F9A06-1276-42F3-A7D5-2E337EB9D54C}"/>
              </a:ext>
            </a:extLst>
          </p:cNvPr>
          <p:cNvSpPr/>
          <p:nvPr/>
        </p:nvSpPr>
        <p:spPr>
          <a:xfrm>
            <a:off x="3754390" y="4698619"/>
            <a:ext cx="923118" cy="431930"/>
          </a:xfrm>
          <a:prstGeom prst="can">
            <a:avLst>
              <a:gd name="adj" fmla="val 16588"/>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en-US" altLang="ko-KR" sz="1000" b="1" kern="0" dirty="0" smtClean="0">
                <a:solidFill>
                  <a:schemeClr val="tx1">
                    <a:lumMod val="75000"/>
                    <a:lumOff val="25000"/>
                  </a:schemeClr>
                </a:solidFill>
                <a:latin typeface="+mn-ea"/>
              </a:rPr>
              <a:t>AI Ready Data</a:t>
            </a:r>
            <a:endParaRPr lang="ko-KR" altLang="en-US" sz="1000" b="1" kern="0" dirty="0">
              <a:solidFill>
                <a:schemeClr val="tx1">
                  <a:lumMod val="75000"/>
                  <a:lumOff val="25000"/>
                </a:schemeClr>
              </a:solidFill>
              <a:latin typeface="+mn-ea"/>
            </a:endParaRPr>
          </a:p>
        </p:txBody>
      </p:sp>
      <p:sp>
        <p:nvSpPr>
          <p:cNvPr id="128" name="직사각형 127"/>
          <p:cNvSpPr/>
          <p:nvPr/>
        </p:nvSpPr>
        <p:spPr>
          <a:xfrm>
            <a:off x="2176825" y="3560141"/>
            <a:ext cx="1178481" cy="378193"/>
          </a:xfrm>
          <a:prstGeom prst="rect">
            <a:avLst/>
          </a:prstGeom>
          <a:solidFill>
            <a:schemeClr val="bg1"/>
          </a:solidFill>
          <a:ln w="3175" cap="flat" cmpd="sng" algn="ctr">
            <a:solidFill>
              <a:schemeClr val="bg1">
                <a:lumMod val="50000"/>
              </a:schemeClr>
            </a:solidFill>
            <a:prstDash val="solid"/>
          </a:ln>
          <a:effectLst/>
        </p:spPr>
        <p:txBody>
          <a:bodyPr vert="horz" wrap="square" lIns="0" tIns="36000" rIns="0" bIns="0" rtlCol="0" anchor="ctr"/>
          <a:lstStyle/>
          <a:p>
            <a:pPr algn="ctr" latinLnBrk="0"/>
            <a:r>
              <a:rPr lang="en-US" altLang="ko-KR" sz="1000" b="1" kern="0" dirty="0">
                <a:solidFill>
                  <a:schemeClr val="tx1">
                    <a:lumMod val="75000"/>
                    <a:lumOff val="25000"/>
                  </a:schemeClr>
                </a:solidFill>
                <a:latin typeface="+mn-ea"/>
              </a:rPr>
              <a:t>Event Pipeline</a:t>
            </a:r>
            <a:endParaRPr lang="ko-KR" altLang="en-US" sz="1000" b="1" kern="0" dirty="0" err="1">
              <a:solidFill>
                <a:schemeClr val="tx1">
                  <a:lumMod val="75000"/>
                  <a:lumOff val="25000"/>
                </a:schemeClr>
              </a:solidFill>
              <a:latin typeface="+mn-ea"/>
            </a:endParaRPr>
          </a:p>
        </p:txBody>
      </p:sp>
      <p:sp>
        <p:nvSpPr>
          <p:cNvPr id="129" name="직사각형 128"/>
          <p:cNvSpPr/>
          <p:nvPr/>
        </p:nvSpPr>
        <p:spPr>
          <a:xfrm>
            <a:off x="2176825" y="4611727"/>
            <a:ext cx="1178481" cy="378193"/>
          </a:xfrm>
          <a:prstGeom prst="rect">
            <a:avLst/>
          </a:prstGeom>
          <a:solidFill>
            <a:schemeClr val="bg1"/>
          </a:solidFill>
          <a:ln w="3175" cap="flat" cmpd="sng" algn="ctr">
            <a:solidFill>
              <a:schemeClr val="bg1">
                <a:lumMod val="50000"/>
              </a:schemeClr>
            </a:solidFill>
            <a:prstDash val="solid"/>
          </a:ln>
          <a:effectLst/>
        </p:spPr>
        <p:txBody>
          <a:bodyPr vert="horz" wrap="square" lIns="0" tIns="36000" rIns="0" bIns="0" rtlCol="0" anchor="ctr"/>
          <a:lstStyle/>
          <a:p>
            <a:pPr algn="ctr" latinLnBrk="0"/>
            <a:r>
              <a:rPr lang="en-US" altLang="ko-KR" sz="1000" b="1" kern="0" dirty="0">
                <a:solidFill>
                  <a:schemeClr val="tx1">
                    <a:lumMod val="75000"/>
                    <a:lumOff val="25000"/>
                  </a:schemeClr>
                </a:solidFill>
                <a:latin typeface="+mn-ea"/>
              </a:rPr>
              <a:t>CDC Pipeline</a:t>
            </a:r>
            <a:endParaRPr lang="ko-KR" altLang="en-US" sz="1000" b="1" kern="0" dirty="0" err="1">
              <a:solidFill>
                <a:schemeClr val="tx1">
                  <a:lumMod val="75000"/>
                  <a:lumOff val="25000"/>
                </a:schemeClr>
              </a:solidFill>
              <a:latin typeface="+mn-ea"/>
            </a:endParaRPr>
          </a:p>
        </p:txBody>
      </p:sp>
      <p:cxnSp>
        <p:nvCxnSpPr>
          <p:cNvPr id="130" name="직선 화살표 연결선 129"/>
          <p:cNvCxnSpPr>
            <a:stCxn id="128" idx="3"/>
            <a:endCxn id="115" idx="3"/>
          </p:cNvCxnSpPr>
          <p:nvPr/>
        </p:nvCxnSpPr>
        <p:spPr>
          <a:xfrm>
            <a:off x="3355306" y="3749238"/>
            <a:ext cx="360354"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31" name="타원 130"/>
          <p:cNvSpPr/>
          <p:nvPr/>
        </p:nvSpPr>
        <p:spPr>
          <a:xfrm>
            <a:off x="4651144" y="3694772"/>
            <a:ext cx="102200" cy="102198"/>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b="1" dirty="0">
              <a:solidFill>
                <a:schemeClr val="tx1">
                  <a:lumMod val="75000"/>
                  <a:lumOff val="25000"/>
                </a:schemeClr>
              </a:solidFill>
            </a:endParaRPr>
          </a:p>
        </p:txBody>
      </p:sp>
      <p:sp>
        <p:nvSpPr>
          <p:cNvPr id="132" name="타원 131"/>
          <p:cNvSpPr/>
          <p:nvPr/>
        </p:nvSpPr>
        <p:spPr>
          <a:xfrm>
            <a:off x="4655045" y="4736974"/>
            <a:ext cx="102200" cy="102198"/>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sz="1200" b="1" dirty="0">
              <a:solidFill>
                <a:schemeClr val="tx1">
                  <a:lumMod val="75000"/>
                  <a:lumOff val="25000"/>
                </a:schemeClr>
              </a:solidFill>
            </a:endParaRPr>
          </a:p>
        </p:txBody>
      </p:sp>
      <p:grpSp>
        <p:nvGrpSpPr>
          <p:cNvPr id="133" name="그룹 132"/>
          <p:cNvGrpSpPr/>
          <p:nvPr/>
        </p:nvGrpSpPr>
        <p:grpSpPr>
          <a:xfrm>
            <a:off x="2061108" y="1968176"/>
            <a:ext cx="4256660" cy="763269"/>
            <a:chOff x="1941550" y="1379331"/>
            <a:chExt cx="4292416" cy="763269"/>
          </a:xfrm>
          <a:solidFill>
            <a:schemeClr val="bg1"/>
          </a:solidFill>
        </p:grpSpPr>
        <p:sp>
          <p:nvSpPr>
            <p:cNvPr id="134" name="직사각형 133">
              <a:extLst>
                <a:ext uri="{FF2B5EF4-FFF2-40B4-BE49-F238E27FC236}">
                  <a16:creationId xmlns:a16="http://schemas.microsoft.com/office/drawing/2014/main" id="{071C2308-430E-458D-96B1-1FA1B4454057}"/>
                </a:ext>
              </a:extLst>
            </p:cNvPr>
            <p:cNvSpPr/>
            <p:nvPr/>
          </p:nvSpPr>
          <p:spPr>
            <a:xfrm>
              <a:off x="1941550" y="1379331"/>
              <a:ext cx="4292416" cy="763269"/>
            </a:xfrm>
            <a:prstGeom prst="rect">
              <a:avLst/>
            </a:prstGeom>
            <a:grpFill/>
            <a:ln w="317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pPr algn="ctr"/>
              <a:r>
                <a:rPr lang="en-US" altLang="ko-KR" sz="1200" b="1" dirty="0">
                  <a:solidFill>
                    <a:schemeClr val="tx1">
                      <a:lumMod val="75000"/>
                      <a:lumOff val="25000"/>
                    </a:schemeClr>
                  </a:solidFill>
                </a:rPr>
                <a:t> </a:t>
              </a:r>
              <a:r>
                <a:rPr lang="en-US" altLang="ko-KR" sz="1200" b="1" dirty="0" smtClean="0">
                  <a:solidFill>
                    <a:schemeClr val="tx1">
                      <a:lumMod val="75000"/>
                      <a:lumOff val="25000"/>
                    </a:schemeClr>
                  </a:solidFill>
                </a:rPr>
                <a:t>Data Hub </a:t>
              </a:r>
              <a:r>
                <a:rPr lang="en-US" altLang="ko-KR" sz="1200" b="1" dirty="0">
                  <a:solidFill>
                    <a:schemeClr val="tx1">
                      <a:lumMod val="75000"/>
                      <a:lumOff val="25000"/>
                    </a:schemeClr>
                  </a:solidFill>
                </a:rPr>
                <a:t>Portal</a:t>
              </a:r>
              <a:endParaRPr lang="ko-KR" altLang="en-US" sz="1200" b="1" dirty="0" err="1">
                <a:solidFill>
                  <a:schemeClr val="tx1">
                    <a:lumMod val="75000"/>
                    <a:lumOff val="25000"/>
                  </a:schemeClr>
                </a:solidFill>
              </a:endParaRPr>
            </a:p>
          </p:txBody>
        </p:sp>
        <p:sp>
          <p:nvSpPr>
            <p:cNvPr id="135" name="직사각형 134"/>
            <p:cNvSpPr/>
            <p:nvPr/>
          </p:nvSpPr>
          <p:spPr>
            <a:xfrm>
              <a:off x="2004642" y="1716869"/>
              <a:ext cx="971523" cy="317029"/>
            </a:xfrm>
            <a:prstGeom prst="rect">
              <a:avLst/>
            </a:prstGeom>
            <a:grpFill/>
            <a:ln w="3175" cap="flat" cmpd="sng" algn="ctr">
              <a:solidFill>
                <a:schemeClr val="bg1">
                  <a:lumMod val="50000"/>
                </a:schemeClr>
              </a:solidFill>
              <a:prstDash val="solid"/>
            </a:ln>
            <a:effectLst/>
          </p:spPr>
          <p:txBody>
            <a:bodyPr vert="horz" wrap="square" lIns="0" tIns="0" rIns="0" bIns="0" rtlCol="0" anchor="ctr"/>
            <a:lstStyle/>
            <a:p>
              <a:pPr algn="ctr" latinLnBrk="0"/>
              <a:r>
                <a:rPr lang="ko-KR" altLang="en-US" sz="1000" b="1" kern="0" dirty="0" smtClean="0">
                  <a:solidFill>
                    <a:schemeClr val="tx1">
                      <a:lumMod val="75000"/>
                      <a:lumOff val="25000"/>
                    </a:schemeClr>
                  </a:solidFill>
                  <a:latin typeface="+mn-ea"/>
                </a:rPr>
                <a:t>서비스 가이드</a:t>
              </a:r>
              <a:endParaRPr lang="ko-KR" altLang="en-US" sz="1000" b="1" kern="0" dirty="0">
                <a:solidFill>
                  <a:schemeClr val="tx1">
                    <a:lumMod val="75000"/>
                    <a:lumOff val="25000"/>
                  </a:schemeClr>
                </a:solidFill>
                <a:latin typeface="+mn-ea"/>
              </a:endParaRPr>
            </a:p>
          </p:txBody>
        </p:sp>
        <p:sp>
          <p:nvSpPr>
            <p:cNvPr id="136" name="직사각형 135"/>
            <p:cNvSpPr/>
            <p:nvPr/>
          </p:nvSpPr>
          <p:spPr>
            <a:xfrm>
              <a:off x="3062090" y="1716869"/>
              <a:ext cx="971523" cy="317029"/>
            </a:xfrm>
            <a:prstGeom prst="rect">
              <a:avLst/>
            </a:prstGeom>
            <a:grpFill/>
            <a:ln w="3175" cap="flat" cmpd="sng" algn="ctr">
              <a:solidFill>
                <a:schemeClr val="bg1">
                  <a:lumMod val="50000"/>
                </a:schemeClr>
              </a:solidFill>
              <a:prstDash val="solid"/>
            </a:ln>
            <a:effectLst/>
          </p:spPr>
          <p:txBody>
            <a:bodyPr vert="horz" wrap="square" lIns="0" tIns="0" rIns="0" bIns="0" rtlCol="0" anchor="ctr"/>
            <a:lstStyle/>
            <a:p>
              <a:pPr algn="ctr" latinLnBrk="0"/>
              <a:r>
                <a:rPr lang="ko-KR" altLang="en-US" sz="1000" b="1" kern="0" dirty="0" smtClean="0">
                  <a:solidFill>
                    <a:schemeClr val="tx1">
                      <a:lumMod val="75000"/>
                      <a:lumOff val="25000"/>
                    </a:schemeClr>
                  </a:solidFill>
                  <a:latin typeface="+mn-ea"/>
                </a:rPr>
                <a:t>서비스 보드</a:t>
              </a:r>
              <a:endParaRPr lang="ko-KR" altLang="en-US" sz="1000" b="1" kern="0" dirty="0">
                <a:solidFill>
                  <a:schemeClr val="tx1">
                    <a:lumMod val="75000"/>
                    <a:lumOff val="25000"/>
                  </a:schemeClr>
                </a:solidFill>
                <a:latin typeface="+mn-ea"/>
              </a:endParaRPr>
            </a:p>
          </p:txBody>
        </p:sp>
        <p:sp>
          <p:nvSpPr>
            <p:cNvPr id="137" name="직사각형 136"/>
            <p:cNvSpPr/>
            <p:nvPr/>
          </p:nvSpPr>
          <p:spPr>
            <a:xfrm>
              <a:off x="4119538" y="1716869"/>
              <a:ext cx="971523" cy="317029"/>
            </a:xfrm>
            <a:prstGeom prst="rect">
              <a:avLst/>
            </a:prstGeom>
            <a:grpFill/>
            <a:ln w="3175" cap="flat" cmpd="sng" algn="ctr">
              <a:solidFill>
                <a:schemeClr val="bg1">
                  <a:lumMod val="50000"/>
                </a:schemeClr>
              </a:solidFill>
              <a:prstDash val="solid"/>
            </a:ln>
            <a:effectLst/>
          </p:spPr>
          <p:txBody>
            <a:bodyPr vert="horz" wrap="square" lIns="0" tIns="0" rIns="0" bIns="0" rtlCol="0" anchor="ctr"/>
            <a:lstStyle/>
            <a:p>
              <a:pPr algn="ctr" latinLnBrk="0"/>
              <a:r>
                <a:rPr lang="ko-KR" altLang="en-US" sz="1000" b="1" kern="0" dirty="0" smtClean="0">
                  <a:solidFill>
                    <a:schemeClr val="tx1">
                      <a:lumMod val="75000"/>
                      <a:lumOff val="25000"/>
                    </a:schemeClr>
                  </a:solidFill>
                  <a:latin typeface="+mn-ea"/>
                </a:rPr>
                <a:t>사용현황</a:t>
              </a:r>
              <a:r>
                <a:rPr lang="en-US" altLang="ko-KR" sz="1000" b="1" kern="0" dirty="0" smtClean="0">
                  <a:solidFill>
                    <a:schemeClr val="tx1">
                      <a:lumMod val="75000"/>
                      <a:lumOff val="25000"/>
                    </a:schemeClr>
                  </a:solidFill>
                  <a:latin typeface="+mn-ea"/>
                </a:rPr>
                <a:t>/</a:t>
              </a:r>
              <a:br>
                <a:rPr lang="en-US" altLang="ko-KR" sz="1000" b="1" kern="0" dirty="0" smtClean="0">
                  <a:solidFill>
                    <a:schemeClr val="tx1">
                      <a:lumMod val="75000"/>
                      <a:lumOff val="25000"/>
                    </a:schemeClr>
                  </a:solidFill>
                  <a:latin typeface="+mn-ea"/>
                </a:rPr>
              </a:br>
              <a:r>
                <a:rPr lang="ko-KR" altLang="en-US" sz="1000" b="1" kern="0" dirty="0" smtClean="0">
                  <a:solidFill>
                    <a:schemeClr val="tx1">
                      <a:lumMod val="75000"/>
                      <a:lumOff val="25000"/>
                    </a:schemeClr>
                  </a:solidFill>
                  <a:latin typeface="+mn-ea"/>
                </a:rPr>
                <a:t>권한 관리</a:t>
              </a:r>
              <a:endParaRPr lang="ko-KR" altLang="en-US" sz="1000" b="1" kern="0" dirty="0">
                <a:solidFill>
                  <a:schemeClr val="tx1">
                    <a:lumMod val="75000"/>
                    <a:lumOff val="25000"/>
                  </a:schemeClr>
                </a:solidFill>
                <a:latin typeface="+mn-ea"/>
              </a:endParaRPr>
            </a:p>
          </p:txBody>
        </p:sp>
        <p:sp>
          <p:nvSpPr>
            <p:cNvPr id="138" name="직사각형 137"/>
            <p:cNvSpPr/>
            <p:nvPr/>
          </p:nvSpPr>
          <p:spPr>
            <a:xfrm>
              <a:off x="5176985" y="1716869"/>
              <a:ext cx="971523" cy="317029"/>
            </a:xfrm>
            <a:prstGeom prst="rect">
              <a:avLst/>
            </a:prstGeom>
            <a:grpFill/>
            <a:ln w="3175" cap="flat" cmpd="sng" algn="ctr">
              <a:solidFill>
                <a:schemeClr val="bg1">
                  <a:lumMod val="50000"/>
                </a:schemeClr>
              </a:solidFill>
              <a:prstDash val="solid"/>
            </a:ln>
            <a:effectLst/>
          </p:spPr>
          <p:txBody>
            <a:bodyPr vert="horz" wrap="square" lIns="0" tIns="0" rIns="0" bIns="0" rtlCol="0" anchor="ctr"/>
            <a:lstStyle/>
            <a:p>
              <a:pPr algn="ctr" latinLnBrk="0"/>
              <a:r>
                <a:rPr lang="ko-KR" altLang="en-US" sz="1000" b="1" kern="0" dirty="0" smtClean="0">
                  <a:solidFill>
                    <a:schemeClr val="tx1">
                      <a:lumMod val="75000"/>
                      <a:lumOff val="25000"/>
                    </a:schemeClr>
                  </a:solidFill>
                  <a:latin typeface="+mn-ea"/>
                </a:rPr>
                <a:t>운영 모니터링</a:t>
              </a:r>
              <a:r>
                <a:rPr lang="en-US" altLang="ko-KR" sz="1000" b="1" kern="0" dirty="0" smtClean="0">
                  <a:solidFill>
                    <a:schemeClr val="tx1">
                      <a:lumMod val="75000"/>
                      <a:lumOff val="25000"/>
                    </a:schemeClr>
                  </a:solidFill>
                  <a:latin typeface="+mn-ea"/>
                </a:rPr>
                <a:t/>
              </a:r>
              <a:br>
                <a:rPr lang="en-US" altLang="ko-KR" sz="1000" b="1" kern="0" dirty="0" smtClean="0">
                  <a:solidFill>
                    <a:schemeClr val="tx1">
                      <a:lumMod val="75000"/>
                      <a:lumOff val="25000"/>
                    </a:schemeClr>
                  </a:solidFill>
                  <a:latin typeface="+mn-ea"/>
                </a:rPr>
              </a:br>
              <a:r>
                <a:rPr lang="en-US" altLang="ko-KR" sz="1000" b="1" kern="0" dirty="0" smtClean="0">
                  <a:solidFill>
                    <a:schemeClr val="tx1">
                      <a:lumMod val="75000"/>
                      <a:lumOff val="25000"/>
                    </a:schemeClr>
                  </a:solidFill>
                  <a:latin typeface="+mn-ea"/>
                </a:rPr>
                <a:t>(</a:t>
              </a:r>
              <a:r>
                <a:rPr lang="ko-KR" altLang="en-US" sz="1000" b="1" kern="0" dirty="0" smtClean="0">
                  <a:solidFill>
                    <a:schemeClr val="tx1">
                      <a:lumMod val="75000"/>
                      <a:lumOff val="25000"/>
                    </a:schemeClr>
                  </a:solidFill>
                  <a:latin typeface="+mn-ea"/>
                </a:rPr>
                <a:t>관리자</a:t>
              </a:r>
              <a:r>
                <a:rPr lang="en-US" altLang="ko-KR" sz="1000" b="1" kern="0" dirty="0" smtClean="0">
                  <a:solidFill>
                    <a:schemeClr val="tx1">
                      <a:lumMod val="75000"/>
                      <a:lumOff val="25000"/>
                    </a:schemeClr>
                  </a:solidFill>
                  <a:latin typeface="+mn-ea"/>
                </a:rPr>
                <a:t>)</a:t>
              </a:r>
              <a:endParaRPr lang="ko-KR" altLang="en-US" sz="1000" b="1" kern="0" dirty="0">
                <a:solidFill>
                  <a:schemeClr val="tx1">
                    <a:lumMod val="75000"/>
                    <a:lumOff val="25000"/>
                  </a:schemeClr>
                </a:solidFill>
                <a:latin typeface="+mn-ea"/>
              </a:endParaRPr>
            </a:p>
          </p:txBody>
        </p:sp>
      </p:grpSp>
      <p:cxnSp>
        <p:nvCxnSpPr>
          <p:cNvPr id="139" name="구부러진 연결선 138"/>
          <p:cNvCxnSpPr>
            <a:stCxn id="131" idx="6"/>
            <a:endCxn id="118" idx="1"/>
          </p:cNvCxnSpPr>
          <p:nvPr/>
        </p:nvCxnSpPr>
        <p:spPr>
          <a:xfrm>
            <a:off x="4753344" y="3745871"/>
            <a:ext cx="249029" cy="965684"/>
          </a:xfrm>
          <a:prstGeom prst="curvedConnector3">
            <a:avLst>
              <a:gd name="adj1" fmla="val 50000"/>
            </a:avLst>
          </a:prstGeom>
          <a:ln w="12700">
            <a:tailEnd type="triangle"/>
          </a:ln>
        </p:spPr>
        <p:style>
          <a:lnRef idx="1">
            <a:schemeClr val="accent6"/>
          </a:lnRef>
          <a:fillRef idx="0">
            <a:schemeClr val="accent6"/>
          </a:fillRef>
          <a:effectRef idx="0">
            <a:schemeClr val="accent6"/>
          </a:effectRef>
          <a:fontRef idx="minor">
            <a:schemeClr val="tx1"/>
          </a:fontRef>
        </p:style>
      </p:cxnSp>
      <p:sp>
        <p:nvSpPr>
          <p:cNvPr id="140" name="직사각형 139"/>
          <p:cNvSpPr/>
          <p:nvPr/>
        </p:nvSpPr>
        <p:spPr>
          <a:xfrm>
            <a:off x="6725010" y="1482958"/>
            <a:ext cx="1491004" cy="5136529"/>
          </a:xfrm>
          <a:prstGeom prst="rect">
            <a:avLst/>
          </a:prstGeom>
          <a:solidFill>
            <a:schemeClr val="bg1"/>
          </a:solidFill>
          <a:ln w="3175" cap="flat" cmpd="sng" algn="ctr">
            <a:solidFill>
              <a:schemeClr val="bg1">
                <a:lumMod val="50000"/>
              </a:schemeClr>
            </a:solidFill>
            <a:prstDash val="solid"/>
          </a:ln>
          <a:effectLst/>
        </p:spPr>
        <p:txBody>
          <a:bodyPr vert="horz" wrap="square" lIns="0" tIns="36000" rIns="0" bIns="0" rtlCol="0" anchor="t"/>
          <a:lstStyle/>
          <a:p>
            <a:pPr algn="ctr" latinLnBrk="0"/>
            <a:r>
              <a:rPr lang="en-US" altLang="ko-KR" sz="1000" b="1" kern="0" dirty="0" smtClean="0">
                <a:solidFill>
                  <a:schemeClr val="tx1">
                    <a:lumMod val="75000"/>
                    <a:lumOff val="25000"/>
                  </a:schemeClr>
                </a:solidFill>
                <a:latin typeface="+mn-ea"/>
              </a:rPr>
              <a:t>Data Hub </a:t>
            </a:r>
            <a:r>
              <a:rPr lang="ko-KR" altLang="en-US" sz="1000" b="1" kern="0" dirty="0" smtClean="0">
                <a:solidFill>
                  <a:schemeClr val="tx1">
                    <a:lumMod val="75000"/>
                    <a:lumOff val="25000"/>
                  </a:schemeClr>
                </a:solidFill>
                <a:latin typeface="+mn-ea"/>
              </a:rPr>
              <a:t>활용</a:t>
            </a:r>
            <a:endParaRPr lang="ko-KR" altLang="en-US" sz="1000" b="1" kern="0" dirty="0">
              <a:solidFill>
                <a:schemeClr val="tx1">
                  <a:lumMod val="75000"/>
                  <a:lumOff val="25000"/>
                </a:schemeClr>
              </a:solidFill>
              <a:latin typeface="+mn-ea"/>
            </a:endParaRPr>
          </a:p>
        </p:txBody>
      </p:sp>
      <p:sp>
        <p:nvSpPr>
          <p:cNvPr id="141" name="직사각형 140"/>
          <p:cNvSpPr/>
          <p:nvPr/>
        </p:nvSpPr>
        <p:spPr>
          <a:xfrm>
            <a:off x="6811106" y="1774353"/>
            <a:ext cx="1318812" cy="559356"/>
          </a:xfrm>
          <a:prstGeom prst="rect">
            <a:avLst/>
          </a:prstGeom>
          <a:solidFill>
            <a:schemeClr val="bg1"/>
          </a:solidFill>
          <a:ln w="3175" cap="flat" cmpd="sng" algn="ctr">
            <a:solidFill>
              <a:schemeClr val="bg1">
                <a:lumMod val="50000"/>
              </a:schemeClr>
            </a:solidFill>
            <a:prstDash val="solid"/>
          </a:ln>
          <a:effectLst/>
        </p:spPr>
        <p:txBody>
          <a:bodyPr vert="horz" wrap="square" lIns="0" tIns="36000" rIns="0" bIns="0" rtlCol="0" anchor="t"/>
          <a:lstStyle/>
          <a:p>
            <a:pPr algn="ctr" latinLnBrk="0"/>
            <a:r>
              <a:rPr lang="en-US" altLang="ko-KR" sz="1000" b="1" kern="0" dirty="0" smtClean="0">
                <a:solidFill>
                  <a:schemeClr val="tx1">
                    <a:lumMod val="75000"/>
                    <a:lumOff val="25000"/>
                  </a:schemeClr>
                </a:solidFill>
                <a:latin typeface="+mn-ea"/>
              </a:rPr>
              <a:t>Agile IPA</a:t>
            </a:r>
            <a:endParaRPr lang="ko-KR" altLang="en-US" sz="1000" b="1" kern="0" dirty="0" err="1">
              <a:solidFill>
                <a:schemeClr val="tx1">
                  <a:lumMod val="75000"/>
                  <a:lumOff val="25000"/>
                </a:schemeClr>
              </a:solidFill>
              <a:latin typeface="+mn-ea"/>
            </a:endParaRPr>
          </a:p>
        </p:txBody>
      </p:sp>
      <p:sp>
        <p:nvSpPr>
          <p:cNvPr id="142" name="직사각형 141"/>
          <p:cNvSpPr/>
          <p:nvPr/>
        </p:nvSpPr>
        <p:spPr>
          <a:xfrm>
            <a:off x="6922303" y="1977849"/>
            <a:ext cx="1096418" cy="309074"/>
          </a:xfrm>
          <a:prstGeom prst="rect">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en-US" altLang="ko-KR" sz="1000" b="1" kern="0" dirty="0" smtClean="0">
                <a:solidFill>
                  <a:schemeClr val="tx1">
                    <a:lumMod val="75000"/>
                    <a:lumOff val="25000"/>
                  </a:schemeClr>
                </a:solidFill>
                <a:latin typeface="+mn-ea"/>
              </a:rPr>
              <a:t>Spotfire</a:t>
            </a:r>
            <a:br>
              <a:rPr lang="en-US" altLang="ko-KR" sz="1000" b="1" kern="0" dirty="0" smtClean="0">
                <a:solidFill>
                  <a:schemeClr val="tx1">
                    <a:lumMod val="75000"/>
                    <a:lumOff val="25000"/>
                  </a:schemeClr>
                </a:solidFill>
                <a:latin typeface="+mn-ea"/>
              </a:rPr>
            </a:br>
            <a:r>
              <a:rPr lang="en-US" altLang="ko-KR" sz="900" kern="0" dirty="0" smtClean="0">
                <a:solidFill>
                  <a:schemeClr val="tx1">
                    <a:lumMod val="75000"/>
                    <a:lumOff val="25000"/>
                  </a:schemeClr>
                </a:solidFill>
                <a:latin typeface="+mn-ea"/>
              </a:rPr>
              <a:t>User Dashboard</a:t>
            </a:r>
            <a:endParaRPr lang="ko-KR" altLang="en-US" sz="900" kern="0" dirty="0" err="1">
              <a:solidFill>
                <a:schemeClr val="tx1">
                  <a:lumMod val="75000"/>
                  <a:lumOff val="25000"/>
                </a:schemeClr>
              </a:solidFill>
              <a:latin typeface="+mn-ea"/>
            </a:endParaRPr>
          </a:p>
        </p:txBody>
      </p:sp>
      <p:sp>
        <p:nvSpPr>
          <p:cNvPr id="143" name="직사각형 142"/>
          <p:cNvSpPr/>
          <p:nvPr/>
        </p:nvSpPr>
        <p:spPr>
          <a:xfrm>
            <a:off x="6811106" y="2430656"/>
            <a:ext cx="1318812" cy="1594168"/>
          </a:xfrm>
          <a:prstGeom prst="rect">
            <a:avLst/>
          </a:prstGeom>
          <a:solidFill>
            <a:schemeClr val="bg1"/>
          </a:solidFill>
          <a:ln w="3175" cap="flat" cmpd="sng" algn="ctr">
            <a:solidFill>
              <a:schemeClr val="bg1">
                <a:lumMod val="50000"/>
              </a:schemeClr>
            </a:solidFill>
            <a:prstDash val="solid"/>
          </a:ln>
          <a:effectLst/>
        </p:spPr>
        <p:txBody>
          <a:bodyPr vert="horz" wrap="square" lIns="0" tIns="36000" rIns="0" bIns="0" rtlCol="0" anchor="t"/>
          <a:lstStyle/>
          <a:p>
            <a:pPr algn="ctr" latinLnBrk="0"/>
            <a:r>
              <a:rPr lang="en-US" altLang="ko-KR" sz="1000" b="1" kern="0" dirty="0" smtClean="0">
                <a:solidFill>
                  <a:schemeClr val="tx1">
                    <a:lumMod val="75000"/>
                    <a:lumOff val="25000"/>
                  </a:schemeClr>
                </a:solidFill>
                <a:latin typeface="+mn-ea"/>
              </a:rPr>
              <a:t>Legacy System</a:t>
            </a:r>
            <a:endParaRPr lang="ko-KR" altLang="en-US" sz="1000" b="1" kern="0" dirty="0" err="1">
              <a:solidFill>
                <a:schemeClr val="tx1">
                  <a:lumMod val="75000"/>
                  <a:lumOff val="25000"/>
                </a:schemeClr>
              </a:solidFill>
              <a:latin typeface="+mn-ea"/>
            </a:endParaRPr>
          </a:p>
        </p:txBody>
      </p:sp>
      <p:sp>
        <p:nvSpPr>
          <p:cNvPr id="144" name="직사각형 143"/>
          <p:cNvSpPr/>
          <p:nvPr/>
        </p:nvSpPr>
        <p:spPr>
          <a:xfrm>
            <a:off x="6922303" y="2680681"/>
            <a:ext cx="1096418" cy="217047"/>
          </a:xfrm>
          <a:prstGeom prst="rect">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en-US" altLang="ko-KR" sz="1000" b="1" kern="0" dirty="0" smtClean="0">
                <a:solidFill>
                  <a:schemeClr val="tx1">
                    <a:lumMod val="75000"/>
                    <a:lumOff val="25000"/>
                  </a:schemeClr>
                </a:solidFill>
                <a:latin typeface="+mn-ea"/>
              </a:rPr>
              <a:t>TAS</a:t>
            </a:r>
            <a:endParaRPr lang="ko-KR" altLang="en-US" sz="900" kern="0" dirty="0" err="1">
              <a:solidFill>
                <a:schemeClr val="tx1">
                  <a:lumMod val="75000"/>
                  <a:lumOff val="25000"/>
                </a:schemeClr>
              </a:solidFill>
              <a:latin typeface="+mn-ea"/>
            </a:endParaRPr>
          </a:p>
        </p:txBody>
      </p:sp>
      <p:sp>
        <p:nvSpPr>
          <p:cNvPr id="145" name="직사각형 144"/>
          <p:cNvSpPr/>
          <p:nvPr/>
        </p:nvSpPr>
        <p:spPr>
          <a:xfrm>
            <a:off x="6922303" y="2974053"/>
            <a:ext cx="1096418" cy="217047"/>
          </a:xfrm>
          <a:prstGeom prst="rect">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en-US" altLang="ko-KR" sz="1000" b="1" kern="0" dirty="0" smtClean="0">
                <a:solidFill>
                  <a:schemeClr val="tx1">
                    <a:lumMod val="75000"/>
                    <a:lumOff val="25000"/>
                  </a:schemeClr>
                </a:solidFill>
                <a:latin typeface="+mn-ea"/>
              </a:rPr>
              <a:t>MES</a:t>
            </a:r>
            <a:endParaRPr lang="ko-KR" altLang="en-US" sz="900" kern="0" dirty="0" err="1">
              <a:solidFill>
                <a:schemeClr val="tx1">
                  <a:lumMod val="75000"/>
                  <a:lumOff val="25000"/>
                </a:schemeClr>
              </a:solidFill>
              <a:latin typeface="+mn-ea"/>
            </a:endParaRPr>
          </a:p>
        </p:txBody>
      </p:sp>
      <p:sp>
        <p:nvSpPr>
          <p:cNvPr id="146" name="직사각형 145"/>
          <p:cNvSpPr/>
          <p:nvPr/>
        </p:nvSpPr>
        <p:spPr>
          <a:xfrm>
            <a:off x="6922303" y="3267425"/>
            <a:ext cx="1096418" cy="217047"/>
          </a:xfrm>
          <a:prstGeom prst="rect">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en-US" altLang="ko-KR" sz="1000" b="1" kern="0" dirty="0" smtClean="0">
                <a:solidFill>
                  <a:schemeClr val="tx1">
                    <a:lumMod val="75000"/>
                    <a:lumOff val="25000"/>
                  </a:schemeClr>
                </a:solidFill>
                <a:latin typeface="+mn-ea"/>
              </a:rPr>
              <a:t>QDS</a:t>
            </a:r>
            <a:endParaRPr lang="ko-KR" altLang="en-US" sz="900" kern="0" dirty="0" err="1">
              <a:solidFill>
                <a:schemeClr val="tx1">
                  <a:lumMod val="75000"/>
                  <a:lumOff val="25000"/>
                </a:schemeClr>
              </a:solidFill>
              <a:latin typeface="+mn-ea"/>
            </a:endParaRPr>
          </a:p>
        </p:txBody>
      </p:sp>
      <p:sp>
        <p:nvSpPr>
          <p:cNvPr id="147" name="직사각형 146"/>
          <p:cNvSpPr/>
          <p:nvPr/>
        </p:nvSpPr>
        <p:spPr>
          <a:xfrm>
            <a:off x="6922303" y="3560796"/>
            <a:ext cx="1096418" cy="217047"/>
          </a:xfrm>
          <a:prstGeom prst="rect">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en-US" altLang="ko-KR" sz="1000" b="1" kern="0" dirty="0" smtClean="0">
                <a:solidFill>
                  <a:schemeClr val="tx1">
                    <a:lumMod val="75000"/>
                    <a:lumOff val="25000"/>
                  </a:schemeClr>
                </a:solidFill>
                <a:latin typeface="+mn-ea"/>
              </a:rPr>
              <a:t>Digital Twin</a:t>
            </a:r>
            <a:endParaRPr lang="ko-KR" altLang="en-US" sz="900" kern="0" dirty="0" err="1">
              <a:solidFill>
                <a:schemeClr val="tx1">
                  <a:lumMod val="75000"/>
                  <a:lumOff val="25000"/>
                </a:schemeClr>
              </a:solidFill>
              <a:latin typeface="+mn-ea"/>
            </a:endParaRPr>
          </a:p>
        </p:txBody>
      </p:sp>
      <p:sp>
        <p:nvSpPr>
          <p:cNvPr id="148" name="직사각형 147"/>
          <p:cNvSpPr/>
          <p:nvPr/>
        </p:nvSpPr>
        <p:spPr>
          <a:xfrm>
            <a:off x="6811106" y="5592233"/>
            <a:ext cx="1318812" cy="916635"/>
          </a:xfrm>
          <a:prstGeom prst="rect">
            <a:avLst/>
          </a:prstGeom>
          <a:solidFill>
            <a:schemeClr val="bg1"/>
          </a:solidFill>
          <a:ln w="3175" cap="flat" cmpd="sng" algn="ctr">
            <a:solidFill>
              <a:schemeClr val="bg1">
                <a:lumMod val="50000"/>
              </a:schemeClr>
            </a:solidFill>
            <a:prstDash val="solid"/>
          </a:ln>
          <a:effectLst/>
        </p:spPr>
        <p:txBody>
          <a:bodyPr vert="horz" wrap="square" lIns="0" tIns="36000" rIns="0" bIns="0" rtlCol="0" anchor="t"/>
          <a:lstStyle/>
          <a:p>
            <a:pPr algn="ctr" latinLnBrk="0"/>
            <a:r>
              <a:rPr lang="en-US" altLang="ko-KR" sz="1000" b="1" kern="0" dirty="0" smtClean="0">
                <a:solidFill>
                  <a:schemeClr val="tx1">
                    <a:lumMod val="75000"/>
                    <a:lumOff val="25000"/>
                  </a:schemeClr>
                </a:solidFill>
                <a:latin typeface="+mn-ea"/>
              </a:rPr>
              <a:t>AI Platform</a:t>
            </a:r>
            <a:endParaRPr lang="ko-KR" altLang="en-US" sz="1000" b="1" kern="0" dirty="0" err="1">
              <a:solidFill>
                <a:schemeClr val="tx1">
                  <a:lumMod val="75000"/>
                  <a:lumOff val="25000"/>
                </a:schemeClr>
              </a:solidFill>
              <a:latin typeface="+mn-ea"/>
            </a:endParaRPr>
          </a:p>
        </p:txBody>
      </p:sp>
      <p:sp>
        <p:nvSpPr>
          <p:cNvPr id="149" name="직사각형 148"/>
          <p:cNvSpPr/>
          <p:nvPr/>
        </p:nvSpPr>
        <p:spPr>
          <a:xfrm>
            <a:off x="6922303" y="5786045"/>
            <a:ext cx="1096418" cy="273732"/>
          </a:xfrm>
          <a:prstGeom prst="rect">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en-US" altLang="ko-KR" sz="1000" b="1" kern="0" dirty="0" smtClean="0">
                <a:solidFill>
                  <a:schemeClr val="tx1">
                    <a:lumMod val="75000"/>
                    <a:lumOff val="25000"/>
                  </a:schemeClr>
                </a:solidFill>
                <a:latin typeface="+mn-ea"/>
              </a:rPr>
              <a:t>Gai.A</a:t>
            </a:r>
            <a:endParaRPr lang="ko-KR" altLang="en-US" sz="1000" kern="0" dirty="0" err="1">
              <a:solidFill>
                <a:schemeClr val="tx1">
                  <a:lumMod val="75000"/>
                  <a:lumOff val="25000"/>
                </a:schemeClr>
              </a:solidFill>
              <a:latin typeface="+mn-ea"/>
            </a:endParaRPr>
          </a:p>
        </p:txBody>
      </p:sp>
      <p:sp>
        <p:nvSpPr>
          <p:cNvPr id="150" name="직사각형 149"/>
          <p:cNvSpPr/>
          <p:nvPr/>
        </p:nvSpPr>
        <p:spPr>
          <a:xfrm>
            <a:off x="6922303" y="6157949"/>
            <a:ext cx="1096418" cy="273732"/>
          </a:xfrm>
          <a:prstGeom prst="rect">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en-US" altLang="ko-KR" sz="1000" b="1" kern="0" dirty="0" smtClean="0">
                <a:solidFill>
                  <a:schemeClr val="tx1">
                    <a:lumMod val="75000"/>
                    <a:lumOff val="25000"/>
                  </a:schemeClr>
                </a:solidFill>
                <a:latin typeface="+mn-ea"/>
              </a:rPr>
              <a:t>AI Studio</a:t>
            </a:r>
            <a:endParaRPr lang="ko-KR" altLang="en-US" sz="1000" kern="0" dirty="0" err="1">
              <a:solidFill>
                <a:schemeClr val="tx1">
                  <a:lumMod val="75000"/>
                  <a:lumOff val="25000"/>
                </a:schemeClr>
              </a:solidFill>
              <a:latin typeface="+mn-ea"/>
            </a:endParaRPr>
          </a:p>
        </p:txBody>
      </p:sp>
      <p:sp>
        <p:nvSpPr>
          <p:cNvPr id="151" name="직사각형 150"/>
          <p:cNvSpPr/>
          <p:nvPr/>
        </p:nvSpPr>
        <p:spPr>
          <a:xfrm>
            <a:off x="6811106" y="4138016"/>
            <a:ext cx="1318812" cy="1371473"/>
          </a:xfrm>
          <a:prstGeom prst="rect">
            <a:avLst/>
          </a:prstGeom>
          <a:solidFill>
            <a:schemeClr val="bg1"/>
          </a:solidFill>
          <a:ln w="3175" cap="flat" cmpd="sng" algn="ctr">
            <a:solidFill>
              <a:schemeClr val="bg1">
                <a:lumMod val="50000"/>
              </a:schemeClr>
            </a:solidFill>
            <a:prstDash val="solid"/>
          </a:ln>
          <a:effectLst/>
        </p:spPr>
        <p:txBody>
          <a:bodyPr vert="horz" wrap="square" lIns="0" tIns="36000" rIns="0" bIns="0" rtlCol="0" anchor="t"/>
          <a:lstStyle/>
          <a:p>
            <a:pPr algn="ctr" latinLnBrk="0"/>
            <a:r>
              <a:rPr lang="en-US" altLang="ko-KR" sz="1000" b="1" kern="0" dirty="0" smtClean="0">
                <a:solidFill>
                  <a:schemeClr val="tx1">
                    <a:lumMod val="75000"/>
                    <a:lumOff val="25000"/>
                  </a:schemeClr>
                </a:solidFill>
                <a:latin typeface="+mn-ea"/>
              </a:rPr>
              <a:t>User Application</a:t>
            </a:r>
            <a:endParaRPr lang="ko-KR" altLang="en-US" sz="1000" b="1" kern="0" dirty="0" err="1">
              <a:solidFill>
                <a:schemeClr val="tx1">
                  <a:lumMod val="75000"/>
                  <a:lumOff val="25000"/>
                </a:schemeClr>
              </a:solidFill>
              <a:latin typeface="+mn-ea"/>
            </a:endParaRPr>
          </a:p>
        </p:txBody>
      </p:sp>
      <p:sp>
        <p:nvSpPr>
          <p:cNvPr id="152" name="직사각형 151"/>
          <p:cNvSpPr/>
          <p:nvPr/>
        </p:nvSpPr>
        <p:spPr>
          <a:xfrm>
            <a:off x="6922303" y="4366236"/>
            <a:ext cx="1096418" cy="484047"/>
          </a:xfrm>
          <a:prstGeom prst="rect">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en-US" altLang="ko-KR" sz="1100" b="1" kern="0" dirty="0" smtClean="0">
                <a:solidFill>
                  <a:schemeClr val="tx1">
                    <a:lumMod val="75000"/>
                    <a:lumOff val="25000"/>
                  </a:schemeClr>
                </a:solidFill>
                <a:latin typeface="+mn-ea"/>
              </a:rPr>
              <a:t>Jupyter Notebook</a:t>
            </a:r>
            <a:r>
              <a:rPr lang="en-US" altLang="ko-KR" sz="1100" b="1" kern="0" dirty="0">
                <a:solidFill>
                  <a:schemeClr val="tx1">
                    <a:lumMod val="75000"/>
                    <a:lumOff val="25000"/>
                  </a:schemeClr>
                </a:solidFill>
                <a:latin typeface="+mn-ea"/>
              </a:rPr>
              <a:t/>
            </a:r>
            <a:br>
              <a:rPr lang="en-US" altLang="ko-KR" sz="1100" b="1" kern="0" dirty="0">
                <a:solidFill>
                  <a:schemeClr val="tx1">
                    <a:lumMod val="75000"/>
                    <a:lumOff val="25000"/>
                  </a:schemeClr>
                </a:solidFill>
                <a:latin typeface="+mn-ea"/>
              </a:rPr>
            </a:br>
            <a:r>
              <a:rPr lang="en-US" altLang="ko-KR" sz="1000" kern="0" dirty="0">
                <a:solidFill>
                  <a:schemeClr val="tx1">
                    <a:lumMod val="75000"/>
                    <a:lumOff val="25000"/>
                  </a:schemeClr>
                </a:solidFill>
                <a:latin typeface="+mn-ea"/>
              </a:rPr>
              <a:t>HCP / Workbench</a:t>
            </a:r>
            <a:endParaRPr lang="ko-KR" altLang="en-US" sz="1100" kern="0" dirty="0" err="1">
              <a:solidFill>
                <a:schemeClr val="tx1">
                  <a:lumMod val="75000"/>
                  <a:lumOff val="25000"/>
                </a:schemeClr>
              </a:solidFill>
              <a:latin typeface="+mn-ea"/>
            </a:endParaRPr>
          </a:p>
        </p:txBody>
      </p:sp>
      <p:sp>
        <p:nvSpPr>
          <p:cNvPr id="153" name="직사각형 152"/>
          <p:cNvSpPr/>
          <p:nvPr/>
        </p:nvSpPr>
        <p:spPr>
          <a:xfrm>
            <a:off x="6922303" y="3854170"/>
            <a:ext cx="1096418" cy="115687"/>
          </a:xfrm>
          <a:prstGeom prst="rect">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en-US" altLang="ko-KR" sz="1000" b="1" kern="0" dirty="0" smtClean="0">
                <a:solidFill>
                  <a:schemeClr val="tx1">
                    <a:lumMod val="75000"/>
                    <a:lumOff val="25000"/>
                  </a:schemeClr>
                </a:solidFill>
                <a:latin typeface="+mn-ea"/>
              </a:rPr>
              <a:t>…</a:t>
            </a:r>
            <a:endParaRPr lang="ko-KR" altLang="en-US" sz="900" kern="0" dirty="0" err="1">
              <a:solidFill>
                <a:schemeClr val="tx1">
                  <a:lumMod val="75000"/>
                  <a:lumOff val="25000"/>
                </a:schemeClr>
              </a:solidFill>
              <a:latin typeface="+mn-ea"/>
            </a:endParaRPr>
          </a:p>
        </p:txBody>
      </p:sp>
      <p:sp>
        <p:nvSpPr>
          <p:cNvPr id="154" name="직사각형 153"/>
          <p:cNvSpPr/>
          <p:nvPr/>
        </p:nvSpPr>
        <p:spPr>
          <a:xfrm>
            <a:off x="6922303" y="4948587"/>
            <a:ext cx="1096418" cy="484047"/>
          </a:xfrm>
          <a:prstGeom prst="rect">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en-US" altLang="ko-KR" sz="1100" b="1" kern="0" dirty="0" smtClean="0">
                <a:solidFill>
                  <a:schemeClr val="tx1">
                    <a:lumMod val="75000"/>
                    <a:lumOff val="25000"/>
                  </a:schemeClr>
                </a:solidFill>
                <a:latin typeface="+mn-ea"/>
              </a:rPr>
              <a:t>Sandbox/PoC</a:t>
            </a:r>
            <a:br>
              <a:rPr lang="en-US" altLang="ko-KR" sz="1100" b="1" kern="0" dirty="0" smtClean="0">
                <a:solidFill>
                  <a:schemeClr val="tx1">
                    <a:lumMod val="75000"/>
                    <a:lumOff val="25000"/>
                  </a:schemeClr>
                </a:solidFill>
                <a:latin typeface="+mn-ea"/>
              </a:rPr>
            </a:br>
            <a:r>
              <a:rPr lang="en-US" altLang="ko-KR" sz="1100" b="1" kern="0" dirty="0" smtClean="0">
                <a:solidFill>
                  <a:schemeClr val="tx1">
                    <a:lumMod val="75000"/>
                    <a:lumOff val="25000"/>
                  </a:schemeClr>
                </a:solidFill>
                <a:latin typeface="+mn-ea"/>
              </a:rPr>
              <a:t>Application</a:t>
            </a:r>
            <a:endParaRPr lang="ko-KR" altLang="en-US" sz="1100" b="1" kern="0" dirty="0" err="1">
              <a:solidFill>
                <a:schemeClr val="tx1">
                  <a:lumMod val="75000"/>
                  <a:lumOff val="25000"/>
                </a:schemeClr>
              </a:solidFill>
              <a:latin typeface="+mn-ea"/>
            </a:endParaRPr>
          </a:p>
        </p:txBody>
      </p:sp>
      <p:cxnSp>
        <p:nvCxnSpPr>
          <p:cNvPr id="155" name="구부러진 연결선 154"/>
          <p:cNvCxnSpPr>
            <a:stCxn id="132" idx="6"/>
            <a:endCxn id="118" idx="1"/>
          </p:cNvCxnSpPr>
          <p:nvPr/>
        </p:nvCxnSpPr>
        <p:spPr>
          <a:xfrm flipV="1">
            <a:off x="4757245" y="4711555"/>
            <a:ext cx="245128" cy="76518"/>
          </a:xfrm>
          <a:prstGeom prst="curvedConnector3">
            <a:avLst>
              <a:gd name="adj1" fmla="val 50000"/>
            </a:avLst>
          </a:prstGeom>
          <a:ln w="12700">
            <a:tailEnd type="triangle"/>
          </a:ln>
        </p:spPr>
        <p:style>
          <a:lnRef idx="1">
            <a:schemeClr val="accent3"/>
          </a:lnRef>
          <a:fillRef idx="0">
            <a:schemeClr val="accent3"/>
          </a:fillRef>
          <a:effectRef idx="0">
            <a:schemeClr val="accent3"/>
          </a:effectRef>
          <a:fontRef idx="minor">
            <a:schemeClr val="tx1"/>
          </a:fontRef>
        </p:style>
      </p:cxnSp>
      <p:sp>
        <p:nvSpPr>
          <p:cNvPr id="156" name="모서리가 둥근 직사각형 155"/>
          <p:cNvSpPr/>
          <p:nvPr/>
        </p:nvSpPr>
        <p:spPr>
          <a:xfrm>
            <a:off x="391405" y="1919243"/>
            <a:ext cx="1290593" cy="256581"/>
          </a:xfrm>
          <a:prstGeom prst="roundRect">
            <a:avLst>
              <a:gd name="adj" fmla="val 1161"/>
            </a:avLst>
          </a:prstGeom>
          <a:noFill/>
          <a:ln w="9525">
            <a:no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pPr algn="ctr"/>
            <a:r>
              <a:rPr lang="en-US" altLang="ko-KR" sz="1100" b="1" u="sng" dirty="0" smtClean="0"/>
              <a:t>FAB </a:t>
            </a:r>
            <a:r>
              <a:rPr lang="ko-KR" altLang="en-US" sz="1100" b="1" u="sng" dirty="0" smtClean="0"/>
              <a:t>원천 데이터</a:t>
            </a:r>
            <a:endParaRPr lang="ko-KR" altLang="en-US" sz="1100" b="1" u="sng" dirty="0"/>
          </a:p>
        </p:txBody>
      </p:sp>
      <p:grpSp>
        <p:nvGrpSpPr>
          <p:cNvPr id="157" name="그룹 156"/>
          <p:cNvGrpSpPr/>
          <p:nvPr/>
        </p:nvGrpSpPr>
        <p:grpSpPr>
          <a:xfrm>
            <a:off x="578346" y="2340115"/>
            <a:ext cx="895036" cy="3794218"/>
            <a:chOff x="694482" y="2130202"/>
            <a:chExt cx="637763" cy="3533089"/>
          </a:xfrm>
        </p:grpSpPr>
        <p:sp>
          <p:nvSpPr>
            <p:cNvPr id="158" name="원통 516">
              <a:extLst>
                <a:ext uri="{FF2B5EF4-FFF2-40B4-BE49-F238E27FC236}">
                  <a16:creationId xmlns:a16="http://schemas.microsoft.com/office/drawing/2014/main" id="{9C8F9A06-1276-42F3-A7D5-2E337EB9D54C}"/>
                </a:ext>
              </a:extLst>
            </p:cNvPr>
            <p:cNvSpPr/>
            <p:nvPr/>
          </p:nvSpPr>
          <p:spPr>
            <a:xfrm>
              <a:off x="694482" y="2506641"/>
              <a:ext cx="637763" cy="268566"/>
            </a:xfrm>
            <a:prstGeom prst="roundRect">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en-US" altLang="ko-KR" sz="1000" b="1" kern="0" dirty="0" smtClean="0">
                  <a:solidFill>
                    <a:schemeClr val="tx1">
                      <a:lumMod val="75000"/>
                      <a:lumOff val="25000"/>
                    </a:schemeClr>
                  </a:solidFill>
                  <a:latin typeface="+mn-ea"/>
                </a:rPr>
                <a:t>M14</a:t>
              </a:r>
              <a:endParaRPr lang="ko-KR" altLang="en-US" sz="1000" b="1" kern="0" dirty="0">
                <a:solidFill>
                  <a:schemeClr val="tx1">
                    <a:lumMod val="75000"/>
                    <a:lumOff val="25000"/>
                  </a:schemeClr>
                </a:solidFill>
                <a:latin typeface="+mn-ea"/>
              </a:endParaRPr>
            </a:p>
          </p:txBody>
        </p:sp>
        <p:sp>
          <p:nvSpPr>
            <p:cNvPr id="159" name="원통 516">
              <a:extLst>
                <a:ext uri="{FF2B5EF4-FFF2-40B4-BE49-F238E27FC236}">
                  <a16:creationId xmlns:a16="http://schemas.microsoft.com/office/drawing/2014/main" id="{9C8F9A06-1276-42F3-A7D5-2E337EB9D54C}"/>
                </a:ext>
              </a:extLst>
            </p:cNvPr>
            <p:cNvSpPr/>
            <p:nvPr/>
          </p:nvSpPr>
          <p:spPr>
            <a:xfrm>
              <a:off x="694482" y="2867652"/>
              <a:ext cx="637763" cy="268566"/>
            </a:xfrm>
            <a:prstGeom prst="roundRect">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en-US" altLang="ko-KR" sz="1000" b="1" kern="0" dirty="0" smtClean="0">
                  <a:solidFill>
                    <a:schemeClr val="tx1">
                      <a:lumMod val="75000"/>
                      <a:lumOff val="25000"/>
                    </a:schemeClr>
                  </a:solidFill>
                  <a:latin typeface="+mn-ea"/>
                </a:rPr>
                <a:t>M10</a:t>
              </a:r>
              <a:endParaRPr lang="ko-KR" altLang="en-US" sz="1000" b="1" kern="0" dirty="0">
                <a:solidFill>
                  <a:schemeClr val="tx1">
                    <a:lumMod val="75000"/>
                    <a:lumOff val="25000"/>
                  </a:schemeClr>
                </a:solidFill>
                <a:latin typeface="+mn-ea"/>
              </a:endParaRPr>
            </a:p>
          </p:txBody>
        </p:sp>
        <p:sp>
          <p:nvSpPr>
            <p:cNvPr id="160" name="원통 516">
              <a:extLst>
                <a:ext uri="{FF2B5EF4-FFF2-40B4-BE49-F238E27FC236}">
                  <a16:creationId xmlns:a16="http://schemas.microsoft.com/office/drawing/2014/main" id="{9C8F9A06-1276-42F3-A7D5-2E337EB9D54C}"/>
                </a:ext>
              </a:extLst>
            </p:cNvPr>
            <p:cNvSpPr/>
            <p:nvPr/>
          </p:nvSpPr>
          <p:spPr>
            <a:xfrm>
              <a:off x="694482" y="3228663"/>
              <a:ext cx="637763" cy="268566"/>
            </a:xfrm>
            <a:prstGeom prst="roundRect">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en-US" altLang="ko-KR" sz="1000" b="1" kern="0" dirty="0" smtClean="0">
                  <a:solidFill>
                    <a:schemeClr val="tx1">
                      <a:lumMod val="75000"/>
                      <a:lumOff val="25000"/>
                    </a:schemeClr>
                  </a:solidFill>
                  <a:latin typeface="+mn-ea"/>
                </a:rPr>
                <a:t>R3</a:t>
              </a:r>
              <a:endParaRPr lang="ko-KR" altLang="en-US" sz="1000" b="1" kern="0" dirty="0">
                <a:solidFill>
                  <a:schemeClr val="tx1">
                    <a:lumMod val="75000"/>
                    <a:lumOff val="25000"/>
                  </a:schemeClr>
                </a:solidFill>
                <a:latin typeface="+mn-ea"/>
              </a:endParaRPr>
            </a:p>
          </p:txBody>
        </p:sp>
        <p:sp>
          <p:nvSpPr>
            <p:cNvPr id="267" name="원통 516">
              <a:extLst>
                <a:ext uri="{FF2B5EF4-FFF2-40B4-BE49-F238E27FC236}">
                  <a16:creationId xmlns:a16="http://schemas.microsoft.com/office/drawing/2014/main" id="{9C8F9A06-1276-42F3-A7D5-2E337EB9D54C}"/>
                </a:ext>
              </a:extLst>
            </p:cNvPr>
            <p:cNvSpPr/>
            <p:nvPr/>
          </p:nvSpPr>
          <p:spPr>
            <a:xfrm>
              <a:off x="694482" y="3589674"/>
              <a:ext cx="637763" cy="268566"/>
            </a:xfrm>
            <a:prstGeom prst="roundRect">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en-US" altLang="ko-KR" sz="1000" b="1" kern="0" dirty="0" smtClean="0">
                  <a:solidFill>
                    <a:schemeClr val="tx1">
                      <a:lumMod val="75000"/>
                      <a:lumOff val="25000"/>
                    </a:schemeClr>
                  </a:solidFill>
                  <a:latin typeface="+mn-ea"/>
                </a:rPr>
                <a:t>WLP</a:t>
              </a:r>
              <a:endParaRPr lang="ko-KR" altLang="en-US" sz="1000" b="1" kern="0" dirty="0">
                <a:solidFill>
                  <a:schemeClr val="tx1">
                    <a:lumMod val="75000"/>
                    <a:lumOff val="25000"/>
                  </a:schemeClr>
                </a:solidFill>
                <a:latin typeface="+mn-ea"/>
              </a:endParaRPr>
            </a:p>
          </p:txBody>
        </p:sp>
        <p:sp>
          <p:nvSpPr>
            <p:cNvPr id="268" name="원통 516">
              <a:extLst>
                <a:ext uri="{FF2B5EF4-FFF2-40B4-BE49-F238E27FC236}">
                  <a16:creationId xmlns:a16="http://schemas.microsoft.com/office/drawing/2014/main" id="{9C8F9A06-1276-42F3-A7D5-2E337EB9D54C}"/>
                </a:ext>
              </a:extLst>
            </p:cNvPr>
            <p:cNvSpPr/>
            <p:nvPr/>
          </p:nvSpPr>
          <p:spPr>
            <a:xfrm>
              <a:off x="694482" y="5033718"/>
              <a:ext cx="637763" cy="268566"/>
            </a:xfrm>
            <a:prstGeom prst="roundRect">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en-US" altLang="ko-KR" sz="1000" b="1" kern="0" dirty="0" smtClean="0">
                  <a:solidFill>
                    <a:schemeClr val="tx1">
                      <a:lumMod val="75000"/>
                      <a:lumOff val="25000"/>
                    </a:schemeClr>
                  </a:solidFill>
                  <a:latin typeface="+mn-ea"/>
                </a:rPr>
                <a:t>C2</a:t>
              </a:r>
              <a:endParaRPr lang="ko-KR" altLang="en-US" sz="1000" b="1" kern="0" dirty="0">
                <a:solidFill>
                  <a:schemeClr val="tx1">
                    <a:lumMod val="75000"/>
                    <a:lumOff val="25000"/>
                  </a:schemeClr>
                </a:solidFill>
                <a:latin typeface="+mn-ea"/>
              </a:endParaRPr>
            </a:p>
          </p:txBody>
        </p:sp>
        <p:sp>
          <p:nvSpPr>
            <p:cNvPr id="269" name="원통 516">
              <a:extLst>
                <a:ext uri="{FF2B5EF4-FFF2-40B4-BE49-F238E27FC236}">
                  <a16:creationId xmlns:a16="http://schemas.microsoft.com/office/drawing/2014/main" id="{9C8F9A06-1276-42F3-A7D5-2E337EB9D54C}"/>
                </a:ext>
              </a:extLst>
            </p:cNvPr>
            <p:cNvSpPr/>
            <p:nvPr/>
          </p:nvSpPr>
          <p:spPr>
            <a:xfrm>
              <a:off x="694482" y="5394725"/>
              <a:ext cx="637763" cy="268566"/>
            </a:xfrm>
            <a:prstGeom prst="roundRect">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en-US" altLang="ko-KR" sz="1000" b="1" kern="0" dirty="0" smtClean="0">
                  <a:solidFill>
                    <a:schemeClr val="tx1">
                      <a:lumMod val="75000"/>
                      <a:lumOff val="25000"/>
                    </a:schemeClr>
                  </a:solidFill>
                  <a:latin typeface="+mn-ea"/>
                </a:rPr>
                <a:t>WLP2</a:t>
              </a:r>
              <a:endParaRPr lang="ko-KR" altLang="en-US" sz="1000" b="1" kern="0" dirty="0">
                <a:solidFill>
                  <a:schemeClr val="tx1">
                    <a:lumMod val="75000"/>
                    <a:lumOff val="25000"/>
                  </a:schemeClr>
                </a:solidFill>
                <a:latin typeface="+mn-ea"/>
              </a:endParaRPr>
            </a:p>
          </p:txBody>
        </p:sp>
        <p:sp>
          <p:nvSpPr>
            <p:cNvPr id="270" name="원통 516">
              <a:extLst>
                <a:ext uri="{FF2B5EF4-FFF2-40B4-BE49-F238E27FC236}">
                  <a16:creationId xmlns:a16="http://schemas.microsoft.com/office/drawing/2014/main" id="{9C8F9A06-1276-42F3-A7D5-2E337EB9D54C}"/>
                </a:ext>
              </a:extLst>
            </p:cNvPr>
            <p:cNvSpPr/>
            <p:nvPr/>
          </p:nvSpPr>
          <p:spPr>
            <a:xfrm>
              <a:off x="694482" y="3950685"/>
              <a:ext cx="637763" cy="268566"/>
            </a:xfrm>
            <a:prstGeom prst="roundRect">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en-US" altLang="ko-KR" sz="1000" b="1" kern="0" dirty="0" smtClean="0">
                  <a:solidFill>
                    <a:schemeClr val="tx1">
                      <a:lumMod val="75000"/>
                      <a:lumOff val="25000"/>
                    </a:schemeClr>
                  </a:solidFill>
                  <a:latin typeface="+mn-ea"/>
                </a:rPr>
                <a:t>M11</a:t>
              </a:r>
              <a:endParaRPr lang="ko-KR" altLang="en-US" sz="1000" b="1" kern="0" dirty="0">
                <a:solidFill>
                  <a:schemeClr val="tx1">
                    <a:lumMod val="75000"/>
                    <a:lumOff val="25000"/>
                  </a:schemeClr>
                </a:solidFill>
                <a:latin typeface="+mn-ea"/>
              </a:endParaRPr>
            </a:p>
          </p:txBody>
        </p:sp>
        <p:sp>
          <p:nvSpPr>
            <p:cNvPr id="271" name="원통 516">
              <a:extLst>
                <a:ext uri="{FF2B5EF4-FFF2-40B4-BE49-F238E27FC236}">
                  <a16:creationId xmlns:a16="http://schemas.microsoft.com/office/drawing/2014/main" id="{9C8F9A06-1276-42F3-A7D5-2E337EB9D54C}"/>
                </a:ext>
              </a:extLst>
            </p:cNvPr>
            <p:cNvSpPr/>
            <p:nvPr/>
          </p:nvSpPr>
          <p:spPr>
            <a:xfrm>
              <a:off x="694482" y="4311696"/>
              <a:ext cx="637763" cy="268566"/>
            </a:xfrm>
            <a:prstGeom prst="roundRect">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en-US" altLang="ko-KR" sz="1000" b="1" kern="0" dirty="0" smtClean="0">
                  <a:solidFill>
                    <a:schemeClr val="tx1">
                      <a:lumMod val="75000"/>
                      <a:lumOff val="25000"/>
                    </a:schemeClr>
                  </a:solidFill>
                  <a:latin typeface="+mn-ea"/>
                </a:rPr>
                <a:t>M15</a:t>
              </a:r>
              <a:endParaRPr lang="ko-KR" altLang="en-US" sz="1000" b="1" kern="0" dirty="0">
                <a:solidFill>
                  <a:schemeClr val="tx1">
                    <a:lumMod val="75000"/>
                    <a:lumOff val="25000"/>
                  </a:schemeClr>
                </a:solidFill>
                <a:latin typeface="+mn-ea"/>
              </a:endParaRPr>
            </a:p>
          </p:txBody>
        </p:sp>
        <p:sp>
          <p:nvSpPr>
            <p:cNvPr id="272" name="원통 516">
              <a:extLst>
                <a:ext uri="{FF2B5EF4-FFF2-40B4-BE49-F238E27FC236}">
                  <a16:creationId xmlns:a16="http://schemas.microsoft.com/office/drawing/2014/main" id="{9C8F9A06-1276-42F3-A7D5-2E337EB9D54C}"/>
                </a:ext>
              </a:extLst>
            </p:cNvPr>
            <p:cNvSpPr/>
            <p:nvPr/>
          </p:nvSpPr>
          <p:spPr>
            <a:xfrm>
              <a:off x="694482" y="4672707"/>
              <a:ext cx="637763" cy="268566"/>
            </a:xfrm>
            <a:prstGeom prst="roundRect">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en-US" altLang="ko-KR" sz="1000" b="1" kern="0" dirty="0" smtClean="0">
                  <a:solidFill>
                    <a:schemeClr val="tx1">
                      <a:lumMod val="75000"/>
                      <a:lumOff val="25000"/>
                    </a:schemeClr>
                  </a:solidFill>
                  <a:latin typeface="+mn-ea"/>
                </a:rPr>
                <a:t>WLP3</a:t>
              </a:r>
              <a:endParaRPr lang="ko-KR" altLang="en-US" sz="1000" b="1" kern="0" dirty="0">
                <a:solidFill>
                  <a:schemeClr val="tx1">
                    <a:lumMod val="75000"/>
                    <a:lumOff val="25000"/>
                  </a:schemeClr>
                </a:solidFill>
                <a:latin typeface="+mn-ea"/>
              </a:endParaRPr>
            </a:p>
          </p:txBody>
        </p:sp>
        <p:sp>
          <p:nvSpPr>
            <p:cNvPr id="273" name="원통 516">
              <a:extLst>
                <a:ext uri="{FF2B5EF4-FFF2-40B4-BE49-F238E27FC236}">
                  <a16:creationId xmlns:a16="http://schemas.microsoft.com/office/drawing/2014/main" id="{9C8F9A06-1276-42F3-A7D5-2E337EB9D54C}"/>
                </a:ext>
              </a:extLst>
            </p:cNvPr>
            <p:cNvSpPr/>
            <p:nvPr/>
          </p:nvSpPr>
          <p:spPr>
            <a:xfrm>
              <a:off x="694482" y="2130202"/>
              <a:ext cx="637763" cy="268566"/>
            </a:xfrm>
            <a:prstGeom prst="roundRect">
              <a:avLst/>
            </a:prstGeom>
            <a:solidFill>
              <a:schemeClr val="bg1"/>
            </a:solidFill>
            <a:ln w="3175" cap="flat" cmpd="sng" algn="ctr">
              <a:solidFill>
                <a:schemeClr val="bg1">
                  <a:lumMod val="50000"/>
                </a:schemeClr>
              </a:solidFill>
              <a:prstDash val="solid"/>
            </a:ln>
            <a:effectLst/>
          </p:spPr>
          <p:txBody>
            <a:bodyPr vert="horz" wrap="square" lIns="0" tIns="0" rIns="0" bIns="0" rtlCol="0" anchor="ctr"/>
            <a:lstStyle/>
            <a:p>
              <a:pPr algn="ctr" latinLnBrk="0"/>
              <a:r>
                <a:rPr lang="en-US" altLang="ko-KR" sz="1000" b="1" kern="0" dirty="0" smtClean="0">
                  <a:solidFill>
                    <a:schemeClr val="tx1">
                      <a:lumMod val="75000"/>
                      <a:lumOff val="25000"/>
                    </a:schemeClr>
                  </a:solidFill>
                  <a:latin typeface="+mn-ea"/>
                </a:rPr>
                <a:t>M16</a:t>
              </a:r>
              <a:endParaRPr lang="ko-KR" altLang="en-US" sz="1000" b="1" kern="0" dirty="0">
                <a:solidFill>
                  <a:schemeClr val="tx1">
                    <a:lumMod val="75000"/>
                    <a:lumOff val="25000"/>
                  </a:schemeClr>
                </a:solidFill>
                <a:latin typeface="+mn-ea"/>
              </a:endParaRPr>
            </a:p>
          </p:txBody>
        </p:sp>
      </p:grpSp>
      <p:sp>
        <p:nvSpPr>
          <p:cNvPr id="274" name="타원 273"/>
          <p:cNvSpPr/>
          <p:nvPr/>
        </p:nvSpPr>
        <p:spPr>
          <a:xfrm>
            <a:off x="3308090" y="3698138"/>
            <a:ext cx="102200" cy="102198"/>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b="1" dirty="0">
              <a:solidFill>
                <a:schemeClr val="tx1">
                  <a:lumMod val="75000"/>
                  <a:lumOff val="25000"/>
                </a:schemeClr>
              </a:solidFill>
            </a:endParaRPr>
          </a:p>
        </p:txBody>
      </p:sp>
      <p:sp>
        <p:nvSpPr>
          <p:cNvPr id="275" name="타원 274"/>
          <p:cNvSpPr/>
          <p:nvPr/>
        </p:nvSpPr>
        <p:spPr>
          <a:xfrm>
            <a:off x="3308090" y="4750237"/>
            <a:ext cx="102200" cy="102198"/>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sz="1200" b="1" dirty="0">
              <a:solidFill>
                <a:schemeClr val="tx1">
                  <a:lumMod val="75000"/>
                  <a:lumOff val="25000"/>
                </a:schemeClr>
              </a:solidFill>
            </a:endParaRPr>
          </a:p>
        </p:txBody>
      </p:sp>
      <p:grpSp>
        <p:nvGrpSpPr>
          <p:cNvPr id="276" name="그룹 275"/>
          <p:cNvGrpSpPr/>
          <p:nvPr/>
        </p:nvGrpSpPr>
        <p:grpSpPr>
          <a:xfrm>
            <a:off x="6458785" y="4146333"/>
            <a:ext cx="259082" cy="297422"/>
            <a:chOff x="6478917" y="3908596"/>
            <a:chExt cx="295265" cy="297422"/>
          </a:xfrm>
        </p:grpSpPr>
        <p:cxnSp>
          <p:nvCxnSpPr>
            <p:cNvPr id="277" name="직선 화살표 연결선 276"/>
            <p:cNvCxnSpPr/>
            <p:nvPr/>
          </p:nvCxnSpPr>
          <p:spPr>
            <a:xfrm rot="16200000" flipH="1">
              <a:off x="6626550" y="3905984"/>
              <a:ext cx="0" cy="295265"/>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78" name="직선 화살표 연결선 277"/>
            <p:cNvCxnSpPr/>
            <p:nvPr/>
          </p:nvCxnSpPr>
          <p:spPr>
            <a:xfrm rot="5400000" flipV="1">
              <a:off x="6627305" y="3761720"/>
              <a:ext cx="0" cy="293751"/>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79" name="직선 화살표 연결선 278"/>
            <p:cNvCxnSpPr/>
            <p:nvPr/>
          </p:nvCxnSpPr>
          <p:spPr>
            <a:xfrm rot="16200000" flipH="1">
              <a:off x="6626550" y="4058385"/>
              <a:ext cx="0" cy="295265"/>
            </a:xfrm>
            <a:prstGeom prst="straightConnector1">
              <a:avLst/>
            </a:prstGeom>
            <a:ln>
              <a:solidFill>
                <a:schemeClr val="tx2">
                  <a:lumMod val="40000"/>
                  <a:lumOff val="60000"/>
                </a:schemeClr>
              </a:solidFill>
              <a:tailEnd type="triangle"/>
            </a:ln>
          </p:spPr>
          <p:style>
            <a:lnRef idx="1">
              <a:schemeClr val="accent3"/>
            </a:lnRef>
            <a:fillRef idx="0">
              <a:schemeClr val="accent3"/>
            </a:fillRef>
            <a:effectRef idx="0">
              <a:schemeClr val="accent3"/>
            </a:effectRef>
            <a:fontRef idx="minor">
              <a:schemeClr val="tx1"/>
            </a:fontRef>
          </p:style>
        </p:cxnSp>
      </p:grpSp>
      <p:sp>
        <p:nvSpPr>
          <p:cNvPr id="280" name="모서리가 둥근 직사각형 279"/>
          <p:cNvSpPr/>
          <p:nvPr/>
        </p:nvSpPr>
        <p:spPr>
          <a:xfrm>
            <a:off x="3707192" y="5882267"/>
            <a:ext cx="1017515" cy="325786"/>
          </a:xfrm>
          <a:prstGeom prst="roundRect">
            <a:avLst/>
          </a:prstGeom>
          <a:noFill/>
          <a:ln w="3175" cap="flat" cmpd="sng" algn="ctr">
            <a:solidFill>
              <a:schemeClr val="bg1">
                <a:lumMod val="50000"/>
              </a:schemeClr>
            </a:solidFill>
            <a:prstDash val="solid"/>
          </a:ln>
          <a:effectLst/>
        </p:spPr>
        <p:txBody>
          <a:bodyPr vert="horz" wrap="square" lIns="0" tIns="0" rIns="0" bIns="0" rtlCol="0" anchor="ctr"/>
          <a:lstStyle/>
          <a:p>
            <a:pPr algn="ctr" latinLnBrk="0"/>
            <a:r>
              <a:rPr lang="en-US" altLang="ko-KR" sz="1000" b="1" kern="0" dirty="0" smtClean="0">
                <a:solidFill>
                  <a:schemeClr val="tx1">
                    <a:lumMod val="75000"/>
                    <a:lumOff val="25000"/>
                  </a:schemeClr>
                </a:solidFill>
                <a:latin typeface="+mn-ea"/>
              </a:rPr>
              <a:t>Hub Data </a:t>
            </a:r>
            <a:r>
              <a:rPr lang="en-US" altLang="ko-KR" sz="1000" b="1" kern="0" dirty="0">
                <a:solidFill>
                  <a:schemeClr val="tx1">
                    <a:lumMod val="75000"/>
                    <a:lumOff val="25000"/>
                  </a:schemeClr>
                </a:solidFill>
                <a:latin typeface="+mn-ea"/>
              </a:rPr>
              <a:t>Product</a:t>
            </a:r>
            <a:endParaRPr lang="ko-KR" altLang="en-US" sz="1000" b="1" kern="0" dirty="0" err="1">
              <a:solidFill>
                <a:schemeClr val="tx1">
                  <a:lumMod val="75000"/>
                  <a:lumOff val="25000"/>
                </a:schemeClr>
              </a:solidFill>
              <a:latin typeface="+mn-ea"/>
            </a:endParaRPr>
          </a:p>
        </p:txBody>
      </p:sp>
      <p:sp>
        <p:nvSpPr>
          <p:cNvPr id="281" name="타원 280"/>
          <p:cNvSpPr/>
          <p:nvPr/>
        </p:nvSpPr>
        <p:spPr>
          <a:xfrm>
            <a:off x="4655045" y="5994061"/>
            <a:ext cx="102200" cy="102198"/>
          </a:xfrm>
          <a:prstGeom prst="ellipse">
            <a:avLst/>
          </a:prstGeom>
          <a:solidFill>
            <a:schemeClr val="tx2">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sz="1200" b="1" dirty="0">
              <a:solidFill>
                <a:schemeClr val="tx1">
                  <a:lumMod val="75000"/>
                  <a:lumOff val="25000"/>
                </a:schemeClr>
              </a:solidFill>
            </a:endParaRPr>
          </a:p>
        </p:txBody>
      </p:sp>
      <p:cxnSp>
        <p:nvCxnSpPr>
          <p:cNvPr id="282" name="구부러진 연결선 281"/>
          <p:cNvCxnSpPr>
            <a:stCxn id="280" idx="3"/>
            <a:endCxn id="118" idx="1"/>
          </p:cNvCxnSpPr>
          <p:nvPr/>
        </p:nvCxnSpPr>
        <p:spPr>
          <a:xfrm flipV="1">
            <a:off x="4724707" y="4711555"/>
            <a:ext cx="277666" cy="1333605"/>
          </a:xfrm>
          <a:prstGeom prst="curvedConnector3">
            <a:avLst>
              <a:gd name="adj1" fmla="val 50000"/>
            </a:avLst>
          </a:prstGeom>
          <a:ln w="12700">
            <a:solidFill>
              <a:schemeClr val="tx2">
                <a:lumMod val="40000"/>
                <a:lumOff val="60000"/>
              </a:schemeClr>
            </a:solidFill>
            <a:tailEnd type="triangle"/>
          </a:ln>
        </p:spPr>
        <p:style>
          <a:lnRef idx="1">
            <a:schemeClr val="accent3"/>
          </a:lnRef>
          <a:fillRef idx="0">
            <a:schemeClr val="accent3"/>
          </a:fillRef>
          <a:effectRef idx="0">
            <a:schemeClr val="accent3"/>
          </a:effectRef>
          <a:fontRef idx="minor">
            <a:schemeClr val="tx1"/>
          </a:fontRef>
        </p:style>
      </p:cxnSp>
      <p:sp>
        <p:nvSpPr>
          <p:cNvPr id="283" name="TextBox 282"/>
          <p:cNvSpPr txBox="1"/>
          <p:nvPr/>
        </p:nvSpPr>
        <p:spPr>
          <a:xfrm>
            <a:off x="3701225" y="5414040"/>
            <a:ext cx="1029449" cy="430887"/>
          </a:xfrm>
          <a:prstGeom prst="rect">
            <a:avLst/>
          </a:prstGeom>
          <a:noFill/>
        </p:spPr>
        <p:txBody>
          <a:bodyPr wrap="none" rtlCol="0">
            <a:spAutoFit/>
          </a:bodyPr>
          <a:lstStyle/>
          <a:p>
            <a:pPr algn="ctr"/>
            <a:r>
              <a:rPr lang="en-US" altLang="ko-KR" sz="1200" b="1" dirty="0" smtClean="0">
                <a:solidFill>
                  <a:schemeClr val="tx1">
                    <a:lumMod val="75000"/>
                    <a:lumOff val="25000"/>
                  </a:schemeClr>
                </a:solidFill>
              </a:rPr>
              <a:t>Analysis</a:t>
            </a:r>
            <a:br>
              <a:rPr lang="en-US" altLang="ko-KR" sz="1200" b="1" dirty="0" smtClean="0">
                <a:solidFill>
                  <a:schemeClr val="tx1">
                    <a:lumMod val="75000"/>
                    <a:lumOff val="25000"/>
                  </a:schemeClr>
                </a:solidFill>
              </a:rPr>
            </a:br>
            <a:r>
              <a:rPr lang="en-US" altLang="ko-KR" sz="1000" dirty="0">
                <a:solidFill>
                  <a:schemeClr val="tx1">
                    <a:lumMod val="75000"/>
                    <a:lumOff val="25000"/>
                  </a:schemeClr>
                </a:solidFill>
              </a:rPr>
              <a:t>(Data Product)</a:t>
            </a:r>
            <a:endParaRPr lang="ko-KR" altLang="en-US" sz="1000" dirty="0">
              <a:solidFill>
                <a:schemeClr val="tx1">
                  <a:lumMod val="75000"/>
                  <a:lumOff val="25000"/>
                </a:schemeClr>
              </a:solidFill>
            </a:endParaRPr>
          </a:p>
        </p:txBody>
      </p:sp>
      <p:pic>
        <p:nvPicPr>
          <p:cNvPr id="4" name="그림 3"/>
          <p:cNvPicPr>
            <a:picLocks noChangeAspect="1"/>
          </p:cNvPicPr>
          <p:nvPr/>
        </p:nvPicPr>
        <p:blipFill rotWithShape="1">
          <a:blip r:embed="rId3"/>
          <a:srcRect r="66003"/>
          <a:stretch/>
        </p:blipFill>
        <p:spPr>
          <a:xfrm>
            <a:off x="8586220" y="2137382"/>
            <a:ext cx="3205805" cy="1123950"/>
          </a:xfrm>
          <a:prstGeom prst="rect">
            <a:avLst/>
          </a:prstGeom>
        </p:spPr>
      </p:pic>
      <p:pic>
        <p:nvPicPr>
          <p:cNvPr id="285" name="그림 284"/>
          <p:cNvPicPr>
            <a:picLocks noChangeAspect="1"/>
          </p:cNvPicPr>
          <p:nvPr/>
        </p:nvPicPr>
        <p:blipFill rotWithShape="1">
          <a:blip r:embed="rId3"/>
          <a:srcRect l="33309" r="33267"/>
          <a:stretch/>
        </p:blipFill>
        <p:spPr>
          <a:xfrm>
            <a:off x="8613241" y="3528725"/>
            <a:ext cx="3151763" cy="1123950"/>
          </a:xfrm>
          <a:prstGeom prst="rect">
            <a:avLst/>
          </a:prstGeom>
        </p:spPr>
      </p:pic>
      <p:pic>
        <p:nvPicPr>
          <p:cNvPr id="286" name="그림 285"/>
          <p:cNvPicPr>
            <a:picLocks noChangeAspect="1"/>
          </p:cNvPicPr>
          <p:nvPr/>
        </p:nvPicPr>
        <p:blipFill rotWithShape="1">
          <a:blip r:embed="rId3"/>
          <a:srcRect l="66346"/>
          <a:stretch/>
        </p:blipFill>
        <p:spPr>
          <a:xfrm>
            <a:off x="8602362" y="4886754"/>
            <a:ext cx="3173521" cy="1123950"/>
          </a:xfrm>
          <a:prstGeom prst="rect">
            <a:avLst/>
          </a:prstGeom>
        </p:spPr>
      </p:pic>
      <p:sp>
        <p:nvSpPr>
          <p:cNvPr id="287" name="Slide Number Placeholder 0"/>
          <p:cNvSpPr>
            <a:spLocks noGrp="1"/>
          </p:cNvSpPr>
          <p:nvPr>
            <p:ph type="sldNum" sz="quarter" idx="4294967295"/>
          </p:nvPr>
        </p:nvSpPr>
        <p:spPr>
          <a:xfrm>
            <a:off x="11183112" y="6419088"/>
            <a:ext cx="54864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6B6B6B"/>
                </a:solidFill>
                <a:latin typeface="Malgun Gothic"/>
                <a:ea typeface="Malgun Gothic"/>
                <a:cs typeface="Malgun Gothic"/>
              </a:defRPr>
            </a:lvl1pPr>
          </a:lstStyle>
          <a:p>
            <a:pPr algn="r"/>
            <a:fld id="{F7021451-1387-4CA6-816F-3879F97B5CBC}" type="slidenum">
              <a:rPr lang="en-US" b="0"/>
              <a:t>3</a:t>
            </a:fld>
            <a:endParaRPr lang="en-US"/>
          </a:p>
        </p:txBody>
      </p:sp>
    </p:spTree>
    <p:extLst>
      <p:ext uri="{BB962C8B-B14F-4D97-AF65-F5344CB8AC3E}">
        <p14:creationId xmlns:p14="http://schemas.microsoft.com/office/powerpoint/2010/main" val="9707543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11274552" cy="292608"/>
          </a:xfrm>
          <a:prstGeom prst="rect">
            <a:avLst/>
          </a:prstGeom>
          <a:noFill/>
          <a:ln/>
        </p:spPr>
        <p:txBody>
          <a:bodyPr wrap="square" lIns="0" tIns="0" rIns="0" bIns="0" rtlCol="0" anchor="ctr"/>
          <a:lstStyle/>
          <a:p>
            <a:pPr marL="0" indent="0">
              <a:buNone/>
            </a:pPr>
            <a:r>
              <a:rPr lang="ko-KR" altLang="en-US" smtClean="0"/>
              <a:t>업무설명 </a:t>
            </a:r>
            <a:r>
              <a:rPr lang="en-US" altLang="ko-KR" smtClean="0"/>
              <a:t>- </a:t>
            </a:r>
            <a:r>
              <a:rPr lang="en-US" sz="1100" smtClean="0">
                <a:solidFill>
                  <a:srgbClr val="6B6B6B"/>
                </a:solidFill>
              </a:rPr>
              <a:t>Text2SQL </a:t>
            </a:r>
            <a:r>
              <a:rPr lang="en-US" sz="1100">
                <a:solidFill>
                  <a:srgbClr val="6B6B6B"/>
                </a:solidFill>
              </a:rPr>
              <a:t>처리 </a:t>
            </a:r>
            <a:r>
              <a:rPr lang="en-US" sz="1100" smtClean="0">
                <a:solidFill>
                  <a:srgbClr val="6B6B6B"/>
                </a:solidFill>
              </a:rPr>
              <a:t>흐름 / </a:t>
            </a:r>
            <a:r>
              <a:rPr lang="ko-KR" altLang="en-US" sz="1100" smtClean="0">
                <a:solidFill>
                  <a:srgbClr val="6B6B6B"/>
                </a:solidFill>
              </a:rPr>
              <a:t>현재 문제 정의</a:t>
            </a:r>
            <a:endParaRPr lang="en-US" sz="1100" dirty="0"/>
          </a:p>
        </p:txBody>
      </p:sp>
      <p:sp>
        <p:nvSpPr>
          <p:cNvPr id="3" name="Text 0"/>
          <p:cNvSpPr>
            <a:spLocks noGrp="1"/>
          </p:cNvSpPr>
          <p:nvPr>
            <p:ph type="title" idx="101" hasCustomPrompt="1"/>
          </p:nvPr>
        </p:nvSpPr>
        <p:spPr>
          <a:xfrm>
            <a:off x="457200" y="512064"/>
            <a:ext cx="11274552" cy="768096"/>
          </a:xfrm>
          <a:prstGeom prst="rect">
            <a:avLst/>
          </a:prstGeom>
          <a:noFill/>
          <a:ln/>
        </p:spPr>
        <p:txBody>
          <a:bodyPr wrap="square" lIns="0" tIns="0" rIns="0" bIns="0" rtlCol="0" anchor="ctr"/>
          <a:lstStyle/>
          <a:p>
            <a:pPr marL="0" indent="0" algn="l">
              <a:buNone/>
            </a:pPr>
            <a:r>
              <a:rPr lang="en-US" sz="2100" b="1" dirty="0">
                <a:solidFill>
                  <a:schemeClr val="tx1"/>
                </a:solidFill>
                <a:latin typeface="Malgun Gothic" pitchFamily="34" charset="0"/>
                <a:ea typeface="Malgun Gothic" pitchFamily="34" charset="-122"/>
                <a:cs typeface="Malgun Gothic" pitchFamily="34" charset="-120"/>
              </a:rPr>
              <a:t>질문부터 결과 확인까지 단계를 나누고, 단계마다 참조할 메타데이터를 정의한다</a:t>
            </a:r>
            <a:endParaRPr lang="en-US" sz="2100" dirty="0"/>
          </a:p>
        </p:txBody>
      </p:sp>
      <p:sp>
        <p:nvSpPr>
          <p:cNvPr id="5" name="Shape 3"/>
          <p:cNvSpPr/>
          <p:nvPr/>
        </p:nvSpPr>
        <p:spPr>
          <a:xfrm>
            <a:off x="457200" y="1325880"/>
            <a:ext cx="11274552" cy="3246120"/>
          </a:xfrm>
          <a:prstGeom prst="roundRect">
            <a:avLst>
              <a:gd name="adj" fmla="val 2254"/>
            </a:avLst>
          </a:prstGeom>
          <a:solidFill>
            <a:srgbClr val="FFFFFF"/>
          </a:solidFill>
          <a:ln w="9525">
            <a:solidFill>
              <a:srgbClr val="D0D0D0"/>
            </a:solidFill>
            <a:prstDash val="solid"/>
          </a:ln>
        </p:spPr>
      </p:sp>
      <p:sp>
        <p:nvSpPr>
          <p:cNvPr id="6" name="Shape 4"/>
          <p:cNvSpPr/>
          <p:nvPr/>
        </p:nvSpPr>
        <p:spPr>
          <a:xfrm>
            <a:off x="555529" y="1396777"/>
            <a:ext cx="11077894" cy="3021244"/>
          </a:xfrm>
          <a:prstGeom prst="roundRect">
            <a:avLst>
              <a:gd name="adj" fmla="val 1250"/>
            </a:avLst>
          </a:prstGeom>
          <a:solidFill>
            <a:srgbClr val="FFFFFF">
              <a:alpha val="0"/>
            </a:srgbClr>
          </a:solidFill>
          <a:ln w="10071">
            <a:solidFill>
              <a:srgbClr val="D0D0D0"/>
            </a:solidFill>
            <a:prstDash val="solid"/>
          </a:ln>
        </p:spPr>
      </p:sp>
      <p:sp>
        <p:nvSpPr>
          <p:cNvPr id="7" name="Shape 5"/>
          <p:cNvSpPr/>
          <p:nvPr/>
        </p:nvSpPr>
        <p:spPr>
          <a:xfrm>
            <a:off x="555529" y="2152088"/>
            <a:ext cx="11077894" cy="0"/>
          </a:xfrm>
          <a:prstGeom prst="line">
            <a:avLst/>
          </a:prstGeom>
          <a:noFill/>
          <a:ln w="10071">
            <a:solidFill>
              <a:srgbClr val="D0D0D0"/>
            </a:solidFill>
            <a:prstDash val="solid"/>
          </a:ln>
        </p:spPr>
      </p:sp>
      <p:sp>
        <p:nvSpPr>
          <p:cNvPr id="8" name="Shape 6"/>
          <p:cNvSpPr/>
          <p:nvPr/>
        </p:nvSpPr>
        <p:spPr>
          <a:xfrm>
            <a:off x="555529" y="3159169"/>
            <a:ext cx="11077894" cy="0"/>
          </a:xfrm>
          <a:prstGeom prst="line">
            <a:avLst/>
          </a:prstGeom>
          <a:noFill/>
          <a:ln w="10071">
            <a:solidFill>
              <a:srgbClr val="D0D0D0"/>
            </a:solidFill>
            <a:prstDash val="solid"/>
          </a:ln>
        </p:spPr>
      </p:sp>
      <p:sp>
        <p:nvSpPr>
          <p:cNvPr id="9" name="Shape 7"/>
          <p:cNvSpPr/>
          <p:nvPr/>
        </p:nvSpPr>
        <p:spPr>
          <a:xfrm>
            <a:off x="1084247" y="1396777"/>
            <a:ext cx="0" cy="3021244"/>
          </a:xfrm>
          <a:prstGeom prst="line">
            <a:avLst/>
          </a:prstGeom>
          <a:noFill/>
          <a:ln w="10071">
            <a:solidFill>
              <a:srgbClr val="D0D0D0"/>
            </a:solidFill>
            <a:prstDash val="solid"/>
          </a:ln>
        </p:spPr>
      </p:sp>
      <p:sp>
        <p:nvSpPr>
          <p:cNvPr id="10" name="Shape 8"/>
          <p:cNvSpPr/>
          <p:nvPr/>
        </p:nvSpPr>
        <p:spPr>
          <a:xfrm>
            <a:off x="555529" y="1396777"/>
            <a:ext cx="528718" cy="3021244"/>
          </a:xfrm>
          <a:prstGeom prst="rect">
            <a:avLst/>
          </a:prstGeom>
          <a:solidFill>
            <a:srgbClr val="F2F2F2"/>
          </a:solidFill>
          <a:ln/>
        </p:spPr>
      </p:sp>
      <p:sp>
        <p:nvSpPr>
          <p:cNvPr id="11" name="Text 9"/>
          <p:cNvSpPr txBox="1"/>
          <p:nvPr/>
        </p:nvSpPr>
        <p:spPr>
          <a:xfrm>
            <a:off x="640558" y="1706140"/>
            <a:ext cx="358660" cy="136585"/>
          </a:xfrm>
          <a:prstGeom prst="rect">
            <a:avLst/>
          </a:prstGeom>
          <a:noFill/>
          <a:ln/>
        </p:spPr>
        <p:txBody>
          <a:bodyPr wrap="none" lIns="0" tIns="0" rIns="0" bIns="0" rtlCol="0" anchor="ctr"/>
          <a:lstStyle/>
          <a:p>
            <a:pPr marL="0" indent="0" algn="ctr">
              <a:buNone/>
            </a:pPr>
            <a:r>
              <a:rPr lang="en-US" sz="800" b="1" dirty="0">
                <a:solidFill>
                  <a:srgbClr val="595959"/>
                </a:solidFill>
                <a:latin typeface="Malgun Gothic" pitchFamily="34" charset="0"/>
                <a:ea typeface="Malgun Gothic" pitchFamily="34" charset="-122"/>
                <a:cs typeface="Malgun Gothic" pitchFamily="34" charset="-120"/>
              </a:rPr>
              <a:t>사용자</a:t>
            </a:r>
            <a:endParaRPr lang="en-US" sz="800" dirty="0"/>
          </a:p>
        </p:txBody>
      </p:sp>
      <p:sp>
        <p:nvSpPr>
          <p:cNvPr id="12" name="Text 10"/>
          <p:cNvSpPr txBox="1"/>
          <p:nvPr/>
        </p:nvSpPr>
        <p:spPr>
          <a:xfrm>
            <a:off x="561568" y="2530688"/>
            <a:ext cx="516640" cy="136585"/>
          </a:xfrm>
          <a:prstGeom prst="rect">
            <a:avLst/>
          </a:prstGeom>
          <a:noFill/>
          <a:ln/>
        </p:spPr>
        <p:txBody>
          <a:bodyPr wrap="none" lIns="0" tIns="0" rIns="0" bIns="0" rtlCol="0" anchor="ctr"/>
          <a:lstStyle/>
          <a:p>
            <a:pPr marL="0" indent="0" algn="ctr">
              <a:buNone/>
            </a:pPr>
            <a:r>
              <a:rPr lang="en-US" sz="800" b="1" dirty="0">
                <a:solidFill>
                  <a:srgbClr val="595959"/>
                </a:solidFill>
                <a:latin typeface="Malgun Gothic" pitchFamily="34" charset="0"/>
                <a:ea typeface="Malgun Gothic" pitchFamily="34" charset="-122"/>
                <a:cs typeface="Malgun Gothic" pitchFamily="34" charset="-120"/>
              </a:rPr>
              <a:t>Text2SQL</a:t>
            </a:r>
            <a:endParaRPr lang="en-US" sz="800" dirty="0"/>
          </a:p>
        </p:txBody>
      </p:sp>
      <p:sp>
        <p:nvSpPr>
          <p:cNvPr id="13" name="Text 11"/>
          <p:cNvSpPr txBox="1"/>
          <p:nvPr/>
        </p:nvSpPr>
        <p:spPr>
          <a:xfrm>
            <a:off x="688143" y="2643984"/>
            <a:ext cx="263490" cy="136585"/>
          </a:xfrm>
          <a:prstGeom prst="rect">
            <a:avLst/>
          </a:prstGeom>
          <a:noFill/>
          <a:ln/>
        </p:spPr>
        <p:txBody>
          <a:bodyPr wrap="none" lIns="0" tIns="0" rIns="0" bIns="0" rtlCol="0" anchor="ctr"/>
          <a:lstStyle/>
          <a:p>
            <a:pPr marL="0" indent="0" algn="ctr">
              <a:buNone/>
            </a:pPr>
            <a:r>
              <a:rPr lang="en-US" sz="690" b="1" dirty="0">
                <a:solidFill>
                  <a:srgbClr val="595959"/>
                </a:solidFill>
                <a:latin typeface="Malgun Gothic" pitchFamily="34" charset="0"/>
                <a:ea typeface="Malgun Gothic" pitchFamily="34" charset="-122"/>
                <a:cs typeface="Malgun Gothic" pitchFamily="34" charset="-120"/>
              </a:rPr>
              <a:t>엔진</a:t>
            </a:r>
            <a:endParaRPr lang="en-US" sz="690" dirty="0"/>
          </a:p>
        </p:txBody>
      </p:sp>
      <p:sp>
        <p:nvSpPr>
          <p:cNvPr id="14" name="Text 12"/>
          <p:cNvSpPr txBox="1"/>
          <p:nvPr/>
        </p:nvSpPr>
        <p:spPr>
          <a:xfrm>
            <a:off x="545389" y="3663654"/>
            <a:ext cx="548998" cy="136585"/>
          </a:xfrm>
          <a:prstGeom prst="rect">
            <a:avLst/>
          </a:prstGeom>
          <a:noFill/>
          <a:ln/>
        </p:spPr>
        <p:txBody>
          <a:bodyPr wrap="none" lIns="0" tIns="0" rIns="0" bIns="0" rtlCol="0" anchor="ctr"/>
          <a:lstStyle/>
          <a:p>
            <a:pPr marL="0" indent="0" algn="ctr">
              <a:buNone/>
            </a:pPr>
            <a:r>
              <a:rPr lang="en-US" sz="800" b="1" dirty="0">
                <a:solidFill>
                  <a:srgbClr val="595959"/>
                </a:solidFill>
                <a:latin typeface="Malgun Gothic" pitchFamily="34" charset="0"/>
                <a:ea typeface="Malgun Gothic" pitchFamily="34" charset="-122"/>
                <a:cs typeface="Malgun Gothic" pitchFamily="34" charset="-120"/>
              </a:rPr>
              <a:t>메타데이터</a:t>
            </a:r>
            <a:endParaRPr lang="en-US" sz="800" dirty="0"/>
          </a:p>
        </p:txBody>
      </p:sp>
      <p:sp>
        <p:nvSpPr>
          <p:cNvPr id="16" name="Shape 14"/>
          <p:cNvSpPr/>
          <p:nvPr/>
        </p:nvSpPr>
        <p:spPr>
          <a:xfrm>
            <a:off x="3274648" y="2429035"/>
            <a:ext cx="2996067" cy="453187"/>
          </a:xfrm>
          <a:prstGeom prst="roundRect">
            <a:avLst>
              <a:gd name="adj" fmla="val 13889"/>
            </a:avLst>
          </a:prstGeom>
          <a:solidFill>
            <a:srgbClr val="FFFFFF">
              <a:alpha val="0"/>
            </a:srgbClr>
          </a:solidFill>
          <a:ln w="22156">
            <a:solidFill>
              <a:srgbClr val="D9480F"/>
            </a:solidFill>
            <a:prstDash val="dash"/>
          </a:ln>
        </p:spPr>
      </p:sp>
      <p:sp>
        <p:nvSpPr>
          <p:cNvPr id="17" name="Text 15"/>
          <p:cNvSpPr txBox="1"/>
          <p:nvPr/>
        </p:nvSpPr>
        <p:spPr>
          <a:xfrm>
            <a:off x="4135180" y="2214558"/>
            <a:ext cx="1275003" cy="126829"/>
          </a:xfrm>
          <a:prstGeom prst="rect">
            <a:avLst/>
          </a:prstGeom>
          <a:noFill/>
          <a:ln/>
        </p:spPr>
        <p:txBody>
          <a:bodyPr wrap="none" lIns="0" tIns="0" rIns="0" bIns="0" rtlCol="0" anchor="ctr"/>
          <a:lstStyle/>
          <a:p>
            <a:pPr marL="0" indent="0" algn="ctr">
              <a:buNone/>
            </a:pPr>
            <a:r>
              <a:rPr lang="en-US" sz="900" b="1" dirty="0">
                <a:solidFill>
                  <a:srgbClr val="D9480F"/>
                </a:solidFill>
                <a:latin typeface="Malgun Gothic" pitchFamily="34" charset="0"/>
                <a:ea typeface="Malgun Gothic" pitchFamily="34" charset="-122"/>
                <a:cs typeface="Malgun Gothic" pitchFamily="34" charset="-120"/>
              </a:rPr>
              <a:t>핵심 병목: 대상 테이블 식별</a:t>
            </a:r>
            <a:endParaRPr lang="en-US" sz="900" dirty="0"/>
          </a:p>
        </p:txBody>
      </p:sp>
      <p:sp>
        <p:nvSpPr>
          <p:cNvPr id="18" name="Shape 16"/>
          <p:cNvSpPr/>
          <p:nvPr/>
        </p:nvSpPr>
        <p:spPr>
          <a:xfrm>
            <a:off x="1222720" y="1686313"/>
            <a:ext cx="176239" cy="176239"/>
          </a:xfrm>
          <a:prstGeom prst="ellipse">
            <a:avLst/>
          </a:prstGeom>
          <a:solidFill>
            <a:srgbClr val="FFFFFF"/>
          </a:solidFill>
          <a:ln w="14099">
            <a:solidFill>
              <a:srgbClr val="1A1A1A"/>
            </a:solidFill>
            <a:prstDash val="solid"/>
          </a:ln>
        </p:spPr>
      </p:sp>
      <p:sp>
        <p:nvSpPr>
          <p:cNvPr id="19" name="Text 17"/>
          <p:cNvSpPr txBox="1"/>
          <p:nvPr/>
        </p:nvSpPr>
        <p:spPr>
          <a:xfrm>
            <a:off x="1082226" y="1927462"/>
            <a:ext cx="457228" cy="121951"/>
          </a:xfrm>
          <a:prstGeom prst="rect">
            <a:avLst/>
          </a:prstGeom>
          <a:noFill/>
          <a:ln/>
        </p:spPr>
        <p:txBody>
          <a:bodyPr wrap="none" lIns="0" tIns="0" rIns="0" bIns="0" rtlCol="0" anchor="ctr"/>
          <a:lstStyle/>
          <a:p>
            <a:pPr marL="0" indent="0" algn="ctr">
              <a:buNone/>
            </a:pPr>
            <a:r>
              <a:rPr lang="en-US" sz="620" dirty="0">
                <a:solidFill>
                  <a:srgbClr val="6B6B6B"/>
                </a:solidFill>
                <a:latin typeface="Malgun Gothic" pitchFamily="34" charset="0"/>
                <a:ea typeface="Malgun Gothic" pitchFamily="34" charset="-122"/>
                <a:cs typeface="Malgun Gothic" pitchFamily="34" charset="-120"/>
              </a:rPr>
              <a:t>질문 입력</a:t>
            </a:r>
            <a:endParaRPr lang="en-US" sz="620" dirty="0"/>
          </a:p>
        </p:txBody>
      </p:sp>
      <p:sp>
        <p:nvSpPr>
          <p:cNvPr id="20" name="Shape 18"/>
          <p:cNvSpPr/>
          <p:nvPr/>
        </p:nvSpPr>
        <p:spPr>
          <a:xfrm>
            <a:off x="1310840" y="1862552"/>
            <a:ext cx="0" cy="793076"/>
          </a:xfrm>
          <a:prstGeom prst="line">
            <a:avLst/>
          </a:prstGeom>
          <a:noFill/>
          <a:ln w="14099">
            <a:solidFill>
              <a:srgbClr val="4D4D4D"/>
            </a:solidFill>
            <a:prstDash val="solid"/>
          </a:ln>
        </p:spPr>
      </p:sp>
      <p:sp>
        <p:nvSpPr>
          <p:cNvPr id="21" name="Shape 19"/>
          <p:cNvSpPr/>
          <p:nvPr/>
        </p:nvSpPr>
        <p:spPr>
          <a:xfrm>
            <a:off x="1310840" y="2655629"/>
            <a:ext cx="226593" cy="0"/>
          </a:xfrm>
          <a:prstGeom prst="line">
            <a:avLst/>
          </a:prstGeom>
          <a:noFill/>
          <a:ln w="14099">
            <a:solidFill>
              <a:srgbClr val="4D4D4D"/>
            </a:solidFill>
            <a:prstDash val="solid"/>
            <a:tailEnd type="triangle"/>
          </a:ln>
        </p:spPr>
      </p:sp>
      <p:sp>
        <p:nvSpPr>
          <p:cNvPr id="22" name="Shape 20"/>
          <p:cNvSpPr/>
          <p:nvPr/>
        </p:nvSpPr>
        <p:spPr>
          <a:xfrm>
            <a:off x="1562610" y="2498272"/>
            <a:ext cx="881196" cy="314713"/>
          </a:xfrm>
          <a:prstGeom prst="roundRect">
            <a:avLst>
              <a:gd name="adj" fmla="val 12000"/>
            </a:avLst>
          </a:prstGeom>
          <a:solidFill>
            <a:srgbClr val="FFFFFF"/>
          </a:solidFill>
          <a:ln w="10071">
            <a:solidFill>
              <a:srgbClr val="3A3A3A"/>
            </a:solidFill>
            <a:prstDash val="solid"/>
          </a:ln>
        </p:spPr>
      </p:sp>
      <p:sp>
        <p:nvSpPr>
          <p:cNvPr id="23" name="Text 21"/>
          <p:cNvSpPr txBox="1"/>
          <p:nvPr/>
        </p:nvSpPr>
        <p:spPr>
          <a:xfrm>
            <a:off x="1736187" y="2582458"/>
            <a:ext cx="534043" cy="146341"/>
          </a:xfrm>
          <a:prstGeom prst="rect">
            <a:avLst/>
          </a:prstGeom>
          <a:noFill/>
          <a:ln/>
        </p:spPr>
        <p:txBody>
          <a:bodyPr wrap="none" lIns="0" tIns="0" rIns="0" bIns="0" rtlCol="0" anchor="ctr"/>
          <a:lstStyle/>
          <a:p>
            <a:pPr marL="0" indent="0" algn="ctr">
              <a:buNone/>
            </a:pPr>
            <a:r>
              <a:rPr lang="en-US" sz="740" b="1" dirty="0">
                <a:solidFill>
                  <a:srgbClr val="1A1A1A"/>
                </a:solidFill>
                <a:latin typeface="Malgun Gothic" pitchFamily="34" charset="0"/>
                <a:ea typeface="Malgun Gothic" pitchFamily="34" charset="-122"/>
                <a:cs typeface="Malgun Gothic" pitchFamily="34" charset="-120"/>
              </a:rPr>
              <a:t>의도 분석</a:t>
            </a:r>
            <a:endParaRPr lang="en-US" sz="740" dirty="0"/>
          </a:p>
        </p:txBody>
      </p:sp>
      <p:sp>
        <p:nvSpPr>
          <p:cNvPr id="24" name="Shape 22"/>
          <p:cNvSpPr/>
          <p:nvPr/>
        </p:nvSpPr>
        <p:spPr>
          <a:xfrm>
            <a:off x="2443806" y="2655629"/>
            <a:ext cx="302124" cy="0"/>
          </a:xfrm>
          <a:prstGeom prst="line">
            <a:avLst/>
          </a:prstGeom>
          <a:noFill/>
          <a:ln w="14099">
            <a:solidFill>
              <a:srgbClr val="4D4D4D"/>
            </a:solidFill>
            <a:prstDash val="solid"/>
            <a:tailEnd type="triangle"/>
          </a:ln>
        </p:spPr>
      </p:sp>
      <p:sp>
        <p:nvSpPr>
          <p:cNvPr id="25" name="Shape 23"/>
          <p:cNvSpPr/>
          <p:nvPr/>
        </p:nvSpPr>
        <p:spPr>
          <a:xfrm>
            <a:off x="2758519" y="2529743"/>
            <a:ext cx="251770" cy="251770"/>
          </a:xfrm>
          <a:prstGeom prst="diamond">
            <a:avLst/>
          </a:prstGeom>
          <a:solidFill>
            <a:srgbClr val="FFFFFF"/>
          </a:solidFill>
          <a:ln w="12085">
            <a:solidFill>
              <a:srgbClr val="1A1A1A"/>
            </a:solidFill>
            <a:prstDash val="solid"/>
          </a:ln>
        </p:spPr>
      </p:sp>
      <p:sp>
        <p:nvSpPr>
          <p:cNvPr id="26" name="Shape 24"/>
          <p:cNvSpPr/>
          <p:nvPr/>
        </p:nvSpPr>
        <p:spPr>
          <a:xfrm>
            <a:off x="2840345" y="2611569"/>
            <a:ext cx="88120" cy="88120"/>
          </a:xfrm>
          <a:prstGeom prst="line">
            <a:avLst/>
          </a:prstGeom>
          <a:noFill/>
          <a:ln w="14099">
            <a:solidFill>
              <a:srgbClr val="1A1A1A"/>
            </a:solidFill>
            <a:prstDash val="solid"/>
          </a:ln>
        </p:spPr>
      </p:sp>
      <p:sp>
        <p:nvSpPr>
          <p:cNvPr id="27" name="Shape 25"/>
          <p:cNvSpPr/>
          <p:nvPr/>
        </p:nvSpPr>
        <p:spPr>
          <a:xfrm flipH="1">
            <a:off x="2840345" y="2611569"/>
            <a:ext cx="88120" cy="88120"/>
          </a:xfrm>
          <a:prstGeom prst="line">
            <a:avLst/>
          </a:prstGeom>
          <a:noFill/>
          <a:ln w="14099">
            <a:solidFill>
              <a:srgbClr val="1A1A1A"/>
            </a:solidFill>
            <a:prstDash val="solid"/>
          </a:ln>
        </p:spPr>
      </p:sp>
      <p:sp>
        <p:nvSpPr>
          <p:cNvPr id="28" name="Shape 26"/>
          <p:cNvSpPr/>
          <p:nvPr/>
        </p:nvSpPr>
        <p:spPr>
          <a:xfrm flipV="1">
            <a:off x="2884404" y="1944377"/>
            <a:ext cx="0" cy="585366"/>
          </a:xfrm>
          <a:prstGeom prst="line">
            <a:avLst/>
          </a:prstGeom>
          <a:noFill/>
          <a:ln w="14099">
            <a:solidFill>
              <a:srgbClr val="4D4D4D"/>
            </a:solidFill>
            <a:prstDash val="solid"/>
            <a:tailEnd type="triangle"/>
          </a:ln>
        </p:spPr>
      </p:sp>
      <p:sp>
        <p:nvSpPr>
          <p:cNvPr id="29" name="Text 27"/>
          <p:cNvSpPr txBox="1"/>
          <p:nvPr/>
        </p:nvSpPr>
        <p:spPr>
          <a:xfrm>
            <a:off x="2934759" y="2214558"/>
            <a:ext cx="249895" cy="126829"/>
          </a:xfrm>
          <a:prstGeom prst="rect">
            <a:avLst/>
          </a:prstGeom>
          <a:noFill/>
          <a:ln/>
        </p:spPr>
        <p:txBody>
          <a:bodyPr wrap="none" lIns="0" tIns="0" rIns="0" bIns="0" rtlCol="0" anchor="ctr"/>
          <a:lstStyle/>
          <a:p>
            <a:pPr marL="0" indent="0" algn="l">
              <a:buNone/>
            </a:pPr>
            <a:r>
              <a:rPr lang="en-US" sz="640" dirty="0">
                <a:solidFill>
                  <a:srgbClr val="6B6B6B"/>
                </a:solidFill>
                <a:latin typeface="Malgun Gothic" pitchFamily="34" charset="0"/>
                <a:ea typeface="Malgun Gothic" pitchFamily="34" charset="-122"/>
                <a:cs typeface="Malgun Gothic" pitchFamily="34" charset="-120"/>
              </a:rPr>
              <a:t>모호</a:t>
            </a:r>
            <a:endParaRPr lang="en-US" sz="640" dirty="0"/>
          </a:p>
        </p:txBody>
      </p:sp>
      <p:sp>
        <p:nvSpPr>
          <p:cNvPr id="30" name="Shape 28"/>
          <p:cNvSpPr/>
          <p:nvPr/>
        </p:nvSpPr>
        <p:spPr>
          <a:xfrm>
            <a:off x="2443806" y="1617076"/>
            <a:ext cx="881196" cy="314713"/>
          </a:xfrm>
          <a:prstGeom prst="roundRect">
            <a:avLst>
              <a:gd name="adj" fmla="val 12000"/>
            </a:avLst>
          </a:prstGeom>
          <a:solidFill>
            <a:srgbClr val="D9D9D9"/>
          </a:solidFill>
          <a:ln w="10071">
            <a:solidFill>
              <a:srgbClr val="7F7F7F"/>
            </a:solidFill>
            <a:prstDash val="solid"/>
          </a:ln>
        </p:spPr>
      </p:sp>
      <p:sp>
        <p:nvSpPr>
          <p:cNvPr id="31" name="Text 29"/>
          <p:cNvSpPr txBox="1"/>
          <p:nvPr/>
        </p:nvSpPr>
        <p:spPr>
          <a:xfrm>
            <a:off x="2566400" y="1701262"/>
            <a:ext cx="636010" cy="146341"/>
          </a:xfrm>
          <a:prstGeom prst="rect">
            <a:avLst/>
          </a:prstGeom>
          <a:noFill/>
          <a:ln/>
        </p:spPr>
        <p:txBody>
          <a:bodyPr wrap="none" lIns="0" tIns="0" rIns="0" bIns="0" rtlCol="0" anchor="ctr"/>
          <a:lstStyle/>
          <a:p>
            <a:pPr marL="0" indent="0" algn="ctr">
              <a:buNone/>
            </a:pPr>
            <a:r>
              <a:rPr lang="en-US" sz="740" b="1" dirty="0">
                <a:solidFill>
                  <a:srgbClr val="262626"/>
                </a:solidFill>
                <a:latin typeface="Malgun Gothic" pitchFamily="34" charset="0"/>
                <a:ea typeface="Malgun Gothic" pitchFamily="34" charset="-122"/>
                <a:cs typeface="Malgun Gothic" pitchFamily="34" charset="-120"/>
              </a:rPr>
              <a:t>명확화 답변</a:t>
            </a:r>
            <a:endParaRPr lang="en-US" sz="740" dirty="0"/>
          </a:p>
        </p:txBody>
      </p:sp>
      <p:sp>
        <p:nvSpPr>
          <p:cNvPr id="32" name="Shape 30"/>
          <p:cNvSpPr/>
          <p:nvPr/>
        </p:nvSpPr>
        <p:spPr>
          <a:xfrm flipH="1">
            <a:off x="2003208" y="1774433"/>
            <a:ext cx="440598" cy="0"/>
          </a:xfrm>
          <a:prstGeom prst="line">
            <a:avLst/>
          </a:prstGeom>
          <a:noFill/>
          <a:ln w="14099">
            <a:solidFill>
              <a:srgbClr val="4D4D4D"/>
            </a:solidFill>
            <a:prstDash val="solid"/>
          </a:ln>
        </p:spPr>
      </p:sp>
      <p:sp>
        <p:nvSpPr>
          <p:cNvPr id="33" name="Shape 31"/>
          <p:cNvSpPr/>
          <p:nvPr/>
        </p:nvSpPr>
        <p:spPr>
          <a:xfrm>
            <a:off x="2003208" y="1774433"/>
            <a:ext cx="0" cy="698663"/>
          </a:xfrm>
          <a:prstGeom prst="line">
            <a:avLst/>
          </a:prstGeom>
          <a:noFill/>
          <a:ln w="14099">
            <a:solidFill>
              <a:srgbClr val="4D4D4D"/>
            </a:solidFill>
            <a:prstDash val="solid"/>
            <a:tailEnd type="triangle"/>
          </a:ln>
        </p:spPr>
      </p:sp>
      <p:sp>
        <p:nvSpPr>
          <p:cNvPr id="34" name="Shape 32"/>
          <p:cNvSpPr/>
          <p:nvPr/>
        </p:nvSpPr>
        <p:spPr>
          <a:xfrm>
            <a:off x="3010290" y="2655629"/>
            <a:ext cx="289536" cy="0"/>
          </a:xfrm>
          <a:prstGeom prst="line">
            <a:avLst/>
          </a:prstGeom>
          <a:noFill/>
          <a:ln w="14099">
            <a:solidFill>
              <a:srgbClr val="4D4D4D"/>
            </a:solidFill>
            <a:prstDash val="solid"/>
            <a:tailEnd type="triangle"/>
          </a:ln>
        </p:spPr>
      </p:sp>
      <p:sp>
        <p:nvSpPr>
          <p:cNvPr id="35" name="Text 33"/>
          <p:cNvSpPr txBox="1"/>
          <p:nvPr/>
        </p:nvSpPr>
        <p:spPr>
          <a:xfrm>
            <a:off x="3048055" y="2529271"/>
            <a:ext cx="249895" cy="126829"/>
          </a:xfrm>
          <a:prstGeom prst="rect">
            <a:avLst/>
          </a:prstGeom>
          <a:noFill/>
          <a:ln/>
        </p:spPr>
        <p:txBody>
          <a:bodyPr wrap="none" lIns="0" tIns="0" rIns="0" bIns="0" rtlCol="0" anchor="ctr"/>
          <a:lstStyle/>
          <a:p>
            <a:pPr marL="0" indent="0" algn="l">
              <a:buNone/>
            </a:pPr>
            <a:r>
              <a:rPr lang="en-US" sz="640" dirty="0">
                <a:solidFill>
                  <a:srgbClr val="6B6B6B"/>
                </a:solidFill>
                <a:latin typeface="Malgun Gothic" pitchFamily="34" charset="0"/>
                <a:ea typeface="Malgun Gothic" pitchFamily="34" charset="-122"/>
                <a:cs typeface="Malgun Gothic" pitchFamily="34" charset="-120"/>
              </a:rPr>
              <a:t>명확</a:t>
            </a:r>
            <a:endParaRPr lang="en-US" sz="640" dirty="0"/>
          </a:p>
        </p:txBody>
      </p:sp>
      <p:sp>
        <p:nvSpPr>
          <p:cNvPr id="36" name="Shape 34"/>
          <p:cNvSpPr/>
          <p:nvPr/>
        </p:nvSpPr>
        <p:spPr>
          <a:xfrm>
            <a:off x="3325003" y="2498272"/>
            <a:ext cx="881196" cy="314713"/>
          </a:xfrm>
          <a:prstGeom prst="roundRect">
            <a:avLst>
              <a:gd name="adj" fmla="val 12000"/>
            </a:avLst>
          </a:prstGeom>
          <a:solidFill>
            <a:srgbClr val="FFFFFF"/>
          </a:solidFill>
          <a:ln w="10071">
            <a:solidFill>
              <a:srgbClr val="3A3A3A"/>
            </a:solidFill>
            <a:prstDash val="solid"/>
          </a:ln>
        </p:spPr>
      </p:sp>
      <p:sp>
        <p:nvSpPr>
          <p:cNvPr id="37" name="Text 35"/>
          <p:cNvSpPr txBox="1"/>
          <p:nvPr/>
        </p:nvSpPr>
        <p:spPr>
          <a:xfrm>
            <a:off x="3447596" y="2582458"/>
            <a:ext cx="636010" cy="146341"/>
          </a:xfrm>
          <a:prstGeom prst="rect">
            <a:avLst/>
          </a:prstGeom>
          <a:noFill/>
          <a:ln/>
        </p:spPr>
        <p:txBody>
          <a:bodyPr wrap="none" lIns="0" tIns="0" rIns="0" bIns="0" rtlCol="0" anchor="ctr"/>
          <a:lstStyle/>
          <a:p>
            <a:pPr marL="0" indent="0" algn="ctr">
              <a:buNone/>
            </a:pPr>
            <a:r>
              <a:rPr lang="en-US" sz="740" b="1" dirty="0">
                <a:solidFill>
                  <a:srgbClr val="1A1A1A"/>
                </a:solidFill>
                <a:latin typeface="Malgun Gothic" pitchFamily="34" charset="0"/>
                <a:ea typeface="Malgun Gothic" pitchFamily="34" charset="-122"/>
                <a:cs typeface="Malgun Gothic" pitchFamily="34" charset="-120"/>
              </a:rPr>
              <a:t>엔티티 추출</a:t>
            </a:r>
            <a:endParaRPr lang="en-US" sz="740" dirty="0"/>
          </a:p>
        </p:txBody>
      </p:sp>
      <p:sp>
        <p:nvSpPr>
          <p:cNvPr id="38" name="Shape 36"/>
          <p:cNvSpPr/>
          <p:nvPr/>
        </p:nvSpPr>
        <p:spPr>
          <a:xfrm>
            <a:off x="4206199" y="2655629"/>
            <a:ext cx="100708" cy="0"/>
          </a:xfrm>
          <a:prstGeom prst="line">
            <a:avLst/>
          </a:prstGeom>
          <a:noFill/>
          <a:ln w="14099">
            <a:solidFill>
              <a:srgbClr val="4D4D4D"/>
            </a:solidFill>
            <a:prstDash val="solid"/>
            <a:tailEnd type="triangle"/>
          </a:ln>
        </p:spPr>
      </p:sp>
      <p:sp>
        <p:nvSpPr>
          <p:cNvPr id="39" name="Shape 37"/>
          <p:cNvSpPr/>
          <p:nvPr/>
        </p:nvSpPr>
        <p:spPr>
          <a:xfrm>
            <a:off x="4332084" y="2498272"/>
            <a:ext cx="881196" cy="314713"/>
          </a:xfrm>
          <a:prstGeom prst="roundRect">
            <a:avLst>
              <a:gd name="adj" fmla="val 12000"/>
            </a:avLst>
          </a:prstGeom>
          <a:solidFill>
            <a:srgbClr val="FFFFFF"/>
          </a:solidFill>
          <a:ln w="10071">
            <a:solidFill>
              <a:srgbClr val="3A3A3A"/>
            </a:solidFill>
            <a:prstDash val="solid"/>
          </a:ln>
        </p:spPr>
      </p:sp>
      <p:sp>
        <p:nvSpPr>
          <p:cNvPr id="40" name="Text 38"/>
          <p:cNvSpPr txBox="1"/>
          <p:nvPr/>
        </p:nvSpPr>
        <p:spPr>
          <a:xfrm>
            <a:off x="4403693" y="2582458"/>
            <a:ext cx="737977" cy="146341"/>
          </a:xfrm>
          <a:prstGeom prst="rect">
            <a:avLst/>
          </a:prstGeom>
          <a:noFill/>
          <a:ln/>
        </p:spPr>
        <p:txBody>
          <a:bodyPr wrap="none" lIns="0" tIns="0" rIns="0" bIns="0" rtlCol="0" anchor="ctr"/>
          <a:lstStyle/>
          <a:p>
            <a:pPr marL="0" indent="0" algn="ctr">
              <a:buNone/>
            </a:pPr>
            <a:r>
              <a:rPr lang="en-US" sz="740" b="1" dirty="0">
                <a:solidFill>
                  <a:srgbClr val="1A1A1A"/>
                </a:solidFill>
                <a:latin typeface="Malgun Gothic" pitchFamily="34" charset="0"/>
                <a:ea typeface="Malgun Gothic" pitchFamily="34" charset="-122"/>
                <a:cs typeface="Malgun Gothic" pitchFamily="34" charset="-120"/>
              </a:rPr>
              <a:t>온톨로지 매핑</a:t>
            </a:r>
            <a:endParaRPr lang="en-US" sz="740" dirty="0"/>
          </a:p>
        </p:txBody>
      </p:sp>
      <p:sp>
        <p:nvSpPr>
          <p:cNvPr id="41" name="Shape 39"/>
          <p:cNvSpPr/>
          <p:nvPr/>
        </p:nvSpPr>
        <p:spPr>
          <a:xfrm>
            <a:off x="5213280" y="2655629"/>
            <a:ext cx="100708" cy="0"/>
          </a:xfrm>
          <a:prstGeom prst="line">
            <a:avLst/>
          </a:prstGeom>
          <a:noFill/>
          <a:ln w="14099">
            <a:solidFill>
              <a:srgbClr val="4D4D4D"/>
            </a:solidFill>
            <a:prstDash val="solid"/>
            <a:tailEnd type="triangle"/>
          </a:ln>
        </p:spPr>
      </p:sp>
      <p:sp>
        <p:nvSpPr>
          <p:cNvPr id="42" name="Shape 40"/>
          <p:cNvSpPr/>
          <p:nvPr/>
        </p:nvSpPr>
        <p:spPr>
          <a:xfrm>
            <a:off x="5339165" y="2498272"/>
            <a:ext cx="881196" cy="314713"/>
          </a:xfrm>
          <a:prstGeom prst="roundRect">
            <a:avLst>
              <a:gd name="adj" fmla="val 12000"/>
            </a:avLst>
          </a:prstGeom>
          <a:solidFill>
            <a:srgbClr val="FFFFFF"/>
          </a:solidFill>
          <a:ln w="10071">
            <a:solidFill>
              <a:srgbClr val="3A3A3A"/>
            </a:solidFill>
            <a:prstDash val="solid"/>
          </a:ln>
        </p:spPr>
      </p:sp>
      <p:sp>
        <p:nvSpPr>
          <p:cNvPr id="43" name="Text 41"/>
          <p:cNvSpPr txBox="1"/>
          <p:nvPr/>
        </p:nvSpPr>
        <p:spPr>
          <a:xfrm>
            <a:off x="5333280" y="2582458"/>
            <a:ext cx="892967" cy="146341"/>
          </a:xfrm>
          <a:prstGeom prst="rect">
            <a:avLst/>
          </a:prstGeom>
          <a:noFill/>
          <a:ln/>
        </p:spPr>
        <p:txBody>
          <a:bodyPr wrap="none" lIns="0" tIns="0" rIns="0" bIns="0" rtlCol="0" anchor="ctr"/>
          <a:lstStyle/>
          <a:p>
            <a:pPr marL="0" indent="0" algn="ctr">
              <a:buNone/>
            </a:pPr>
            <a:r>
              <a:rPr lang="en-US" sz="740" b="1" dirty="0">
                <a:solidFill>
                  <a:srgbClr val="1A1A1A"/>
                </a:solidFill>
                <a:latin typeface="Malgun Gothic" pitchFamily="34" charset="0"/>
                <a:ea typeface="Malgun Gothic" pitchFamily="34" charset="-122"/>
                <a:cs typeface="Malgun Gothic" pitchFamily="34" charset="-120"/>
              </a:rPr>
              <a:t>테이블·컬럼 선정</a:t>
            </a:r>
            <a:endParaRPr lang="en-US" sz="740" dirty="0"/>
          </a:p>
        </p:txBody>
      </p:sp>
      <p:sp>
        <p:nvSpPr>
          <p:cNvPr id="44" name="Shape 42"/>
          <p:cNvSpPr/>
          <p:nvPr/>
        </p:nvSpPr>
        <p:spPr>
          <a:xfrm>
            <a:off x="6220361" y="2655629"/>
            <a:ext cx="100708" cy="0"/>
          </a:xfrm>
          <a:prstGeom prst="line">
            <a:avLst/>
          </a:prstGeom>
          <a:noFill/>
          <a:ln w="14099">
            <a:solidFill>
              <a:srgbClr val="4D4D4D"/>
            </a:solidFill>
            <a:prstDash val="solid"/>
            <a:tailEnd type="triangle"/>
          </a:ln>
        </p:spPr>
      </p:sp>
      <p:sp>
        <p:nvSpPr>
          <p:cNvPr id="45" name="Shape 43"/>
          <p:cNvSpPr/>
          <p:nvPr/>
        </p:nvSpPr>
        <p:spPr>
          <a:xfrm>
            <a:off x="6346246" y="2498272"/>
            <a:ext cx="881196" cy="314713"/>
          </a:xfrm>
          <a:prstGeom prst="roundRect">
            <a:avLst>
              <a:gd name="adj" fmla="val 12000"/>
            </a:avLst>
          </a:prstGeom>
          <a:solidFill>
            <a:srgbClr val="FFFFFF"/>
          </a:solidFill>
          <a:ln w="10071">
            <a:solidFill>
              <a:srgbClr val="3A3A3A"/>
            </a:solidFill>
            <a:prstDash val="solid"/>
          </a:ln>
        </p:spPr>
      </p:sp>
      <p:sp>
        <p:nvSpPr>
          <p:cNvPr id="46" name="Text 44"/>
          <p:cNvSpPr txBox="1"/>
          <p:nvPr/>
        </p:nvSpPr>
        <p:spPr>
          <a:xfrm>
            <a:off x="6526961" y="2582458"/>
            <a:ext cx="519767" cy="146341"/>
          </a:xfrm>
          <a:prstGeom prst="rect">
            <a:avLst/>
          </a:prstGeom>
          <a:noFill/>
          <a:ln/>
        </p:spPr>
        <p:txBody>
          <a:bodyPr wrap="none" lIns="0" tIns="0" rIns="0" bIns="0" rtlCol="0" anchor="ctr"/>
          <a:lstStyle/>
          <a:p>
            <a:pPr marL="0" indent="0" algn="ctr">
              <a:buNone/>
            </a:pPr>
            <a:r>
              <a:rPr lang="en-US" sz="740" b="1" dirty="0">
                <a:solidFill>
                  <a:srgbClr val="1A1A1A"/>
                </a:solidFill>
                <a:latin typeface="Malgun Gothic" pitchFamily="34" charset="0"/>
                <a:ea typeface="Malgun Gothic" pitchFamily="34" charset="-122"/>
                <a:cs typeface="Malgun Gothic" pitchFamily="34" charset="-120"/>
              </a:rPr>
              <a:t>SQL 생성</a:t>
            </a:r>
            <a:endParaRPr lang="en-US" sz="740" dirty="0"/>
          </a:p>
        </p:txBody>
      </p:sp>
      <p:sp>
        <p:nvSpPr>
          <p:cNvPr id="47" name="Shape 45"/>
          <p:cNvSpPr/>
          <p:nvPr/>
        </p:nvSpPr>
        <p:spPr>
          <a:xfrm>
            <a:off x="7227442" y="2655629"/>
            <a:ext cx="100708" cy="0"/>
          </a:xfrm>
          <a:prstGeom prst="line">
            <a:avLst/>
          </a:prstGeom>
          <a:noFill/>
          <a:ln w="14099">
            <a:solidFill>
              <a:srgbClr val="4D4D4D"/>
            </a:solidFill>
            <a:prstDash val="solid"/>
            <a:tailEnd type="triangle"/>
          </a:ln>
        </p:spPr>
      </p:sp>
      <p:sp>
        <p:nvSpPr>
          <p:cNvPr id="48" name="Shape 46"/>
          <p:cNvSpPr/>
          <p:nvPr/>
        </p:nvSpPr>
        <p:spPr>
          <a:xfrm>
            <a:off x="7353328" y="2498272"/>
            <a:ext cx="881196" cy="314713"/>
          </a:xfrm>
          <a:prstGeom prst="roundRect">
            <a:avLst>
              <a:gd name="adj" fmla="val 12000"/>
            </a:avLst>
          </a:prstGeom>
          <a:solidFill>
            <a:srgbClr val="FFFFFF"/>
          </a:solidFill>
          <a:ln w="10071">
            <a:solidFill>
              <a:srgbClr val="3A3A3A"/>
            </a:solidFill>
            <a:prstDash val="solid"/>
          </a:ln>
        </p:spPr>
      </p:sp>
      <p:sp>
        <p:nvSpPr>
          <p:cNvPr id="49" name="Text 47"/>
          <p:cNvSpPr txBox="1"/>
          <p:nvPr/>
        </p:nvSpPr>
        <p:spPr>
          <a:xfrm>
            <a:off x="7534042" y="2582458"/>
            <a:ext cx="519767" cy="146341"/>
          </a:xfrm>
          <a:prstGeom prst="rect">
            <a:avLst/>
          </a:prstGeom>
          <a:noFill/>
          <a:ln/>
        </p:spPr>
        <p:txBody>
          <a:bodyPr wrap="none" lIns="0" tIns="0" rIns="0" bIns="0" rtlCol="0" anchor="ctr"/>
          <a:lstStyle/>
          <a:p>
            <a:pPr marL="0" indent="0" algn="ctr">
              <a:buNone/>
            </a:pPr>
            <a:r>
              <a:rPr lang="en-US" sz="740" b="1" dirty="0">
                <a:solidFill>
                  <a:srgbClr val="1A1A1A"/>
                </a:solidFill>
                <a:latin typeface="Malgun Gothic" pitchFamily="34" charset="0"/>
                <a:ea typeface="Malgun Gothic" pitchFamily="34" charset="-122"/>
                <a:cs typeface="Malgun Gothic" pitchFamily="34" charset="-120"/>
              </a:rPr>
              <a:t>SQL 검증</a:t>
            </a:r>
            <a:endParaRPr lang="en-US" sz="740" dirty="0"/>
          </a:p>
        </p:txBody>
      </p:sp>
      <p:sp>
        <p:nvSpPr>
          <p:cNvPr id="50" name="Shape 48"/>
          <p:cNvSpPr/>
          <p:nvPr/>
        </p:nvSpPr>
        <p:spPr>
          <a:xfrm>
            <a:off x="8234524" y="2655629"/>
            <a:ext cx="302124" cy="0"/>
          </a:xfrm>
          <a:prstGeom prst="line">
            <a:avLst/>
          </a:prstGeom>
          <a:noFill/>
          <a:ln w="14099">
            <a:solidFill>
              <a:srgbClr val="4D4D4D"/>
            </a:solidFill>
            <a:prstDash val="solid"/>
            <a:tailEnd type="triangle"/>
          </a:ln>
        </p:spPr>
      </p:sp>
      <p:sp>
        <p:nvSpPr>
          <p:cNvPr id="51" name="Shape 49"/>
          <p:cNvSpPr/>
          <p:nvPr/>
        </p:nvSpPr>
        <p:spPr>
          <a:xfrm>
            <a:off x="8549237" y="2529743"/>
            <a:ext cx="251770" cy="251770"/>
          </a:xfrm>
          <a:prstGeom prst="diamond">
            <a:avLst/>
          </a:prstGeom>
          <a:solidFill>
            <a:srgbClr val="FFFFFF"/>
          </a:solidFill>
          <a:ln w="12085">
            <a:solidFill>
              <a:srgbClr val="1A1A1A"/>
            </a:solidFill>
            <a:prstDash val="solid"/>
          </a:ln>
        </p:spPr>
      </p:sp>
      <p:sp>
        <p:nvSpPr>
          <p:cNvPr id="52" name="Shape 50"/>
          <p:cNvSpPr/>
          <p:nvPr/>
        </p:nvSpPr>
        <p:spPr>
          <a:xfrm>
            <a:off x="8631062" y="2611569"/>
            <a:ext cx="88120" cy="88120"/>
          </a:xfrm>
          <a:prstGeom prst="line">
            <a:avLst/>
          </a:prstGeom>
          <a:noFill/>
          <a:ln w="14099">
            <a:solidFill>
              <a:srgbClr val="1A1A1A"/>
            </a:solidFill>
            <a:prstDash val="solid"/>
          </a:ln>
        </p:spPr>
      </p:sp>
      <p:sp>
        <p:nvSpPr>
          <p:cNvPr id="53" name="Shape 51"/>
          <p:cNvSpPr/>
          <p:nvPr/>
        </p:nvSpPr>
        <p:spPr>
          <a:xfrm flipH="1">
            <a:off x="8631062" y="2611569"/>
            <a:ext cx="88120" cy="88120"/>
          </a:xfrm>
          <a:prstGeom prst="line">
            <a:avLst/>
          </a:prstGeom>
          <a:noFill/>
          <a:ln w="14099">
            <a:solidFill>
              <a:srgbClr val="1A1A1A"/>
            </a:solidFill>
            <a:prstDash val="solid"/>
          </a:ln>
        </p:spPr>
      </p:sp>
      <p:sp>
        <p:nvSpPr>
          <p:cNvPr id="54" name="Shape 52"/>
          <p:cNvSpPr/>
          <p:nvPr/>
        </p:nvSpPr>
        <p:spPr>
          <a:xfrm flipV="1">
            <a:off x="8675122" y="2340916"/>
            <a:ext cx="0" cy="188828"/>
          </a:xfrm>
          <a:prstGeom prst="line">
            <a:avLst/>
          </a:prstGeom>
          <a:noFill/>
          <a:ln w="14099">
            <a:solidFill>
              <a:srgbClr val="4D4D4D"/>
            </a:solidFill>
            <a:prstDash val="solid"/>
          </a:ln>
        </p:spPr>
      </p:sp>
      <p:sp>
        <p:nvSpPr>
          <p:cNvPr id="55" name="Shape 53"/>
          <p:cNvSpPr/>
          <p:nvPr/>
        </p:nvSpPr>
        <p:spPr>
          <a:xfrm flipH="1">
            <a:off x="6786844" y="2340916"/>
            <a:ext cx="1888277" cy="0"/>
          </a:xfrm>
          <a:prstGeom prst="line">
            <a:avLst/>
          </a:prstGeom>
          <a:noFill/>
          <a:ln w="14099">
            <a:solidFill>
              <a:srgbClr val="4D4D4D"/>
            </a:solidFill>
            <a:prstDash val="solid"/>
          </a:ln>
        </p:spPr>
      </p:sp>
      <p:sp>
        <p:nvSpPr>
          <p:cNvPr id="56" name="Shape 54"/>
          <p:cNvSpPr/>
          <p:nvPr/>
        </p:nvSpPr>
        <p:spPr>
          <a:xfrm>
            <a:off x="6786844" y="2340916"/>
            <a:ext cx="0" cy="132179"/>
          </a:xfrm>
          <a:prstGeom prst="line">
            <a:avLst/>
          </a:prstGeom>
          <a:noFill/>
          <a:ln w="14099">
            <a:solidFill>
              <a:srgbClr val="4D4D4D"/>
            </a:solidFill>
            <a:prstDash val="solid"/>
            <a:tailEnd type="triangle"/>
          </a:ln>
        </p:spPr>
      </p:sp>
      <p:sp>
        <p:nvSpPr>
          <p:cNvPr id="57" name="Text 55"/>
          <p:cNvSpPr txBox="1"/>
          <p:nvPr/>
        </p:nvSpPr>
        <p:spPr>
          <a:xfrm>
            <a:off x="8725476" y="2378209"/>
            <a:ext cx="652868" cy="126829"/>
          </a:xfrm>
          <a:prstGeom prst="rect">
            <a:avLst/>
          </a:prstGeom>
          <a:noFill/>
          <a:ln/>
        </p:spPr>
        <p:txBody>
          <a:bodyPr wrap="none" lIns="0" tIns="0" rIns="0" bIns="0" rtlCol="0" anchor="ctr"/>
          <a:lstStyle/>
          <a:p>
            <a:pPr marL="0" indent="0" algn="l">
              <a:buNone/>
            </a:pPr>
            <a:r>
              <a:rPr lang="en-US" sz="640" dirty="0">
                <a:solidFill>
                  <a:srgbClr val="6B6B6B"/>
                </a:solidFill>
                <a:latin typeface="Malgun Gothic" pitchFamily="34" charset="0"/>
                <a:ea typeface="Malgun Gothic" pitchFamily="34" charset="-122"/>
                <a:cs typeface="Malgun Gothic" pitchFamily="34" charset="-120"/>
              </a:rPr>
              <a:t>실패 · 재생성</a:t>
            </a:r>
            <a:endParaRPr lang="en-US" sz="640" dirty="0"/>
          </a:p>
        </p:txBody>
      </p:sp>
      <p:sp>
        <p:nvSpPr>
          <p:cNvPr id="58" name="Shape 56"/>
          <p:cNvSpPr/>
          <p:nvPr/>
        </p:nvSpPr>
        <p:spPr>
          <a:xfrm>
            <a:off x="8801007" y="2655629"/>
            <a:ext cx="289536" cy="0"/>
          </a:xfrm>
          <a:prstGeom prst="line">
            <a:avLst/>
          </a:prstGeom>
          <a:noFill/>
          <a:ln w="14099">
            <a:solidFill>
              <a:srgbClr val="4D4D4D"/>
            </a:solidFill>
            <a:prstDash val="solid"/>
            <a:tailEnd type="triangle"/>
          </a:ln>
        </p:spPr>
      </p:sp>
      <p:sp>
        <p:nvSpPr>
          <p:cNvPr id="59" name="Text 57"/>
          <p:cNvSpPr txBox="1"/>
          <p:nvPr/>
        </p:nvSpPr>
        <p:spPr>
          <a:xfrm>
            <a:off x="8838772" y="2529271"/>
            <a:ext cx="249895" cy="126829"/>
          </a:xfrm>
          <a:prstGeom prst="rect">
            <a:avLst/>
          </a:prstGeom>
          <a:noFill/>
          <a:ln/>
        </p:spPr>
        <p:txBody>
          <a:bodyPr wrap="none" lIns="0" tIns="0" rIns="0" bIns="0" rtlCol="0" anchor="ctr"/>
          <a:lstStyle/>
          <a:p>
            <a:pPr marL="0" indent="0" algn="l">
              <a:buNone/>
            </a:pPr>
            <a:r>
              <a:rPr lang="en-US" sz="640" dirty="0">
                <a:solidFill>
                  <a:srgbClr val="6B6B6B"/>
                </a:solidFill>
                <a:latin typeface="Malgun Gothic" pitchFamily="34" charset="0"/>
                <a:ea typeface="Malgun Gothic" pitchFamily="34" charset="-122"/>
                <a:cs typeface="Malgun Gothic" pitchFamily="34" charset="-120"/>
              </a:rPr>
              <a:t>통과</a:t>
            </a:r>
            <a:endParaRPr lang="en-US" sz="640" dirty="0"/>
          </a:p>
        </p:txBody>
      </p:sp>
      <p:sp>
        <p:nvSpPr>
          <p:cNvPr id="60" name="Shape 58"/>
          <p:cNvSpPr/>
          <p:nvPr/>
        </p:nvSpPr>
        <p:spPr>
          <a:xfrm>
            <a:off x="9115720" y="2498272"/>
            <a:ext cx="881196" cy="314713"/>
          </a:xfrm>
          <a:prstGeom prst="roundRect">
            <a:avLst>
              <a:gd name="adj" fmla="val 12000"/>
            </a:avLst>
          </a:prstGeom>
          <a:solidFill>
            <a:srgbClr val="FFFFFF"/>
          </a:solidFill>
          <a:ln w="10071">
            <a:solidFill>
              <a:srgbClr val="3A3A3A"/>
            </a:solidFill>
            <a:prstDash val="solid"/>
          </a:ln>
        </p:spPr>
      </p:sp>
      <p:sp>
        <p:nvSpPr>
          <p:cNvPr id="61" name="Text 59"/>
          <p:cNvSpPr txBox="1"/>
          <p:nvPr/>
        </p:nvSpPr>
        <p:spPr>
          <a:xfrm>
            <a:off x="9289296" y="2532104"/>
            <a:ext cx="534043" cy="146341"/>
          </a:xfrm>
          <a:prstGeom prst="rect">
            <a:avLst/>
          </a:prstGeom>
          <a:noFill/>
          <a:ln/>
        </p:spPr>
        <p:txBody>
          <a:bodyPr wrap="none" lIns="0" tIns="0" rIns="0" bIns="0" rtlCol="0" anchor="ctr"/>
          <a:lstStyle/>
          <a:p>
            <a:pPr marL="0" indent="0" algn="ctr">
              <a:buNone/>
            </a:pPr>
            <a:r>
              <a:rPr lang="en-US" sz="740" b="1" dirty="0">
                <a:solidFill>
                  <a:srgbClr val="1A1A1A"/>
                </a:solidFill>
                <a:latin typeface="Malgun Gothic" pitchFamily="34" charset="0"/>
                <a:ea typeface="Malgun Gothic" pitchFamily="34" charset="-122"/>
                <a:cs typeface="Malgun Gothic" pitchFamily="34" charset="-120"/>
              </a:rPr>
              <a:t>쿼리 실행</a:t>
            </a:r>
            <a:endParaRPr lang="en-US" sz="740" dirty="0"/>
          </a:p>
        </p:txBody>
      </p:sp>
      <p:sp>
        <p:nvSpPr>
          <p:cNvPr id="62" name="Text 60"/>
          <p:cNvSpPr txBox="1"/>
          <p:nvPr/>
        </p:nvSpPr>
        <p:spPr>
          <a:xfrm>
            <a:off x="9120371" y="2663890"/>
            <a:ext cx="871893" cy="121951"/>
          </a:xfrm>
          <a:prstGeom prst="rect">
            <a:avLst/>
          </a:prstGeom>
          <a:noFill/>
          <a:ln/>
        </p:spPr>
        <p:txBody>
          <a:bodyPr wrap="none" lIns="0" tIns="0" rIns="0" bIns="0" rtlCol="0" anchor="ctr"/>
          <a:lstStyle/>
          <a:p>
            <a:pPr marL="0" indent="0" algn="ctr">
              <a:buNone/>
            </a:pPr>
            <a:r>
              <a:rPr lang="en-US" sz="620" dirty="0">
                <a:solidFill>
                  <a:srgbClr val="595959"/>
                </a:solidFill>
                <a:latin typeface="Malgun Gothic" pitchFamily="34" charset="0"/>
                <a:ea typeface="Malgun Gothic" pitchFamily="34" charset="-122"/>
                <a:cs typeface="Malgun Gothic" pitchFamily="34" charset="-120"/>
              </a:rPr>
              <a:t>Data Hub 조회 전용</a:t>
            </a:r>
            <a:endParaRPr lang="en-US" sz="620" dirty="0"/>
          </a:p>
        </p:txBody>
      </p:sp>
      <p:sp>
        <p:nvSpPr>
          <p:cNvPr id="63" name="Shape 61"/>
          <p:cNvSpPr/>
          <p:nvPr/>
        </p:nvSpPr>
        <p:spPr>
          <a:xfrm>
            <a:off x="9996916" y="2655629"/>
            <a:ext cx="100708" cy="0"/>
          </a:xfrm>
          <a:prstGeom prst="line">
            <a:avLst/>
          </a:prstGeom>
          <a:noFill/>
          <a:ln w="14099">
            <a:solidFill>
              <a:srgbClr val="4D4D4D"/>
            </a:solidFill>
            <a:prstDash val="solid"/>
            <a:tailEnd type="triangle"/>
          </a:ln>
        </p:spPr>
      </p:sp>
      <p:sp>
        <p:nvSpPr>
          <p:cNvPr id="64" name="Shape 62"/>
          <p:cNvSpPr/>
          <p:nvPr/>
        </p:nvSpPr>
        <p:spPr>
          <a:xfrm>
            <a:off x="10122801" y="2498272"/>
            <a:ext cx="881196" cy="314713"/>
          </a:xfrm>
          <a:prstGeom prst="roundRect">
            <a:avLst>
              <a:gd name="adj" fmla="val 12000"/>
            </a:avLst>
          </a:prstGeom>
          <a:solidFill>
            <a:srgbClr val="FFFFFF"/>
          </a:solidFill>
          <a:ln w="10071">
            <a:solidFill>
              <a:srgbClr val="3A3A3A"/>
            </a:solidFill>
            <a:prstDash val="solid"/>
          </a:ln>
        </p:spPr>
      </p:sp>
      <p:sp>
        <p:nvSpPr>
          <p:cNvPr id="65" name="Text 63"/>
          <p:cNvSpPr txBox="1"/>
          <p:nvPr/>
        </p:nvSpPr>
        <p:spPr>
          <a:xfrm>
            <a:off x="10167899" y="2582458"/>
            <a:ext cx="791000" cy="146341"/>
          </a:xfrm>
          <a:prstGeom prst="rect">
            <a:avLst/>
          </a:prstGeom>
          <a:noFill/>
          <a:ln/>
        </p:spPr>
        <p:txBody>
          <a:bodyPr wrap="none" lIns="0" tIns="0" rIns="0" bIns="0" rtlCol="0" anchor="ctr"/>
          <a:lstStyle/>
          <a:p>
            <a:pPr marL="0" indent="0" algn="ctr">
              <a:buNone/>
            </a:pPr>
            <a:r>
              <a:rPr lang="en-US" sz="740" b="1" dirty="0">
                <a:solidFill>
                  <a:srgbClr val="1A1A1A"/>
                </a:solidFill>
                <a:latin typeface="Malgun Gothic" pitchFamily="34" charset="0"/>
                <a:ea typeface="Malgun Gothic" pitchFamily="34" charset="-122"/>
                <a:cs typeface="Malgun Gothic" pitchFamily="34" charset="-120"/>
              </a:rPr>
              <a:t>결과 해석·요약</a:t>
            </a:r>
            <a:endParaRPr lang="en-US" sz="740" dirty="0"/>
          </a:p>
        </p:txBody>
      </p:sp>
      <p:sp>
        <p:nvSpPr>
          <p:cNvPr id="66" name="Shape 64"/>
          <p:cNvSpPr/>
          <p:nvPr/>
        </p:nvSpPr>
        <p:spPr>
          <a:xfrm flipV="1">
            <a:off x="10563399" y="1944377"/>
            <a:ext cx="0" cy="553895"/>
          </a:xfrm>
          <a:prstGeom prst="line">
            <a:avLst/>
          </a:prstGeom>
          <a:noFill/>
          <a:ln w="14099">
            <a:solidFill>
              <a:srgbClr val="4D4D4D"/>
            </a:solidFill>
            <a:prstDash val="solid"/>
            <a:tailEnd type="triangle"/>
          </a:ln>
        </p:spPr>
      </p:sp>
      <p:sp>
        <p:nvSpPr>
          <p:cNvPr id="67" name="Shape 65"/>
          <p:cNvSpPr/>
          <p:nvPr/>
        </p:nvSpPr>
        <p:spPr>
          <a:xfrm>
            <a:off x="10122801" y="1617076"/>
            <a:ext cx="881196" cy="314713"/>
          </a:xfrm>
          <a:prstGeom prst="roundRect">
            <a:avLst>
              <a:gd name="adj" fmla="val 12000"/>
            </a:avLst>
          </a:prstGeom>
          <a:solidFill>
            <a:srgbClr val="D9D9D9"/>
          </a:solidFill>
          <a:ln w="10071">
            <a:solidFill>
              <a:srgbClr val="7F7F7F"/>
            </a:solidFill>
            <a:prstDash val="solid"/>
          </a:ln>
        </p:spPr>
      </p:sp>
      <p:sp>
        <p:nvSpPr>
          <p:cNvPr id="68" name="Text 66"/>
          <p:cNvSpPr txBox="1"/>
          <p:nvPr/>
        </p:nvSpPr>
        <p:spPr>
          <a:xfrm>
            <a:off x="10296378" y="1701262"/>
            <a:ext cx="534043" cy="146341"/>
          </a:xfrm>
          <a:prstGeom prst="rect">
            <a:avLst/>
          </a:prstGeom>
          <a:noFill/>
          <a:ln/>
        </p:spPr>
        <p:txBody>
          <a:bodyPr wrap="none" lIns="0" tIns="0" rIns="0" bIns="0" rtlCol="0" anchor="ctr"/>
          <a:lstStyle/>
          <a:p>
            <a:pPr marL="0" indent="0" algn="ctr">
              <a:buNone/>
            </a:pPr>
            <a:r>
              <a:rPr lang="en-US" sz="740" b="1" dirty="0">
                <a:solidFill>
                  <a:srgbClr val="262626"/>
                </a:solidFill>
                <a:latin typeface="Malgun Gothic" pitchFamily="34" charset="0"/>
                <a:ea typeface="Malgun Gothic" pitchFamily="34" charset="-122"/>
                <a:cs typeface="Malgun Gothic" pitchFamily="34" charset="-120"/>
              </a:rPr>
              <a:t>결과 확인</a:t>
            </a:r>
            <a:endParaRPr lang="en-US" sz="740" dirty="0"/>
          </a:p>
        </p:txBody>
      </p:sp>
      <p:sp>
        <p:nvSpPr>
          <p:cNvPr id="69" name="Shape 67"/>
          <p:cNvSpPr/>
          <p:nvPr/>
        </p:nvSpPr>
        <p:spPr>
          <a:xfrm>
            <a:off x="11003997" y="1711490"/>
            <a:ext cx="276947" cy="0"/>
          </a:xfrm>
          <a:prstGeom prst="line">
            <a:avLst/>
          </a:prstGeom>
          <a:noFill/>
          <a:ln w="14099">
            <a:solidFill>
              <a:srgbClr val="4D4D4D"/>
            </a:solidFill>
            <a:prstDash val="solid"/>
            <a:tailEnd type="triangle"/>
          </a:ln>
        </p:spPr>
      </p:sp>
      <p:sp>
        <p:nvSpPr>
          <p:cNvPr id="70" name="Shape 68"/>
          <p:cNvSpPr/>
          <p:nvPr/>
        </p:nvSpPr>
        <p:spPr>
          <a:xfrm>
            <a:off x="11293533" y="1623370"/>
            <a:ext cx="176239" cy="176239"/>
          </a:xfrm>
          <a:prstGeom prst="ellipse">
            <a:avLst/>
          </a:prstGeom>
          <a:solidFill>
            <a:srgbClr val="FFFFFF"/>
          </a:solidFill>
          <a:ln w="35248">
            <a:solidFill>
              <a:srgbClr val="1A1A1A"/>
            </a:solidFill>
            <a:prstDash val="solid"/>
          </a:ln>
        </p:spPr>
      </p:sp>
      <p:sp>
        <p:nvSpPr>
          <p:cNvPr id="71" name="Text 69"/>
          <p:cNvSpPr txBox="1"/>
          <p:nvPr/>
        </p:nvSpPr>
        <p:spPr>
          <a:xfrm>
            <a:off x="11260104" y="1864519"/>
            <a:ext cx="243097" cy="121951"/>
          </a:xfrm>
          <a:prstGeom prst="rect">
            <a:avLst/>
          </a:prstGeom>
          <a:noFill/>
          <a:ln/>
        </p:spPr>
        <p:txBody>
          <a:bodyPr wrap="none" lIns="0" tIns="0" rIns="0" bIns="0" rtlCol="0" anchor="ctr"/>
          <a:lstStyle/>
          <a:p>
            <a:pPr marL="0" indent="0" algn="ctr">
              <a:buNone/>
            </a:pPr>
            <a:r>
              <a:rPr lang="en-US" sz="620" dirty="0">
                <a:solidFill>
                  <a:srgbClr val="6B6B6B"/>
                </a:solidFill>
                <a:latin typeface="Malgun Gothic" pitchFamily="34" charset="0"/>
                <a:ea typeface="Malgun Gothic" pitchFamily="34" charset="-122"/>
                <a:cs typeface="Malgun Gothic" pitchFamily="34" charset="-120"/>
              </a:rPr>
              <a:t>종료</a:t>
            </a:r>
            <a:endParaRPr lang="en-US" sz="620" dirty="0"/>
          </a:p>
        </p:txBody>
      </p:sp>
      <p:sp>
        <p:nvSpPr>
          <p:cNvPr id="72" name="Shape 70"/>
          <p:cNvSpPr/>
          <p:nvPr/>
        </p:nvSpPr>
        <p:spPr>
          <a:xfrm>
            <a:off x="2003208" y="2812985"/>
            <a:ext cx="0" cy="459481"/>
          </a:xfrm>
          <a:prstGeom prst="line">
            <a:avLst/>
          </a:prstGeom>
          <a:noFill/>
          <a:ln w="10071">
            <a:solidFill>
              <a:srgbClr val="9E9E9E"/>
            </a:solidFill>
            <a:prstDash val="dash"/>
          </a:ln>
        </p:spPr>
      </p:sp>
      <p:sp>
        <p:nvSpPr>
          <p:cNvPr id="73" name="Shape 71"/>
          <p:cNvSpPr/>
          <p:nvPr/>
        </p:nvSpPr>
        <p:spPr>
          <a:xfrm>
            <a:off x="1587787" y="3272466"/>
            <a:ext cx="830842" cy="717545"/>
          </a:xfrm>
          <a:prstGeom prst="roundRect">
            <a:avLst>
              <a:gd name="adj" fmla="val 7018"/>
            </a:avLst>
          </a:prstGeom>
          <a:solidFill>
            <a:srgbClr val="FFFFFF">
              <a:alpha val="0"/>
            </a:srgbClr>
          </a:solidFill>
          <a:ln w="10071">
            <a:solidFill>
              <a:srgbClr val="C8C8C8"/>
            </a:solidFill>
            <a:prstDash val="dash"/>
          </a:ln>
        </p:spPr>
      </p:sp>
      <p:sp>
        <p:nvSpPr>
          <p:cNvPr id="74" name="Shape 72"/>
          <p:cNvSpPr/>
          <p:nvPr/>
        </p:nvSpPr>
        <p:spPr>
          <a:xfrm>
            <a:off x="1612964" y="3335408"/>
            <a:ext cx="780488" cy="163651"/>
          </a:xfrm>
          <a:prstGeom prst="roundRect">
            <a:avLst>
              <a:gd name="adj" fmla="val 15385"/>
            </a:avLst>
          </a:prstGeom>
          <a:solidFill>
            <a:srgbClr val="EDEDED"/>
          </a:solidFill>
          <a:ln w="7620">
            <a:solidFill>
              <a:srgbClr val="A6A6A6"/>
            </a:solidFill>
            <a:prstDash val="solid"/>
          </a:ln>
        </p:spPr>
      </p:sp>
      <p:sp>
        <p:nvSpPr>
          <p:cNvPr id="75" name="Text 73"/>
          <p:cNvSpPr txBox="1"/>
          <p:nvPr/>
        </p:nvSpPr>
        <p:spPr>
          <a:xfrm>
            <a:off x="1634356" y="3353819"/>
            <a:ext cx="737705" cy="126829"/>
          </a:xfrm>
          <a:prstGeom prst="rect">
            <a:avLst/>
          </a:prstGeom>
          <a:noFill/>
          <a:ln/>
        </p:spPr>
        <p:txBody>
          <a:bodyPr wrap="none" lIns="0" tIns="0" rIns="0" bIns="0" rtlCol="0" anchor="ctr"/>
          <a:lstStyle/>
          <a:p>
            <a:pPr marL="0" indent="0" algn="ctr">
              <a:buNone/>
            </a:pPr>
            <a:r>
              <a:rPr lang="en-US" sz="640" dirty="0">
                <a:solidFill>
                  <a:srgbClr val="333333"/>
                </a:solidFill>
                <a:latin typeface="Malgun Gothic" pitchFamily="34" charset="0"/>
                <a:ea typeface="Malgun Gothic" pitchFamily="34" charset="-122"/>
                <a:cs typeface="Malgun Gothic" pitchFamily="34" charset="-120"/>
              </a:rPr>
              <a:t>비즈니스 용어집</a:t>
            </a:r>
            <a:endParaRPr lang="en-US" sz="640" dirty="0"/>
          </a:p>
        </p:txBody>
      </p:sp>
      <p:sp>
        <p:nvSpPr>
          <p:cNvPr id="76" name="Shape 74"/>
          <p:cNvSpPr/>
          <p:nvPr/>
        </p:nvSpPr>
        <p:spPr>
          <a:xfrm>
            <a:off x="1612964" y="3549413"/>
            <a:ext cx="780488" cy="163651"/>
          </a:xfrm>
          <a:prstGeom prst="roundRect">
            <a:avLst>
              <a:gd name="adj" fmla="val 15385"/>
            </a:avLst>
          </a:prstGeom>
          <a:solidFill>
            <a:srgbClr val="EDEDED"/>
          </a:solidFill>
          <a:ln w="7620">
            <a:solidFill>
              <a:srgbClr val="A6A6A6"/>
            </a:solidFill>
            <a:prstDash val="solid"/>
          </a:ln>
        </p:spPr>
      </p:sp>
      <p:sp>
        <p:nvSpPr>
          <p:cNvPr id="77" name="Text 75"/>
          <p:cNvSpPr txBox="1"/>
          <p:nvPr/>
        </p:nvSpPr>
        <p:spPr>
          <a:xfrm>
            <a:off x="1638775" y="3567824"/>
            <a:ext cx="728868" cy="126829"/>
          </a:xfrm>
          <a:prstGeom prst="rect">
            <a:avLst/>
          </a:prstGeom>
          <a:noFill/>
          <a:ln/>
        </p:spPr>
        <p:txBody>
          <a:bodyPr wrap="none" lIns="0" tIns="0" rIns="0" bIns="0" rtlCol="0" anchor="ctr"/>
          <a:lstStyle/>
          <a:p>
            <a:pPr marL="0" indent="0" algn="ctr">
              <a:buNone/>
            </a:pPr>
            <a:r>
              <a:rPr lang="en-US" sz="640" dirty="0">
                <a:solidFill>
                  <a:srgbClr val="333333"/>
                </a:solidFill>
                <a:latin typeface="Malgun Gothic" pitchFamily="34" charset="0"/>
                <a:ea typeface="Malgun Gothic" pitchFamily="34" charset="-122"/>
                <a:cs typeface="Malgun Gothic" pitchFamily="34" charset="-120"/>
              </a:rPr>
              <a:t>지표(KPI) 정의</a:t>
            </a:r>
            <a:endParaRPr lang="en-US" sz="640" dirty="0"/>
          </a:p>
        </p:txBody>
      </p:sp>
      <p:sp>
        <p:nvSpPr>
          <p:cNvPr id="78" name="Shape 76"/>
          <p:cNvSpPr/>
          <p:nvPr/>
        </p:nvSpPr>
        <p:spPr>
          <a:xfrm>
            <a:off x="1612964" y="3763418"/>
            <a:ext cx="780488" cy="163651"/>
          </a:xfrm>
          <a:prstGeom prst="roundRect">
            <a:avLst>
              <a:gd name="adj" fmla="val 15385"/>
            </a:avLst>
          </a:prstGeom>
          <a:solidFill>
            <a:srgbClr val="EDEDED"/>
          </a:solidFill>
          <a:ln w="7620">
            <a:solidFill>
              <a:srgbClr val="A6A6A6"/>
            </a:solidFill>
            <a:prstDash val="solid"/>
          </a:ln>
        </p:spPr>
      </p:sp>
      <p:sp>
        <p:nvSpPr>
          <p:cNvPr id="79" name="Text 77"/>
          <p:cNvSpPr txBox="1"/>
          <p:nvPr/>
        </p:nvSpPr>
        <p:spPr>
          <a:xfrm>
            <a:off x="1667053" y="3781829"/>
            <a:ext cx="672310" cy="126829"/>
          </a:xfrm>
          <a:prstGeom prst="rect">
            <a:avLst/>
          </a:prstGeom>
          <a:noFill/>
          <a:ln/>
        </p:spPr>
        <p:txBody>
          <a:bodyPr wrap="none" lIns="0" tIns="0" rIns="0" bIns="0" rtlCol="0" anchor="ctr"/>
          <a:lstStyle/>
          <a:p>
            <a:pPr marL="0" indent="0" algn="ctr">
              <a:buNone/>
            </a:pPr>
            <a:r>
              <a:rPr lang="en-US" sz="640" dirty="0">
                <a:solidFill>
                  <a:srgbClr val="333333"/>
                </a:solidFill>
                <a:latin typeface="Malgun Gothic" pitchFamily="34" charset="0"/>
                <a:ea typeface="Malgun Gothic" pitchFamily="34" charset="-122"/>
                <a:cs typeface="Malgun Gothic" pitchFamily="34" charset="-120"/>
              </a:rPr>
              <a:t>Few-shot 예시</a:t>
            </a:r>
            <a:endParaRPr lang="en-US" sz="640" dirty="0"/>
          </a:p>
        </p:txBody>
      </p:sp>
      <p:sp>
        <p:nvSpPr>
          <p:cNvPr id="80" name="Shape 78"/>
          <p:cNvSpPr/>
          <p:nvPr/>
        </p:nvSpPr>
        <p:spPr>
          <a:xfrm>
            <a:off x="2884404" y="2781514"/>
            <a:ext cx="0" cy="490952"/>
          </a:xfrm>
          <a:prstGeom prst="line">
            <a:avLst/>
          </a:prstGeom>
          <a:noFill/>
          <a:ln w="10071">
            <a:solidFill>
              <a:srgbClr val="9E9E9E"/>
            </a:solidFill>
            <a:prstDash val="dash"/>
          </a:ln>
        </p:spPr>
      </p:sp>
      <p:sp>
        <p:nvSpPr>
          <p:cNvPr id="81" name="Shape 79"/>
          <p:cNvSpPr/>
          <p:nvPr/>
        </p:nvSpPr>
        <p:spPr>
          <a:xfrm>
            <a:off x="2468983" y="3272466"/>
            <a:ext cx="830842" cy="717545"/>
          </a:xfrm>
          <a:prstGeom prst="roundRect">
            <a:avLst>
              <a:gd name="adj" fmla="val 7018"/>
            </a:avLst>
          </a:prstGeom>
          <a:solidFill>
            <a:srgbClr val="FFFFFF">
              <a:alpha val="0"/>
            </a:srgbClr>
          </a:solidFill>
          <a:ln w="10071">
            <a:solidFill>
              <a:srgbClr val="C8C8C8"/>
            </a:solidFill>
            <a:prstDash val="dash"/>
          </a:ln>
        </p:spPr>
      </p:sp>
      <p:sp>
        <p:nvSpPr>
          <p:cNvPr id="82" name="Shape 80"/>
          <p:cNvSpPr/>
          <p:nvPr/>
        </p:nvSpPr>
        <p:spPr>
          <a:xfrm>
            <a:off x="2494160" y="3335408"/>
            <a:ext cx="780488" cy="163651"/>
          </a:xfrm>
          <a:prstGeom prst="roundRect">
            <a:avLst>
              <a:gd name="adj" fmla="val 15385"/>
            </a:avLst>
          </a:prstGeom>
          <a:solidFill>
            <a:srgbClr val="EDEDED"/>
          </a:solidFill>
          <a:ln w="7620">
            <a:solidFill>
              <a:srgbClr val="A6A6A6"/>
            </a:solidFill>
            <a:prstDash val="solid"/>
          </a:ln>
        </p:spPr>
      </p:sp>
      <p:sp>
        <p:nvSpPr>
          <p:cNvPr id="83" name="Text 81"/>
          <p:cNvSpPr txBox="1"/>
          <p:nvPr/>
        </p:nvSpPr>
        <p:spPr>
          <a:xfrm>
            <a:off x="2536761" y="3353819"/>
            <a:ext cx="695287" cy="126829"/>
          </a:xfrm>
          <a:prstGeom prst="rect">
            <a:avLst/>
          </a:prstGeom>
          <a:noFill/>
          <a:ln/>
        </p:spPr>
        <p:txBody>
          <a:bodyPr wrap="none" lIns="0" tIns="0" rIns="0" bIns="0" rtlCol="0" anchor="ctr"/>
          <a:lstStyle/>
          <a:p>
            <a:pPr marL="0" indent="0" algn="ctr">
              <a:buNone/>
            </a:pPr>
            <a:r>
              <a:rPr lang="en-US" sz="640" dirty="0">
                <a:solidFill>
                  <a:srgbClr val="333333"/>
                </a:solidFill>
                <a:latin typeface="Malgun Gothic" pitchFamily="34" charset="0"/>
                <a:ea typeface="Malgun Gothic" pitchFamily="34" charset="-122"/>
                <a:cs typeface="Malgun Gothic" pitchFamily="34" charset="-120"/>
              </a:rPr>
              <a:t>필수 조건 규칙</a:t>
            </a:r>
            <a:endParaRPr lang="en-US" sz="640" dirty="0"/>
          </a:p>
        </p:txBody>
      </p:sp>
      <p:sp>
        <p:nvSpPr>
          <p:cNvPr id="84" name="Shape 82"/>
          <p:cNvSpPr/>
          <p:nvPr/>
        </p:nvSpPr>
        <p:spPr>
          <a:xfrm>
            <a:off x="2494160" y="3549413"/>
            <a:ext cx="780488" cy="163651"/>
          </a:xfrm>
          <a:prstGeom prst="roundRect">
            <a:avLst>
              <a:gd name="adj" fmla="val 15385"/>
            </a:avLst>
          </a:prstGeom>
          <a:solidFill>
            <a:srgbClr val="EDEDED"/>
          </a:solidFill>
          <a:ln w="7620">
            <a:solidFill>
              <a:srgbClr val="A6A6A6"/>
            </a:solidFill>
            <a:prstDash val="solid"/>
          </a:ln>
        </p:spPr>
      </p:sp>
      <p:sp>
        <p:nvSpPr>
          <p:cNvPr id="85" name="Text 83"/>
          <p:cNvSpPr txBox="1"/>
          <p:nvPr/>
        </p:nvSpPr>
        <p:spPr>
          <a:xfrm>
            <a:off x="2559738" y="3567824"/>
            <a:ext cx="649333" cy="126829"/>
          </a:xfrm>
          <a:prstGeom prst="rect">
            <a:avLst/>
          </a:prstGeom>
          <a:noFill/>
          <a:ln/>
        </p:spPr>
        <p:txBody>
          <a:bodyPr wrap="none" lIns="0" tIns="0" rIns="0" bIns="0" rtlCol="0" anchor="ctr"/>
          <a:lstStyle/>
          <a:p>
            <a:pPr marL="0" indent="0" algn="ctr">
              <a:buNone/>
            </a:pPr>
            <a:r>
              <a:rPr lang="en-US" sz="640" dirty="0">
                <a:solidFill>
                  <a:srgbClr val="333333"/>
                </a:solidFill>
                <a:latin typeface="Malgun Gothic" pitchFamily="34" charset="0"/>
                <a:ea typeface="Malgun Gothic" pitchFamily="34" charset="-122"/>
                <a:cs typeface="Malgun Gothic" pitchFamily="34" charset="-120"/>
              </a:rPr>
              <a:t>사용자 프로필</a:t>
            </a:r>
            <a:endParaRPr lang="en-US" sz="640" dirty="0"/>
          </a:p>
        </p:txBody>
      </p:sp>
      <p:sp>
        <p:nvSpPr>
          <p:cNvPr id="86" name="Shape 84"/>
          <p:cNvSpPr/>
          <p:nvPr/>
        </p:nvSpPr>
        <p:spPr>
          <a:xfrm>
            <a:off x="3765601" y="2812985"/>
            <a:ext cx="0" cy="459481"/>
          </a:xfrm>
          <a:prstGeom prst="line">
            <a:avLst/>
          </a:prstGeom>
          <a:noFill/>
          <a:ln w="10071">
            <a:solidFill>
              <a:srgbClr val="9E9E9E"/>
            </a:solidFill>
            <a:prstDash val="dash"/>
          </a:ln>
        </p:spPr>
      </p:sp>
      <p:sp>
        <p:nvSpPr>
          <p:cNvPr id="87" name="Shape 85"/>
          <p:cNvSpPr/>
          <p:nvPr/>
        </p:nvSpPr>
        <p:spPr>
          <a:xfrm>
            <a:off x="3350180" y="3272466"/>
            <a:ext cx="830842" cy="717545"/>
          </a:xfrm>
          <a:prstGeom prst="roundRect">
            <a:avLst>
              <a:gd name="adj" fmla="val 7018"/>
            </a:avLst>
          </a:prstGeom>
          <a:solidFill>
            <a:srgbClr val="FFFFFF">
              <a:alpha val="0"/>
            </a:srgbClr>
          </a:solidFill>
          <a:ln w="10071">
            <a:solidFill>
              <a:srgbClr val="C8C8C8"/>
            </a:solidFill>
            <a:prstDash val="dash"/>
          </a:ln>
        </p:spPr>
      </p:sp>
      <p:sp>
        <p:nvSpPr>
          <p:cNvPr id="88" name="Shape 86"/>
          <p:cNvSpPr/>
          <p:nvPr/>
        </p:nvSpPr>
        <p:spPr>
          <a:xfrm>
            <a:off x="3375357" y="3335408"/>
            <a:ext cx="780488" cy="163651"/>
          </a:xfrm>
          <a:prstGeom prst="roundRect">
            <a:avLst>
              <a:gd name="adj" fmla="val 15385"/>
            </a:avLst>
          </a:prstGeom>
          <a:solidFill>
            <a:srgbClr val="EDEDED"/>
          </a:solidFill>
          <a:ln w="7620">
            <a:solidFill>
              <a:srgbClr val="A6A6A6"/>
            </a:solidFill>
            <a:prstDash val="solid"/>
          </a:ln>
        </p:spPr>
      </p:sp>
      <p:sp>
        <p:nvSpPr>
          <p:cNvPr id="89" name="Text 87"/>
          <p:cNvSpPr txBox="1"/>
          <p:nvPr/>
        </p:nvSpPr>
        <p:spPr>
          <a:xfrm>
            <a:off x="3373772" y="3353819"/>
            <a:ext cx="783658" cy="126829"/>
          </a:xfrm>
          <a:prstGeom prst="rect">
            <a:avLst/>
          </a:prstGeom>
          <a:noFill/>
          <a:ln/>
        </p:spPr>
        <p:txBody>
          <a:bodyPr wrap="none" lIns="0" tIns="0" rIns="0" bIns="0" rtlCol="0" anchor="ctr"/>
          <a:lstStyle/>
          <a:p>
            <a:pPr marL="0" indent="0" algn="ctr">
              <a:buNone/>
            </a:pPr>
            <a:r>
              <a:rPr lang="en-US" sz="640" dirty="0">
                <a:solidFill>
                  <a:srgbClr val="333333"/>
                </a:solidFill>
                <a:latin typeface="Malgun Gothic" pitchFamily="34" charset="0"/>
                <a:ea typeface="Malgun Gothic" pitchFamily="34" charset="-122"/>
                <a:cs typeface="Malgun Gothic" pitchFamily="34" charset="-120"/>
              </a:rPr>
              <a:t>마스터 코드 사전</a:t>
            </a:r>
            <a:endParaRPr lang="en-US" sz="640" dirty="0"/>
          </a:p>
        </p:txBody>
      </p:sp>
      <p:sp>
        <p:nvSpPr>
          <p:cNvPr id="90" name="Shape 88"/>
          <p:cNvSpPr/>
          <p:nvPr/>
        </p:nvSpPr>
        <p:spPr>
          <a:xfrm>
            <a:off x="3375357" y="3549413"/>
            <a:ext cx="780488" cy="163651"/>
          </a:xfrm>
          <a:prstGeom prst="roundRect">
            <a:avLst>
              <a:gd name="adj" fmla="val 15385"/>
            </a:avLst>
          </a:prstGeom>
          <a:solidFill>
            <a:srgbClr val="EDEDED"/>
          </a:solidFill>
          <a:ln w="7620">
            <a:solidFill>
              <a:srgbClr val="A6A6A6"/>
            </a:solidFill>
            <a:prstDash val="solid"/>
          </a:ln>
        </p:spPr>
      </p:sp>
      <p:sp>
        <p:nvSpPr>
          <p:cNvPr id="91" name="Text 89"/>
          <p:cNvSpPr txBox="1"/>
          <p:nvPr/>
        </p:nvSpPr>
        <p:spPr>
          <a:xfrm>
            <a:off x="3373772" y="3567824"/>
            <a:ext cx="783658" cy="126829"/>
          </a:xfrm>
          <a:prstGeom prst="rect">
            <a:avLst/>
          </a:prstGeom>
          <a:noFill/>
          <a:ln/>
        </p:spPr>
        <p:txBody>
          <a:bodyPr wrap="none" lIns="0" tIns="0" rIns="0" bIns="0" rtlCol="0" anchor="ctr"/>
          <a:lstStyle/>
          <a:p>
            <a:pPr marL="0" indent="0" algn="ctr">
              <a:buNone/>
            </a:pPr>
            <a:r>
              <a:rPr lang="en-US" sz="640" dirty="0">
                <a:solidFill>
                  <a:srgbClr val="333333"/>
                </a:solidFill>
                <a:latin typeface="Malgun Gothic" pitchFamily="34" charset="0"/>
                <a:ea typeface="Malgun Gothic" pitchFamily="34" charset="-122"/>
                <a:cs typeface="Malgun Gothic" pitchFamily="34" charset="-120"/>
              </a:rPr>
              <a:t>동의어·약어 사전</a:t>
            </a:r>
            <a:endParaRPr lang="en-US" sz="640" dirty="0"/>
          </a:p>
        </p:txBody>
      </p:sp>
      <p:sp>
        <p:nvSpPr>
          <p:cNvPr id="92" name="Shape 90"/>
          <p:cNvSpPr/>
          <p:nvPr/>
        </p:nvSpPr>
        <p:spPr>
          <a:xfrm>
            <a:off x="4772682" y="2812985"/>
            <a:ext cx="0" cy="459481"/>
          </a:xfrm>
          <a:prstGeom prst="line">
            <a:avLst/>
          </a:prstGeom>
          <a:noFill/>
          <a:ln w="10071">
            <a:solidFill>
              <a:srgbClr val="9E9E9E"/>
            </a:solidFill>
            <a:prstDash val="dash"/>
          </a:ln>
        </p:spPr>
      </p:sp>
      <p:sp>
        <p:nvSpPr>
          <p:cNvPr id="93" name="Shape 91"/>
          <p:cNvSpPr/>
          <p:nvPr/>
        </p:nvSpPr>
        <p:spPr>
          <a:xfrm>
            <a:off x="4357261" y="3272466"/>
            <a:ext cx="830842" cy="717545"/>
          </a:xfrm>
          <a:prstGeom prst="roundRect">
            <a:avLst>
              <a:gd name="adj" fmla="val 7018"/>
            </a:avLst>
          </a:prstGeom>
          <a:solidFill>
            <a:srgbClr val="FFFFFF">
              <a:alpha val="0"/>
            </a:srgbClr>
          </a:solidFill>
          <a:ln w="10071">
            <a:solidFill>
              <a:srgbClr val="C8C8C8"/>
            </a:solidFill>
            <a:prstDash val="dash"/>
          </a:ln>
        </p:spPr>
      </p:sp>
      <p:sp>
        <p:nvSpPr>
          <p:cNvPr id="94" name="Shape 92"/>
          <p:cNvSpPr/>
          <p:nvPr/>
        </p:nvSpPr>
        <p:spPr>
          <a:xfrm>
            <a:off x="4382438" y="3335408"/>
            <a:ext cx="780488" cy="163651"/>
          </a:xfrm>
          <a:prstGeom prst="roundRect">
            <a:avLst>
              <a:gd name="adj" fmla="val 15385"/>
            </a:avLst>
          </a:prstGeom>
          <a:solidFill>
            <a:srgbClr val="EDEDED"/>
          </a:solidFill>
          <a:ln w="7620">
            <a:solidFill>
              <a:srgbClr val="A6A6A6"/>
            </a:solidFill>
            <a:prstDash val="solid"/>
          </a:ln>
        </p:spPr>
      </p:sp>
      <p:sp>
        <p:nvSpPr>
          <p:cNvPr id="95" name="Text 93"/>
          <p:cNvSpPr txBox="1"/>
          <p:nvPr/>
        </p:nvSpPr>
        <p:spPr>
          <a:xfrm>
            <a:off x="4559363" y="3353819"/>
            <a:ext cx="426638" cy="126829"/>
          </a:xfrm>
          <a:prstGeom prst="rect">
            <a:avLst/>
          </a:prstGeom>
          <a:noFill/>
          <a:ln/>
        </p:spPr>
        <p:txBody>
          <a:bodyPr wrap="none" lIns="0" tIns="0" rIns="0" bIns="0" rtlCol="0" anchor="ctr"/>
          <a:lstStyle/>
          <a:p>
            <a:pPr marL="0" indent="0" algn="ctr">
              <a:buNone/>
            </a:pPr>
            <a:r>
              <a:rPr lang="en-US" sz="640" dirty="0">
                <a:solidFill>
                  <a:srgbClr val="333333"/>
                </a:solidFill>
                <a:latin typeface="Malgun Gothic" pitchFamily="34" charset="0"/>
                <a:ea typeface="Malgun Gothic" pitchFamily="34" charset="-122"/>
                <a:cs typeface="Malgun Gothic" pitchFamily="34" charset="-120"/>
              </a:rPr>
              <a:t>온톨로지</a:t>
            </a:r>
            <a:endParaRPr lang="en-US" sz="640" dirty="0"/>
          </a:p>
        </p:txBody>
      </p:sp>
      <p:sp>
        <p:nvSpPr>
          <p:cNvPr id="96" name="Shape 94"/>
          <p:cNvSpPr/>
          <p:nvPr/>
        </p:nvSpPr>
        <p:spPr>
          <a:xfrm>
            <a:off x="4382438" y="3549413"/>
            <a:ext cx="780488" cy="163651"/>
          </a:xfrm>
          <a:prstGeom prst="roundRect">
            <a:avLst>
              <a:gd name="adj" fmla="val 15385"/>
            </a:avLst>
          </a:prstGeom>
          <a:solidFill>
            <a:srgbClr val="EDEDED"/>
          </a:solidFill>
          <a:ln w="7620">
            <a:solidFill>
              <a:srgbClr val="A6A6A6"/>
            </a:solidFill>
            <a:prstDash val="solid"/>
          </a:ln>
        </p:spPr>
      </p:sp>
      <p:sp>
        <p:nvSpPr>
          <p:cNvPr id="97" name="Text 95"/>
          <p:cNvSpPr txBox="1"/>
          <p:nvPr/>
        </p:nvSpPr>
        <p:spPr>
          <a:xfrm>
            <a:off x="4380853" y="3567824"/>
            <a:ext cx="783658" cy="126829"/>
          </a:xfrm>
          <a:prstGeom prst="rect">
            <a:avLst/>
          </a:prstGeom>
          <a:noFill/>
          <a:ln/>
        </p:spPr>
        <p:txBody>
          <a:bodyPr wrap="none" lIns="0" tIns="0" rIns="0" bIns="0" rtlCol="0" anchor="ctr"/>
          <a:lstStyle/>
          <a:p>
            <a:pPr marL="0" indent="0" algn="ctr">
              <a:buNone/>
            </a:pPr>
            <a:r>
              <a:rPr lang="en-US" sz="640" dirty="0">
                <a:solidFill>
                  <a:srgbClr val="333333"/>
                </a:solidFill>
                <a:latin typeface="Malgun Gothic" pitchFamily="34" charset="0"/>
                <a:ea typeface="Malgun Gothic" pitchFamily="34" charset="-122"/>
                <a:cs typeface="Malgun Gothic" pitchFamily="34" charset="-120"/>
              </a:rPr>
              <a:t>개념-테이블 매핑</a:t>
            </a:r>
            <a:endParaRPr lang="en-US" sz="640" dirty="0"/>
          </a:p>
        </p:txBody>
      </p:sp>
      <p:sp>
        <p:nvSpPr>
          <p:cNvPr id="98" name="Shape 96"/>
          <p:cNvSpPr/>
          <p:nvPr/>
        </p:nvSpPr>
        <p:spPr>
          <a:xfrm>
            <a:off x="5779763" y="2812985"/>
            <a:ext cx="0" cy="459481"/>
          </a:xfrm>
          <a:prstGeom prst="line">
            <a:avLst/>
          </a:prstGeom>
          <a:noFill/>
          <a:ln w="10071">
            <a:solidFill>
              <a:srgbClr val="9E9E9E"/>
            </a:solidFill>
            <a:prstDash val="dash"/>
          </a:ln>
        </p:spPr>
      </p:sp>
      <p:sp>
        <p:nvSpPr>
          <p:cNvPr id="99" name="Shape 97"/>
          <p:cNvSpPr/>
          <p:nvPr/>
        </p:nvSpPr>
        <p:spPr>
          <a:xfrm>
            <a:off x="5364342" y="3272466"/>
            <a:ext cx="830842" cy="717545"/>
          </a:xfrm>
          <a:prstGeom prst="roundRect">
            <a:avLst>
              <a:gd name="adj" fmla="val 7018"/>
            </a:avLst>
          </a:prstGeom>
          <a:solidFill>
            <a:srgbClr val="FFFFFF">
              <a:alpha val="0"/>
            </a:srgbClr>
          </a:solidFill>
          <a:ln w="10071">
            <a:solidFill>
              <a:srgbClr val="C8C8C8"/>
            </a:solidFill>
            <a:prstDash val="dash"/>
          </a:ln>
        </p:spPr>
      </p:sp>
      <p:sp>
        <p:nvSpPr>
          <p:cNvPr id="100" name="Shape 98"/>
          <p:cNvSpPr/>
          <p:nvPr/>
        </p:nvSpPr>
        <p:spPr>
          <a:xfrm>
            <a:off x="5389519" y="3335408"/>
            <a:ext cx="780488" cy="163651"/>
          </a:xfrm>
          <a:prstGeom prst="roundRect">
            <a:avLst>
              <a:gd name="adj" fmla="val 15385"/>
            </a:avLst>
          </a:prstGeom>
          <a:solidFill>
            <a:srgbClr val="EDEDED"/>
          </a:solidFill>
          <a:ln w="7620">
            <a:solidFill>
              <a:srgbClr val="A6A6A6"/>
            </a:solidFill>
            <a:prstDash val="solid"/>
          </a:ln>
        </p:spPr>
      </p:sp>
      <p:sp>
        <p:nvSpPr>
          <p:cNvPr id="101" name="Text 99"/>
          <p:cNvSpPr txBox="1"/>
          <p:nvPr/>
        </p:nvSpPr>
        <p:spPr>
          <a:xfrm>
            <a:off x="5410911" y="3353819"/>
            <a:ext cx="737705" cy="126829"/>
          </a:xfrm>
          <a:prstGeom prst="rect">
            <a:avLst/>
          </a:prstGeom>
          <a:noFill/>
          <a:ln/>
        </p:spPr>
        <p:txBody>
          <a:bodyPr wrap="none" lIns="0" tIns="0" rIns="0" bIns="0" rtlCol="0" anchor="ctr"/>
          <a:lstStyle/>
          <a:p>
            <a:pPr marL="0" indent="0" algn="ctr">
              <a:buNone/>
            </a:pPr>
            <a:r>
              <a:rPr lang="en-US" sz="640" dirty="0">
                <a:solidFill>
                  <a:srgbClr val="333333"/>
                </a:solidFill>
                <a:latin typeface="Malgun Gothic" pitchFamily="34" charset="0"/>
                <a:ea typeface="Malgun Gothic" pitchFamily="34" charset="-122"/>
                <a:cs typeface="Malgun Gothic" pitchFamily="34" charset="-120"/>
              </a:rPr>
              <a:t>테이블 카탈로그</a:t>
            </a:r>
            <a:endParaRPr lang="en-US" sz="640" dirty="0"/>
          </a:p>
        </p:txBody>
      </p:sp>
      <p:sp>
        <p:nvSpPr>
          <p:cNvPr id="102" name="Shape 100"/>
          <p:cNvSpPr/>
          <p:nvPr/>
        </p:nvSpPr>
        <p:spPr>
          <a:xfrm>
            <a:off x="5389519" y="3549413"/>
            <a:ext cx="780488" cy="163651"/>
          </a:xfrm>
          <a:prstGeom prst="roundRect">
            <a:avLst>
              <a:gd name="adj" fmla="val 15385"/>
            </a:avLst>
          </a:prstGeom>
          <a:solidFill>
            <a:srgbClr val="EDEDED"/>
          </a:solidFill>
          <a:ln w="7620">
            <a:solidFill>
              <a:srgbClr val="A6A6A6"/>
            </a:solidFill>
            <a:prstDash val="solid"/>
          </a:ln>
        </p:spPr>
      </p:sp>
      <p:sp>
        <p:nvSpPr>
          <p:cNvPr id="103" name="Text 101"/>
          <p:cNvSpPr txBox="1"/>
          <p:nvPr/>
        </p:nvSpPr>
        <p:spPr>
          <a:xfrm>
            <a:off x="5379981" y="3567824"/>
            <a:ext cx="799565" cy="126829"/>
          </a:xfrm>
          <a:prstGeom prst="rect">
            <a:avLst/>
          </a:prstGeom>
          <a:noFill/>
          <a:ln/>
        </p:spPr>
        <p:txBody>
          <a:bodyPr wrap="none" lIns="0" tIns="0" rIns="0" bIns="0" rtlCol="0" anchor="ctr"/>
          <a:lstStyle/>
          <a:p>
            <a:pPr marL="0" indent="0" algn="ctr">
              <a:buNone/>
            </a:pPr>
            <a:r>
              <a:rPr lang="en-US" sz="640" dirty="0">
                <a:solidFill>
                  <a:srgbClr val="333333"/>
                </a:solidFill>
                <a:latin typeface="Malgun Gothic" pitchFamily="34" charset="0"/>
                <a:ea typeface="Malgun Gothic" pitchFamily="34" charset="-122"/>
                <a:cs typeface="Malgun Gothic" pitchFamily="34" charset="-120"/>
              </a:rPr>
              <a:t>Join 경로 그래프</a:t>
            </a:r>
            <a:endParaRPr lang="en-US" sz="640" dirty="0"/>
          </a:p>
        </p:txBody>
      </p:sp>
      <p:sp>
        <p:nvSpPr>
          <p:cNvPr id="104" name="Shape 102"/>
          <p:cNvSpPr/>
          <p:nvPr/>
        </p:nvSpPr>
        <p:spPr>
          <a:xfrm>
            <a:off x="5389519" y="3763418"/>
            <a:ext cx="780488" cy="163651"/>
          </a:xfrm>
          <a:prstGeom prst="roundRect">
            <a:avLst>
              <a:gd name="adj" fmla="val 15385"/>
            </a:avLst>
          </a:prstGeom>
          <a:solidFill>
            <a:srgbClr val="EDEDED"/>
          </a:solidFill>
          <a:ln w="7620">
            <a:solidFill>
              <a:srgbClr val="A6A6A6"/>
            </a:solidFill>
            <a:prstDash val="solid"/>
          </a:ln>
        </p:spPr>
      </p:sp>
      <p:sp>
        <p:nvSpPr>
          <p:cNvPr id="105" name="Text 103"/>
          <p:cNvSpPr txBox="1"/>
          <p:nvPr/>
        </p:nvSpPr>
        <p:spPr>
          <a:xfrm>
            <a:off x="5432120" y="3781829"/>
            <a:ext cx="695287" cy="126829"/>
          </a:xfrm>
          <a:prstGeom prst="rect">
            <a:avLst/>
          </a:prstGeom>
          <a:noFill/>
          <a:ln/>
        </p:spPr>
        <p:txBody>
          <a:bodyPr wrap="none" lIns="0" tIns="0" rIns="0" bIns="0" rtlCol="0" anchor="ctr"/>
          <a:lstStyle/>
          <a:p>
            <a:pPr marL="0" indent="0" algn="ctr">
              <a:buNone/>
            </a:pPr>
            <a:r>
              <a:rPr lang="en-US" sz="640" dirty="0">
                <a:solidFill>
                  <a:srgbClr val="333333"/>
                </a:solidFill>
                <a:latin typeface="Malgun Gothic" pitchFamily="34" charset="0"/>
                <a:ea typeface="Malgun Gothic" pitchFamily="34" charset="-122"/>
                <a:cs typeface="Malgun Gothic" pitchFamily="34" charset="-120"/>
              </a:rPr>
              <a:t>쿼리 사용 이력</a:t>
            </a:r>
            <a:endParaRPr lang="en-US" sz="640" dirty="0"/>
          </a:p>
        </p:txBody>
      </p:sp>
      <p:sp>
        <p:nvSpPr>
          <p:cNvPr id="106" name="Shape 104"/>
          <p:cNvSpPr/>
          <p:nvPr/>
        </p:nvSpPr>
        <p:spPr>
          <a:xfrm>
            <a:off x="6786844" y="2812985"/>
            <a:ext cx="0" cy="459481"/>
          </a:xfrm>
          <a:prstGeom prst="line">
            <a:avLst/>
          </a:prstGeom>
          <a:noFill/>
          <a:ln w="10071">
            <a:solidFill>
              <a:srgbClr val="9E9E9E"/>
            </a:solidFill>
            <a:prstDash val="dash"/>
          </a:ln>
        </p:spPr>
      </p:sp>
      <p:sp>
        <p:nvSpPr>
          <p:cNvPr id="107" name="Shape 105"/>
          <p:cNvSpPr/>
          <p:nvPr/>
        </p:nvSpPr>
        <p:spPr>
          <a:xfrm>
            <a:off x="6371423" y="3272466"/>
            <a:ext cx="830842" cy="717545"/>
          </a:xfrm>
          <a:prstGeom prst="roundRect">
            <a:avLst>
              <a:gd name="adj" fmla="val 7018"/>
            </a:avLst>
          </a:prstGeom>
          <a:solidFill>
            <a:srgbClr val="FFFFFF">
              <a:alpha val="0"/>
            </a:srgbClr>
          </a:solidFill>
          <a:ln w="10071">
            <a:solidFill>
              <a:srgbClr val="C8C8C8"/>
            </a:solidFill>
            <a:prstDash val="dash"/>
          </a:ln>
        </p:spPr>
      </p:sp>
      <p:sp>
        <p:nvSpPr>
          <p:cNvPr id="108" name="Shape 106"/>
          <p:cNvSpPr/>
          <p:nvPr/>
        </p:nvSpPr>
        <p:spPr>
          <a:xfrm>
            <a:off x="6396600" y="3335408"/>
            <a:ext cx="780488" cy="163651"/>
          </a:xfrm>
          <a:prstGeom prst="roundRect">
            <a:avLst>
              <a:gd name="adj" fmla="val 15385"/>
            </a:avLst>
          </a:prstGeom>
          <a:solidFill>
            <a:srgbClr val="EDEDED"/>
          </a:solidFill>
          <a:ln w="7620">
            <a:solidFill>
              <a:srgbClr val="A6A6A6"/>
            </a:solidFill>
            <a:prstDash val="solid"/>
          </a:ln>
        </p:spPr>
      </p:sp>
      <p:sp>
        <p:nvSpPr>
          <p:cNvPr id="109" name="Text 107"/>
          <p:cNvSpPr txBox="1"/>
          <p:nvPr/>
        </p:nvSpPr>
        <p:spPr>
          <a:xfrm>
            <a:off x="6550549" y="3353819"/>
            <a:ext cx="472591" cy="126829"/>
          </a:xfrm>
          <a:prstGeom prst="rect">
            <a:avLst/>
          </a:prstGeom>
          <a:noFill/>
          <a:ln/>
        </p:spPr>
        <p:txBody>
          <a:bodyPr wrap="none" lIns="0" tIns="0" rIns="0" bIns="0" rtlCol="0" anchor="ctr"/>
          <a:lstStyle/>
          <a:p>
            <a:pPr marL="0" indent="0" algn="ctr">
              <a:buNone/>
            </a:pPr>
            <a:r>
              <a:rPr lang="en-US" sz="640" dirty="0">
                <a:solidFill>
                  <a:srgbClr val="333333"/>
                </a:solidFill>
                <a:latin typeface="Malgun Gothic" pitchFamily="34" charset="0"/>
                <a:ea typeface="Malgun Gothic" pitchFamily="34" charset="-122"/>
                <a:cs typeface="Malgun Gothic" pitchFamily="34" charset="-120"/>
              </a:rPr>
              <a:t>골든 쿼리</a:t>
            </a:r>
            <a:endParaRPr lang="en-US" sz="640" dirty="0"/>
          </a:p>
        </p:txBody>
      </p:sp>
      <p:sp>
        <p:nvSpPr>
          <p:cNvPr id="110" name="Shape 108"/>
          <p:cNvSpPr/>
          <p:nvPr/>
        </p:nvSpPr>
        <p:spPr>
          <a:xfrm>
            <a:off x="6396600" y="3549413"/>
            <a:ext cx="780488" cy="163651"/>
          </a:xfrm>
          <a:prstGeom prst="roundRect">
            <a:avLst>
              <a:gd name="adj" fmla="val 15385"/>
            </a:avLst>
          </a:prstGeom>
          <a:solidFill>
            <a:srgbClr val="EDEDED"/>
          </a:solidFill>
          <a:ln w="7620">
            <a:solidFill>
              <a:srgbClr val="A6A6A6"/>
            </a:solidFill>
            <a:prstDash val="solid"/>
          </a:ln>
        </p:spPr>
      </p:sp>
      <p:sp>
        <p:nvSpPr>
          <p:cNvPr id="111" name="Text 109"/>
          <p:cNvSpPr txBox="1"/>
          <p:nvPr/>
        </p:nvSpPr>
        <p:spPr>
          <a:xfrm>
            <a:off x="6445387" y="3567824"/>
            <a:ext cx="682915" cy="126829"/>
          </a:xfrm>
          <a:prstGeom prst="rect">
            <a:avLst/>
          </a:prstGeom>
          <a:noFill/>
          <a:ln/>
        </p:spPr>
        <p:txBody>
          <a:bodyPr wrap="none" lIns="0" tIns="0" rIns="0" bIns="0" rtlCol="0" anchor="ctr"/>
          <a:lstStyle/>
          <a:p>
            <a:pPr marL="0" indent="0" algn="ctr">
              <a:buNone/>
            </a:pPr>
            <a:r>
              <a:rPr lang="en-US" sz="640" dirty="0">
                <a:solidFill>
                  <a:srgbClr val="333333"/>
                </a:solidFill>
                <a:latin typeface="Malgun Gothic" pitchFamily="34" charset="0"/>
                <a:ea typeface="Malgun Gothic" pitchFamily="34" charset="-122"/>
                <a:cs typeface="Malgun Gothic" pitchFamily="34" charset="-120"/>
              </a:rPr>
              <a:t>SQL 작성 규칙</a:t>
            </a:r>
            <a:endParaRPr lang="en-US" sz="640" dirty="0"/>
          </a:p>
        </p:txBody>
      </p:sp>
      <p:sp>
        <p:nvSpPr>
          <p:cNvPr id="112" name="Shape 110"/>
          <p:cNvSpPr/>
          <p:nvPr/>
        </p:nvSpPr>
        <p:spPr>
          <a:xfrm>
            <a:off x="6396600" y="3763418"/>
            <a:ext cx="780488" cy="163651"/>
          </a:xfrm>
          <a:prstGeom prst="roundRect">
            <a:avLst>
              <a:gd name="adj" fmla="val 15385"/>
            </a:avLst>
          </a:prstGeom>
          <a:solidFill>
            <a:srgbClr val="EDEDED"/>
          </a:solidFill>
          <a:ln w="7620">
            <a:solidFill>
              <a:srgbClr val="A6A6A6"/>
            </a:solidFill>
            <a:prstDash val="solid"/>
          </a:ln>
        </p:spPr>
      </p:sp>
      <p:sp>
        <p:nvSpPr>
          <p:cNvPr id="113" name="Text 111"/>
          <p:cNvSpPr txBox="1"/>
          <p:nvPr/>
        </p:nvSpPr>
        <p:spPr>
          <a:xfrm>
            <a:off x="6472782" y="3781829"/>
            <a:ext cx="628124" cy="126829"/>
          </a:xfrm>
          <a:prstGeom prst="rect">
            <a:avLst/>
          </a:prstGeom>
          <a:noFill/>
          <a:ln/>
        </p:spPr>
        <p:txBody>
          <a:bodyPr wrap="none" lIns="0" tIns="0" rIns="0" bIns="0" rtlCol="0" anchor="ctr"/>
          <a:lstStyle/>
          <a:p>
            <a:pPr marL="0" indent="0" algn="ctr">
              <a:buNone/>
            </a:pPr>
            <a:r>
              <a:rPr lang="en-US" sz="640" dirty="0">
                <a:solidFill>
                  <a:srgbClr val="333333"/>
                </a:solidFill>
                <a:latin typeface="Malgun Gothic" pitchFamily="34" charset="0"/>
                <a:ea typeface="Malgun Gothic" pitchFamily="34" charset="-122"/>
                <a:cs typeface="Malgun Gothic" pitchFamily="34" charset="-120"/>
              </a:rPr>
              <a:t>DB 방언 정보</a:t>
            </a:r>
            <a:endParaRPr lang="en-US" sz="640" dirty="0"/>
          </a:p>
        </p:txBody>
      </p:sp>
      <p:sp>
        <p:nvSpPr>
          <p:cNvPr id="114" name="Shape 112"/>
          <p:cNvSpPr/>
          <p:nvPr/>
        </p:nvSpPr>
        <p:spPr>
          <a:xfrm>
            <a:off x="7793926" y="2812985"/>
            <a:ext cx="0" cy="459481"/>
          </a:xfrm>
          <a:prstGeom prst="line">
            <a:avLst/>
          </a:prstGeom>
          <a:noFill/>
          <a:ln w="10071">
            <a:solidFill>
              <a:srgbClr val="9E9E9E"/>
            </a:solidFill>
            <a:prstDash val="dash"/>
          </a:ln>
        </p:spPr>
      </p:sp>
      <p:sp>
        <p:nvSpPr>
          <p:cNvPr id="115" name="Shape 113"/>
          <p:cNvSpPr/>
          <p:nvPr/>
        </p:nvSpPr>
        <p:spPr>
          <a:xfrm>
            <a:off x="7378505" y="3272466"/>
            <a:ext cx="830842" cy="717545"/>
          </a:xfrm>
          <a:prstGeom prst="roundRect">
            <a:avLst>
              <a:gd name="adj" fmla="val 7018"/>
            </a:avLst>
          </a:prstGeom>
          <a:solidFill>
            <a:srgbClr val="FFFFFF">
              <a:alpha val="0"/>
            </a:srgbClr>
          </a:solidFill>
          <a:ln w="10071">
            <a:solidFill>
              <a:srgbClr val="C8C8C8"/>
            </a:solidFill>
            <a:prstDash val="dash"/>
          </a:ln>
        </p:spPr>
      </p:sp>
      <p:sp>
        <p:nvSpPr>
          <p:cNvPr id="116" name="Shape 114"/>
          <p:cNvSpPr/>
          <p:nvPr/>
        </p:nvSpPr>
        <p:spPr>
          <a:xfrm>
            <a:off x="7403682" y="3335408"/>
            <a:ext cx="780488" cy="163651"/>
          </a:xfrm>
          <a:prstGeom prst="roundRect">
            <a:avLst>
              <a:gd name="adj" fmla="val 15385"/>
            </a:avLst>
          </a:prstGeom>
          <a:solidFill>
            <a:srgbClr val="EDEDED"/>
          </a:solidFill>
          <a:ln w="7620">
            <a:solidFill>
              <a:srgbClr val="A6A6A6"/>
            </a:solidFill>
            <a:prstDash val="solid"/>
          </a:ln>
        </p:spPr>
      </p:sp>
      <p:sp>
        <p:nvSpPr>
          <p:cNvPr id="117" name="Text 115"/>
          <p:cNvSpPr txBox="1"/>
          <p:nvPr/>
        </p:nvSpPr>
        <p:spPr>
          <a:xfrm>
            <a:off x="7446282" y="3353819"/>
            <a:ext cx="695287" cy="126829"/>
          </a:xfrm>
          <a:prstGeom prst="rect">
            <a:avLst/>
          </a:prstGeom>
          <a:noFill/>
          <a:ln/>
        </p:spPr>
        <p:txBody>
          <a:bodyPr wrap="none" lIns="0" tIns="0" rIns="0" bIns="0" rtlCol="0" anchor="ctr"/>
          <a:lstStyle/>
          <a:p>
            <a:pPr marL="0" indent="0" algn="ctr">
              <a:buNone/>
            </a:pPr>
            <a:r>
              <a:rPr lang="en-US" sz="640" dirty="0">
                <a:solidFill>
                  <a:srgbClr val="333333"/>
                </a:solidFill>
                <a:latin typeface="Malgun Gothic" pitchFamily="34" charset="0"/>
                <a:ea typeface="Malgun Gothic" pitchFamily="34" charset="-122"/>
                <a:cs typeface="Malgun Gothic" pitchFamily="34" charset="-120"/>
              </a:rPr>
              <a:t>접근 권한 정책</a:t>
            </a:r>
            <a:endParaRPr lang="en-US" sz="640" dirty="0"/>
          </a:p>
        </p:txBody>
      </p:sp>
      <p:sp>
        <p:nvSpPr>
          <p:cNvPr id="118" name="Shape 116"/>
          <p:cNvSpPr/>
          <p:nvPr/>
        </p:nvSpPr>
        <p:spPr>
          <a:xfrm>
            <a:off x="7403682" y="3549413"/>
            <a:ext cx="780488" cy="163651"/>
          </a:xfrm>
          <a:prstGeom prst="roundRect">
            <a:avLst>
              <a:gd name="adj" fmla="val 15385"/>
            </a:avLst>
          </a:prstGeom>
          <a:solidFill>
            <a:srgbClr val="EDEDED"/>
          </a:solidFill>
          <a:ln w="7620">
            <a:solidFill>
              <a:srgbClr val="A6A6A6"/>
            </a:solidFill>
            <a:prstDash val="solid"/>
          </a:ln>
        </p:spPr>
      </p:sp>
      <p:sp>
        <p:nvSpPr>
          <p:cNvPr id="119" name="Text 117"/>
          <p:cNvSpPr txBox="1"/>
          <p:nvPr/>
        </p:nvSpPr>
        <p:spPr>
          <a:xfrm>
            <a:off x="7513445" y="3567824"/>
            <a:ext cx="560962" cy="126829"/>
          </a:xfrm>
          <a:prstGeom prst="rect">
            <a:avLst/>
          </a:prstGeom>
          <a:noFill/>
          <a:ln/>
        </p:spPr>
        <p:txBody>
          <a:bodyPr wrap="none" lIns="0" tIns="0" rIns="0" bIns="0" rtlCol="0" anchor="ctr"/>
          <a:lstStyle/>
          <a:p>
            <a:pPr marL="0" indent="0" algn="ctr">
              <a:buNone/>
            </a:pPr>
            <a:r>
              <a:rPr lang="en-US" sz="640" dirty="0">
                <a:solidFill>
                  <a:srgbClr val="333333"/>
                </a:solidFill>
                <a:latin typeface="Malgun Gothic" pitchFamily="34" charset="0"/>
                <a:ea typeface="Malgun Gothic" pitchFamily="34" charset="-122"/>
                <a:cs typeface="Malgun Gothic" pitchFamily="34" charset="-120"/>
              </a:rPr>
              <a:t>테이블 통계</a:t>
            </a:r>
            <a:endParaRPr lang="en-US" sz="640" dirty="0"/>
          </a:p>
        </p:txBody>
      </p:sp>
      <p:sp>
        <p:nvSpPr>
          <p:cNvPr id="120" name="Shape 118"/>
          <p:cNvSpPr/>
          <p:nvPr/>
        </p:nvSpPr>
        <p:spPr>
          <a:xfrm>
            <a:off x="7403682" y="3763418"/>
            <a:ext cx="780488" cy="163651"/>
          </a:xfrm>
          <a:prstGeom prst="roundRect">
            <a:avLst>
              <a:gd name="adj" fmla="val 15385"/>
            </a:avLst>
          </a:prstGeom>
          <a:solidFill>
            <a:srgbClr val="EDEDED"/>
          </a:solidFill>
          <a:ln w="7620">
            <a:solidFill>
              <a:srgbClr val="A6A6A6"/>
            </a:solidFill>
            <a:prstDash val="solid"/>
          </a:ln>
        </p:spPr>
      </p:sp>
      <p:sp>
        <p:nvSpPr>
          <p:cNvPr id="121" name="Text 119"/>
          <p:cNvSpPr txBox="1"/>
          <p:nvPr/>
        </p:nvSpPr>
        <p:spPr>
          <a:xfrm>
            <a:off x="7513445" y="3781829"/>
            <a:ext cx="560962" cy="126829"/>
          </a:xfrm>
          <a:prstGeom prst="rect">
            <a:avLst/>
          </a:prstGeom>
          <a:noFill/>
          <a:ln/>
        </p:spPr>
        <p:txBody>
          <a:bodyPr wrap="none" lIns="0" tIns="0" rIns="0" bIns="0" rtlCol="0" anchor="ctr"/>
          <a:lstStyle/>
          <a:p>
            <a:pPr marL="0" indent="0" algn="ctr">
              <a:buNone/>
            </a:pPr>
            <a:r>
              <a:rPr lang="en-US" sz="640" dirty="0">
                <a:solidFill>
                  <a:srgbClr val="333333"/>
                </a:solidFill>
                <a:latin typeface="Malgun Gothic" pitchFamily="34" charset="0"/>
                <a:ea typeface="Malgun Gothic" pitchFamily="34" charset="-122"/>
                <a:cs typeface="Malgun Gothic" pitchFamily="34" charset="-120"/>
              </a:rPr>
              <a:t>파티션 정보</a:t>
            </a:r>
            <a:endParaRPr lang="en-US" sz="640" dirty="0"/>
          </a:p>
        </p:txBody>
      </p:sp>
      <p:sp>
        <p:nvSpPr>
          <p:cNvPr id="122" name="Shape 120"/>
          <p:cNvSpPr/>
          <p:nvPr/>
        </p:nvSpPr>
        <p:spPr>
          <a:xfrm>
            <a:off x="9556318" y="2812985"/>
            <a:ext cx="0" cy="459481"/>
          </a:xfrm>
          <a:prstGeom prst="line">
            <a:avLst/>
          </a:prstGeom>
          <a:noFill/>
          <a:ln w="10071">
            <a:solidFill>
              <a:srgbClr val="9E9E9E"/>
            </a:solidFill>
            <a:prstDash val="dash"/>
          </a:ln>
        </p:spPr>
      </p:sp>
      <p:sp>
        <p:nvSpPr>
          <p:cNvPr id="123" name="Shape 121"/>
          <p:cNvSpPr/>
          <p:nvPr/>
        </p:nvSpPr>
        <p:spPr>
          <a:xfrm>
            <a:off x="9140897" y="3272466"/>
            <a:ext cx="830842" cy="717545"/>
          </a:xfrm>
          <a:prstGeom prst="roundRect">
            <a:avLst>
              <a:gd name="adj" fmla="val 7018"/>
            </a:avLst>
          </a:prstGeom>
          <a:solidFill>
            <a:srgbClr val="FFFFFF">
              <a:alpha val="0"/>
            </a:srgbClr>
          </a:solidFill>
          <a:ln w="10071">
            <a:solidFill>
              <a:srgbClr val="C8C8C8"/>
            </a:solidFill>
            <a:prstDash val="dash"/>
          </a:ln>
        </p:spPr>
      </p:sp>
      <p:sp>
        <p:nvSpPr>
          <p:cNvPr id="124" name="Shape 122"/>
          <p:cNvSpPr/>
          <p:nvPr/>
        </p:nvSpPr>
        <p:spPr>
          <a:xfrm>
            <a:off x="9166074" y="3335408"/>
            <a:ext cx="780488" cy="163651"/>
          </a:xfrm>
          <a:prstGeom prst="roundRect">
            <a:avLst>
              <a:gd name="adj" fmla="val 15385"/>
            </a:avLst>
          </a:prstGeom>
          <a:solidFill>
            <a:srgbClr val="EDEDED"/>
          </a:solidFill>
          <a:ln w="7620">
            <a:solidFill>
              <a:srgbClr val="A6A6A6"/>
            </a:solidFill>
            <a:prstDash val="solid"/>
          </a:ln>
        </p:spPr>
      </p:sp>
      <p:sp>
        <p:nvSpPr>
          <p:cNvPr id="125" name="Text 123"/>
          <p:cNvSpPr txBox="1"/>
          <p:nvPr/>
        </p:nvSpPr>
        <p:spPr>
          <a:xfrm>
            <a:off x="9231651" y="3353819"/>
            <a:ext cx="649333" cy="126829"/>
          </a:xfrm>
          <a:prstGeom prst="rect">
            <a:avLst/>
          </a:prstGeom>
          <a:noFill/>
          <a:ln/>
        </p:spPr>
        <p:txBody>
          <a:bodyPr wrap="none" lIns="0" tIns="0" rIns="0" bIns="0" rtlCol="0" anchor="ctr"/>
          <a:lstStyle/>
          <a:p>
            <a:pPr marL="0" indent="0" algn="ctr">
              <a:buNone/>
            </a:pPr>
            <a:r>
              <a:rPr lang="en-US" sz="640" dirty="0">
                <a:solidFill>
                  <a:srgbClr val="333333"/>
                </a:solidFill>
                <a:latin typeface="Malgun Gothic" pitchFamily="34" charset="0"/>
                <a:ea typeface="Malgun Gothic" pitchFamily="34" charset="-122"/>
                <a:cs typeface="Malgun Gothic" pitchFamily="34" charset="-120"/>
              </a:rPr>
              <a:t>보관기간 정보</a:t>
            </a:r>
            <a:endParaRPr lang="en-US" sz="640" dirty="0"/>
          </a:p>
        </p:txBody>
      </p:sp>
      <p:sp>
        <p:nvSpPr>
          <p:cNvPr id="126" name="Shape 124"/>
          <p:cNvSpPr/>
          <p:nvPr/>
        </p:nvSpPr>
        <p:spPr>
          <a:xfrm>
            <a:off x="9166074" y="3549413"/>
            <a:ext cx="780488" cy="163651"/>
          </a:xfrm>
          <a:prstGeom prst="roundRect">
            <a:avLst>
              <a:gd name="adj" fmla="val 15385"/>
            </a:avLst>
          </a:prstGeom>
          <a:solidFill>
            <a:srgbClr val="EDEDED"/>
          </a:solidFill>
          <a:ln w="7620">
            <a:solidFill>
              <a:srgbClr val="A6A6A6"/>
            </a:solidFill>
            <a:prstDash val="solid"/>
          </a:ln>
        </p:spPr>
      </p:sp>
      <p:sp>
        <p:nvSpPr>
          <p:cNvPr id="127" name="Text 125"/>
          <p:cNvSpPr txBox="1"/>
          <p:nvPr/>
        </p:nvSpPr>
        <p:spPr>
          <a:xfrm>
            <a:off x="9208675" y="3567824"/>
            <a:ext cx="695287" cy="126829"/>
          </a:xfrm>
          <a:prstGeom prst="rect">
            <a:avLst/>
          </a:prstGeom>
          <a:noFill/>
          <a:ln/>
        </p:spPr>
        <p:txBody>
          <a:bodyPr wrap="none" lIns="0" tIns="0" rIns="0" bIns="0" rtlCol="0" anchor="ctr"/>
          <a:lstStyle/>
          <a:p>
            <a:pPr marL="0" indent="0" algn="ctr">
              <a:buNone/>
            </a:pPr>
            <a:r>
              <a:rPr lang="en-US" sz="640" dirty="0">
                <a:solidFill>
                  <a:srgbClr val="333333"/>
                </a:solidFill>
                <a:latin typeface="Malgun Gothic" pitchFamily="34" charset="0"/>
                <a:ea typeface="Malgun Gothic" pitchFamily="34" charset="-122"/>
                <a:cs typeface="Malgun Gothic" pitchFamily="34" charset="-120"/>
              </a:rPr>
              <a:t>적재 지연 현황</a:t>
            </a:r>
            <a:endParaRPr lang="en-US" sz="640" dirty="0"/>
          </a:p>
        </p:txBody>
      </p:sp>
      <p:sp>
        <p:nvSpPr>
          <p:cNvPr id="128" name="Shape 126"/>
          <p:cNvSpPr/>
          <p:nvPr/>
        </p:nvSpPr>
        <p:spPr>
          <a:xfrm>
            <a:off x="10563399" y="2812985"/>
            <a:ext cx="0" cy="459481"/>
          </a:xfrm>
          <a:prstGeom prst="line">
            <a:avLst/>
          </a:prstGeom>
          <a:noFill/>
          <a:ln w="10071">
            <a:solidFill>
              <a:srgbClr val="9E9E9E"/>
            </a:solidFill>
            <a:prstDash val="dash"/>
          </a:ln>
        </p:spPr>
      </p:sp>
      <p:sp>
        <p:nvSpPr>
          <p:cNvPr id="129" name="Shape 127"/>
          <p:cNvSpPr/>
          <p:nvPr/>
        </p:nvSpPr>
        <p:spPr>
          <a:xfrm>
            <a:off x="10147978" y="3272466"/>
            <a:ext cx="830842" cy="717545"/>
          </a:xfrm>
          <a:prstGeom prst="roundRect">
            <a:avLst>
              <a:gd name="adj" fmla="val 7018"/>
            </a:avLst>
          </a:prstGeom>
          <a:solidFill>
            <a:srgbClr val="FFFFFF">
              <a:alpha val="0"/>
            </a:srgbClr>
          </a:solidFill>
          <a:ln w="10071">
            <a:solidFill>
              <a:srgbClr val="C8C8C8"/>
            </a:solidFill>
            <a:prstDash val="dash"/>
          </a:ln>
        </p:spPr>
      </p:sp>
      <p:sp>
        <p:nvSpPr>
          <p:cNvPr id="130" name="Shape 128"/>
          <p:cNvSpPr/>
          <p:nvPr/>
        </p:nvSpPr>
        <p:spPr>
          <a:xfrm>
            <a:off x="10173155" y="3335408"/>
            <a:ext cx="780488" cy="163651"/>
          </a:xfrm>
          <a:prstGeom prst="roundRect">
            <a:avLst>
              <a:gd name="adj" fmla="val 15385"/>
            </a:avLst>
          </a:prstGeom>
          <a:solidFill>
            <a:srgbClr val="EDEDED"/>
          </a:solidFill>
          <a:ln w="7620">
            <a:solidFill>
              <a:srgbClr val="A6A6A6"/>
            </a:solidFill>
            <a:prstDash val="solid"/>
          </a:ln>
        </p:spPr>
      </p:sp>
      <p:sp>
        <p:nvSpPr>
          <p:cNvPr id="131" name="Text 129"/>
          <p:cNvSpPr txBox="1"/>
          <p:nvPr/>
        </p:nvSpPr>
        <p:spPr>
          <a:xfrm>
            <a:off x="10238732" y="3353819"/>
            <a:ext cx="649333" cy="126829"/>
          </a:xfrm>
          <a:prstGeom prst="rect">
            <a:avLst/>
          </a:prstGeom>
          <a:noFill/>
          <a:ln/>
        </p:spPr>
        <p:txBody>
          <a:bodyPr wrap="none" lIns="0" tIns="0" rIns="0" bIns="0" rtlCol="0" anchor="ctr"/>
          <a:lstStyle/>
          <a:p>
            <a:pPr marL="0" indent="0" algn="ctr">
              <a:buNone/>
            </a:pPr>
            <a:r>
              <a:rPr lang="en-US" sz="640" dirty="0">
                <a:solidFill>
                  <a:srgbClr val="333333"/>
                </a:solidFill>
                <a:latin typeface="Malgun Gothic" pitchFamily="34" charset="0"/>
                <a:ea typeface="Malgun Gothic" pitchFamily="34" charset="-122"/>
                <a:cs typeface="Malgun Gothic" pitchFamily="34" charset="-120"/>
              </a:rPr>
              <a:t>코드값 해석표</a:t>
            </a:r>
            <a:endParaRPr lang="en-US" sz="640" dirty="0"/>
          </a:p>
        </p:txBody>
      </p:sp>
      <p:sp>
        <p:nvSpPr>
          <p:cNvPr id="132" name="Shape 130"/>
          <p:cNvSpPr/>
          <p:nvPr/>
        </p:nvSpPr>
        <p:spPr>
          <a:xfrm>
            <a:off x="10173155" y="3549413"/>
            <a:ext cx="780488" cy="163651"/>
          </a:xfrm>
          <a:prstGeom prst="roundRect">
            <a:avLst>
              <a:gd name="adj" fmla="val 15385"/>
            </a:avLst>
          </a:prstGeom>
          <a:solidFill>
            <a:srgbClr val="EDEDED"/>
          </a:solidFill>
          <a:ln w="7620">
            <a:solidFill>
              <a:srgbClr val="A6A6A6"/>
            </a:solidFill>
            <a:prstDash val="solid"/>
          </a:ln>
        </p:spPr>
      </p:sp>
      <p:sp>
        <p:nvSpPr>
          <p:cNvPr id="133" name="Text 131"/>
          <p:cNvSpPr txBox="1"/>
          <p:nvPr/>
        </p:nvSpPr>
        <p:spPr>
          <a:xfrm>
            <a:off x="10215756" y="3567824"/>
            <a:ext cx="695287" cy="126829"/>
          </a:xfrm>
          <a:prstGeom prst="rect">
            <a:avLst/>
          </a:prstGeom>
          <a:noFill/>
          <a:ln/>
        </p:spPr>
        <p:txBody>
          <a:bodyPr wrap="none" lIns="0" tIns="0" rIns="0" bIns="0" rtlCol="0" anchor="ctr"/>
          <a:lstStyle/>
          <a:p>
            <a:pPr marL="0" indent="0" algn="ctr">
              <a:buNone/>
            </a:pPr>
            <a:r>
              <a:rPr lang="en-US" sz="640" dirty="0">
                <a:solidFill>
                  <a:srgbClr val="333333"/>
                </a:solidFill>
                <a:latin typeface="Malgun Gothic" pitchFamily="34" charset="0"/>
                <a:ea typeface="Malgun Gothic" pitchFamily="34" charset="-122"/>
                <a:cs typeface="Malgun Gothic" pitchFamily="34" charset="-120"/>
              </a:rPr>
              <a:t>단위·지표 정의</a:t>
            </a:r>
            <a:endParaRPr lang="en-US" sz="640" dirty="0"/>
          </a:p>
        </p:txBody>
      </p:sp>
      <p:sp>
        <p:nvSpPr>
          <p:cNvPr id="134" name="Shape 132"/>
          <p:cNvSpPr/>
          <p:nvPr/>
        </p:nvSpPr>
        <p:spPr>
          <a:xfrm>
            <a:off x="11003997" y="1868846"/>
            <a:ext cx="201416" cy="0"/>
          </a:xfrm>
          <a:prstGeom prst="line">
            <a:avLst/>
          </a:prstGeom>
          <a:noFill/>
          <a:ln w="14099">
            <a:solidFill>
              <a:srgbClr val="7F7F7F"/>
            </a:solidFill>
            <a:prstDash val="solid"/>
          </a:ln>
        </p:spPr>
      </p:sp>
      <p:sp>
        <p:nvSpPr>
          <p:cNvPr id="135" name="Shape 133"/>
          <p:cNvSpPr/>
          <p:nvPr/>
        </p:nvSpPr>
        <p:spPr>
          <a:xfrm>
            <a:off x="11205413" y="1868846"/>
            <a:ext cx="0" cy="2328875"/>
          </a:xfrm>
          <a:prstGeom prst="line">
            <a:avLst/>
          </a:prstGeom>
          <a:noFill/>
          <a:ln w="14099">
            <a:solidFill>
              <a:srgbClr val="7F7F7F"/>
            </a:solidFill>
            <a:prstDash val="solid"/>
          </a:ln>
        </p:spPr>
      </p:sp>
      <p:sp>
        <p:nvSpPr>
          <p:cNvPr id="136" name="Shape 134"/>
          <p:cNvSpPr/>
          <p:nvPr/>
        </p:nvSpPr>
        <p:spPr>
          <a:xfrm flipH="1">
            <a:off x="10985114" y="4197722"/>
            <a:ext cx="220299" cy="0"/>
          </a:xfrm>
          <a:prstGeom prst="line">
            <a:avLst/>
          </a:prstGeom>
          <a:noFill/>
          <a:ln w="14099">
            <a:solidFill>
              <a:srgbClr val="7F7F7F"/>
            </a:solidFill>
            <a:prstDash val="solid"/>
            <a:tailEnd type="triangle"/>
          </a:ln>
        </p:spPr>
      </p:sp>
      <p:sp>
        <p:nvSpPr>
          <p:cNvPr id="137" name="Shape 135"/>
          <p:cNvSpPr/>
          <p:nvPr/>
        </p:nvSpPr>
        <p:spPr>
          <a:xfrm>
            <a:off x="10173155" y="4115896"/>
            <a:ext cx="780488" cy="163651"/>
          </a:xfrm>
          <a:prstGeom prst="roundRect">
            <a:avLst>
              <a:gd name="adj" fmla="val 15385"/>
            </a:avLst>
          </a:prstGeom>
          <a:solidFill>
            <a:srgbClr val="F2F2F2"/>
          </a:solidFill>
          <a:ln w="10071">
            <a:solidFill>
              <a:srgbClr val="7F7F7F"/>
            </a:solidFill>
            <a:prstDash val="solid"/>
          </a:ln>
        </p:spPr>
      </p:sp>
      <p:sp>
        <p:nvSpPr>
          <p:cNvPr id="138" name="Text 136"/>
          <p:cNvSpPr txBox="1"/>
          <p:nvPr/>
        </p:nvSpPr>
        <p:spPr>
          <a:xfrm>
            <a:off x="10171570" y="4134307"/>
            <a:ext cx="783658" cy="126829"/>
          </a:xfrm>
          <a:prstGeom prst="rect">
            <a:avLst/>
          </a:prstGeom>
          <a:noFill/>
          <a:ln/>
        </p:spPr>
        <p:txBody>
          <a:bodyPr wrap="none" lIns="0" tIns="0" rIns="0" bIns="0" rtlCol="0" anchor="ctr"/>
          <a:lstStyle/>
          <a:p>
            <a:pPr marL="0" indent="0" algn="ctr">
              <a:buNone/>
            </a:pPr>
            <a:r>
              <a:rPr lang="en-US" sz="640" dirty="0">
                <a:solidFill>
                  <a:srgbClr val="404040"/>
                </a:solidFill>
                <a:latin typeface="Malgun Gothic" pitchFamily="34" charset="0"/>
                <a:ea typeface="Malgun Gothic" pitchFamily="34" charset="-122"/>
                <a:cs typeface="Malgun Gothic" pitchFamily="34" charset="-120"/>
              </a:rPr>
              <a:t>질의·피드백 로그</a:t>
            </a:r>
            <a:endParaRPr lang="en-US" sz="640" dirty="0"/>
          </a:p>
        </p:txBody>
      </p:sp>
      <p:sp>
        <p:nvSpPr>
          <p:cNvPr id="139" name="Shape 137"/>
          <p:cNvSpPr/>
          <p:nvPr/>
        </p:nvSpPr>
        <p:spPr>
          <a:xfrm>
            <a:off x="502920" y="4700016"/>
            <a:ext cx="137160" cy="137160"/>
          </a:xfrm>
          <a:prstGeom prst="rect">
            <a:avLst/>
          </a:prstGeom>
          <a:solidFill>
            <a:srgbClr val="D9D9D9"/>
          </a:solidFill>
          <a:ln w="9525">
            <a:solidFill>
              <a:srgbClr val="7F7F7F"/>
            </a:solidFill>
            <a:prstDash val="solid"/>
          </a:ln>
        </p:spPr>
      </p:sp>
      <p:sp>
        <p:nvSpPr>
          <p:cNvPr id="140" name="Text 138"/>
          <p:cNvSpPr txBox="1"/>
          <p:nvPr/>
        </p:nvSpPr>
        <p:spPr>
          <a:xfrm>
            <a:off x="795528" y="4663440"/>
            <a:ext cx="795528" cy="201168"/>
          </a:xfrm>
          <a:prstGeom prst="rect">
            <a:avLst/>
          </a:prstGeom>
          <a:noFill/>
          <a:ln/>
        </p:spPr>
        <p:txBody>
          <a:bodyPr wrap="square" lIns="0" tIns="0" rIns="0" bIns="0" rtlCol="0" anchor="ctr"/>
          <a:lstStyle/>
          <a:p>
            <a:pPr marL="0" indent="0">
              <a:buNone/>
            </a:pPr>
            <a:r>
              <a:rPr lang="en-US" sz="1000" dirty="0">
                <a:solidFill>
                  <a:srgbClr val="5F5F5F"/>
                </a:solidFill>
                <a:latin typeface="Malgun Gothic" pitchFamily="34" charset="0"/>
                <a:ea typeface="Malgun Gothic" pitchFamily="34" charset="-122"/>
                <a:cs typeface="Malgun Gothic" pitchFamily="34" charset="-120"/>
              </a:rPr>
              <a:t>사용자 작업</a:t>
            </a:r>
            <a:endParaRPr lang="en-US" sz="1000" dirty="0"/>
          </a:p>
        </p:txBody>
      </p:sp>
      <p:sp>
        <p:nvSpPr>
          <p:cNvPr id="141" name="Shape 139"/>
          <p:cNvSpPr/>
          <p:nvPr/>
        </p:nvSpPr>
        <p:spPr>
          <a:xfrm>
            <a:off x="1755648" y="4700016"/>
            <a:ext cx="137160" cy="137160"/>
          </a:xfrm>
          <a:prstGeom prst="rect">
            <a:avLst/>
          </a:prstGeom>
          <a:solidFill>
            <a:srgbClr val="FFFFFF"/>
          </a:solidFill>
          <a:ln w="9525">
            <a:solidFill>
              <a:srgbClr val="3A3A3A"/>
            </a:solidFill>
            <a:prstDash val="solid"/>
          </a:ln>
        </p:spPr>
      </p:sp>
      <p:sp>
        <p:nvSpPr>
          <p:cNvPr id="142" name="Text 140"/>
          <p:cNvSpPr txBox="1"/>
          <p:nvPr/>
        </p:nvSpPr>
        <p:spPr>
          <a:xfrm>
            <a:off x="2048256" y="4663440"/>
            <a:ext cx="1014984" cy="201168"/>
          </a:xfrm>
          <a:prstGeom prst="rect">
            <a:avLst/>
          </a:prstGeom>
          <a:noFill/>
          <a:ln/>
        </p:spPr>
        <p:txBody>
          <a:bodyPr wrap="square" lIns="0" tIns="0" rIns="0" bIns="0" rtlCol="0" anchor="ctr"/>
          <a:lstStyle/>
          <a:p>
            <a:pPr marL="0" indent="0">
              <a:buNone/>
            </a:pPr>
            <a:r>
              <a:rPr lang="en-US" sz="1000" dirty="0">
                <a:solidFill>
                  <a:srgbClr val="5F5F5F"/>
                </a:solidFill>
                <a:latin typeface="Malgun Gothic" pitchFamily="34" charset="0"/>
                <a:ea typeface="Malgun Gothic" pitchFamily="34" charset="-122"/>
                <a:cs typeface="Malgun Gothic" pitchFamily="34" charset="-120"/>
              </a:rPr>
              <a:t>엔진 처리 단계</a:t>
            </a:r>
            <a:endParaRPr lang="en-US" sz="1000" dirty="0"/>
          </a:p>
        </p:txBody>
      </p:sp>
      <p:sp>
        <p:nvSpPr>
          <p:cNvPr id="143" name="Shape 141"/>
          <p:cNvSpPr/>
          <p:nvPr/>
        </p:nvSpPr>
        <p:spPr>
          <a:xfrm>
            <a:off x="3227832" y="4700016"/>
            <a:ext cx="137160" cy="137160"/>
          </a:xfrm>
          <a:prstGeom prst="rect">
            <a:avLst/>
          </a:prstGeom>
          <a:solidFill>
            <a:srgbClr val="EDEDED"/>
          </a:solidFill>
          <a:ln w="9525">
            <a:solidFill>
              <a:srgbClr val="A6A6A6"/>
            </a:solidFill>
            <a:prstDash val="solid"/>
          </a:ln>
        </p:spPr>
      </p:sp>
      <p:sp>
        <p:nvSpPr>
          <p:cNvPr id="144" name="Text 142"/>
          <p:cNvSpPr txBox="1"/>
          <p:nvPr/>
        </p:nvSpPr>
        <p:spPr>
          <a:xfrm>
            <a:off x="3520440" y="4663440"/>
            <a:ext cx="1014984" cy="201168"/>
          </a:xfrm>
          <a:prstGeom prst="rect">
            <a:avLst/>
          </a:prstGeom>
          <a:noFill/>
          <a:ln/>
        </p:spPr>
        <p:txBody>
          <a:bodyPr wrap="square" lIns="0" tIns="0" rIns="0" bIns="0" rtlCol="0" anchor="ctr"/>
          <a:lstStyle/>
          <a:p>
            <a:pPr marL="0" indent="0">
              <a:buNone/>
            </a:pPr>
            <a:r>
              <a:rPr lang="en-US" sz="1000" dirty="0">
                <a:solidFill>
                  <a:srgbClr val="5F5F5F"/>
                </a:solidFill>
                <a:latin typeface="Malgun Gothic" pitchFamily="34" charset="0"/>
                <a:ea typeface="Malgun Gothic" pitchFamily="34" charset="-122"/>
                <a:cs typeface="Malgun Gothic" pitchFamily="34" charset="-120"/>
              </a:rPr>
              <a:t>참조 메타데이터</a:t>
            </a:r>
            <a:endParaRPr lang="en-US" sz="1000" dirty="0"/>
          </a:p>
        </p:txBody>
      </p:sp>
      <p:sp>
        <p:nvSpPr>
          <p:cNvPr id="145" name="Shape 143"/>
          <p:cNvSpPr/>
          <p:nvPr/>
        </p:nvSpPr>
        <p:spPr>
          <a:xfrm>
            <a:off x="4700016" y="4700016"/>
            <a:ext cx="137160" cy="137160"/>
          </a:xfrm>
          <a:prstGeom prst="rect">
            <a:avLst/>
          </a:prstGeom>
          <a:solidFill>
            <a:srgbClr val="F2F2F2"/>
          </a:solidFill>
          <a:ln w="9525">
            <a:solidFill>
              <a:srgbClr val="7F7F7F"/>
            </a:solidFill>
            <a:prstDash val="solid"/>
          </a:ln>
        </p:spPr>
      </p:sp>
      <p:sp>
        <p:nvSpPr>
          <p:cNvPr id="146" name="Text 144"/>
          <p:cNvSpPr txBox="1"/>
          <p:nvPr/>
        </p:nvSpPr>
        <p:spPr>
          <a:xfrm>
            <a:off x="4992624" y="4663440"/>
            <a:ext cx="795528" cy="201168"/>
          </a:xfrm>
          <a:prstGeom prst="rect">
            <a:avLst/>
          </a:prstGeom>
          <a:noFill/>
          <a:ln/>
        </p:spPr>
        <p:txBody>
          <a:bodyPr wrap="square" lIns="0" tIns="0" rIns="0" bIns="0" rtlCol="0" anchor="ctr"/>
          <a:lstStyle/>
          <a:p>
            <a:pPr marL="0" indent="0">
              <a:buNone/>
            </a:pPr>
            <a:r>
              <a:rPr lang="en-US" sz="1000" dirty="0">
                <a:solidFill>
                  <a:srgbClr val="5F5F5F"/>
                </a:solidFill>
                <a:latin typeface="Malgun Gothic" pitchFamily="34" charset="0"/>
                <a:ea typeface="Malgun Gothic" pitchFamily="34" charset="-122"/>
                <a:cs typeface="Malgun Gothic" pitchFamily="34" charset="-120"/>
              </a:rPr>
              <a:t>기록 저장소</a:t>
            </a:r>
            <a:endParaRPr lang="en-US" sz="1000" dirty="0"/>
          </a:p>
        </p:txBody>
      </p:sp>
      <p:sp>
        <p:nvSpPr>
          <p:cNvPr id="147" name="Shape 145"/>
          <p:cNvSpPr/>
          <p:nvPr/>
        </p:nvSpPr>
        <p:spPr>
          <a:xfrm>
            <a:off x="5952744" y="4764024"/>
            <a:ext cx="228600" cy="0"/>
          </a:xfrm>
          <a:prstGeom prst="line">
            <a:avLst/>
          </a:prstGeom>
          <a:noFill/>
          <a:ln w="12700">
            <a:solidFill>
              <a:srgbClr val="5F5F5F"/>
            </a:solidFill>
            <a:prstDash val="dash"/>
          </a:ln>
        </p:spPr>
      </p:sp>
      <p:sp>
        <p:nvSpPr>
          <p:cNvPr id="148" name="Text 146"/>
          <p:cNvSpPr txBox="1"/>
          <p:nvPr/>
        </p:nvSpPr>
        <p:spPr>
          <a:xfrm>
            <a:off x="6245352" y="4663440"/>
            <a:ext cx="795528" cy="201168"/>
          </a:xfrm>
          <a:prstGeom prst="rect">
            <a:avLst/>
          </a:prstGeom>
          <a:noFill/>
          <a:ln/>
        </p:spPr>
        <p:txBody>
          <a:bodyPr wrap="square" lIns="0" tIns="0" rIns="0" bIns="0" rtlCol="0" anchor="ctr"/>
          <a:lstStyle/>
          <a:p>
            <a:pPr marL="0" indent="0">
              <a:buNone/>
            </a:pPr>
            <a:r>
              <a:rPr lang="en-US" sz="1000" dirty="0">
                <a:solidFill>
                  <a:srgbClr val="5F5F5F"/>
                </a:solidFill>
                <a:latin typeface="Malgun Gothic" pitchFamily="34" charset="0"/>
                <a:ea typeface="Malgun Gothic" pitchFamily="34" charset="-122"/>
                <a:cs typeface="Malgun Gothic" pitchFamily="34" charset="-120"/>
              </a:rPr>
              <a:t>데이터 연결</a:t>
            </a:r>
            <a:endParaRPr lang="en-US" sz="1000" dirty="0"/>
          </a:p>
        </p:txBody>
      </p:sp>
      <p:sp>
        <p:nvSpPr>
          <p:cNvPr id="149" name="Shape 147"/>
          <p:cNvSpPr/>
          <p:nvPr/>
        </p:nvSpPr>
        <p:spPr>
          <a:xfrm>
            <a:off x="7205472" y="4700016"/>
            <a:ext cx="137160" cy="137160"/>
          </a:xfrm>
          <a:prstGeom prst="rect">
            <a:avLst/>
          </a:prstGeom>
          <a:solidFill>
            <a:srgbClr val="FFFFFF">
              <a:alpha val="0"/>
            </a:srgbClr>
          </a:solidFill>
          <a:ln w="15875">
            <a:solidFill>
              <a:srgbClr val="D9480F"/>
            </a:solidFill>
            <a:prstDash val="dash"/>
          </a:ln>
        </p:spPr>
      </p:sp>
      <p:sp>
        <p:nvSpPr>
          <p:cNvPr id="150" name="Text 148"/>
          <p:cNvSpPr txBox="1"/>
          <p:nvPr/>
        </p:nvSpPr>
        <p:spPr>
          <a:xfrm>
            <a:off x="7498080" y="4663440"/>
            <a:ext cx="1014984" cy="201168"/>
          </a:xfrm>
          <a:prstGeom prst="rect">
            <a:avLst/>
          </a:prstGeom>
          <a:noFill/>
          <a:ln/>
        </p:spPr>
        <p:txBody>
          <a:bodyPr wrap="square" lIns="0" tIns="0" rIns="0" bIns="0" rtlCol="0" anchor="ctr"/>
          <a:lstStyle/>
          <a:p>
            <a:pPr marL="0" indent="0">
              <a:buNone/>
            </a:pPr>
            <a:r>
              <a:rPr lang="en-US" sz="1000" dirty="0">
                <a:solidFill>
                  <a:srgbClr val="5F5F5F"/>
                </a:solidFill>
                <a:latin typeface="Malgun Gothic" pitchFamily="34" charset="0"/>
                <a:ea typeface="Malgun Gothic" pitchFamily="34" charset="-122"/>
                <a:cs typeface="Malgun Gothic" pitchFamily="34" charset="-120"/>
              </a:rPr>
              <a:t>핵심 병목 구간</a:t>
            </a:r>
            <a:endParaRPr lang="en-US" sz="1000" dirty="0"/>
          </a:p>
        </p:txBody>
      </p:sp>
      <p:sp>
        <p:nvSpPr>
          <p:cNvPr id="151" name="Shape 149"/>
          <p:cNvSpPr/>
          <p:nvPr/>
        </p:nvSpPr>
        <p:spPr>
          <a:xfrm>
            <a:off x="457200" y="5029200"/>
            <a:ext cx="3605784" cy="1234440"/>
          </a:xfrm>
          <a:prstGeom prst="roundRect">
            <a:avLst>
              <a:gd name="adj" fmla="val 5926"/>
            </a:avLst>
          </a:prstGeom>
          <a:solidFill>
            <a:srgbClr val="FCE9E1"/>
          </a:solidFill>
          <a:ln/>
        </p:spPr>
      </p:sp>
      <p:sp>
        <p:nvSpPr>
          <p:cNvPr id="152" name="Text 150"/>
          <p:cNvSpPr txBox="1"/>
          <p:nvPr/>
        </p:nvSpPr>
        <p:spPr>
          <a:xfrm>
            <a:off x="640080" y="5166360"/>
            <a:ext cx="3240024" cy="274320"/>
          </a:xfrm>
          <a:prstGeom prst="rect">
            <a:avLst/>
          </a:prstGeom>
          <a:noFill/>
          <a:ln/>
        </p:spPr>
        <p:txBody>
          <a:bodyPr wrap="square" lIns="0" tIns="0" rIns="0" bIns="0" rtlCol="0" anchor="t"/>
          <a:lstStyle/>
          <a:p>
            <a:pPr marL="0" indent="0">
              <a:buNone/>
            </a:pPr>
            <a:r>
              <a:rPr lang="en-US" sz="1300" b="1" dirty="0">
                <a:solidFill>
                  <a:srgbClr val="9A3412"/>
                </a:solidFill>
                <a:latin typeface="Malgun Gothic" pitchFamily="34" charset="0"/>
                <a:ea typeface="Malgun Gothic" pitchFamily="34" charset="-122"/>
                <a:cs typeface="Malgun Gothic" pitchFamily="34" charset="-120"/>
              </a:rPr>
              <a:t>병목은 테이블 식별</a:t>
            </a:r>
            <a:endParaRPr lang="en-US" sz="1300" dirty="0"/>
          </a:p>
        </p:txBody>
      </p:sp>
      <p:sp>
        <p:nvSpPr>
          <p:cNvPr id="153" name="Text 151"/>
          <p:cNvSpPr txBox="1"/>
          <p:nvPr/>
        </p:nvSpPr>
        <p:spPr>
          <a:xfrm>
            <a:off x="640080" y="5486400"/>
            <a:ext cx="3240024" cy="685800"/>
          </a:xfrm>
          <a:prstGeom prst="rect">
            <a:avLst/>
          </a:prstGeom>
          <a:noFill/>
          <a:ln/>
        </p:spPr>
        <p:txBody>
          <a:bodyPr wrap="square" lIns="0" tIns="0" rIns="0" bIns="0" rtlCol="0" anchor="t"/>
          <a:lstStyle/>
          <a:p>
            <a:pPr marL="0" indent="0">
              <a:buNone/>
            </a:pPr>
            <a:r>
              <a:rPr lang="en-US" sz="1100" dirty="0">
                <a:solidFill>
                  <a:srgbClr val="5F5F5F"/>
                </a:solidFill>
                <a:latin typeface="Malgun Gothic" pitchFamily="34" charset="0"/>
                <a:ea typeface="Malgun Gothic" pitchFamily="34" charset="-122"/>
                <a:cs typeface="Malgun Gothic" pitchFamily="34" charset="-120"/>
              </a:rPr>
              <a:t>Data Hub에는 테이블이 약 9,000개라, 질문에 맞는 테이블을 정확히 고르기 어렵다</a:t>
            </a:r>
            <a:endParaRPr lang="en-US" sz="1100" dirty="0"/>
          </a:p>
        </p:txBody>
      </p:sp>
      <p:sp>
        <p:nvSpPr>
          <p:cNvPr id="154" name="Shape 152"/>
          <p:cNvSpPr/>
          <p:nvPr/>
        </p:nvSpPr>
        <p:spPr>
          <a:xfrm>
            <a:off x="4291584" y="5029200"/>
            <a:ext cx="3605784" cy="1234440"/>
          </a:xfrm>
          <a:prstGeom prst="roundRect">
            <a:avLst>
              <a:gd name="adj" fmla="val 5926"/>
            </a:avLst>
          </a:prstGeom>
          <a:solidFill>
            <a:srgbClr val="F2F2F2"/>
          </a:solidFill>
          <a:ln/>
        </p:spPr>
      </p:sp>
      <p:sp>
        <p:nvSpPr>
          <p:cNvPr id="155" name="Text 153"/>
          <p:cNvSpPr txBox="1"/>
          <p:nvPr/>
        </p:nvSpPr>
        <p:spPr>
          <a:xfrm>
            <a:off x="4474464" y="5166360"/>
            <a:ext cx="3240024" cy="274320"/>
          </a:xfrm>
          <a:prstGeom prst="rect">
            <a:avLst/>
          </a:prstGeom>
          <a:noFill/>
          <a:ln/>
        </p:spPr>
        <p:txBody>
          <a:bodyPr wrap="square" lIns="0" tIns="0" rIns="0" bIns="0" rtlCol="0" anchor="t"/>
          <a:lstStyle/>
          <a:p>
            <a:pPr marL="0" indent="0">
              <a:buNone/>
            </a:pPr>
            <a:r>
              <a:rPr lang="en-US" sz="1300" b="1" dirty="0">
                <a:solidFill>
                  <a:srgbClr val="1A1A1A"/>
                </a:solidFill>
                <a:latin typeface="Malgun Gothic" pitchFamily="34" charset="0"/>
                <a:ea typeface="Malgun Gothic" pitchFamily="34" charset="-122"/>
                <a:cs typeface="Malgun Gothic" pitchFamily="34" charset="-120"/>
              </a:rPr>
              <a:t>해법 방향</a:t>
            </a:r>
            <a:endParaRPr lang="en-US" sz="1300" dirty="0"/>
          </a:p>
        </p:txBody>
      </p:sp>
      <p:sp>
        <p:nvSpPr>
          <p:cNvPr id="156" name="Text 154"/>
          <p:cNvSpPr txBox="1"/>
          <p:nvPr/>
        </p:nvSpPr>
        <p:spPr>
          <a:xfrm>
            <a:off x="4474464" y="5486400"/>
            <a:ext cx="3240024" cy="685800"/>
          </a:xfrm>
          <a:prstGeom prst="rect">
            <a:avLst/>
          </a:prstGeom>
          <a:noFill/>
          <a:ln/>
        </p:spPr>
        <p:txBody>
          <a:bodyPr wrap="square" lIns="0" tIns="0" rIns="0" bIns="0" rtlCol="0" anchor="t"/>
          <a:lstStyle/>
          <a:p>
            <a:pPr marL="0" indent="0">
              <a:buNone/>
            </a:pPr>
            <a:r>
              <a:rPr lang="en-US" sz="1100" dirty="0">
                <a:solidFill>
                  <a:srgbClr val="5F5F5F"/>
                </a:solidFill>
                <a:latin typeface="Malgun Gothic" pitchFamily="34" charset="0"/>
                <a:ea typeface="Malgun Gothic" pitchFamily="34" charset="-122"/>
                <a:cs typeface="Malgun Gothic" pitchFamily="34" charset="-120"/>
              </a:rPr>
              <a:t>사용자 용어와 테이블을 잇는 온톨로지(지식그래프)를 엔티티 추출~테이블 선정 구간에 적용</a:t>
            </a:r>
            <a:endParaRPr lang="en-US" sz="1100" dirty="0"/>
          </a:p>
        </p:txBody>
      </p:sp>
      <p:sp>
        <p:nvSpPr>
          <p:cNvPr id="157" name="Shape 155"/>
          <p:cNvSpPr/>
          <p:nvPr/>
        </p:nvSpPr>
        <p:spPr>
          <a:xfrm>
            <a:off x="8125968" y="5029200"/>
            <a:ext cx="3605784" cy="1234440"/>
          </a:xfrm>
          <a:prstGeom prst="roundRect">
            <a:avLst>
              <a:gd name="adj" fmla="val 5926"/>
            </a:avLst>
          </a:prstGeom>
          <a:solidFill>
            <a:srgbClr val="F2F2F2"/>
          </a:solidFill>
          <a:ln/>
        </p:spPr>
      </p:sp>
      <p:sp>
        <p:nvSpPr>
          <p:cNvPr id="158" name="Text 156"/>
          <p:cNvSpPr txBox="1"/>
          <p:nvPr/>
        </p:nvSpPr>
        <p:spPr>
          <a:xfrm>
            <a:off x="8308848" y="5166360"/>
            <a:ext cx="3240024" cy="274320"/>
          </a:xfrm>
          <a:prstGeom prst="rect">
            <a:avLst/>
          </a:prstGeom>
          <a:noFill/>
          <a:ln/>
        </p:spPr>
        <p:txBody>
          <a:bodyPr wrap="square" lIns="0" tIns="0" rIns="0" bIns="0" rtlCol="0" anchor="t"/>
          <a:lstStyle/>
          <a:p>
            <a:pPr marL="0" indent="0">
              <a:buNone/>
            </a:pPr>
            <a:r>
              <a:rPr lang="ko-KR" altLang="en-US" sz="1300" b="1" smtClean="0">
                <a:solidFill>
                  <a:srgbClr val="1A1A1A"/>
                </a:solidFill>
                <a:latin typeface="Malgun Gothic" pitchFamily="34" charset="0"/>
                <a:ea typeface="Malgun Gothic" pitchFamily="34" charset="-122"/>
              </a:rPr>
              <a:t>참고 논문</a:t>
            </a:r>
            <a:endParaRPr lang="en-US" sz="1300" dirty="0"/>
          </a:p>
        </p:txBody>
      </p:sp>
      <p:sp>
        <p:nvSpPr>
          <p:cNvPr id="159" name="Text 157"/>
          <p:cNvSpPr txBox="1"/>
          <p:nvPr/>
        </p:nvSpPr>
        <p:spPr>
          <a:xfrm>
            <a:off x="8308848" y="5472716"/>
            <a:ext cx="3240024" cy="685800"/>
          </a:xfrm>
          <a:prstGeom prst="rect">
            <a:avLst/>
          </a:prstGeom>
          <a:noFill/>
          <a:ln/>
        </p:spPr>
        <p:txBody>
          <a:bodyPr wrap="square" lIns="0" tIns="0" rIns="0" bIns="0" rtlCol="0" anchor="t"/>
          <a:lstStyle/>
          <a:p>
            <a:r>
              <a:rPr lang="en-US" sz="1000" b="1">
                <a:latin typeface="Malgun Gothic" pitchFamily="34" charset="0"/>
                <a:ea typeface="Malgun Gothic" pitchFamily="34" charset="-122"/>
                <a:cs typeface="Malgun Gothic" pitchFamily="34" charset="-120"/>
              </a:rPr>
              <a:t>A Text-to-SQL Strategy Based on Large Language Models and Knowledge Graphs for Real-World </a:t>
            </a:r>
            <a:r>
              <a:rPr lang="en-US" sz="1000" b="1" smtClean="0">
                <a:latin typeface="Malgun Gothic" pitchFamily="34" charset="0"/>
                <a:ea typeface="Malgun Gothic" pitchFamily="34" charset="-122"/>
                <a:cs typeface="Malgun Gothic" pitchFamily="34" charset="-120"/>
              </a:rPr>
              <a:t>Databases</a:t>
            </a:r>
          </a:p>
        </p:txBody>
      </p:sp>
      <p:sp>
        <p:nvSpPr>
          <p:cNvPr id="160" name="Slide Number Placeholder 0"/>
          <p:cNvSpPr>
            <a:spLocks noGrp="1"/>
          </p:cNvSpPr>
          <p:nvPr>
            <p:ph type="sldNum" sz="quarter" idx="4294967295"/>
          </p:nvPr>
        </p:nvSpPr>
        <p:spPr>
          <a:xfrm>
            <a:off x="11183112" y="6419088"/>
            <a:ext cx="54864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6B6B6B"/>
                </a:solidFill>
                <a:latin typeface="Malgun Gothic"/>
                <a:ea typeface="Malgun Gothic"/>
                <a:cs typeface="Malgun Gothic"/>
              </a:defRPr>
            </a:lvl1pPr>
          </a:lstStyle>
          <a:p>
            <a:pPr algn="r"/>
            <a:fld id="{F7021451-1387-4CA6-816F-3879F97B5CBC}" type="slidenum">
              <a:rPr lang="en-US" b="0"/>
              <a:t>4</a:t>
            </a:fld>
            <a:endParaRPr lang="en-US"/>
          </a:p>
        </p:txBody>
      </p:sp>
      <p:sp>
        <p:nvSpPr>
          <p:cNvPr id="161" name="텍스트 개체 틀 160"/>
          <p:cNvSpPr>
            <a:spLocks noGrp="1"/>
          </p:cNvSpPr>
          <p:nvPr>
            <p:ph type="body" idx="102"/>
          </p:nvPr>
        </p:nvSpPr>
        <p:spPr/>
        <p:txBody>
          <a:bodyPr/>
          <a:lstStyle/>
          <a:p>
            <a:endParaRPr lang="ko-KR" altLang="en-US"/>
          </a:p>
        </p:txBody>
      </p:sp>
      <p:sp>
        <p:nvSpPr>
          <p:cNvPr id="162" name="Text 157"/>
          <p:cNvSpPr txBox="1"/>
          <p:nvPr/>
        </p:nvSpPr>
        <p:spPr>
          <a:xfrm>
            <a:off x="8260287" y="5954081"/>
            <a:ext cx="3422904" cy="309559"/>
          </a:xfrm>
          <a:prstGeom prst="rect">
            <a:avLst/>
          </a:prstGeom>
          <a:noFill/>
          <a:ln/>
        </p:spPr>
        <p:txBody>
          <a:bodyPr wrap="square" lIns="0" tIns="0" rIns="0" bIns="0" rtlCol="0" anchor="t"/>
          <a:lstStyle/>
          <a:p>
            <a:r>
              <a:rPr lang="en-US" sz="1000">
                <a:solidFill>
                  <a:srgbClr val="5F5F5F"/>
                </a:solidFill>
                <a:latin typeface="Malgun Gothic" pitchFamily="34" charset="0"/>
                <a:ea typeface="Malgun Gothic" pitchFamily="34" charset="-122"/>
                <a:cs typeface="Malgun Gothic" pitchFamily="34" charset="-120"/>
              </a:rPr>
              <a:t> </a:t>
            </a:r>
            <a:r>
              <a:rPr lang="en-US" sz="1000" smtClean="0">
                <a:solidFill>
                  <a:srgbClr val="5F5F5F"/>
                </a:solidFill>
                <a:latin typeface="Malgun Gothic" pitchFamily="34" charset="0"/>
                <a:ea typeface="Malgun Gothic" pitchFamily="34" charset="-122"/>
                <a:cs typeface="Malgun Gothic" pitchFamily="34" charset="-120"/>
              </a:rPr>
              <a:t>(Data </a:t>
            </a:r>
            <a:r>
              <a:rPr lang="en-US" sz="1000">
                <a:solidFill>
                  <a:srgbClr val="5F5F5F"/>
                </a:solidFill>
                <a:latin typeface="Malgun Gothic" pitchFamily="34" charset="0"/>
                <a:ea typeface="Malgun Gothic" pitchFamily="34" charset="-122"/>
                <a:cs typeface="Malgun Gothic" pitchFamily="34" charset="-120"/>
              </a:rPr>
              <a:t>&amp; Knowledge Engineering, Vol. 164, 102580, </a:t>
            </a:r>
            <a:r>
              <a:rPr lang="en-US" sz="1000" smtClean="0">
                <a:solidFill>
                  <a:srgbClr val="5F5F5F"/>
                </a:solidFill>
                <a:latin typeface="Malgun Gothic" pitchFamily="34" charset="0"/>
                <a:ea typeface="Malgun Gothic" pitchFamily="34" charset="-122"/>
                <a:cs typeface="Malgun Gothic" pitchFamily="34" charset="-120"/>
              </a:rPr>
              <a:t>2026)</a:t>
            </a:r>
            <a:endParaRPr lang="en-US" sz="1000">
              <a:solidFill>
                <a:srgbClr val="5F5F5F"/>
              </a:solidFill>
              <a:latin typeface="Malgun Gothic" pitchFamily="34" charset="0"/>
              <a:ea typeface="Malgun Gothic" pitchFamily="34" charset="-122"/>
              <a:cs typeface="Malgun Gothic" pitchFamily="34" charset="-12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11274552" cy="292608"/>
          </a:xfrm>
          <a:prstGeom prst="rect">
            <a:avLst/>
          </a:prstGeom>
          <a:noFill/>
          <a:ln/>
        </p:spPr>
        <p:txBody>
          <a:bodyPr wrap="square" lIns="0" tIns="0" rIns="0" bIns="0" rtlCol="0" anchor="ctr"/>
          <a:lstStyle/>
          <a:p>
            <a:r>
              <a:rPr lang="en-US" sz="1100" b="1" smtClean="0">
                <a:solidFill>
                  <a:srgbClr val="6B6B6B"/>
                </a:solidFill>
                <a:latin typeface="Malgun Gothic" pitchFamily="34" charset="0"/>
                <a:ea typeface="Malgun Gothic" pitchFamily="34" charset="-122"/>
                <a:cs typeface="Malgun Gothic" pitchFamily="34" charset="-120"/>
              </a:rPr>
              <a:t>참고 </a:t>
            </a:r>
            <a:r>
              <a:rPr lang="en-US" sz="1100" b="1">
                <a:solidFill>
                  <a:srgbClr val="6B6B6B"/>
                </a:solidFill>
                <a:latin typeface="Malgun Gothic" pitchFamily="34" charset="0"/>
                <a:ea typeface="Malgun Gothic" pitchFamily="34" charset="-122"/>
                <a:cs typeface="Malgun Gothic" pitchFamily="34" charset="-120"/>
              </a:rPr>
              <a:t>논문 </a:t>
            </a:r>
            <a:r>
              <a:rPr lang="en-US" sz="1100" b="1" smtClean="0">
                <a:solidFill>
                  <a:srgbClr val="6B6B6B"/>
                </a:solidFill>
                <a:latin typeface="Malgun Gothic" pitchFamily="34" charset="0"/>
                <a:ea typeface="Malgun Gothic" pitchFamily="34" charset="-122"/>
                <a:cs typeface="Malgun Gothic" pitchFamily="34" charset="-120"/>
              </a:rPr>
              <a:t>· </a:t>
            </a:r>
            <a:r>
              <a:rPr lang="en-US" altLang="ko-KR"/>
              <a:t>A Text-to-SQL Strategy Based on Large Language Models and Knowledge Graphs for Real-World </a:t>
            </a:r>
            <a:r>
              <a:rPr lang="en-US" altLang="ko-KR" smtClean="0"/>
              <a:t>Databases</a:t>
            </a:r>
            <a:r>
              <a:rPr lang="en-US" sz="1100" b="1" smtClean="0">
                <a:solidFill>
                  <a:srgbClr val="6B6B6B"/>
                </a:solidFill>
                <a:latin typeface="Malgun Gothic" pitchFamily="34" charset="0"/>
                <a:ea typeface="Malgun Gothic" pitchFamily="34" charset="-122"/>
                <a:cs typeface="Malgun Gothic" pitchFamily="34" charset="-120"/>
              </a:rPr>
              <a:t> </a:t>
            </a:r>
            <a:r>
              <a:rPr lang="en-US" sz="1100" b="1" dirty="0">
                <a:solidFill>
                  <a:srgbClr val="6B6B6B"/>
                </a:solidFill>
                <a:latin typeface="Malgun Gothic" pitchFamily="34" charset="0"/>
                <a:ea typeface="Malgun Gothic" pitchFamily="34" charset="-122"/>
                <a:cs typeface="Malgun Gothic" pitchFamily="34" charset="-120"/>
              </a:rPr>
              <a:t>(DKE 2026)</a:t>
            </a:r>
            <a:endParaRPr lang="en-US" sz="1100" dirty="0"/>
          </a:p>
        </p:txBody>
      </p:sp>
      <p:sp>
        <p:nvSpPr>
          <p:cNvPr id="3" name="Text 0"/>
          <p:cNvSpPr>
            <a:spLocks noGrp="1"/>
          </p:cNvSpPr>
          <p:nvPr>
            <p:ph type="title" idx="101" hasCustomPrompt="1"/>
          </p:nvPr>
        </p:nvSpPr>
        <p:spPr>
          <a:xfrm>
            <a:off x="457200" y="512064"/>
            <a:ext cx="11274552" cy="768096"/>
          </a:xfrm>
          <a:prstGeom prst="rect">
            <a:avLst/>
          </a:prstGeom>
          <a:noFill/>
          <a:ln/>
        </p:spPr>
        <p:txBody>
          <a:bodyPr wrap="square" lIns="0" tIns="0" rIns="0" bIns="0" rtlCol="0" anchor="ctr"/>
          <a:lstStyle/>
          <a:p>
            <a:pPr marL="0" indent="0" algn="l">
              <a:buNone/>
            </a:pPr>
            <a:r>
              <a:rPr lang="en-US" sz="2100" b="1" dirty="0">
                <a:solidFill>
                  <a:schemeClr val="tx1"/>
                </a:solidFill>
                <a:latin typeface="Malgun Gothic" pitchFamily="34" charset="0"/>
                <a:ea typeface="Malgun Gothic" pitchFamily="34" charset="-122"/>
                <a:cs typeface="Malgun Gothic" pitchFamily="34" charset="-120"/>
              </a:rPr>
              <a:t>지식그래프와 View 합성으로 실제 산업 DB에서 정확도 약 93%를 달성</a:t>
            </a:r>
            <a:endParaRPr lang="en-US" sz="2100" dirty="0"/>
          </a:p>
        </p:txBody>
      </p:sp>
      <p:sp>
        <p:nvSpPr>
          <p:cNvPr id="6" name="Shape 4"/>
          <p:cNvSpPr/>
          <p:nvPr/>
        </p:nvSpPr>
        <p:spPr>
          <a:xfrm>
            <a:off x="457200" y="1908362"/>
            <a:ext cx="788124" cy="481631"/>
          </a:xfrm>
          <a:prstGeom prst="roundRect">
            <a:avLst>
              <a:gd name="adj" fmla="val 13636"/>
            </a:avLst>
          </a:prstGeom>
          <a:solidFill>
            <a:srgbClr val="FFFFFF"/>
          </a:solidFill>
          <a:ln w="28022">
            <a:solidFill>
              <a:srgbClr val="1A1A1A"/>
            </a:solidFill>
            <a:prstDash val="solid"/>
          </a:ln>
        </p:spPr>
      </p:sp>
      <p:sp>
        <p:nvSpPr>
          <p:cNvPr id="7" name="Text 5"/>
          <p:cNvSpPr txBox="1"/>
          <p:nvPr/>
        </p:nvSpPr>
        <p:spPr>
          <a:xfrm>
            <a:off x="649180" y="2030411"/>
            <a:ext cx="404164" cy="237532"/>
          </a:xfrm>
          <a:prstGeom prst="rect">
            <a:avLst/>
          </a:prstGeom>
          <a:noFill/>
          <a:ln/>
        </p:spPr>
        <p:txBody>
          <a:bodyPr wrap="none" lIns="0" tIns="0" rIns="0" bIns="0" rtlCol="0" anchor="ctr"/>
          <a:lstStyle/>
          <a:p>
            <a:pPr marL="0" indent="0" algn="ctr">
              <a:buNone/>
            </a:pPr>
            <a:r>
              <a:rPr lang="en-US" sz="1210" b="1" dirty="0">
                <a:solidFill>
                  <a:srgbClr val="1A1A1A"/>
                </a:solidFill>
                <a:latin typeface="Malgun Gothic" pitchFamily="34" charset="0"/>
                <a:ea typeface="Malgun Gothic" pitchFamily="34" charset="-122"/>
                <a:cs typeface="Malgun Gothic" pitchFamily="34" charset="-120"/>
              </a:rPr>
              <a:t>질문</a:t>
            </a:r>
            <a:endParaRPr lang="en-US" sz="1210" dirty="0"/>
          </a:p>
        </p:txBody>
      </p:sp>
      <p:sp>
        <p:nvSpPr>
          <p:cNvPr id="8" name="Shape 6"/>
          <p:cNvSpPr/>
          <p:nvPr/>
        </p:nvSpPr>
        <p:spPr>
          <a:xfrm>
            <a:off x="1245324" y="2149177"/>
            <a:ext cx="197031" cy="0"/>
          </a:xfrm>
          <a:prstGeom prst="line">
            <a:avLst/>
          </a:prstGeom>
          <a:noFill/>
          <a:ln w="22768">
            <a:solidFill>
              <a:srgbClr val="4D4D4D"/>
            </a:solidFill>
            <a:prstDash val="solid"/>
            <a:tailEnd type="triangle"/>
          </a:ln>
        </p:spPr>
      </p:sp>
      <p:sp>
        <p:nvSpPr>
          <p:cNvPr id="9" name="Shape 7"/>
          <p:cNvSpPr/>
          <p:nvPr/>
        </p:nvSpPr>
        <p:spPr>
          <a:xfrm>
            <a:off x="1486140" y="1601869"/>
            <a:ext cx="2298695" cy="1138401"/>
          </a:xfrm>
          <a:prstGeom prst="roundRect">
            <a:avLst>
              <a:gd name="adj" fmla="val 5769"/>
            </a:avLst>
          </a:prstGeom>
          <a:solidFill>
            <a:srgbClr val="FFFFFF"/>
          </a:solidFill>
          <a:ln w="17514">
            <a:solidFill>
              <a:srgbClr val="3A3A3A"/>
            </a:solidFill>
            <a:prstDash val="solid"/>
          </a:ln>
        </p:spPr>
      </p:sp>
      <p:sp>
        <p:nvSpPr>
          <p:cNvPr id="10" name="Text 8"/>
          <p:cNvSpPr txBox="1"/>
          <p:nvPr/>
        </p:nvSpPr>
        <p:spPr>
          <a:xfrm>
            <a:off x="1639386" y="1693543"/>
            <a:ext cx="1651370" cy="254498"/>
          </a:xfrm>
          <a:prstGeom prst="rect">
            <a:avLst/>
          </a:prstGeom>
          <a:noFill/>
          <a:ln/>
        </p:spPr>
        <p:txBody>
          <a:bodyPr wrap="none" lIns="0" tIns="0" rIns="0" bIns="0" rtlCol="0" anchor="ctr"/>
          <a:lstStyle/>
          <a:p>
            <a:pPr marL="0" indent="0" algn="l">
              <a:buNone/>
            </a:pPr>
            <a:r>
              <a:rPr lang="en-US" sz="1290" b="1" dirty="0">
                <a:solidFill>
                  <a:srgbClr val="1A1A1A"/>
                </a:solidFill>
                <a:latin typeface="Malgun Gothic" pitchFamily="34" charset="0"/>
                <a:ea typeface="Malgun Gothic" pitchFamily="34" charset="-122"/>
                <a:cs typeface="Malgun Gothic" pitchFamily="34" charset="-120"/>
              </a:rPr>
              <a:t>① Schema linking</a:t>
            </a:r>
            <a:endParaRPr lang="en-US" sz="1290" dirty="0"/>
          </a:p>
        </p:txBody>
      </p:sp>
      <p:sp>
        <p:nvSpPr>
          <p:cNvPr id="11" name="Text 9"/>
          <p:cNvSpPr txBox="1"/>
          <p:nvPr/>
        </p:nvSpPr>
        <p:spPr>
          <a:xfrm>
            <a:off x="1639386" y="1999352"/>
            <a:ext cx="1394245" cy="212082"/>
          </a:xfrm>
          <a:prstGeom prst="rect">
            <a:avLst/>
          </a:prstGeom>
          <a:noFill/>
          <a:ln/>
        </p:spPr>
        <p:txBody>
          <a:bodyPr wrap="none" lIns="0" tIns="0" rIns="0" bIns="0" rtlCol="0" anchor="ctr"/>
          <a:lstStyle/>
          <a:p>
            <a:pPr marL="0" indent="0" algn="l">
              <a:buNone/>
            </a:pPr>
            <a:r>
              <a:rPr lang="en-US" sz="1080" dirty="0">
                <a:solidFill>
                  <a:srgbClr val="1A1A1A"/>
                </a:solidFill>
                <a:latin typeface="Malgun Gothic" pitchFamily="34" charset="0"/>
                <a:ea typeface="Malgun Gothic" pitchFamily="34" charset="-122"/>
                <a:cs typeface="Malgun Gothic" pitchFamily="34" charset="-120"/>
              </a:rPr>
              <a:t>· LLM 키워드 추출</a:t>
            </a:r>
            <a:endParaRPr lang="en-US" sz="1080" dirty="0"/>
          </a:p>
        </p:txBody>
      </p:sp>
      <p:sp>
        <p:nvSpPr>
          <p:cNvPr id="12" name="Text 10"/>
          <p:cNvSpPr txBox="1"/>
          <p:nvPr/>
        </p:nvSpPr>
        <p:spPr>
          <a:xfrm>
            <a:off x="1639386" y="2218275"/>
            <a:ext cx="1935095" cy="212082"/>
          </a:xfrm>
          <a:prstGeom prst="rect">
            <a:avLst/>
          </a:prstGeom>
          <a:noFill/>
          <a:ln/>
        </p:spPr>
        <p:txBody>
          <a:bodyPr wrap="none" lIns="0" tIns="0" rIns="0" bIns="0" rtlCol="0" anchor="ctr"/>
          <a:lstStyle/>
          <a:p>
            <a:pPr marL="0" indent="0" algn="l">
              <a:buNone/>
            </a:pPr>
            <a:r>
              <a:rPr lang="en-US" sz="1080" dirty="0">
                <a:solidFill>
                  <a:srgbClr val="1A1A1A"/>
                </a:solidFill>
                <a:latin typeface="Malgun Gothic" pitchFamily="34" charset="0"/>
                <a:ea typeface="Malgun Gothic" pitchFamily="34" charset="-122"/>
                <a:cs typeface="Malgun Gothic" pitchFamily="34" charset="-120"/>
              </a:rPr>
              <a:t>· 메타데이터·값 사전 매칭</a:t>
            </a:r>
            <a:endParaRPr lang="en-US" sz="1080" dirty="0"/>
          </a:p>
        </p:txBody>
      </p:sp>
      <p:sp>
        <p:nvSpPr>
          <p:cNvPr id="13" name="Text 11"/>
          <p:cNvSpPr txBox="1"/>
          <p:nvPr/>
        </p:nvSpPr>
        <p:spPr>
          <a:xfrm>
            <a:off x="1639386" y="2437198"/>
            <a:ext cx="1787322" cy="212082"/>
          </a:xfrm>
          <a:prstGeom prst="rect">
            <a:avLst/>
          </a:prstGeom>
          <a:noFill/>
          <a:ln/>
        </p:spPr>
        <p:txBody>
          <a:bodyPr wrap="none" lIns="0" tIns="0" rIns="0" bIns="0" rtlCol="0" anchor="ctr"/>
          <a:lstStyle/>
          <a:p>
            <a:pPr marL="0" indent="0" algn="l">
              <a:buNone/>
            </a:pPr>
            <a:r>
              <a:rPr lang="en-US" sz="1080" dirty="0">
                <a:solidFill>
                  <a:srgbClr val="1A1A1A"/>
                </a:solidFill>
                <a:latin typeface="Malgun Gothic" pitchFamily="34" charset="0"/>
                <a:ea typeface="Malgun Gothic" pitchFamily="34" charset="-122"/>
                <a:cs typeface="Malgun Gothic" pitchFamily="34" charset="-120"/>
              </a:rPr>
              <a:t>· 최소 클래스 집합 선택</a:t>
            </a:r>
            <a:endParaRPr lang="en-US" sz="1080" dirty="0"/>
          </a:p>
        </p:txBody>
      </p:sp>
      <p:sp>
        <p:nvSpPr>
          <p:cNvPr id="14" name="Shape 12"/>
          <p:cNvSpPr/>
          <p:nvPr/>
        </p:nvSpPr>
        <p:spPr>
          <a:xfrm>
            <a:off x="3784835" y="2171070"/>
            <a:ext cx="240816" cy="0"/>
          </a:xfrm>
          <a:prstGeom prst="line">
            <a:avLst/>
          </a:prstGeom>
          <a:noFill/>
          <a:ln w="22768">
            <a:solidFill>
              <a:srgbClr val="4D4D4D"/>
            </a:solidFill>
            <a:prstDash val="solid"/>
            <a:tailEnd type="triangle"/>
          </a:ln>
        </p:spPr>
      </p:sp>
      <p:sp>
        <p:nvSpPr>
          <p:cNvPr id="15" name="Shape 13"/>
          <p:cNvSpPr/>
          <p:nvPr/>
        </p:nvSpPr>
        <p:spPr>
          <a:xfrm>
            <a:off x="4069435" y="1601869"/>
            <a:ext cx="2298695" cy="1138401"/>
          </a:xfrm>
          <a:prstGeom prst="roundRect">
            <a:avLst>
              <a:gd name="adj" fmla="val 5769"/>
            </a:avLst>
          </a:prstGeom>
          <a:solidFill>
            <a:srgbClr val="FCE9E1"/>
          </a:solidFill>
          <a:ln w="31525">
            <a:solidFill>
              <a:srgbClr val="D9480F"/>
            </a:solidFill>
            <a:prstDash val="solid"/>
          </a:ln>
        </p:spPr>
      </p:sp>
      <p:sp>
        <p:nvSpPr>
          <p:cNvPr id="16" name="Text 14"/>
          <p:cNvSpPr txBox="1"/>
          <p:nvPr/>
        </p:nvSpPr>
        <p:spPr>
          <a:xfrm>
            <a:off x="4222681" y="1693543"/>
            <a:ext cx="1176132" cy="254498"/>
          </a:xfrm>
          <a:prstGeom prst="rect">
            <a:avLst/>
          </a:prstGeom>
          <a:noFill/>
          <a:ln/>
        </p:spPr>
        <p:txBody>
          <a:bodyPr wrap="none" lIns="0" tIns="0" rIns="0" bIns="0" rtlCol="0" anchor="ctr"/>
          <a:lstStyle/>
          <a:p>
            <a:pPr marL="0" indent="0" algn="l">
              <a:buNone/>
            </a:pPr>
            <a:r>
              <a:rPr lang="en-US" sz="1290" b="1" dirty="0">
                <a:solidFill>
                  <a:srgbClr val="1A1A1A"/>
                </a:solidFill>
                <a:latin typeface="Malgun Gothic" pitchFamily="34" charset="0"/>
                <a:ea typeface="Malgun Gothic" pitchFamily="34" charset="-122"/>
                <a:cs typeface="Malgun Gothic" pitchFamily="34" charset="-120"/>
              </a:rPr>
              <a:t>② View 합성</a:t>
            </a:r>
            <a:endParaRPr lang="en-US" sz="1290" dirty="0"/>
          </a:p>
        </p:txBody>
      </p:sp>
      <p:sp>
        <p:nvSpPr>
          <p:cNvPr id="17" name="Text 15"/>
          <p:cNvSpPr txBox="1"/>
          <p:nvPr/>
        </p:nvSpPr>
        <p:spPr>
          <a:xfrm>
            <a:off x="4222681" y="1999352"/>
            <a:ext cx="2204042" cy="212082"/>
          </a:xfrm>
          <a:prstGeom prst="rect">
            <a:avLst/>
          </a:prstGeom>
          <a:noFill/>
          <a:ln/>
        </p:spPr>
        <p:txBody>
          <a:bodyPr wrap="none" lIns="0" tIns="0" rIns="0" bIns="0" rtlCol="0" anchor="ctr"/>
          <a:lstStyle/>
          <a:p>
            <a:pPr marL="0" indent="0" algn="l">
              <a:buNone/>
            </a:pPr>
            <a:r>
              <a:rPr lang="en-US" sz="1080" dirty="0">
                <a:solidFill>
                  <a:srgbClr val="1A1A1A"/>
                </a:solidFill>
                <a:latin typeface="Malgun Gothic" pitchFamily="34" charset="0"/>
                <a:ea typeface="Malgun Gothic" pitchFamily="34" charset="-122"/>
                <a:cs typeface="Malgun Gothic" pitchFamily="34" charset="-120"/>
              </a:rPr>
              <a:t>· 지식그래프 위 Steiner tree</a:t>
            </a:r>
            <a:endParaRPr lang="en-US" sz="1080" dirty="0"/>
          </a:p>
        </p:txBody>
      </p:sp>
      <p:sp>
        <p:nvSpPr>
          <p:cNvPr id="18" name="Text 16"/>
          <p:cNvSpPr txBox="1"/>
          <p:nvPr/>
        </p:nvSpPr>
        <p:spPr>
          <a:xfrm>
            <a:off x="4222681" y="2218275"/>
            <a:ext cx="2159710" cy="212082"/>
          </a:xfrm>
          <a:prstGeom prst="rect">
            <a:avLst/>
          </a:prstGeom>
          <a:noFill/>
          <a:ln/>
        </p:spPr>
        <p:txBody>
          <a:bodyPr wrap="none" lIns="0" tIns="0" rIns="0" bIns="0" rtlCol="0" anchor="ctr"/>
          <a:lstStyle/>
          <a:p>
            <a:pPr marL="0" indent="0" algn="l">
              <a:buNone/>
            </a:pPr>
            <a:r>
              <a:rPr lang="en-US" sz="1080" dirty="0">
                <a:solidFill>
                  <a:srgbClr val="1A1A1A"/>
                </a:solidFill>
                <a:latin typeface="Malgun Gothic" pitchFamily="34" charset="0"/>
                <a:ea typeface="Malgun Gothic" pitchFamily="34" charset="-122"/>
                <a:cs typeface="Malgun Gothic" pitchFamily="34" charset="-120"/>
              </a:rPr>
              <a:t>· 중간 연결 클래스 자동 포함</a:t>
            </a:r>
            <a:endParaRPr lang="en-US" sz="1080" dirty="0"/>
          </a:p>
        </p:txBody>
      </p:sp>
      <p:sp>
        <p:nvSpPr>
          <p:cNvPr id="19" name="Text 17"/>
          <p:cNvSpPr txBox="1"/>
          <p:nvPr/>
        </p:nvSpPr>
        <p:spPr>
          <a:xfrm>
            <a:off x="4222681" y="2437198"/>
            <a:ext cx="1840520" cy="212082"/>
          </a:xfrm>
          <a:prstGeom prst="rect">
            <a:avLst/>
          </a:prstGeom>
          <a:noFill/>
          <a:ln/>
        </p:spPr>
        <p:txBody>
          <a:bodyPr wrap="none" lIns="0" tIns="0" rIns="0" bIns="0" rtlCol="0" anchor="ctr"/>
          <a:lstStyle/>
          <a:p>
            <a:pPr marL="0" indent="0" algn="l">
              <a:buNone/>
            </a:pPr>
            <a:r>
              <a:rPr lang="en-US" sz="1080" dirty="0">
                <a:solidFill>
                  <a:srgbClr val="1A1A1A"/>
                </a:solidFill>
                <a:latin typeface="Malgun Gothic" pitchFamily="34" charset="0"/>
                <a:ea typeface="Malgun Gothic" pitchFamily="34" charset="-122"/>
                <a:cs typeface="Malgun Gothic" pitchFamily="34" charset="-120"/>
              </a:rPr>
              <a:t>· Join이 담긴 단일 View</a:t>
            </a:r>
            <a:endParaRPr lang="en-US" sz="1080" dirty="0"/>
          </a:p>
        </p:txBody>
      </p:sp>
      <p:sp>
        <p:nvSpPr>
          <p:cNvPr id="20" name="Shape 18"/>
          <p:cNvSpPr/>
          <p:nvPr/>
        </p:nvSpPr>
        <p:spPr>
          <a:xfrm>
            <a:off x="6368130" y="2171070"/>
            <a:ext cx="240816" cy="0"/>
          </a:xfrm>
          <a:prstGeom prst="line">
            <a:avLst/>
          </a:prstGeom>
          <a:noFill/>
          <a:ln w="22768">
            <a:solidFill>
              <a:srgbClr val="4D4D4D"/>
            </a:solidFill>
            <a:prstDash val="solid"/>
            <a:tailEnd type="triangle"/>
          </a:ln>
        </p:spPr>
      </p:sp>
      <p:sp>
        <p:nvSpPr>
          <p:cNvPr id="21" name="Shape 19"/>
          <p:cNvSpPr/>
          <p:nvPr/>
        </p:nvSpPr>
        <p:spPr>
          <a:xfrm>
            <a:off x="6652731" y="1601869"/>
            <a:ext cx="2298695" cy="1138401"/>
          </a:xfrm>
          <a:prstGeom prst="roundRect">
            <a:avLst>
              <a:gd name="adj" fmla="val 5769"/>
            </a:avLst>
          </a:prstGeom>
          <a:solidFill>
            <a:srgbClr val="FFFFFF"/>
          </a:solidFill>
          <a:ln w="17514">
            <a:solidFill>
              <a:srgbClr val="3A3A3A"/>
            </a:solidFill>
            <a:prstDash val="solid"/>
          </a:ln>
        </p:spPr>
      </p:sp>
      <p:sp>
        <p:nvSpPr>
          <p:cNvPr id="22" name="Text 20"/>
          <p:cNvSpPr txBox="1"/>
          <p:nvPr/>
        </p:nvSpPr>
        <p:spPr>
          <a:xfrm>
            <a:off x="6805977" y="1693543"/>
            <a:ext cx="1144213" cy="254498"/>
          </a:xfrm>
          <a:prstGeom prst="rect">
            <a:avLst/>
          </a:prstGeom>
          <a:noFill/>
          <a:ln/>
        </p:spPr>
        <p:txBody>
          <a:bodyPr wrap="none" lIns="0" tIns="0" rIns="0" bIns="0" rtlCol="0" anchor="ctr"/>
          <a:lstStyle/>
          <a:p>
            <a:pPr marL="0" indent="0" algn="l">
              <a:buNone/>
            </a:pPr>
            <a:r>
              <a:rPr lang="en-US" sz="1290" b="1" dirty="0">
                <a:solidFill>
                  <a:srgbClr val="1A1A1A"/>
                </a:solidFill>
                <a:latin typeface="Malgun Gothic" pitchFamily="34" charset="0"/>
                <a:ea typeface="Malgun Gothic" pitchFamily="34" charset="-122"/>
                <a:cs typeface="Malgun Gothic" pitchFamily="34" charset="-120"/>
              </a:rPr>
              <a:t>③ 질문 분해</a:t>
            </a:r>
            <a:endParaRPr lang="en-US" sz="1290" dirty="0"/>
          </a:p>
        </p:txBody>
      </p:sp>
      <p:sp>
        <p:nvSpPr>
          <p:cNvPr id="23" name="Text 21"/>
          <p:cNvSpPr txBox="1"/>
          <p:nvPr/>
        </p:nvSpPr>
        <p:spPr>
          <a:xfrm>
            <a:off x="6805977" y="1999352"/>
            <a:ext cx="2082868" cy="212082"/>
          </a:xfrm>
          <a:prstGeom prst="rect">
            <a:avLst/>
          </a:prstGeom>
          <a:noFill/>
          <a:ln/>
        </p:spPr>
        <p:txBody>
          <a:bodyPr wrap="none" lIns="0" tIns="0" rIns="0" bIns="0" rtlCol="0" anchor="ctr"/>
          <a:lstStyle/>
          <a:p>
            <a:pPr marL="0" indent="0" algn="l">
              <a:buNone/>
            </a:pPr>
            <a:r>
              <a:rPr lang="en-US" sz="1080" dirty="0">
                <a:solidFill>
                  <a:srgbClr val="1A1A1A"/>
                </a:solidFill>
                <a:latin typeface="Malgun Gothic" pitchFamily="34" charset="0"/>
                <a:ea typeface="Malgun Gothic" pitchFamily="34" charset="-122"/>
                <a:cs typeface="Malgun Gothic" pitchFamily="34" charset="-120"/>
              </a:rPr>
              <a:t>· 복합 질문을 하위 질문으로</a:t>
            </a:r>
            <a:endParaRPr lang="en-US" sz="1080" dirty="0"/>
          </a:p>
        </p:txBody>
      </p:sp>
      <p:sp>
        <p:nvSpPr>
          <p:cNvPr id="24" name="Text 22"/>
          <p:cNvSpPr txBox="1"/>
          <p:nvPr/>
        </p:nvSpPr>
        <p:spPr>
          <a:xfrm>
            <a:off x="6805977" y="2218275"/>
            <a:ext cx="2106512" cy="212082"/>
          </a:xfrm>
          <a:prstGeom prst="rect">
            <a:avLst/>
          </a:prstGeom>
          <a:noFill/>
          <a:ln/>
        </p:spPr>
        <p:txBody>
          <a:bodyPr wrap="none" lIns="0" tIns="0" rIns="0" bIns="0" rtlCol="0" anchor="ctr"/>
          <a:lstStyle/>
          <a:p>
            <a:pPr marL="0" indent="0" algn="l">
              <a:buNone/>
            </a:pPr>
            <a:r>
              <a:rPr lang="en-US" sz="1080" dirty="0">
                <a:solidFill>
                  <a:srgbClr val="1A1A1A"/>
                </a:solidFill>
                <a:latin typeface="Malgun Gothic" pitchFamily="34" charset="0"/>
                <a:ea typeface="Malgun Gothic" pitchFamily="34" charset="-122"/>
                <a:cs typeface="Malgun Gothic" pitchFamily="34" charset="-120"/>
              </a:rPr>
              <a:t>· 하위 질문별 few-shot 검색</a:t>
            </a:r>
            <a:endParaRPr lang="en-US" sz="1080" dirty="0"/>
          </a:p>
        </p:txBody>
      </p:sp>
      <p:sp>
        <p:nvSpPr>
          <p:cNvPr id="25" name="Shape 23"/>
          <p:cNvSpPr/>
          <p:nvPr/>
        </p:nvSpPr>
        <p:spPr>
          <a:xfrm>
            <a:off x="8951426" y="2171070"/>
            <a:ext cx="240816" cy="0"/>
          </a:xfrm>
          <a:prstGeom prst="line">
            <a:avLst/>
          </a:prstGeom>
          <a:noFill/>
          <a:ln w="22768">
            <a:solidFill>
              <a:srgbClr val="4D4D4D"/>
            </a:solidFill>
            <a:prstDash val="solid"/>
            <a:tailEnd type="triangle"/>
          </a:ln>
        </p:spPr>
      </p:sp>
      <p:sp>
        <p:nvSpPr>
          <p:cNvPr id="26" name="Shape 24"/>
          <p:cNvSpPr/>
          <p:nvPr/>
        </p:nvSpPr>
        <p:spPr>
          <a:xfrm>
            <a:off x="9236026" y="1601869"/>
            <a:ext cx="2473834" cy="1138401"/>
          </a:xfrm>
          <a:prstGeom prst="roundRect">
            <a:avLst>
              <a:gd name="adj" fmla="val 5769"/>
            </a:avLst>
          </a:prstGeom>
          <a:solidFill>
            <a:srgbClr val="FFFFFF"/>
          </a:solidFill>
          <a:ln w="17514">
            <a:solidFill>
              <a:srgbClr val="3A3A3A"/>
            </a:solidFill>
            <a:prstDash val="solid"/>
          </a:ln>
        </p:spPr>
      </p:sp>
      <p:sp>
        <p:nvSpPr>
          <p:cNvPr id="27" name="Text 25"/>
          <p:cNvSpPr txBox="1"/>
          <p:nvPr/>
        </p:nvSpPr>
        <p:spPr>
          <a:xfrm>
            <a:off x="9389272" y="1693543"/>
            <a:ext cx="1296715" cy="254498"/>
          </a:xfrm>
          <a:prstGeom prst="rect">
            <a:avLst/>
          </a:prstGeom>
          <a:noFill/>
          <a:ln/>
        </p:spPr>
        <p:txBody>
          <a:bodyPr wrap="none" lIns="0" tIns="0" rIns="0" bIns="0" rtlCol="0" anchor="ctr"/>
          <a:lstStyle/>
          <a:p>
            <a:pPr marL="0" indent="0" algn="l">
              <a:buNone/>
            </a:pPr>
            <a:r>
              <a:rPr lang="en-US" sz="1290" b="1" dirty="0">
                <a:solidFill>
                  <a:srgbClr val="1A1A1A"/>
                </a:solidFill>
                <a:latin typeface="Malgun Gothic" pitchFamily="34" charset="0"/>
                <a:ea typeface="Malgun Gothic" pitchFamily="34" charset="-122"/>
                <a:cs typeface="Malgun Gothic" pitchFamily="34" charset="-120"/>
              </a:rPr>
              <a:t>④ SQL 컴파일</a:t>
            </a:r>
            <a:endParaRPr lang="en-US" sz="1290" dirty="0"/>
          </a:p>
        </p:txBody>
      </p:sp>
      <p:sp>
        <p:nvSpPr>
          <p:cNvPr id="28" name="Text 26"/>
          <p:cNvSpPr txBox="1"/>
          <p:nvPr/>
        </p:nvSpPr>
        <p:spPr>
          <a:xfrm>
            <a:off x="9389272" y="1999352"/>
            <a:ext cx="1793233" cy="212082"/>
          </a:xfrm>
          <a:prstGeom prst="rect">
            <a:avLst/>
          </a:prstGeom>
          <a:noFill/>
          <a:ln/>
        </p:spPr>
        <p:txBody>
          <a:bodyPr wrap="none" lIns="0" tIns="0" rIns="0" bIns="0" rtlCol="0" anchor="ctr"/>
          <a:lstStyle/>
          <a:p>
            <a:pPr marL="0" indent="0" algn="l">
              <a:buNone/>
            </a:pPr>
            <a:r>
              <a:rPr lang="en-US" sz="1080" dirty="0">
                <a:solidFill>
                  <a:srgbClr val="1A1A1A"/>
                </a:solidFill>
                <a:latin typeface="Malgun Gothic" pitchFamily="34" charset="0"/>
                <a:ea typeface="Malgun Gothic" pitchFamily="34" charset="-122"/>
                <a:cs typeface="Malgun Gothic" pitchFamily="34" charset="-120"/>
              </a:rPr>
              <a:t>· View 위에서 SQL 작성</a:t>
            </a:r>
            <a:endParaRPr lang="en-US" sz="1080" dirty="0"/>
          </a:p>
        </p:txBody>
      </p:sp>
      <p:sp>
        <p:nvSpPr>
          <p:cNvPr id="29" name="Text 27"/>
          <p:cNvSpPr txBox="1"/>
          <p:nvPr/>
        </p:nvSpPr>
        <p:spPr>
          <a:xfrm>
            <a:off x="9389272" y="2218275"/>
            <a:ext cx="1858253" cy="212082"/>
          </a:xfrm>
          <a:prstGeom prst="rect">
            <a:avLst/>
          </a:prstGeom>
          <a:noFill/>
          <a:ln/>
        </p:spPr>
        <p:txBody>
          <a:bodyPr wrap="none" lIns="0" tIns="0" rIns="0" bIns="0" rtlCol="0" anchor="ctr"/>
          <a:lstStyle/>
          <a:p>
            <a:pPr marL="0" indent="0" algn="l">
              <a:buNone/>
            </a:pPr>
            <a:r>
              <a:rPr lang="en-US" sz="1080" dirty="0">
                <a:solidFill>
                  <a:srgbClr val="1A1A1A"/>
                </a:solidFill>
                <a:latin typeface="Malgun Gothic" pitchFamily="34" charset="0"/>
                <a:ea typeface="Malgun Gothic" pitchFamily="34" charset="-122"/>
                <a:cs typeface="Malgun Gothic" pitchFamily="34" charset="-120"/>
              </a:rPr>
              <a:t>· WITH 절로 원 스키마에</a:t>
            </a:r>
            <a:endParaRPr lang="en-US" sz="1080" dirty="0"/>
          </a:p>
        </p:txBody>
      </p:sp>
      <p:sp>
        <p:nvSpPr>
          <p:cNvPr id="30" name="Text 28"/>
          <p:cNvSpPr txBox="1"/>
          <p:nvPr/>
        </p:nvSpPr>
        <p:spPr>
          <a:xfrm>
            <a:off x="9498734" y="2437198"/>
            <a:ext cx="1036634" cy="212082"/>
          </a:xfrm>
          <a:prstGeom prst="rect">
            <a:avLst/>
          </a:prstGeom>
          <a:noFill/>
          <a:ln/>
        </p:spPr>
        <p:txBody>
          <a:bodyPr wrap="none" lIns="0" tIns="0" rIns="0" bIns="0" rtlCol="0" anchor="ctr"/>
          <a:lstStyle/>
          <a:p>
            <a:pPr marL="0" indent="0" algn="l">
              <a:buNone/>
            </a:pPr>
            <a:r>
              <a:rPr lang="en-US" sz="1080" dirty="0">
                <a:solidFill>
                  <a:srgbClr val="1A1A1A"/>
                </a:solidFill>
                <a:latin typeface="Malgun Gothic" pitchFamily="34" charset="0"/>
                <a:ea typeface="Malgun Gothic" pitchFamily="34" charset="-122"/>
                <a:cs typeface="Malgun Gothic" pitchFamily="34" charset="-120"/>
              </a:rPr>
              <a:t>재매핑해 실행</a:t>
            </a:r>
            <a:endParaRPr lang="en-US" sz="1080" dirty="0"/>
          </a:p>
        </p:txBody>
      </p:sp>
      <p:sp>
        <p:nvSpPr>
          <p:cNvPr id="31" name="Shape 29"/>
          <p:cNvSpPr/>
          <p:nvPr/>
        </p:nvSpPr>
        <p:spPr>
          <a:xfrm>
            <a:off x="2635487" y="2740270"/>
            <a:ext cx="0" cy="328385"/>
          </a:xfrm>
          <a:prstGeom prst="line">
            <a:avLst/>
          </a:prstGeom>
          <a:noFill/>
          <a:ln w="22768">
            <a:solidFill>
              <a:srgbClr val="8C8C8C"/>
            </a:solidFill>
            <a:prstDash val="dash"/>
          </a:ln>
        </p:spPr>
      </p:sp>
      <p:sp>
        <p:nvSpPr>
          <p:cNvPr id="32" name="Shape 30"/>
          <p:cNvSpPr/>
          <p:nvPr/>
        </p:nvSpPr>
        <p:spPr>
          <a:xfrm>
            <a:off x="5218783" y="2740270"/>
            <a:ext cx="0" cy="328385"/>
          </a:xfrm>
          <a:prstGeom prst="line">
            <a:avLst/>
          </a:prstGeom>
          <a:noFill/>
          <a:ln w="22768">
            <a:solidFill>
              <a:srgbClr val="8C8C8C"/>
            </a:solidFill>
            <a:prstDash val="dash"/>
          </a:ln>
        </p:spPr>
      </p:sp>
      <p:sp>
        <p:nvSpPr>
          <p:cNvPr id="33" name="Shape 31"/>
          <p:cNvSpPr/>
          <p:nvPr/>
        </p:nvSpPr>
        <p:spPr>
          <a:xfrm>
            <a:off x="1486140" y="3090548"/>
            <a:ext cx="4881990" cy="547308"/>
          </a:xfrm>
          <a:prstGeom prst="roundRect">
            <a:avLst>
              <a:gd name="adj" fmla="val 12000"/>
            </a:avLst>
          </a:prstGeom>
          <a:solidFill>
            <a:srgbClr val="EDEDED"/>
          </a:solidFill>
          <a:ln w="17514">
            <a:solidFill>
              <a:srgbClr val="A6A6A6"/>
            </a:solidFill>
            <a:prstDash val="solid"/>
          </a:ln>
        </p:spPr>
      </p:sp>
      <p:sp>
        <p:nvSpPr>
          <p:cNvPr id="34" name="Text 32"/>
          <p:cNvSpPr txBox="1"/>
          <p:nvPr/>
        </p:nvSpPr>
        <p:spPr>
          <a:xfrm>
            <a:off x="2356850" y="3173054"/>
            <a:ext cx="3140570" cy="229049"/>
          </a:xfrm>
          <a:prstGeom prst="rect">
            <a:avLst/>
          </a:prstGeom>
          <a:noFill/>
          <a:ln/>
        </p:spPr>
        <p:txBody>
          <a:bodyPr wrap="none" lIns="0" tIns="0" rIns="0" bIns="0" rtlCol="0" anchor="ctr"/>
          <a:lstStyle/>
          <a:p>
            <a:pPr marL="0" indent="0" algn="ctr">
              <a:buNone/>
            </a:pPr>
            <a:r>
              <a:rPr lang="en-US" sz="1160" b="1" dirty="0">
                <a:solidFill>
                  <a:srgbClr val="333333"/>
                </a:solidFill>
                <a:latin typeface="Malgun Gothic" pitchFamily="34" charset="0"/>
                <a:ea typeface="Malgun Gothic" pitchFamily="34" charset="-122"/>
                <a:cs typeface="Malgun Gothic" pitchFamily="34" charset="-120"/>
              </a:rPr>
              <a:t>지식그래프 (DANKE 키워드 검색 플랫폼)</a:t>
            </a:r>
            <a:endParaRPr lang="en-US" sz="1160" dirty="0"/>
          </a:p>
        </p:txBody>
      </p:sp>
      <p:sp>
        <p:nvSpPr>
          <p:cNvPr id="35" name="Text 33"/>
          <p:cNvSpPr txBox="1"/>
          <p:nvPr/>
        </p:nvSpPr>
        <p:spPr>
          <a:xfrm>
            <a:off x="1737089" y="3393757"/>
            <a:ext cx="4380092" cy="203599"/>
          </a:xfrm>
          <a:prstGeom prst="rect">
            <a:avLst/>
          </a:prstGeom>
          <a:noFill/>
          <a:ln/>
        </p:spPr>
        <p:txBody>
          <a:bodyPr wrap="none" lIns="0" tIns="0" rIns="0" bIns="0" rtlCol="0" anchor="ctr"/>
          <a:lstStyle/>
          <a:p>
            <a:pPr marL="0" indent="0" algn="ctr">
              <a:buNone/>
            </a:pPr>
            <a:r>
              <a:rPr lang="en-US" sz="1030" dirty="0">
                <a:solidFill>
                  <a:srgbClr val="333333"/>
                </a:solidFill>
                <a:latin typeface="Malgun Gothic" pitchFamily="34" charset="0"/>
                <a:ea typeface="Malgun Gothic" pitchFamily="34" charset="-122"/>
                <a:cs typeface="Malgun Gothic" pitchFamily="34" charset="-120"/>
              </a:rPr>
              <a:t>클래스 · 속성 · 동의어 · 관련도 순위 · 값 색인 · 스키마 매핑</a:t>
            </a:r>
            <a:endParaRPr lang="en-US" sz="1030" dirty="0"/>
          </a:p>
        </p:txBody>
      </p:sp>
      <p:sp>
        <p:nvSpPr>
          <p:cNvPr id="36" name="Shape 34"/>
          <p:cNvSpPr/>
          <p:nvPr/>
        </p:nvSpPr>
        <p:spPr>
          <a:xfrm>
            <a:off x="7802078" y="2740270"/>
            <a:ext cx="0" cy="328385"/>
          </a:xfrm>
          <a:prstGeom prst="line">
            <a:avLst/>
          </a:prstGeom>
          <a:noFill/>
          <a:ln w="22768">
            <a:solidFill>
              <a:srgbClr val="8C8C8C"/>
            </a:solidFill>
            <a:prstDash val="dash"/>
          </a:ln>
        </p:spPr>
      </p:sp>
      <p:sp>
        <p:nvSpPr>
          <p:cNvPr id="37" name="Shape 35"/>
          <p:cNvSpPr/>
          <p:nvPr/>
        </p:nvSpPr>
        <p:spPr>
          <a:xfrm>
            <a:off x="6652731" y="3090548"/>
            <a:ext cx="5057129" cy="547308"/>
          </a:xfrm>
          <a:prstGeom prst="roundRect">
            <a:avLst>
              <a:gd name="adj" fmla="val 12000"/>
            </a:avLst>
          </a:prstGeom>
          <a:solidFill>
            <a:srgbClr val="EDEDED"/>
          </a:solidFill>
          <a:ln w="17514">
            <a:solidFill>
              <a:srgbClr val="A6A6A6"/>
            </a:solidFill>
            <a:prstDash val="solid"/>
          </a:ln>
        </p:spPr>
      </p:sp>
      <p:sp>
        <p:nvSpPr>
          <p:cNvPr id="38" name="Text 36"/>
          <p:cNvSpPr txBox="1"/>
          <p:nvPr/>
        </p:nvSpPr>
        <p:spPr>
          <a:xfrm>
            <a:off x="7950948" y="3173054"/>
            <a:ext cx="2460695" cy="229049"/>
          </a:xfrm>
          <a:prstGeom prst="rect">
            <a:avLst/>
          </a:prstGeom>
          <a:noFill/>
          <a:ln/>
        </p:spPr>
        <p:txBody>
          <a:bodyPr wrap="none" lIns="0" tIns="0" rIns="0" bIns="0" rtlCol="0" anchor="ctr"/>
          <a:lstStyle/>
          <a:p>
            <a:pPr marL="0" indent="0" algn="ctr">
              <a:buNone/>
            </a:pPr>
            <a:r>
              <a:rPr lang="en-US" sz="1160" b="1" dirty="0">
                <a:solidFill>
                  <a:srgbClr val="333333"/>
                </a:solidFill>
                <a:latin typeface="Malgun Gothic" pitchFamily="34" charset="0"/>
                <a:ea typeface="Malgun Gothic" pitchFamily="34" charset="-122"/>
                <a:cs typeface="Malgun Gothic" pitchFamily="34" charset="-120"/>
              </a:rPr>
              <a:t>Few-shot 예시 저장소 (FAISS)</a:t>
            </a:r>
            <a:endParaRPr lang="en-US" sz="1160" dirty="0"/>
          </a:p>
        </p:txBody>
      </p:sp>
      <p:sp>
        <p:nvSpPr>
          <p:cNvPr id="39" name="Text 37"/>
          <p:cNvSpPr txBox="1"/>
          <p:nvPr/>
        </p:nvSpPr>
        <p:spPr>
          <a:xfrm>
            <a:off x="6860736" y="3393757"/>
            <a:ext cx="4641119" cy="203599"/>
          </a:xfrm>
          <a:prstGeom prst="rect">
            <a:avLst/>
          </a:prstGeom>
          <a:noFill/>
          <a:ln/>
        </p:spPr>
        <p:txBody>
          <a:bodyPr wrap="none" lIns="0" tIns="0" rIns="0" bIns="0" rtlCol="0" anchor="ctr"/>
          <a:lstStyle/>
          <a:p>
            <a:pPr marL="0" indent="0" algn="ctr">
              <a:buNone/>
            </a:pPr>
            <a:r>
              <a:rPr lang="en-US" sz="1030" dirty="0">
                <a:solidFill>
                  <a:srgbClr val="333333"/>
                </a:solidFill>
                <a:latin typeface="Malgun Gothic" pitchFamily="34" charset="0"/>
                <a:ea typeface="Malgun Gothic" pitchFamily="34" charset="-122"/>
                <a:cs typeface="Malgun Gothic" pitchFamily="34" charset="-120"/>
              </a:rPr>
              <a:t>지식그래프·DB 문서로 LLM이 합성한 질문-SQL 쌍 · ①·③에서 검색</a:t>
            </a:r>
            <a:endParaRPr lang="en-US" sz="1030" dirty="0"/>
          </a:p>
        </p:txBody>
      </p:sp>
      <p:sp>
        <p:nvSpPr>
          <p:cNvPr id="40" name="Shape 38"/>
          <p:cNvSpPr/>
          <p:nvPr/>
        </p:nvSpPr>
        <p:spPr>
          <a:xfrm>
            <a:off x="457200" y="3794760"/>
            <a:ext cx="2697480" cy="2468880"/>
          </a:xfrm>
          <a:prstGeom prst="roundRect">
            <a:avLst>
              <a:gd name="adj" fmla="val 2963"/>
            </a:avLst>
          </a:prstGeom>
          <a:solidFill>
            <a:srgbClr val="F2F2F2"/>
          </a:solidFill>
          <a:ln/>
        </p:spPr>
      </p:sp>
      <p:sp>
        <p:nvSpPr>
          <p:cNvPr id="41" name="Text 39"/>
          <p:cNvSpPr txBox="1"/>
          <p:nvPr/>
        </p:nvSpPr>
        <p:spPr>
          <a:xfrm>
            <a:off x="621792" y="3904488"/>
            <a:ext cx="2377440" cy="237744"/>
          </a:xfrm>
          <a:prstGeom prst="rect">
            <a:avLst/>
          </a:prstGeom>
          <a:noFill/>
          <a:ln/>
        </p:spPr>
        <p:txBody>
          <a:bodyPr wrap="square" lIns="0" tIns="0" rIns="0" bIns="0" rtlCol="0" anchor="t"/>
          <a:lstStyle/>
          <a:p>
            <a:pPr marL="0" indent="0">
              <a:buNone/>
            </a:pPr>
            <a:r>
              <a:rPr lang="en-US" sz="1050" b="1" dirty="0">
                <a:solidFill>
                  <a:srgbClr val="5F5F5F"/>
                </a:solidFill>
                <a:latin typeface="Malgun Gothic" pitchFamily="34" charset="0"/>
                <a:ea typeface="Malgun Gothic" pitchFamily="34" charset="-122"/>
                <a:cs typeface="Malgun Gothic" pitchFamily="34" charset="-120"/>
              </a:rPr>
              <a:t>문제와 접근</a:t>
            </a:r>
            <a:endParaRPr lang="en-US" sz="1050" dirty="0"/>
          </a:p>
        </p:txBody>
      </p:sp>
      <p:sp>
        <p:nvSpPr>
          <p:cNvPr id="42" name="Text 40"/>
          <p:cNvSpPr txBox="1"/>
          <p:nvPr/>
        </p:nvSpPr>
        <p:spPr>
          <a:xfrm>
            <a:off x="621792" y="4206240"/>
            <a:ext cx="2368296" cy="1965960"/>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100" dirty="0">
                <a:solidFill>
                  <a:srgbClr val="1A1A1A"/>
                </a:solidFill>
                <a:latin typeface="Malgun Gothic" pitchFamily="34" charset="0"/>
                <a:ea typeface="Malgun Gothic" pitchFamily="34" charset="-122"/>
                <a:cs typeface="Malgun Gothic" pitchFamily="34" charset="-120"/>
              </a:rPr>
              <a:t>벤치마크(Spider·BIRD)와 달리 실제 DB는 스키마가 크고 이름이 사용자 용어와 다르다</a:t>
            </a:r>
            <a:endParaRPr lang="en-US" sz="1100" dirty="0"/>
          </a:p>
          <a:p>
            <a:pPr marL="152400" indent="-152400">
              <a:lnSpc>
                <a:spcPct val="110000"/>
              </a:lnSpc>
              <a:spcAft>
                <a:spcPts val="400"/>
              </a:spcAft>
              <a:buSzPct val="100000"/>
              <a:buChar char="•"/>
            </a:pPr>
            <a:r>
              <a:rPr lang="en-US" sz="1100" b="1" dirty="0">
                <a:solidFill>
                  <a:srgbClr val="1A1A1A"/>
                </a:solidFill>
                <a:latin typeface="Malgun Gothic" pitchFamily="34" charset="0"/>
                <a:ea typeface="Malgun Gothic" pitchFamily="34" charset="-122"/>
                <a:cs typeface="Malgun Gothic" pitchFamily="34" charset="-120"/>
              </a:rPr>
              <a:t>용어 간극이  </a:t>
            </a:r>
            <a:r>
              <a:rPr lang="en-US" sz="1100" dirty="0">
                <a:solidFill>
                  <a:srgbClr val="5F5F5F"/>
                </a:solidFill>
                <a:latin typeface="Malgun Gothic" pitchFamily="34" charset="0"/>
                <a:ea typeface="Malgun Gothic" pitchFamily="34" charset="-122"/>
                <a:cs typeface="Malgun Gothic" pitchFamily="34" charset="-120"/>
              </a:rPr>
              <a:t>실제 DB에서 성능이 떨어지는 주원인</a:t>
            </a:r>
            <a:endParaRPr lang="en-US" sz="1100" dirty="0"/>
          </a:p>
          <a:p>
            <a:pPr marL="152400" indent="-152400">
              <a:lnSpc>
                <a:spcPct val="110000"/>
              </a:lnSpc>
              <a:spcAft>
                <a:spcPts val="400"/>
              </a:spcAft>
              <a:buSzPct val="100000"/>
              <a:buChar char="•"/>
            </a:pPr>
            <a:r>
              <a:rPr lang="en-US" sz="1100" dirty="0">
                <a:solidFill>
                  <a:srgbClr val="1A1A1A"/>
                </a:solidFill>
                <a:latin typeface="Malgun Gothic" pitchFamily="34" charset="0"/>
                <a:ea typeface="Malgun Gothic" pitchFamily="34" charset="-122"/>
                <a:cs typeface="Malgun Gothic" pitchFamily="34" charset="-120"/>
              </a:rPr>
              <a:t>해법: 현업 용어로 지은 지식그래프 + 동적 few-shot</a:t>
            </a:r>
            <a:endParaRPr lang="en-US" sz="1100" dirty="0"/>
          </a:p>
        </p:txBody>
      </p:sp>
      <p:sp>
        <p:nvSpPr>
          <p:cNvPr id="43" name="Shape 41"/>
          <p:cNvSpPr/>
          <p:nvPr/>
        </p:nvSpPr>
        <p:spPr>
          <a:xfrm>
            <a:off x="3337560" y="3794760"/>
            <a:ext cx="2606040" cy="2468880"/>
          </a:xfrm>
          <a:prstGeom prst="roundRect">
            <a:avLst>
              <a:gd name="adj" fmla="val 2963"/>
            </a:avLst>
          </a:prstGeom>
          <a:solidFill>
            <a:srgbClr val="F2F2F2"/>
          </a:solidFill>
          <a:ln/>
        </p:spPr>
      </p:sp>
      <p:sp>
        <p:nvSpPr>
          <p:cNvPr id="44" name="Text 42"/>
          <p:cNvSpPr txBox="1"/>
          <p:nvPr/>
        </p:nvSpPr>
        <p:spPr>
          <a:xfrm>
            <a:off x="3502152" y="3904488"/>
            <a:ext cx="2377440" cy="237744"/>
          </a:xfrm>
          <a:prstGeom prst="rect">
            <a:avLst/>
          </a:prstGeom>
          <a:noFill/>
          <a:ln/>
        </p:spPr>
        <p:txBody>
          <a:bodyPr wrap="square" lIns="0" tIns="0" rIns="0" bIns="0" rtlCol="0" anchor="t"/>
          <a:lstStyle/>
          <a:p>
            <a:pPr marL="0" indent="0">
              <a:buNone/>
            </a:pPr>
            <a:r>
              <a:rPr lang="en-US" sz="1050" b="1" dirty="0">
                <a:solidFill>
                  <a:srgbClr val="5F5F5F"/>
                </a:solidFill>
                <a:latin typeface="Malgun Gothic" pitchFamily="34" charset="0"/>
                <a:ea typeface="Malgun Gothic" pitchFamily="34" charset="-122"/>
                <a:cs typeface="Malgun Gothic" pitchFamily="34" charset="-120"/>
              </a:rPr>
              <a:t>지식그래프 구성</a:t>
            </a:r>
            <a:endParaRPr lang="en-US" sz="1050" dirty="0"/>
          </a:p>
        </p:txBody>
      </p:sp>
      <p:sp>
        <p:nvSpPr>
          <p:cNvPr id="45" name="Text 43"/>
          <p:cNvSpPr txBox="1"/>
          <p:nvPr/>
        </p:nvSpPr>
        <p:spPr>
          <a:xfrm>
            <a:off x="3502152" y="4206240"/>
            <a:ext cx="2276856" cy="1965960"/>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100" dirty="0">
                <a:solidFill>
                  <a:srgbClr val="1A1A1A"/>
                </a:solidFill>
                <a:latin typeface="Malgun Gothic" pitchFamily="34" charset="0"/>
                <a:ea typeface="Malgun Gothic" pitchFamily="34" charset="-122"/>
                <a:cs typeface="Malgun Gothic" pitchFamily="34" charset="-120"/>
              </a:rPr>
              <a:t>클래스·데이터 속성·관계 속성, 각각 동의어와 관련도 순위</a:t>
            </a:r>
            <a:endParaRPr lang="en-US" sz="1100" dirty="0"/>
          </a:p>
          <a:p>
            <a:pPr marL="152400" indent="-152400">
              <a:lnSpc>
                <a:spcPct val="110000"/>
              </a:lnSpc>
              <a:spcAft>
                <a:spcPts val="400"/>
              </a:spcAft>
              <a:buSzPct val="100000"/>
              <a:buChar char="•"/>
            </a:pPr>
            <a:r>
              <a:rPr lang="en-US" sz="1100" dirty="0">
                <a:solidFill>
                  <a:srgbClr val="1A1A1A"/>
                </a:solidFill>
                <a:latin typeface="Malgun Gothic" pitchFamily="34" charset="0"/>
                <a:ea typeface="Malgun Gothic" pitchFamily="34" charset="-122"/>
                <a:cs typeface="Malgun Gothic" pitchFamily="34" charset="-120"/>
              </a:rPr>
              <a:t>이름은 테이블명이 아니라 사용자 용어로</a:t>
            </a:r>
            <a:endParaRPr lang="en-US" sz="1100" dirty="0"/>
          </a:p>
          <a:p>
            <a:pPr marL="152400" indent="-152400">
              <a:lnSpc>
                <a:spcPct val="110000"/>
              </a:lnSpc>
              <a:spcAft>
                <a:spcPts val="400"/>
              </a:spcAft>
              <a:buSzPct val="100000"/>
              <a:buChar char="•"/>
            </a:pPr>
            <a:r>
              <a:rPr lang="en-US" sz="1100" dirty="0">
                <a:solidFill>
                  <a:srgbClr val="1A1A1A"/>
                </a:solidFill>
                <a:latin typeface="Malgun Gothic" pitchFamily="34" charset="0"/>
                <a:ea typeface="Malgun Gothic" pitchFamily="34" charset="-122"/>
                <a:cs typeface="Malgun Gothic" pitchFamily="34" charset="-120"/>
              </a:rPr>
              <a:t>일부 속성의 실제 값 색인 (약 110만 건)</a:t>
            </a:r>
            <a:endParaRPr lang="en-US" sz="1100" dirty="0"/>
          </a:p>
          <a:p>
            <a:pPr marL="152400" indent="-152400">
              <a:lnSpc>
                <a:spcPct val="110000"/>
              </a:lnSpc>
              <a:spcAft>
                <a:spcPts val="400"/>
              </a:spcAft>
              <a:buSzPct val="100000"/>
              <a:buChar char="•"/>
            </a:pPr>
            <a:r>
              <a:rPr lang="en-US" sz="1100" dirty="0">
                <a:solidFill>
                  <a:srgbClr val="1A1A1A"/>
                </a:solidFill>
                <a:latin typeface="Malgun Gothic" pitchFamily="34" charset="0"/>
                <a:ea typeface="Malgun Gothic" pitchFamily="34" charset="-122"/>
                <a:cs typeface="Malgun Gothic" pitchFamily="34" charset="-120"/>
              </a:rPr>
              <a:t>관계형 스키마와는 별도 매핑으로 연결</a:t>
            </a:r>
            <a:endParaRPr lang="en-US" sz="1100" dirty="0"/>
          </a:p>
        </p:txBody>
      </p:sp>
      <p:sp>
        <p:nvSpPr>
          <p:cNvPr id="46" name="Shape 44"/>
          <p:cNvSpPr/>
          <p:nvPr/>
        </p:nvSpPr>
        <p:spPr>
          <a:xfrm>
            <a:off x="6126480" y="3794760"/>
            <a:ext cx="2377440" cy="2468880"/>
          </a:xfrm>
          <a:prstGeom prst="roundRect">
            <a:avLst>
              <a:gd name="adj" fmla="val 3077"/>
            </a:avLst>
          </a:prstGeom>
          <a:solidFill>
            <a:srgbClr val="F2F2F2"/>
          </a:solidFill>
          <a:ln/>
        </p:spPr>
      </p:sp>
      <p:sp>
        <p:nvSpPr>
          <p:cNvPr id="47" name="Text 45"/>
          <p:cNvSpPr txBox="1"/>
          <p:nvPr/>
        </p:nvSpPr>
        <p:spPr>
          <a:xfrm>
            <a:off x="6291072" y="3904488"/>
            <a:ext cx="2194560" cy="237744"/>
          </a:xfrm>
          <a:prstGeom prst="rect">
            <a:avLst/>
          </a:prstGeom>
          <a:noFill/>
          <a:ln/>
        </p:spPr>
        <p:txBody>
          <a:bodyPr wrap="square" lIns="0" tIns="0" rIns="0" bIns="0" rtlCol="0" anchor="t"/>
          <a:lstStyle/>
          <a:p>
            <a:pPr marL="0" indent="0">
              <a:buNone/>
            </a:pPr>
            <a:r>
              <a:rPr lang="en-US" sz="1050" b="1" dirty="0">
                <a:solidFill>
                  <a:srgbClr val="5F5F5F"/>
                </a:solidFill>
                <a:latin typeface="Malgun Gothic" pitchFamily="34" charset="0"/>
                <a:ea typeface="Malgun Gothic" pitchFamily="34" charset="-122"/>
                <a:cs typeface="Malgun Gothic" pitchFamily="34" charset="-120"/>
              </a:rPr>
              <a:t>실험 대상 (각 100문항)</a:t>
            </a:r>
            <a:endParaRPr lang="en-US" sz="1050" dirty="0"/>
          </a:p>
        </p:txBody>
      </p:sp>
      <p:sp>
        <p:nvSpPr>
          <p:cNvPr id="48" name="Text 46"/>
          <p:cNvSpPr txBox="1"/>
          <p:nvPr/>
        </p:nvSpPr>
        <p:spPr>
          <a:xfrm>
            <a:off x="6291072" y="4178808"/>
            <a:ext cx="2048256" cy="457200"/>
          </a:xfrm>
          <a:prstGeom prst="rect">
            <a:avLst/>
          </a:prstGeom>
          <a:noFill/>
          <a:ln/>
        </p:spPr>
        <p:txBody>
          <a:bodyPr wrap="square" lIns="0" tIns="0" rIns="0" bIns="0" rtlCol="0" anchor="t"/>
          <a:lstStyle/>
          <a:p>
            <a:pPr marL="0" indent="0">
              <a:buNone/>
            </a:pPr>
            <a:r>
              <a:rPr lang="en-US" sz="1000" b="1" dirty="0">
                <a:solidFill>
                  <a:srgbClr val="1A1A1A"/>
                </a:solidFill>
                <a:latin typeface="Malgun Gothic" pitchFamily="34" charset="0"/>
                <a:ea typeface="Malgun Gothic" pitchFamily="34" charset="-122"/>
                <a:cs typeface="Malgun Gothic" pitchFamily="34" charset="-120"/>
              </a:rPr>
              <a:t>사내 DB: 에너지 기업 설비 무결성 관리 (Oracle)</a:t>
            </a:r>
            <a:endParaRPr lang="en-US" sz="1000" dirty="0"/>
          </a:p>
          <a:p>
            <a:pPr marL="0" indent="0">
              <a:buNone/>
            </a:pPr>
            <a:r>
              <a:rPr lang="en-US" sz="1000" b="1" dirty="0">
                <a:solidFill>
                  <a:srgbClr val="1A1A1A"/>
                </a:solidFill>
                <a:latin typeface="Malgun Gothic" pitchFamily="34" charset="0"/>
                <a:ea typeface="Malgun Gothic" pitchFamily="34" charset="-122"/>
                <a:cs typeface="Malgun Gothic" pitchFamily="34" charset="-120"/>
              </a:rPr>
              <a:t>공개 DB: Mondial (지리)</a:t>
            </a:r>
            <a:endParaRPr lang="en-US" sz="10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6291072" y="4727448"/>
          <a:ext cx="2048256" cy="925068"/>
        </p:xfrm>
        <a:graphic>
          <a:graphicData uri="http://schemas.openxmlformats.org/drawingml/2006/table">
            <a:tbl>
              <a:tblPr/>
              <a:tblGrid>
                <a:gridCol w="731520">
                  <a:extLst>
                    <a:ext uri="{9D8B030D-6E8A-4147-A177-3AD203B41FA5}">
                      <a16:colId xmlns:a16="http://schemas.microsoft.com/office/drawing/2014/main" val="20000"/>
                    </a:ext>
                  </a:extLst>
                </a:gridCol>
                <a:gridCol w="658368">
                  <a:extLst>
                    <a:ext uri="{9D8B030D-6E8A-4147-A177-3AD203B41FA5}">
                      <a16:colId xmlns:a16="http://schemas.microsoft.com/office/drawing/2014/main" val="20001"/>
                    </a:ext>
                  </a:extLst>
                </a:gridCol>
                <a:gridCol w="658368">
                  <a:extLst>
                    <a:ext uri="{9D8B030D-6E8A-4147-A177-3AD203B41FA5}">
                      <a16:colId xmlns:a16="http://schemas.microsoft.com/office/drawing/2014/main" val="20002"/>
                    </a:ext>
                  </a:extLst>
                </a:gridCol>
              </a:tblGrid>
              <a:tr h="0">
                <a:tc>
                  <a:txBody>
                    <a:bodyPr/>
                    <a:lstStyle/>
                    <a:p>
                      <a:pPr marL="0" indent="0">
                        <a:buNone/>
                      </a:pPr>
                      <a:endParaRPr lang="en-US" sz="100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0" cap="flat" cmpd="sng" algn="ctr">
                      <a:noFill/>
                    </a:lnT>
                    <a:lnB w="15875" cap="flat" cmpd="sng" algn="ctr">
                      <a:solidFill>
                        <a:srgbClr val="D0D0D0"/>
                      </a:solidFill>
                      <a:prstDash val="solid"/>
                      <a:round/>
                      <a:headEnd type="none" w="med" len="med"/>
                      <a:tailEnd type="none" w="med" len="med"/>
                    </a:lnB>
                  </a:tcPr>
                </a:tc>
                <a:tc>
                  <a:txBody>
                    <a:bodyPr/>
                    <a:lstStyle/>
                    <a:p>
                      <a:pPr marL="0" indent="0">
                        <a:buNone/>
                      </a:pPr>
                      <a:r>
                        <a:rPr lang="en-US" sz="1000" b="1" dirty="0">
                          <a:solidFill>
                            <a:srgbClr val="5F5F5F"/>
                          </a:solidFill>
                          <a:latin typeface="Malgun Gothic" pitchFamily="34" charset="0"/>
                          <a:ea typeface="Malgun Gothic" pitchFamily="34" charset="-122"/>
                          <a:cs typeface="Malgun Gothic" pitchFamily="34" charset="-120"/>
                        </a:rPr>
                        <a:t>사내 DB</a:t>
                      </a:r>
                      <a:endParaRPr lang="en-US" sz="100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0" cap="flat" cmpd="sng" algn="ctr">
                      <a:noFill/>
                    </a:lnT>
                    <a:lnB w="15875" cap="flat" cmpd="sng" algn="ctr">
                      <a:solidFill>
                        <a:srgbClr val="D0D0D0"/>
                      </a:solidFill>
                      <a:prstDash val="solid"/>
                      <a:round/>
                      <a:headEnd type="none" w="med" len="med"/>
                      <a:tailEnd type="none" w="med" len="med"/>
                    </a:lnB>
                  </a:tcPr>
                </a:tc>
                <a:tc>
                  <a:txBody>
                    <a:bodyPr/>
                    <a:lstStyle/>
                    <a:p>
                      <a:pPr marL="0" indent="0">
                        <a:buNone/>
                      </a:pPr>
                      <a:r>
                        <a:rPr lang="en-US" sz="1000" b="1" dirty="0">
                          <a:solidFill>
                            <a:srgbClr val="5F5F5F"/>
                          </a:solidFill>
                          <a:latin typeface="Malgun Gothic" pitchFamily="34" charset="0"/>
                          <a:ea typeface="Malgun Gothic" pitchFamily="34" charset="-122"/>
                          <a:cs typeface="Malgun Gothic" pitchFamily="34" charset="-120"/>
                        </a:rPr>
                        <a:t>Mondial</a:t>
                      </a:r>
                      <a:endParaRPr lang="en-US" sz="100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0" cap="flat" cmpd="sng" algn="ctr">
                      <a:noFill/>
                    </a:lnT>
                    <a:lnB w="15875"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테이블</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15875" cap="flat" cmpd="sng" algn="ctr">
                      <a:solidFill>
                        <a:srgbClr val="D0D0D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27</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15875" cap="flat" cmpd="sng" algn="ctr">
                      <a:solidFill>
                        <a:srgbClr val="D0D0D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46</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15875" cap="flat" cmpd="sng" algn="ctr">
                      <a:solidFill>
                        <a:srgbClr val="D0D0D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컬럼</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585</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184</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외래키</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30</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49</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0" name="Shape 47"/>
          <p:cNvSpPr/>
          <p:nvPr/>
        </p:nvSpPr>
        <p:spPr>
          <a:xfrm>
            <a:off x="8686800" y="3794760"/>
            <a:ext cx="3044952" cy="2468880"/>
          </a:xfrm>
          <a:prstGeom prst="roundRect">
            <a:avLst>
              <a:gd name="adj" fmla="val 2963"/>
            </a:avLst>
          </a:prstGeom>
          <a:solidFill>
            <a:srgbClr val="F2F2F2"/>
          </a:solidFill>
          <a:ln/>
        </p:spPr>
      </p:sp>
      <p:sp>
        <p:nvSpPr>
          <p:cNvPr id="51" name="Text 48"/>
          <p:cNvSpPr txBox="1"/>
          <p:nvPr/>
        </p:nvSpPr>
        <p:spPr>
          <a:xfrm>
            <a:off x="8851392" y="3904488"/>
            <a:ext cx="2194560" cy="237744"/>
          </a:xfrm>
          <a:prstGeom prst="rect">
            <a:avLst/>
          </a:prstGeom>
          <a:noFill/>
          <a:ln/>
        </p:spPr>
        <p:txBody>
          <a:bodyPr wrap="square" lIns="0" tIns="0" rIns="0" bIns="0" rtlCol="0" anchor="t"/>
          <a:lstStyle/>
          <a:p>
            <a:pPr marL="0" indent="0">
              <a:buNone/>
            </a:pPr>
            <a:r>
              <a:rPr lang="en-US" sz="1050" b="1" dirty="0">
                <a:solidFill>
                  <a:srgbClr val="5F5F5F"/>
                </a:solidFill>
                <a:latin typeface="Malgun Gothic" pitchFamily="34" charset="0"/>
                <a:ea typeface="Malgun Gothic" pitchFamily="34" charset="-122"/>
                <a:cs typeface="Malgun Gothic" pitchFamily="34" charset="-120"/>
              </a:rPr>
              <a:t>결과</a:t>
            </a:r>
            <a:endParaRPr lang="en-US" sz="1050" dirty="0"/>
          </a:p>
        </p:txBody>
      </p:sp>
      <p:graphicFrame>
        <p:nvGraphicFramePr>
          <p:cNvPr id="52" name="Chart 0"/>
          <p:cNvGraphicFramePr/>
          <p:nvPr/>
        </p:nvGraphicFramePr>
        <p:xfrm>
          <a:off x="8778240" y="4087368"/>
          <a:ext cx="2862072" cy="1371600"/>
        </p:xfrm>
        <a:graphic>
          <a:graphicData uri="http://schemas.openxmlformats.org/drawingml/2006/chart">
            <c:chart xmlns:c="http://schemas.openxmlformats.org/drawingml/2006/chart" xmlns:r="http://schemas.openxmlformats.org/officeDocument/2006/relationships" r:id="rId3"/>
          </a:graphicData>
        </a:graphic>
      </p:graphicFrame>
      <p:sp>
        <p:nvSpPr>
          <p:cNvPr id="53" name="Text 49"/>
          <p:cNvSpPr txBox="1"/>
          <p:nvPr/>
        </p:nvSpPr>
        <p:spPr>
          <a:xfrm>
            <a:off x="8851392" y="5486400"/>
            <a:ext cx="2715768" cy="731520"/>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000" dirty="0">
                <a:solidFill>
                  <a:srgbClr val="1A1A1A"/>
                </a:solidFill>
                <a:latin typeface="Malgun Gothic" pitchFamily="34" charset="0"/>
                <a:ea typeface="Malgun Gothic" pitchFamily="34" charset="-122"/>
                <a:cs typeface="Malgun Gothic" pitchFamily="34" charset="-120"/>
              </a:rPr>
              <a:t>DIN-SQL, C3, SQLCoder, LangChain보다 우수 · Mondial도 약 93%</a:t>
            </a:r>
            <a:endParaRPr lang="en-US" sz="1000" dirty="0"/>
          </a:p>
          <a:p>
            <a:pPr marL="152400" indent="-152400">
              <a:lnSpc>
                <a:spcPct val="110000"/>
              </a:lnSpc>
              <a:spcAft>
                <a:spcPts val="400"/>
              </a:spcAft>
              <a:buSzPct val="100000"/>
              <a:buChar char="•"/>
            </a:pPr>
            <a:r>
              <a:rPr lang="en-US" sz="1000" dirty="0">
                <a:solidFill>
                  <a:srgbClr val="1A1A1A"/>
                </a:solidFill>
                <a:latin typeface="Malgun Gothic" pitchFamily="34" charset="0"/>
                <a:ea typeface="Malgun Gothic" pitchFamily="34" charset="-122"/>
                <a:cs typeface="Malgun Gothic" pitchFamily="34" charset="-120"/>
              </a:rPr>
              <a:t>다른 LLM(GPT-4o·GPT-5 등)은 비슷하거나 낮음</a:t>
            </a:r>
            <a:endParaRPr lang="en-US" sz="1000" dirty="0"/>
          </a:p>
        </p:txBody>
      </p:sp>
      <p:sp>
        <p:nvSpPr>
          <p:cNvPr id="54" name="Slide Number Placeholder 0"/>
          <p:cNvSpPr>
            <a:spLocks noGrp="1"/>
          </p:cNvSpPr>
          <p:nvPr>
            <p:ph type="sldNum" sz="quarter" idx="4294967295"/>
          </p:nvPr>
        </p:nvSpPr>
        <p:spPr>
          <a:xfrm>
            <a:off x="11183112" y="6419088"/>
            <a:ext cx="54864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6B6B6B"/>
                </a:solidFill>
                <a:latin typeface="Malgun Gothic"/>
                <a:ea typeface="Malgun Gothic"/>
                <a:cs typeface="Malgun Gothic"/>
              </a:defRPr>
            </a:lvl1pPr>
          </a:lstStyle>
          <a:p>
            <a:pPr algn="r"/>
            <a:fld id="{F7021451-1387-4CA6-816F-3879F97B5CBC}" type="slidenum">
              <a:rPr lang="en-US" b="0"/>
              <a:t>5</a:t>
            </a:fld>
            <a:endParaRPr lang="en-US"/>
          </a:p>
        </p:txBody>
      </p:sp>
      <p:sp>
        <p:nvSpPr>
          <p:cNvPr id="55" name="텍스트 개체 틀 54"/>
          <p:cNvSpPr>
            <a:spLocks noGrp="1"/>
          </p:cNvSpPr>
          <p:nvPr>
            <p:ph type="body" idx="102"/>
          </p:nvPr>
        </p:nvSpPr>
        <p:spPr/>
        <p:txBody>
          <a:bodyPr/>
          <a:lstStyle/>
          <a:p>
            <a:endParaRPr lang="ko-KR"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11274552" cy="292608"/>
          </a:xfrm>
          <a:prstGeom prst="rect">
            <a:avLst/>
          </a:prstGeom>
          <a:noFill/>
          <a:ln/>
        </p:spPr>
        <p:txBody>
          <a:bodyPr wrap="square" lIns="0" tIns="0" rIns="0" bIns="0" rtlCol="0" anchor="ctr"/>
          <a:lstStyle/>
          <a:p>
            <a:pPr marL="0" indent="0">
              <a:buNone/>
            </a:pPr>
            <a:r>
              <a:rPr lang="en-US" sz="1100" b="1" smtClean="0">
                <a:solidFill>
                  <a:srgbClr val="6B6B6B"/>
                </a:solidFill>
                <a:latin typeface="Malgun Gothic" pitchFamily="34" charset="0"/>
                <a:ea typeface="Malgun Gothic" pitchFamily="34" charset="-122"/>
                <a:cs typeface="Malgun Gothic" pitchFamily="34" charset="-120"/>
              </a:rPr>
              <a:t>단계별 </a:t>
            </a:r>
            <a:r>
              <a:rPr lang="en-US" sz="1100" b="1" dirty="0">
                <a:solidFill>
                  <a:srgbClr val="6B6B6B"/>
                </a:solidFill>
                <a:latin typeface="Malgun Gothic" pitchFamily="34" charset="0"/>
                <a:ea typeface="Malgun Gothic" pitchFamily="34" charset="-122"/>
                <a:cs typeface="Malgun Gothic" pitchFamily="34" charset="-120"/>
              </a:rPr>
              <a:t>적용 1/4 · 엔티티 추출</a:t>
            </a:r>
            <a:endParaRPr lang="en-US" sz="1100" dirty="0"/>
          </a:p>
        </p:txBody>
      </p:sp>
      <p:sp>
        <p:nvSpPr>
          <p:cNvPr id="3" name="Text 0"/>
          <p:cNvSpPr>
            <a:spLocks noGrp="1"/>
          </p:cNvSpPr>
          <p:nvPr>
            <p:ph type="title" idx="101" hasCustomPrompt="1"/>
          </p:nvPr>
        </p:nvSpPr>
        <p:spPr>
          <a:xfrm>
            <a:off x="457200" y="512064"/>
            <a:ext cx="11274552" cy="768096"/>
          </a:xfrm>
          <a:prstGeom prst="rect">
            <a:avLst/>
          </a:prstGeom>
          <a:noFill/>
          <a:ln/>
        </p:spPr>
        <p:txBody>
          <a:bodyPr wrap="square" lIns="0" tIns="0" rIns="0" bIns="0" rtlCol="0" anchor="ctr"/>
          <a:lstStyle/>
          <a:p>
            <a:pPr marL="0" indent="0" algn="l">
              <a:buNone/>
            </a:pPr>
            <a:r>
              <a:rPr lang="en-US" sz="2100" b="1" dirty="0">
                <a:solidFill>
                  <a:schemeClr val="tx1"/>
                </a:solidFill>
                <a:latin typeface="Malgun Gothic" pitchFamily="34" charset="0"/>
                <a:ea typeface="Malgun Gothic" pitchFamily="34" charset="-122"/>
                <a:cs typeface="Malgun Gothic" pitchFamily="34" charset="-120"/>
              </a:rPr>
              <a:t>질문 속 단어를 메타데이터 사전과 값 색인에 대조해 데이터 개념을 찾는다</a:t>
            </a:r>
            <a:endParaRPr lang="en-US" sz="2100" dirty="0"/>
          </a:p>
        </p:txBody>
      </p:sp>
      <p:sp>
        <p:nvSpPr>
          <p:cNvPr id="4" name="Text 0"/>
          <p:cNvSpPr>
            <a:spLocks noGrp="1"/>
          </p:cNvSpPr>
          <p:nvPr>
            <p:ph type="body" idx="102" hasCustomPrompt="1"/>
          </p:nvPr>
        </p:nvSpPr>
        <p:spPr>
          <a:xfrm>
            <a:off x="457200" y="6419088"/>
            <a:ext cx="10241280" cy="256032"/>
          </a:xfrm>
          <a:prstGeom prst="rect">
            <a:avLst/>
          </a:prstGeom>
          <a:noFill/>
          <a:ln/>
        </p:spPr>
        <p:txBody>
          <a:bodyPr wrap="square" lIns="0" tIns="0" rIns="0" bIns="0" rtlCol="0" anchor="ctr"/>
          <a:lstStyle/>
          <a:p>
            <a:r>
              <a:rPr lang="en-US"/>
              <a:t>A Text-to-SQL Strategy Based on Large Language Models and Knowledge Graphs for Real-World Databases (DKE 2026)</a:t>
            </a:r>
          </a:p>
        </p:txBody>
      </p:sp>
      <p:sp>
        <p:nvSpPr>
          <p:cNvPr id="5" name="Shape 3"/>
          <p:cNvSpPr/>
          <p:nvPr/>
        </p:nvSpPr>
        <p:spPr>
          <a:xfrm>
            <a:off x="457200" y="1325880"/>
            <a:ext cx="5513832" cy="4937760"/>
          </a:xfrm>
          <a:prstGeom prst="roundRect">
            <a:avLst>
              <a:gd name="adj" fmla="val 1481"/>
            </a:avLst>
          </a:prstGeom>
          <a:solidFill>
            <a:srgbClr val="FFFFFF"/>
          </a:solidFill>
          <a:ln w="9525">
            <a:solidFill>
              <a:srgbClr val="D0D0D0"/>
            </a:solidFill>
            <a:prstDash val="solid"/>
          </a:ln>
        </p:spPr>
      </p:sp>
      <p:sp>
        <p:nvSpPr>
          <p:cNvPr id="6" name="Shape 4"/>
          <p:cNvSpPr/>
          <p:nvPr/>
        </p:nvSpPr>
        <p:spPr>
          <a:xfrm>
            <a:off x="640080" y="1481328"/>
            <a:ext cx="749808" cy="246888"/>
          </a:xfrm>
          <a:prstGeom prst="roundRect">
            <a:avLst>
              <a:gd name="adj" fmla="val 14815"/>
            </a:avLst>
          </a:prstGeom>
          <a:solidFill>
            <a:srgbClr val="8C8C8C"/>
          </a:solidFill>
          <a:ln/>
        </p:spPr>
      </p:sp>
      <p:sp>
        <p:nvSpPr>
          <p:cNvPr id="7" name="Text 5"/>
          <p:cNvSpPr txBox="1"/>
          <p:nvPr/>
        </p:nvSpPr>
        <p:spPr>
          <a:xfrm>
            <a:off x="640080" y="1481328"/>
            <a:ext cx="749808" cy="246888"/>
          </a:xfrm>
          <a:prstGeom prst="rect">
            <a:avLst/>
          </a:prstGeom>
          <a:noFill/>
          <a:ln/>
        </p:spPr>
        <p:txBody>
          <a:bodyPr wrap="square" lIns="0" tIns="0" rIns="0" bIns="0" rtlCol="0" anchor="ctr"/>
          <a:lstStyle/>
          <a:p>
            <a:pPr marL="0" indent="0" algn="ctr">
              <a:buNone/>
            </a:pPr>
            <a:r>
              <a:rPr lang="en-US" sz="950" b="1" dirty="0">
                <a:solidFill>
                  <a:srgbClr val="FFFFFF"/>
                </a:solidFill>
                <a:latin typeface="Malgun Gothic" pitchFamily="34" charset="0"/>
                <a:ea typeface="Malgun Gothic" pitchFamily="34" charset="-122"/>
                <a:cs typeface="Malgun Gothic" pitchFamily="34" charset="-120"/>
              </a:rPr>
              <a:t>논문</a:t>
            </a:r>
            <a:endParaRPr lang="en-US" sz="950" dirty="0"/>
          </a:p>
        </p:txBody>
      </p:sp>
      <p:sp>
        <p:nvSpPr>
          <p:cNvPr id="8" name="Text 6"/>
          <p:cNvSpPr txBox="1"/>
          <p:nvPr/>
        </p:nvSpPr>
        <p:spPr>
          <a:xfrm>
            <a:off x="1481328" y="1444752"/>
            <a:ext cx="4325112" cy="329184"/>
          </a:xfrm>
          <a:prstGeom prst="rect">
            <a:avLst/>
          </a:prstGeom>
          <a:noFill/>
          <a:ln/>
        </p:spPr>
        <p:txBody>
          <a:bodyPr wrap="square" lIns="0" tIns="0" rIns="0" bIns="0" rtlCol="0" anchor="ctr"/>
          <a:lstStyle/>
          <a:p>
            <a:pPr marL="0" indent="0">
              <a:buNone/>
            </a:pPr>
            <a:r>
              <a:rPr lang="en-US" sz="1350" b="1" dirty="0">
                <a:solidFill>
                  <a:srgbClr val="1A1A1A"/>
                </a:solidFill>
                <a:latin typeface="Malgun Gothic" pitchFamily="34" charset="0"/>
                <a:ea typeface="Malgun Gothic" pitchFamily="34" charset="-122"/>
                <a:cs typeface="Malgun Gothic" pitchFamily="34" charset="-120"/>
              </a:rPr>
              <a:t>키워드 추출 + 사전 매칭</a:t>
            </a:r>
            <a:endParaRPr lang="en-US" sz="1350" dirty="0"/>
          </a:p>
        </p:txBody>
      </p:sp>
      <p:sp>
        <p:nvSpPr>
          <p:cNvPr id="9" name="Shape 7"/>
          <p:cNvSpPr/>
          <p:nvPr/>
        </p:nvSpPr>
        <p:spPr>
          <a:xfrm>
            <a:off x="640080" y="1969076"/>
            <a:ext cx="5148072" cy="381339"/>
          </a:xfrm>
          <a:prstGeom prst="roundRect">
            <a:avLst>
              <a:gd name="adj" fmla="val 15000"/>
            </a:avLst>
          </a:prstGeom>
          <a:solidFill>
            <a:srgbClr val="FFFFFF"/>
          </a:solidFill>
          <a:ln w="24406">
            <a:solidFill>
              <a:srgbClr val="1A1A1A"/>
            </a:solidFill>
            <a:prstDash val="solid"/>
          </a:ln>
        </p:spPr>
      </p:sp>
      <p:sp>
        <p:nvSpPr>
          <p:cNvPr id="10" name="Text 8"/>
          <p:cNvSpPr txBox="1"/>
          <p:nvPr/>
        </p:nvSpPr>
        <p:spPr>
          <a:xfrm>
            <a:off x="1610673" y="2056307"/>
            <a:ext cx="3206886" cy="206876"/>
          </a:xfrm>
          <a:prstGeom prst="rect">
            <a:avLst/>
          </a:prstGeom>
          <a:noFill/>
          <a:ln/>
        </p:spPr>
        <p:txBody>
          <a:bodyPr wrap="none" lIns="0" tIns="0" rIns="0" bIns="0" rtlCol="0" anchor="ctr"/>
          <a:lstStyle/>
          <a:p>
            <a:pPr marL="0" indent="0" algn="ctr">
              <a:buNone/>
            </a:pPr>
            <a:r>
              <a:rPr lang="en-US" sz="1050" dirty="0">
                <a:solidFill>
                  <a:srgbClr val="1A1A1A"/>
                </a:solidFill>
                <a:latin typeface="Malgun Gothic" pitchFamily="34" charset="0"/>
                <a:ea typeface="Malgun Gothic" pitchFamily="34" charset="-122"/>
                <a:cs typeface="Malgun Gothic" pitchFamily="34" charset="-120"/>
              </a:rPr>
              <a:t>“3번 </a:t>
            </a:r>
            <a:r>
              <a:rPr lang="en-US" sz="1050" b="1" dirty="0">
                <a:solidFill>
                  <a:srgbClr val="1A1A1A"/>
                </a:solidFill>
                <a:latin typeface="Malgun Gothic" pitchFamily="34" charset="0"/>
                <a:ea typeface="Malgun Gothic" pitchFamily="34" charset="-122"/>
                <a:cs typeface="Malgun Gothic" pitchFamily="34" charset="-120"/>
              </a:rPr>
              <a:t>플랫폼</a:t>
            </a:r>
            <a:r>
              <a:rPr lang="en-US" sz="1050" dirty="0">
                <a:solidFill>
                  <a:srgbClr val="1A1A1A"/>
                </a:solidFill>
                <a:latin typeface="Malgun Gothic" pitchFamily="34" charset="0"/>
                <a:ea typeface="Malgun Gothic" pitchFamily="34" charset="-122"/>
                <a:cs typeface="Malgun Gothic" pitchFamily="34" charset="-120"/>
              </a:rPr>
              <a:t>의 </a:t>
            </a:r>
            <a:r>
              <a:rPr lang="en-US" sz="1050" b="1" dirty="0">
                <a:solidFill>
                  <a:srgbClr val="1A1A1A"/>
                </a:solidFill>
                <a:latin typeface="Malgun Gothic" pitchFamily="34" charset="0"/>
                <a:ea typeface="Malgun Gothic" pitchFamily="34" charset="-122"/>
                <a:cs typeface="Malgun Gothic" pitchFamily="34" charset="-120"/>
              </a:rPr>
              <a:t>압력용기</a:t>
            </a:r>
            <a:r>
              <a:rPr lang="en-US" sz="1050" dirty="0">
                <a:solidFill>
                  <a:srgbClr val="1A1A1A"/>
                </a:solidFill>
                <a:latin typeface="Malgun Gothic" pitchFamily="34" charset="0"/>
                <a:ea typeface="Malgun Gothic" pitchFamily="34" charset="-122"/>
                <a:cs typeface="Malgun Gothic" pitchFamily="34" charset="-120"/>
              </a:rPr>
              <a:t> 최근 </a:t>
            </a:r>
            <a:r>
              <a:rPr lang="en-US" sz="1050" b="1" dirty="0">
                <a:solidFill>
                  <a:srgbClr val="1A1A1A"/>
                </a:solidFill>
                <a:latin typeface="Malgun Gothic" pitchFamily="34" charset="0"/>
                <a:ea typeface="Malgun Gothic" pitchFamily="34" charset="-122"/>
                <a:cs typeface="Malgun Gothic" pitchFamily="34" charset="-120"/>
              </a:rPr>
              <a:t>검사</a:t>
            </a:r>
            <a:r>
              <a:rPr lang="en-US" sz="1050" dirty="0">
                <a:solidFill>
                  <a:srgbClr val="1A1A1A"/>
                </a:solidFill>
                <a:latin typeface="Malgun Gothic" pitchFamily="34" charset="0"/>
                <a:ea typeface="Malgun Gothic" pitchFamily="34" charset="-122"/>
                <a:cs typeface="Malgun Gothic" pitchFamily="34" charset="-120"/>
              </a:rPr>
              <a:t> 결과는?”</a:t>
            </a:r>
            <a:endParaRPr lang="en-US" sz="1050" dirty="0"/>
          </a:p>
        </p:txBody>
      </p:sp>
      <p:sp>
        <p:nvSpPr>
          <p:cNvPr id="11" name="Shape 9"/>
          <p:cNvSpPr/>
          <p:nvPr/>
        </p:nvSpPr>
        <p:spPr>
          <a:xfrm>
            <a:off x="3214116" y="2350414"/>
            <a:ext cx="0" cy="171602"/>
          </a:xfrm>
          <a:prstGeom prst="line">
            <a:avLst/>
          </a:prstGeom>
          <a:noFill/>
          <a:ln w="19830">
            <a:solidFill>
              <a:srgbClr val="4D4D4D"/>
            </a:solidFill>
            <a:prstDash val="solid"/>
            <a:tailEnd type="triangle"/>
          </a:ln>
        </p:spPr>
      </p:sp>
      <p:sp>
        <p:nvSpPr>
          <p:cNvPr id="12" name="Shape 10"/>
          <p:cNvSpPr/>
          <p:nvPr/>
        </p:nvSpPr>
        <p:spPr>
          <a:xfrm>
            <a:off x="2260769" y="2541084"/>
            <a:ext cx="1906693" cy="343205"/>
          </a:xfrm>
          <a:prstGeom prst="roundRect">
            <a:avLst>
              <a:gd name="adj" fmla="val 16667"/>
            </a:avLst>
          </a:prstGeom>
          <a:solidFill>
            <a:srgbClr val="FFFFFF"/>
          </a:solidFill>
          <a:ln w="15254">
            <a:solidFill>
              <a:srgbClr val="3A3A3A"/>
            </a:solidFill>
            <a:prstDash val="solid"/>
          </a:ln>
        </p:spPr>
      </p:sp>
      <p:sp>
        <p:nvSpPr>
          <p:cNvPr id="13" name="Text 11"/>
          <p:cNvSpPr txBox="1"/>
          <p:nvPr/>
        </p:nvSpPr>
        <p:spPr>
          <a:xfrm>
            <a:off x="2628498" y="2612942"/>
            <a:ext cx="1171236" cy="199488"/>
          </a:xfrm>
          <a:prstGeom prst="rect">
            <a:avLst/>
          </a:prstGeom>
          <a:noFill/>
          <a:ln/>
        </p:spPr>
        <p:txBody>
          <a:bodyPr wrap="none" lIns="0" tIns="0" rIns="0" bIns="0" rtlCol="0" anchor="ctr"/>
          <a:lstStyle/>
          <a:p>
            <a:pPr marL="0" indent="0" algn="ctr">
              <a:buNone/>
            </a:pPr>
            <a:r>
              <a:rPr lang="en-US" sz="1010" b="1" dirty="0">
                <a:solidFill>
                  <a:srgbClr val="1A1A1A"/>
                </a:solidFill>
                <a:latin typeface="Malgun Gothic" pitchFamily="34" charset="0"/>
                <a:ea typeface="Malgun Gothic" pitchFamily="34" charset="-122"/>
                <a:cs typeface="Malgun Gothic" pitchFamily="34" charset="-120"/>
              </a:rPr>
              <a:t>LLM 키워드 추출</a:t>
            </a:r>
            <a:endParaRPr lang="en-US" sz="1010" dirty="0"/>
          </a:p>
        </p:txBody>
      </p:sp>
      <p:sp>
        <p:nvSpPr>
          <p:cNvPr id="14" name="Shape 12"/>
          <p:cNvSpPr/>
          <p:nvPr/>
        </p:nvSpPr>
        <p:spPr>
          <a:xfrm flipH="1">
            <a:off x="1879431" y="2884289"/>
            <a:ext cx="858012" cy="266937"/>
          </a:xfrm>
          <a:prstGeom prst="line">
            <a:avLst/>
          </a:prstGeom>
          <a:noFill/>
          <a:ln w="19830">
            <a:solidFill>
              <a:srgbClr val="4D4D4D"/>
            </a:solidFill>
            <a:prstDash val="solid"/>
            <a:tailEnd type="triangle"/>
          </a:ln>
        </p:spPr>
      </p:sp>
      <p:sp>
        <p:nvSpPr>
          <p:cNvPr id="15" name="Shape 13"/>
          <p:cNvSpPr/>
          <p:nvPr/>
        </p:nvSpPr>
        <p:spPr>
          <a:xfrm>
            <a:off x="3690789" y="2884289"/>
            <a:ext cx="858012" cy="266937"/>
          </a:xfrm>
          <a:prstGeom prst="line">
            <a:avLst/>
          </a:prstGeom>
          <a:noFill/>
          <a:ln w="19830">
            <a:solidFill>
              <a:srgbClr val="4D4D4D"/>
            </a:solidFill>
            <a:prstDash val="solid"/>
            <a:tailEnd type="triangle"/>
          </a:ln>
        </p:spPr>
      </p:sp>
      <p:sp>
        <p:nvSpPr>
          <p:cNvPr id="16" name="Shape 14"/>
          <p:cNvSpPr/>
          <p:nvPr/>
        </p:nvSpPr>
        <p:spPr>
          <a:xfrm>
            <a:off x="640080" y="3170293"/>
            <a:ext cx="2431034" cy="591075"/>
          </a:xfrm>
          <a:prstGeom prst="roundRect">
            <a:avLst>
              <a:gd name="adj" fmla="val 9677"/>
            </a:avLst>
          </a:prstGeom>
          <a:solidFill>
            <a:srgbClr val="EDEDED"/>
          </a:solidFill>
          <a:ln w="15254">
            <a:solidFill>
              <a:srgbClr val="A6A6A6"/>
            </a:solidFill>
            <a:prstDash val="solid"/>
          </a:ln>
        </p:spPr>
      </p:sp>
      <p:sp>
        <p:nvSpPr>
          <p:cNvPr id="17" name="Text 15"/>
          <p:cNvSpPr txBox="1"/>
          <p:nvPr/>
        </p:nvSpPr>
        <p:spPr>
          <a:xfrm>
            <a:off x="1291622" y="3261218"/>
            <a:ext cx="1118417" cy="199488"/>
          </a:xfrm>
          <a:prstGeom prst="rect">
            <a:avLst/>
          </a:prstGeom>
          <a:noFill/>
          <a:ln/>
        </p:spPr>
        <p:txBody>
          <a:bodyPr wrap="none" lIns="0" tIns="0" rIns="0" bIns="0" rtlCol="0" anchor="ctr"/>
          <a:lstStyle/>
          <a:p>
            <a:pPr marL="0" indent="0" algn="ctr">
              <a:buNone/>
            </a:pPr>
            <a:r>
              <a:rPr lang="en-US" sz="1010" b="1" dirty="0">
                <a:solidFill>
                  <a:srgbClr val="333333"/>
                </a:solidFill>
                <a:latin typeface="Malgun Gothic" pitchFamily="34" charset="0"/>
                <a:ea typeface="Malgun Gothic" pitchFamily="34" charset="-122"/>
                <a:cs typeface="Malgun Gothic" pitchFamily="34" charset="-120"/>
              </a:rPr>
              <a:t>메타데이터 사전</a:t>
            </a:r>
            <a:endParaRPr lang="en-US" sz="1010" dirty="0"/>
          </a:p>
        </p:txBody>
      </p:sp>
      <p:sp>
        <p:nvSpPr>
          <p:cNvPr id="18" name="Text 16"/>
          <p:cNvSpPr txBox="1"/>
          <p:nvPr/>
        </p:nvSpPr>
        <p:spPr>
          <a:xfrm>
            <a:off x="1035866" y="3501104"/>
            <a:ext cx="1629929" cy="177322"/>
          </a:xfrm>
          <a:prstGeom prst="rect">
            <a:avLst/>
          </a:prstGeom>
          <a:noFill/>
          <a:ln/>
        </p:spPr>
        <p:txBody>
          <a:bodyPr wrap="none" lIns="0" tIns="0" rIns="0" bIns="0" rtlCol="0" anchor="ctr"/>
          <a:lstStyle/>
          <a:p>
            <a:pPr marL="0" indent="0" algn="ctr">
              <a:buNone/>
            </a:pPr>
            <a:r>
              <a:rPr lang="en-US" sz="900" dirty="0">
                <a:solidFill>
                  <a:srgbClr val="333333"/>
                </a:solidFill>
                <a:latin typeface="Malgun Gothic" pitchFamily="34" charset="0"/>
                <a:ea typeface="Malgun Gothic" pitchFamily="34" charset="-122"/>
                <a:cs typeface="Malgun Gothic" pitchFamily="34" charset="-120"/>
              </a:rPr>
              <a:t>클래스·속성 이름 + 동의어</a:t>
            </a:r>
            <a:endParaRPr lang="en-US" sz="900" dirty="0"/>
          </a:p>
        </p:txBody>
      </p:sp>
      <p:sp>
        <p:nvSpPr>
          <p:cNvPr id="19" name="Shape 17"/>
          <p:cNvSpPr/>
          <p:nvPr/>
        </p:nvSpPr>
        <p:spPr>
          <a:xfrm>
            <a:off x="3357118" y="3170293"/>
            <a:ext cx="2431034" cy="591075"/>
          </a:xfrm>
          <a:prstGeom prst="roundRect">
            <a:avLst>
              <a:gd name="adj" fmla="val 9677"/>
            </a:avLst>
          </a:prstGeom>
          <a:solidFill>
            <a:srgbClr val="FCE9E1"/>
          </a:solidFill>
          <a:ln w="30507">
            <a:solidFill>
              <a:srgbClr val="D9480F"/>
            </a:solidFill>
            <a:prstDash val="solid"/>
          </a:ln>
        </p:spPr>
      </p:sp>
      <p:sp>
        <p:nvSpPr>
          <p:cNvPr id="20" name="Text 18"/>
          <p:cNvSpPr txBox="1"/>
          <p:nvPr/>
        </p:nvSpPr>
        <p:spPr>
          <a:xfrm>
            <a:off x="3768194" y="3261218"/>
            <a:ext cx="1599349" cy="199488"/>
          </a:xfrm>
          <a:prstGeom prst="rect">
            <a:avLst/>
          </a:prstGeom>
          <a:noFill/>
          <a:ln/>
        </p:spPr>
        <p:txBody>
          <a:bodyPr wrap="none" lIns="0" tIns="0" rIns="0" bIns="0" rtlCol="0" anchor="ctr"/>
          <a:lstStyle/>
          <a:p>
            <a:pPr marL="0" indent="0" algn="ctr">
              <a:buNone/>
            </a:pPr>
            <a:r>
              <a:rPr lang="en-US" sz="1010" b="1" dirty="0">
                <a:solidFill>
                  <a:srgbClr val="333333"/>
                </a:solidFill>
                <a:latin typeface="Malgun Gothic" pitchFamily="34" charset="0"/>
                <a:ea typeface="Malgun Gothic" pitchFamily="34" charset="-122"/>
                <a:cs typeface="Malgun Gothic" pitchFamily="34" charset="-120"/>
              </a:rPr>
              <a:t>값 색인 (약 110만 건)</a:t>
            </a:r>
            <a:endParaRPr lang="en-US" sz="1010" dirty="0"/>
          </a:p>
        </p:txBody>
      </p:sp>
      <p:sp>
        <p:nvSpPr>
          <p:cNvPr id="21" name="Text 19"/>
          <p:cNvSpPr txBox="1"/>
          <p:nvPr/>
        </p:nvSpPr>
        <p:spPr>
          <a:xfrm>
            <a:off x="3629350" y="3501104"/>
            <a:ext cx="1877036" cy="177322"/>
          </a:xfrm>
          <a:prstGeom prst="rect">
            <a:avLst/>
          </a:prstGeom>
          <a:noFill/>
          <a:ln/>
        </p:spPr>
        <p:txBody>
          <a:bodyPr wrap="none" lIns="0" tIns="0" rIns="0" bIns="0" rtlCol="0" anchor="ctr"/>
          <a:lstStyle/>
          <a:p>
            <a:pPr marL="0" indent="0" algn="ctr">
              <a:buNone/>
            </a:pPr>
            <a:r>
              <a:rPr lang="en-US" sz="900" dirty="0">
                <a:solidFill>
                  <a:srgbClr val="333333"/>
                </a:solidFill>
                <a:latin typeface="Malgun Gothic" pitchFamily="34" charset="0"/>
                <a:ea typeface="Malgun Gothic" pitchFamily="34" charset="-122"/>
                <a:cs typeface="Malgun Gothic" pitchFamily="34" charset="-120"/>
              </a:rPr>
              <a:t>설비명·열거형 코드 등 실제 값</a:t>
            </a:r>
            <a:endParaRPr lang="en-US" sz="900" dirty="0"/>
          </a:p>
        </p:txBody>
      </p:sp>
      <p:sp>
        <p:nvSpPr>
          <p:cNvPr id="22" name="Shape 20"/>
          <p:cNvSpPr/>
          <p:nvPr/>
        </p:nvSpPr>
        <p:spPr>
          <a:xfrm>
            <a:off x="1850830" y="3761367"/>
            <a:ext cx="981947" cy="209736"/>
          </a:xfrm>
          <a:prstGeom prst="line">
            <a:avLst/>
          </a:prstGeom>
          <a:noFill/>
          <a:ln w="19830">
            <a:solidFill>
              <a:srgbClr val="4D4D4D"/>
            </a:solidFill>
            <a:prstDash val="solid"/>
            <a:tailEnd type="triangle"/>
          </a:ln>
        </p:spPr>
      </p:sp>
      <p:sp>
        <p:nvSpPr>
          <p:cNvPr id="23" name="Shape 21"/>
          <p:cNvSpPr/>
          <p:nvPr/>
        </p:nvSpPr>
        <p:spPr>
          <a:xfrm flipH="1">
            <a:off x="3595455" y="3761367"/>
            <a:ext cx="972414" cy="209736"/>
          </a:xfrm>
          <a:prstGeom prst="line">
            <a:avLst/>
          </a:prstGeom>
          <a:noFill/>
          <a:ln w="19830">
            <a:solidFill>
              <a:srgbClr val="4D4D4D"/>
            </a:solidFill>
            <a:prstDash val="solid"/>
            <a:tailEnd type="triangle"/>
          </a:ln>
        </p:spPr>
      </p:sp>
      <p:sp>
        <p:nvSpPr>
          <p:cNvPr id="24" name="Shape 22"/>
          <p:cNvSpPr/>
          <p:nvPr/>
        </p:nvSpPr>
        <p:spPr>
          <a:xfrm>
            <a:off x="2070100" y="3932970"/>
            <a:ext cx="2288032" cy="305071"/>
          </a:xfrm>
          <a:prstGeom prst="roundRect">
            <a:avLst>
              <a:gd name="adj" fmla="val 18750"/>
            </a:avLst>
          </a:prstGeom>
          <a:solidFill>
            <a:srgbClr val="FFFFFF"/>
          </a:solidFill>
          <a:ln w="24406">
            <a:solidFill>
              <a:srgbClr val="3A3A3A"/>
            </a:solidFill>
            <a:prstDash val="solid"/>
          </a:ln>
        </p:spPr>
      </p:sp>
      <p:sp>
        <p:nvSpPr>
          <p:cNvPr id="25" name="Text 23"/>
          <p:cNvSpPr txBox="1"/>
          <p:nvPr/>
        </p:nvSpPr>
        <p:spPr>
          <a:xfrm>
            <a:off x="2061232" y="3989456"/>
            <a:ext cx="2305768" cy="192099"/>
          </a:xfrm>
          <a:prstGeom prst="rect">
            <a:avLst/>
          </a:prstGeom>
          <a:noFill/>
          <a:ln/>
        </p:spPr>
        <p:txBody>
          <a:bodyPr wrap="none" lIns="0" tIns="0" rIns="0" bIns="0" rtlCol="0" anchor="ctr"/>
          <a:lstStyle/>
          <a:p>
            <a:pPr marL="0" indent="0" algn="ctr">
              <a:buNone/>
            </a:pPr>
            <a:r>
              <a:rPr lang="en-US" sz="980" dirty="0">
                <a:solidFill>
                  <a:srgbClr val="1A1A1A"/>
                </a:solidFill>
                <a:latin typeface="Malgun Gothic" pitchFamily="34" charset="0"/>
                <a:ea typeface="Malgun Gothic" pitchFamily="34" charset="-122"/>
                <a:cs typeface="Malgun Gothic" pitchFamily="34" charset="-120"/>
              </a:rPr>
              <a:t>매칭된 클래스: 시설 · 설비 · 검사</a:t>
            </a:r>
            <a:endParaRPr lang="en-US" sz="980" dirty="0"/>
          </a:p>
        </p:txBody>
      </p:sp>
      <p:sp>
        <p:nvSpPr>
          <p:cNvPr id="26" name="Text 24"/>
          <p:cNvSpPr txBox="1"/>
          <p:nvPr/>
        </p:nvSpPr>
        <p:spPr>
          <a:xfrm>
            <a:off x="658368" y="4440767"/>
            <a:ext cx="5111496" cy="1731433"/>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200" dirty="0">
                <a:solidFill>
                  <a:srgbClr val="1A1A1A"/>
                </a:solidFill>
                <a:latin typeface="Malgun Gothic" pitchFamily="34" charset="0"/>
                <a:ea typeface="Malgun Gothic" pitchFamily="34" charset="-122"/>
                <a:cs typeface="Malgun Gothic" pitchFamily="34" charset="-120"/>
              </a:rPr>
              <a:t>LLM이 질문에서 키워드를 뽑고, 검색 플랫폼(DANKE)이 사전에 대조한다</a:t>
            </a:r>
            <a:endParaRPr lang="en-US" sz="1200" dirty="0"/>
          </a:p>
          <a:p>
            <a:pPr marL="152400" indent="-152400">
              <a:lnSpc>
                <a:spcPct val="110000"/>
              </a:lnSpc>
              <a:spcAft>
                <a:spcPts val="400"/>
              </a:spcAft>
              <a:buSzPct val="100000"/>
              <a:buChar char="•"/>
            </a:pPr>
            <a:r>
              <a:rPr lang="en-US" sz="1200" b="1" dirty="0">
                <a:solidFill>
                  <a:srgbClr val="1A1A1A"/>
                </a:solidFill>
                <a:latin typeface="Malgun Gothic" pitchFamily="34" charset="0"/>
                <a:ea typeface="Malgun Gothic" pitchFamily="34" charset="-122"/>
                <a:cs typeface="Malgun Gothic" pitchFamily="34" charset="-120"/>
              </a:rPr>
              <a:t>실제 값까지 색인해,  </a:t>
            </a:r>
            <a:r>
              <a:rPr lang="en-US" sz="1200" dirty="0">
                <a:solidFill>
                  <a:srgbClr val="5F5F5F"/>
                </a:solidFill>
                <a:latin typeface="Malgun Gothic" pitchFamily="34" charset="0"/>
                <a:ea typeface="Malgun Gothic" pitchFamily="34" charset="-122"/>
                <a:cs typeface="Malgun Gothic" pitchFamily="34" charset="-120"/>
              </a:rPr>
              <a:t>LLM이 볼 수 없는 DB 값에도 질문을 연결한다</a:t>
            </a:r>
            <a:endParaRPr lang="en-US" sz="1200" dirty="0"/>
          </a:p>
          <a:p>
            <a:pPr marL="152400" indent="-152400">
              <a:lnSpc>
                <a:spcPct val="110000"/>
              </a:lnSpc>
              <a:spcAft>
                <a:spcPts val="400"/>
              </a:spcAft>
              <a:buSzPct val="100000"/>
              <a:buChar char="•"/>
            </a:pPr>
            <a:r>
              <a:rPr lang="en-US" sz="1200" dirty="0">
                <a:solidFill>
                  <a:srgbClr val="1A1A1A"/>
                </a:solidFill>
                <a:latin typeface="Malgun Gothic" pitchFamily="34" charset="0"/>
                <a:ea typeface="Malgun Gothic" pitchFamily="34" charset="-122"/>
                <a:cs typeface="Malgun Gothic" pitchFamily="34" charset="-120"/>
              </a:rPr>
              <a:t>매칭 결과는 다음 단계에서 고를 클래스 후보가 된다</a:t>
            </a:r>
            <a:endParaRPr lang="en-US" sz="1200" dirty="0"/>
          </a:p>
        </p:txBody>
      </p:sp>
      <p:sp>
        <p:nvSpPr>
          <p:cNvPr id="27" name="Shape 25"/>
          <p:cNvSpPr/>
          <p:nvPr/>
        </p:nvSpPr>
        <p:spPr>
          <a:xfrm>
            <a:off x="6217920" y="1325880"/>
            <a:ext cx="5513832" cy="4937760"/>
          </a:xfrm>
          <a:prstGeom prst="roundRect">
            <a:avLst>
              <a:gd name="adj" fmla="val 1481"/>
            </a:avLst>
          </a:prstGeom>
          <a:solidFill>
            <a:srgbClr val="F4F4F4"/>
          </a:solidFill>
          <a:ln w="9525">
            <a:solidFill>
              <a:srgbClr val="BFBFBF"/>
            </a:solidFill>
            <a:prstDash val="solid"/>
          </a:ln>
        </p:spPr>
      </p:sp>
      <p:sp>
        <p:nvSpPr>
          <p:cNvPr id="28" name="Shape 26"/>
          <p:cNvSpPr/>
          <p:nvPr/>
        </p:nvSpPr>
        <p:spPr>
          <a:xfrm>
            <a:off x="6400800" y="1481328"/>
            <a:ext cx="749808" cy="246888"/>
          </a:xfrm>
          <a:prstGeom prst="roundRect">
            <a:avLst>
              <a:gd name="adj" fmla="val 14815"/>
            </a:avLst>
          </a:prstGeom>
          <a:solidFill>
            <a:srgbClr val="1A1A1A"/>
          </a:solidFill>
          <a:ln/>
        </p:spPr>
      </p:sp>
      <p:sp>
        <p:nvSpPr>
          <p:cNvPr id="29" name="Text 27"/>
          <p:cNvSpPr txBox="1"/>
          <p:nvPr/>
        </p:nvSpPr>
        <p:spPr>
          <a:xfrm>
            <a:off x="6400800" y="1481328"/>
            <a:ext cx="749808" cy="246888"/>
          </a:xfrm>
          <a:prstGeom prst="rect">
            <a:avLst/>
          </a:prstGeom>
          <a:noFill/>
          <a:ln/>
        </p:spPr>
        <p:txBody>
          <a:bodyPr wrap="square" lIns="0" tIns="0" rIns="0" bIns="0" rtlCol="0" anchor="ctr"/>
          <a:lstStyle/>
          <a:p>
            <a:pPr marL="0" indent="0" algn="ctr">
              <a:buNone/>
            </a:pPr>
            <a:r>
              <a:rPr lang="en-US" sz="950" b="1" dirty="0">
                <a:solidFill>
                  <a:srgbClr val="FFFFFF"/>
                </a:solidFill>
                <a:latin typeface="Malgun Gothic" pitchFamily="34" charset="0"/>
                <a:ea typeface="Malgun Gothic" pitchFamily="34" charset="-122"/>
                <a:cs typeface="Malgun Gothic" pitchFamily="34" charset="-120"/>
              </a:rPr>
              <a:t>과제 적용</a:t>
            </a:r>
            <a:endParaRPr lang="en-US" sz="950" dirty="0"/>
          </a:p>
        </p:txBody>
      </p:sp>
      <p:sp>
        <p:nvSpPr>
          <p:cNvPr id="30" name="Text 28"/>
          <p:cNvSpPr txBox="1"/>
          <p:nvPr/>
        </p:nvSpPr>
        <p:spPr>
          <a:xfrm>
            <a:off x="7242048" y="1444752"/>
            <a:ext cx="4325112" cy="329184"/>
          </a:xfrm>
          <a:prstGeom prst="rect">
            <a:avLst/>
          </a:prstGeom>
          <a:noFill/>
          <a:ln/>
        </p:spPr>
        <p:txBody>
          <a:bodyPr wrap="square" lIns="0" tIns="0" rIns="0" bIns="0" rtlCol="0" anchor="ctr"/>
          <a:lstStyle/>
          <a:p>
            <a:pPr marL="0" indent="0">
              <a:buNone/>
            </a:pPr>
            <a:r>
              <a:rPr lang="en-US" sz="1350" b="1" dirty="0">
                <a:solidFill>
                  <a:srgbClr val="1A1A1A"/>
                </a:solidFill>
                <a:latin typeface="Malgun Gothic" pitchFamily="34" charset="0"/>
                <a:ea typeface="Malgun Gothic" pitchFamily="34" charset="-122"/>
                <a:cs typeface="Malgun Gothic" pitchFamily="34" charset="-120"/>
              </a:rPr>
              <a:t>Data Hub 사전 2종 구축</a:t>
            </a:r>
            <a:endParaRPr lang="en-US" sz="1350" dirty="0"/>
          </a:p>
        </p:txBody>
      </p:sp>
      <p:sp>
        <p:nvSpPr>
          <p:cNvPr id="31" name="Shape 29"/>
          <p:cNvSpPr/>
          <p:nvPr/>
        </p:nvSpPr>
        <p:spPr>
          <a:xfrm>
            <a:off x="6400800" y="1892808"/>
            <a:ext cx="5148072" cy="1892808"/>
          </a:xfrm>
          <a:prstGeom prst="roundRect">
            <a:avLst>
              <a:gd name="adj" fmla="val 3865"/>
            </a:avLst>
          </a:prstGeom>
          <a:solidFill>
            <a:srgbClr val="FFFFFF"/>
          </a:solidFill>
          <a:ln/>
        </p:spPr>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492240" y="1947672"/>
          <a:ext cx="4965192" cy="1391412"/>
        </p:xfrm>
        <a:graphic>
          <a:graphicData uri="http://schemas.openxmlformats.org/drawingml/2006/table">
            <a:tbl>
              <a:tblPr/>
              <a:tblGrid>
                <a:gridCol w="12344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633472">
                  <a:extLst>
                    <a:ext uri="{9D8B030D-6E8A-4147-A177-3AD203B41FA5}">
                      <a16:colId xmlns:a16="http://schemas.microsoft.com/office/drawing/2014/main" val="20002"/>
                    </a:ext>
                  </a:extLst>
                </a:gridCol>
              </a:tblGrid>
              <a:tr h="0">
                <a:tc>
                  <a:txBody>
                    <a:bodyPr/>
                    <a:lstStyle/>
                    <a:p>
                      <a:pPr marL="0" indent="0">
                        <a:buNone/>
                      </a:pPr>
                      <a:r>
                        <a:rPr lang="en-US" sz="1000" b="1" dirty="0">
                          <a:solidFill>
                            <a:srgbClr val="1A1A1A"/>
                          </a:solidFill>
                          <a:latin typeface="Malgun Gothic" pitchFamily="34" charset="0"/>
                          <a:ea typeface="Malgun Gothic" pitchFamily="34" charset="-122"/>
                          <a:cs typeface="Malgun Gothic" pitchFamily="34" charset="-120"/>
                        </a:rPr>
                        <a:t>질문 단어</a:t>
                      </a:r>
                      <a:endParaRPr lang="en-US" sz="100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0" cap="flat" cmpd="sng" algn="ctr">
                      <a:noFill/>
                    </a:lnT>
                    <a:lnB w="15875" cap="flat" cmpd="sng" algn="ctr">
                      <a:solidFill>
                        <a:srgbClr val="1A1A1A"/>
                      </a:solidFill>
                      <a:prstDash val="solid"/>
                      <a:round/>
                      <a:headEnd type="none" w="med" len="med"/>
                      <a:tailEnd type="none" w="med" len="med"/>
                    </a:lnB>
                  </a:tcPr>
                </a:tc>
                <a:tc>
                  <a:txBody>
                    <a:bodyPr/>
                    <a:lstStyle/>
                    <a:p>
                      <a:pPr marL="0" indent="0">
                        <a:buNone/>
                      </a:pPr>
                      <a:r>
                        <a:rPr lang="en-US" sz="1000" b="1" dirty="0">
                          <a:solidFill>
                            <a:srgbClr val="1A1A1A"/>
                          </a:solidFill>
                          <a:latin typeface="Malgun Gothic" pitchFamily="34" charset="0"/>
                          <a:ea typeface="Malgun Gothic" pitchFamily="34" charset="-122"/>
                          <a:cs typeface="Malgun Gothic" pitchFamily="34" charset="-120"/>
                        </a:rPr>
                        <a:t>유형</a:t>
                      </a:r>
                      <a:endParaRPr lang="en-US" sz="100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0" cap="flat" cmpd="sng" algn="ctr">
                      <a:noFill/>
                    </a:lnT>
                    <a:lnB w="15875" cap="flat" cmpd="sng" algn="ctr">
                      <a:solidFill>
                        <a:srgbClr val="1A1A1A"/>
                      </a:solidFill>
                      <a:prstDash val="solid"/>
                      <a:round/>
                      <a:headEnd type="none" w="med" len="med"/>
                      <a:tailEnd type="none" w="med" len="med"/>
                    </a:lnB>
                  </a:tcPr>
                </a:tc>
                <a:tc>
                  <a:txBody>
                    <a:bodyPr/>
                    <a:lstStyle/>
                    <a:p>
                      <a:pPr marL="0" indent="0">
                        <a:buNone/>
                      </a:pPr>
                      <a:r>
                        <a:rPr lang="en-US" sz="1000" b="1" dirty="0">
                          <a:solidFill>
                            <a:srgbClr val="1A1A1A"/>
                          </a:solidFill>
                          <a:latin typeface="Malgun Gothic" pitchFamily="34" charset="0"/>
                          <a:ea typeface="Malgun Gothic" pitchFamily="34" charset="-122"/>
                          <a:cs typeface="Malgun Gothic" pitchFamily="34" charset="-120"/>
                        </a:rPr>
                        <a:t>찾는 곳</a:t>
                      </a:r>
                      <a:endParaRPr lang="en-US" sz="100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0" cap="flat" cmpd="sng" algn="ctr">
                      <a:noFill/>
                    </a:lnT>
                    <a:lnB w="15875" cap="flat" cmpd="sng" algn="ctr">
                      <a:solidFill>
                        <a:srgbClr val="1A1A1A"/>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A라인</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라인</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값 색인 · 라인 마스터</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Etch</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공정</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값 색인 · Step 코드</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PM</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설비 이벤트</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메타데이터 사전 · 동의어(예방정비)</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어제</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기간</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기간 규칙 · 보관기간 확인</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LOT_ID 형식</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Lot</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패턴 규칙 (색인 대신)</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3" name="Text 30"/>
          <p:cNvSpPr txBox="1"/>
          <p:nvPr/>
        </p:nvSpPr>
        <p:spPr>
          <a:xfrm>
            <a:off x="6419088" y="3968496"/>
            <a:ext cx="5111496" cy="2194560"/>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200" b="1" dirty="0">
                <a:solidFill>
                  <a:srgbClr val="1A1A1A"/>
                </a:solidFill>
                <a:latin typeface="Malgun Gothic" pitchFamily="34" charset="0"/>
                <a:ea typeface="Malgun Gothic" pitchFamily="34" charset="-122"/>
                <a:cs typeface="Malgun Gothic" pitchFamily="34" charset="-120"/>
              </a:rPr>
              <a:t>메타데이터 사전  </a:t>
            </a:r>
            <a:r>
              <a:rPr lang="en-US" sz="1200" dirty="0">
                <a:solidFill>
                  <a:srgbClr val="5F5F5F"/>
                </a:solidFill>
                <a:latin typeface="Malgun Gothic" pitchFamily="34" charset="0"/>
                <a:ea typeface="Malgun Gothic" pitchFamily="34" charset="-122"/>
                <a:cs typeface="Malgun Gothic" pitchFamily="34" charset="-120"/>
              </a:rPr>
              <a:t>온톨로지 클래스명 + 현업 동의어·약어 (설비 = 장비 = EQP = Tool)</a:t>
            </a:r>
            <a:endParaRPr lang="en-US" sz="1200" dirty="0"/>
          </a:p>
          <a:p>
            <a:pPr marL="152400" indent="-152400">
              <a:lnSpc>
                <a:spcPct val="110000"/>
              </a:lnSpc>
              <a:spcAft>
                <a:spcPts val="400"/>
              </a:spcAft>
              <a:buSzPct val="100000"/>
              <a:buChar char="•"/>
            </a:pPr>
            <a:r>
              <a:rPr lang="en-US" sz="1200" b="1" dirty="0">
                <a:solidFill>
                  <a:srgbClr val="1A1A1A"/>
                </a:solidFill>
                <a:latin typeface="Malgun Gothic" pitchFamily="34" charset="0"/>
                <a:ea typeface="Malgun Gothic" pitchFamily="34" charset="-122"/>
                <a:cs typeface="Malgun Gothic" pitchFamily="34" charset="-120"/>
              </a:rPr>
              <a:t>값 색인  </a:t>
            </a:r>
            <a:r>
              <a:rPr lang="en-US" sz="1200" dirty="0">
                <a:solidFill>
                  <a:srgbClr val="5F5F5F"/>
                </a:solidFill>
                <a:latin typeface="Malgun Gothic" pitchFamily="34" charset="0"/>
                <a:ea typeface="Malgun Gothic" pitchFamily="34" charset="-122"/>
                <a:cs typeface="Malgun Gothic" pitchFamily="34" charset="-120"/>
              </a:rPr>
              <a:t>설비 ID, Step, Recipe, 제품 코드처럼 종류가 한정된 값</a:t>
            </a:r>
            <a:endParaRPr lang="en-US" sz="1200" dirty="0"/>
          </a:p>
          <a:p>
            <a:pPr marL="152400" indent="-152400">
              <a:lnSpc>
                <a:spcPct val="110000"/>
              </a:lnSpc>
              <a:spcAft>
                <a:spcPts val="400"/>
              </a:spcAft>
              <a:buSzPct val="100000"/>
              <a:buChar char="•"/>
            </a:pPr>
            <a:r>
              <a:rPr lang="en-US" sz="1200" b="1" dirty="0">
                <a:solidFill>
                  <a:srgbClr val="1A1A1A"/>
                </a:solidFill>
                <a:latin typeface="Malgun Gothic" pitchFamily="34" charset="0"/>
                <a:ea typeface="Malgun Gothic" pitchFamily="34" charset="-122"/>
                <a:cs typeface="Malgun Gothic" pitchFamily="34" charset="-120"/>
              </a:rPr>
              <a:t>패턴 규칙  </a:t>
            </a:r>
            <a:r>
              <a:rPr lang="en-US" sz="1200" dirty="0">
                <a:solidFill>
                  <a:srgbClr val="5F5F5F"/>
                </a:solidFill>
                <a:latin typeface="Malgun Gothic" pitchFamily="34" charset="0"/>
                <a:ea typeface="Malgun Gothic" pitchFamily="34" charset="-122"/>
                <a:cs typeface="Malgun Gothic" pitchFamily="34" charset="-120"/>
              </a:rPr>
              <a:t>Lot·Wafer ID처럼 수가 너무 많은 값은 형식으로 인식</a:t>
            </a:r>
            <a:endParaRPr lang="en-US" sz="1200" dirty="0"/>
          </a:p>
          <a:p>
            <a:pPr marL="152400" indent="-152400">
              <a:lnSpc>
                <a:spcPct val="110000"/>
              </a:lnSpc>
              <a:spcAft>
                <a:spcPts val="400"/>
              </a:spcAft>
              <a:buSzPct val="100000"/>
              <a:buChar char="•"/>
            </a:pPr>
            <a:r>
              <a:rPr lang="en-US" sz="1200" b="1" dirty="0">
                <a:solidFill>
                  <a:srgbClr val="1A1A1A"/>
                </a:solidFill>
                <a:latin typeface="Malgun Gothic" pitchFamily="34" charset="0"/>
                <a:ea typeface="Malgun Gothic" pitchFamily="34" charset="-122"/>
                <a:cs typeface="Malgun Gothic" pitchFamily="34" charset="-120"/>
              </a:rPr>
              <a:t>최신성  </a:t>
            </a:r>
            <a:r>
              <a:rPr lang="en-US" sz="1200" dirty="0">
                <a:solidFill>
                  <a:srgbClr val="5F5F5F"/>
                </a:solidFill>
                <a:latin typeface="Malgun Gothic" pitchFamily="34" charset="0"/>
                <a:ea typeface="Malgun Gothic" pitchFamily="34" charset="-122"/>
                <a:cs typeface="Malgun Gothic" pitchFamily="34" charset="-120"/>
              </a:rPr>
              <a:t>마스터 테이블 변경이 이미 CDC로 들어오므로 색인을 증분 갱신</a:t>
            </a:r>
            <a:endParaRPr lang="en-US" sz="1200" dirty="0"/>
          </a:p>
        </p:txBody>
      </p:sp>
      <p:sp>
        <p:nvSpPr>
          <p:cNvPr id="34" name="Slide Number Placeholder 0"/>
          <p:cNvSpPr>
            <a:spLocks noGrp="1"/>
          </p:cNvSpPr>
          <p:nvPr>
            <p:ph type="sldNum" sz="quarter" idx="4294967295"/>
          </p:nvPr>
        </p:nvSpPr>
        <p:spPr>
          <a:xfrm>
            <a:off x="11183112" y="6419088"/>
            <a:ext cx="54864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6B6B6B"/>
                </a:solidFill>
                <a:latin typeface="Malgun Gothic"/>
                <a:ea typeface="Malgun Gothic"/>
                <a:cs typeface="Malgun Gothic"/>
              </a:defRPr>
            </a:lvl1pPr>
          </a:lstStyle>
          <a:p>
            <a:pPr algn="r"/>
            <a:fld id="{F7021451-1387-4CA6-816F-3879F97B5CBC}" type="slidenum">
              <a:rPr lang="en-US" b="0"/>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11274552" cy="292608"/>
          </a:xfrm>
          <a:prstGeom prst="rect">
            <a:avLst/>
          </a:prstGeom>
          <a:noFill/>
          <a:ln/>
        </p:spPr>
        <p:txBody>
          <a:bodyPr wrap="square" lIns="0" tIns="0" rIns="0" bIns="0" rtlCol="0" anchor="ctr"/>
          <a:lstStyle/>
          <a:p>
            <a:pPr marL="0" indent="0">
              <a:buNone/>
            </a:pPr>
            <a:r>
              <a:rPr lang="en-US" sz="1100" b="1" smtClean="0">
                <a:solidFill>
                  <a:srgbClr val="6B6B6B"/>
                </a:solidFill>
                <a:latin typeface="Malgun Gothic" pitchFamily="34" charset="0"/>
                <a:ea typeface="Malgun Gothic" pitchFamily="34" charset="-122"/>
                <a:cs typeface="Malgun Gothic" pitchFamily="34" charset="-120"/>
              </a:rPr>
              <a:t>단계별 </a:t>
            </a:r>
            <a:r>
              <a:rPr lang="en-US" sz="1100" b="1" dirty="0">
                <a:solidFill>
                  <a:srgbClr val="6B6B6B"/>
                </a:solidFill>
                <a:latin typeface="Malgun Gothic" pitchFamily="34" charset="0"/>
                <a:ea typeface="Malgun Gothic" pitchFamily="34" charset="-122"/>
                <a:cs typeface="Malgun Gothic" pitchFamily="34" charset="-120"/>
              </a:rPr>
              <a:t>적용 2/4 · 온톨로지 매핑</a:t>
            </a:r>
            <a:endParaRPr lang="en-US" sz="1100" dirty="0"/>
          </a:p>
        </p:txBody>
      </p:sp>
      <p:sp>
        <p:nvSpPr>
          <p:cNvPr id="3" name="Text 0"/>
          <p:cNvSpPr>
            <a:spLocks noGrp="1"/>
          </p:cNvSpPr>
          <p:nvPr>
            <p:ph type="title" idx="101" hasCustomPrompt="1"/>
          </p:nvPr>
        </p:nvSpPr>
        <p:spPr>
          <a:xfrm>
            <a:off x="457200" y="512064"/>
            <a:ext cx="11274552" cy="768096"/>
          </a:xfrm>
          <a:prstGeom prst="rect">
            <a:avLst/>
          </a:prstGeom>
          <a:noFill/>
          <a:ln/>
        </p:spPr>
        <p:txBody>
          <a:bodyPr wrap="square" lIns="0" tIns="0" rIns="0" bIns="0" rtlCol="0" anchor="ctr"/>
          <a:lstStyle/>
          <a:p>
            <a:pPr marL="0" indent="0" algn="l">
              <a:buNone/>
            </a:pPr>
            <a:r>
              <a:rPr lang="en-US" sz="2100" b="1" dirty="0">
                <a:solidFill>
                  <a:schemeClr val="tx1"/>
                </a:solidFill>
                <a:latin typeface="Malgun Gothic" pitchFamily="34" charset="0"/>
                <a:ea typeface="Malgun Gothic" pitchFamily="34" charset="-122"/>
                <a:cs typeface="Malgun Gothic" pitchFamily="34" charset="-120"/>
              </a:rPr>
              <a:t>현업 용어로 지은 클래스를 두고, 실제 테이블·컬럼과는 별도 매핑으로 잇는다</a:t>
            </a:r>
            <a:endParaRPr lang="en-US" sz="2100" dirty="0"/>
          </a:p>
        </p:txBody>
      </p:sp>
      <p:sp>
        <p:nvSpPr>
          <p:cNvPr id="5" name="Shape 3"/>
          <p:cNvSpPr/>
          <p:nvPr/>
        </p:nvSpPr>
        <p:spPr>
          <a:xfrm>
            <a:off x="457200" y="1325880"/>
            <a:ext cx="5513832" cy="4937760"/>
          </a:xfrm>
          <a:prstGeom prst="roundRect">
            <a:avLst>
              <a:gd name="adj" fmla="val 1481"/>
            </a:avLst>
          </a:prstGeom>
          <a:solidFill>
            <a:srgbClr val="FFFFFF"/>
          </a:solidFill>
          <a:ln w="9525">
            <a:solidFill>
              <a:srgbClr val="D0D0D0"/>
            </a:solidFill>
            <a:prstDash val="solid"/>
          </a:ln>
        </p:spPr>
      </p:sp>
      <p:sp>
        <p:nvSpPr>
          <p:cNvPr id="6" name="Shape 4"/>
          <p:cNvSpPr/>
          <p:nvPr/>
        </p:nvSpPr>
        <p:spPr>
          <a:xfrm>
            <a:off x="640080" y="1481328"/>
            <a:ext cx="749808" cy="246888"/>
          </a:xfrm>
          <a:prstGeom prst="roundRect">
            <a:avLst>
              <a:gd name="adj" fmla="val 14815"/>
            </a:avLst>
          </a:prstGeom>
          <a:solidFill>
            <a:srgbClr val="8C8C8C"/>
          </a:solidFill>
          <a:ln/>
        </p:spPr>
      </p:sp>
      <p:sp>
        <p:nvSpPr>
          <p:cNvPr id="7" name="Text 5"/>
          <p:cNvSpPr txBox="1"/>
          <p:nvPr/>
        </p:nvSpPr>
        <p:spPr>
          <a:xfrm>
            <a:off x="640080" y="1481328"/>
            <a:ext cx="749808" cy="246888"/>
          </a:xfrm>
          <a:prstGeom prst="rect">
            <a:avLst/>
          </a:prstGeom>
          <a:noFill/>
          <a:ln/>
        </p:spPr>
        <p:txBody>
          <a:bodyPr wrap="square" lIns="0" tIns="0" rIns="0" bIns="0" rtlCol="0" anchor="ctr"/>
          <a:lstStyle/>
          <a:p>
            <a:pPr marL="0" indent="0" algn="ctr">
              <a:buNone/>
            </a:pPr>
            <a:r>
              <a:rPr lang="en-US" sz="950" b="1" dirty="0">
                <a:solidFill>
                  <a:srgbClr val="FFFFFF"/>
                </a:solidFill>
                <a:latin typeface="Malgun Gothic" pitchFamily="34" charset="0"/>
                <a:ea typeface="Malgun Gothic" pitchFamily="34" charset="-122"/>
                <a:cs typeface="Malgun Gothic" pitchFamily="34" charset="-120"/>
              </a:rPr>
              <a:t>논문</a:t>
            </a:r>
            <a:endParaRPr lang="en-US" sz="950" dirty="0"/>
          </a:p>
        </p:txBody>
      </p:sp>
      <p:sp>
        <p:nvSpPr>
          <p:cNvPr id="8" name="Text 6"/>
          <p:cNvSpPr txBox="1"/>
          <p:nvPr/>
        </p:nvSpPr>
        <p:spPr>
          <a:xfrm>
            <a:off x="1481328" y="1444752"/>
            <a:ext cx="4325112" cy="329184"/>
          </a:xfrm>
          <a:prstGeom prst="rect">
            <a:avLst/>
          </a:prstGeom>
          <a:noFill/>
          <a:ln/>
        </p:spPr>
        <p:txBody>
          <a:bodyPr wrap="square" lIns="0" tIns="0" rIns="0" bIns="0" rtlCol="0" anchor="ctr"/>
          <a:lstStyle/>
          <a:p>
            <a:pPr marL="0" indent="0">
              <a:buNone/>
            </a:pPr>
            <a:r>
              <a:rPr lang="en-US" sz="1350" b="1" dirty="0">
                <a:solidFill>
                  <a:srgbClr val="1A1A1A"/>
                </a:solidFill>
                <a:latin typeface="Malgun Gothic" pitchFamily="34" charset="0"/>
                <a:ea typeface="Malgun Gothic" pitchFamily="34" charset="-122"/>
                <a:cs typeface="Malgun Gothic" pitchFamily="34" charset="-120"/>
              </a:rPr>
              <a:t>Knowledge schema + 매핑</a:t>
            </a:r>
            <a:endParaRPr lang="en-US" sz="1350" dirty="0"/>
          </a:p>
        </p:txBody>
      </p:sp>
      <p:sp>
        <p:nvSpPr>
          <p:cNvPr id="9" name="Text 7"/>
          <p:cNvSpPr txBox="1"/>
          <p:nvPr/>
        </p:nvSpPr>
        <p:spPr>
          <a:xfrm>
            <a:off x="640080" y="1899481"/>
            <a:ext cx="1911631" cy="177322"/>
          </a:xfrm>
          <a:prstGeom prst="rect">
            <a:avLst/>
          </a:prstGeom>
          <a:noFill/>
          <a:ln/>
        </p:spPr>
        <p:txBody>
          <a:bodyPr wrap="none" lIns="0" tIns="0" rIns="0" bIns="0" rtlCol="0" anchor="ctr"/>
          <a:lstStyle/>
          <a:p>
            <a:pPr marL="0" indent="0" algn="l">
              <a:buNone/>
            </a:pPr>
            <a:r>
              <a:rPr lang="en-US" sz="900" b="1" dirty="0">
                <a:solidFill>
                  <a:srgbClr val="333333"/>
                </a:solidFill>
                <a:latin typeface="Malgun Gothic" pitchFamily="34" charset="0"/>
                <a:ea typeface="Malgun Gothic" pitchFamily="34" charset="-122"/>
                <a:cs typeface="Malgun Gothic" pitchFamily="34" charset="-120"/>
              </a:rPr>
              <a:t>지식그래프 (knowledge schema)</a:t>
            </a:r>
            <a:endParaRPr lang="en-US" sz="900" dirty="0"/>
          </a:p>
        </p:txBody>
      </p:sp>
      <p:sp>
        <p:nvSpPr>
          <p:cNvPr id="10" name="Shape 8"/>
          <p:cNvSpPr/>
          <p:nvPr/>
        </p:nvSpPr>
        <p:spPr>
          <a:xfrm>
            <a:off x="640080" y="2121611"/>
            <a:ext cx="2383367" cy="1220284"/>
          </a:xfrm>
          <a:prstGeom prst="roundRect">
            <a:avLst>
              <a:gd name="adj" fmla="val 4687"/>
            </a:avLst>
          </a:prstGeom>
          <a:solidFill>
            <a:srgbClr val="FCE9E1"/>
          </a:solidFill>
          <a:ln w="24406">
            <a:solidFill>
              <a:srgbClr val="D9480F"/>
            </a:solidFill>
            <a:prstDash val="solid"/>
          </a:ln>
        </p:spPr>
      </p:sp>
      <p:sp>
        <p:nvSpPr>
          <p:cNvPr id="11" name="Text 9"/>
          <p:cNvSpPr txBox="1"/>
          <p:nvPr/>
        </p:nvSpPr>
        <p:spPr>
          <a:xfrm>
            <a:off x="773549" y="2208842"/>
            <a:ext cx="943794" cy="206876"/>
          </a:xfrm>
          <a:prstGeom prst="rect">
            <a:avLst/>
          </a:prstGeom>
          <a:noFill/>
          <a:ln/>
        </p:spPr>
        <p:txBody>
          <a:bodyPr wrap="none" lIns="0" tIns="0" rIns="0" bIns="0" rtlCol="0" anchor="ctr"/>
          <a:lstStyle/>
          <a:p>
            <a:pPr marL="0" indent="0" algn="l">
              <a:buNone/>
            </a:pPr>
            <a:r>
              <a:rPr lang="en-US" sz="1050" b="1" dirty="0">
                <a:solidFill>
                  <a:srgbClr val="333333"/>
                </a:solidFill>
                <a:latin typeface="Malgun Gothic" pitchFamily="34" charset="0"/>
                <a:ea typeface="Malgun Gothic" pitchFamily="34" charset="-122"/>
                <a:cs typeface="Malgun Gothic" pitchFamily="34" charset="-120"/>
              </a:rPr>
              <a:t>클래스: 설비</a:t>
            </a:r>
            <a:endParaRPr lang="en-US" sz="1050" dirty="0"/>
          </a:p>
        </p:txBody>
      </p:sp>
      <p:sp>
        <p:nvSpPr>
          <p:cNvPr id="12" name="Text 10"/>
          <p:cNvSpPr txBox="1"/>
          <p:nvPr/>
        </p:nvSpPr>
        <p:spPr>
          <a:xfrm>
            <a:off x="773549" y="2452422"/>
            <a:ext cx="2257582" cy="177322"/>
          </a:xfrm>
          <a:prstGeom prst="rect">
            <a:avLst/>
          </a:prstGeom>
          <a:noFill/>
          <a:ln/>
        </p:spPr>
        <p:txBody>
          <a:bodyPr wrap="none" lIns="0" tIns="0" rIns="0" bIns="0" rtlCol="0" anchor="ctr"/>
          <a:lstStyle/>
          <a:p>
            <a:pPr marL="0" indent="0" algn="l">
              <a:buNone/>
            </a:pPr>
            <a:r>
              <a:rPr lang="en-US" sz="900" dirty="0">
                <a:solidFill>
                  <a:srgbClr val="333333"/>
                </a:solidFill>
                <a:latin typeface="Malgun Gothic" pitchFamily="34" charset="0"/>
                <a:ea typeface="Malgun Gothic" pitchFamily="34" charset="-122"/>
                <a:cs typeface="Malgun Gothic" pitchFamily="34" charset="-120"/>
              </a:rPr>
              <a:t>· 데이터 속성: 설비명, 유형, 설치일</a:t>
            </a:r>
            <a:endParaRPr lang="en-US" sz="900" dirty="0"/>
          </a:p>
        </p:txBody>
      </p:sp>
      <p:sp>
        <p:nvSpPr>
          <p:cNvPr id="13" name="Text 11"/>
          <p:cNvSpPr txBox="1"/>
          <p:nvPr/>
        </p:nvSpPr>
        <p:spPr>
          <a:xfrm>
            <a:off x="773549" y="2662159"/>
            <a:ext cx="2005532" cy="177322"/>
          </a:xfrm>
          <a:prstGeom prst="rect">
            <a:avLst/>
          </a:prstGeom>
          <a:noFill/>
          <a:ln/>
        </p:spPr>
        <p:txBody>
          <a:bodyPr wrap="none" lIns="0" tIns="0" rIns="0" bIns="0" rtlCol="0" anchor="ctr"/>
          <a:lstStyle/>
          <a:p>
            <a:pPr marL="0" indent="0" algn="l">
              <a:buNone/>
            </a:pPr>
            <a:r>
              <a:rPr lang="en-US" sz="900" dirty="0">
                <a:solidFill>
                  <a:srgbClr val="333333"/>
                </a:solidFill>
                <a:latin typeface="Malgun Gothic" pitchFamily="34" charset="0"/>
                <a:ea typeface="Malgun Gothic" pitchFamily="34" charset="-122"/>
                <a:cs typeface="Malgun Gothic" pitchFamily="34" charset="-120"/>
              </a:rPr>
              <a:t>· 관계 속성: 시설 —보유→ 설비</a:t>
            </a:r>
            <a:endParaRPr lang="en-US" sz="900" dirty="0"/>
          </a:p>
        </p:txBody>
      </p:sp>
      <p:sp>
        <p:nvSpPr>
          <p:cNvPr id="14" name="Text 12"/>
          <p:cNvSpPr txBox="1"/>
          <p:nvPr/>
        </p:nvSpPr>
        <p:spPr>
          <a:xfrm>
            <a:off x="773549" y="2871895"/>
            <a:ext cx="1323516" cy="177322"/>
          </a:xfrm>
          <a:prstGeom prst="rect">
            <a:avLst/>
          </a:prstGeom>
          <a:noFill/>
          <a:ln/>
        </p:spPr>
        <p:txBody>
          <a:bodyPr wrap="none" lIns="0" tIns="0" rIns="0" bIns="0" rtlCol="0" anchor="ctr"/>
          <a:lstStyle/>
          <a:p>
            <a:pPr marL="0" indent="0" algn="l">
              <a:buNone/>
            </a:pPr>
            <a:r>
              <a:rPr lang="en-US" sz="900" dirty="0">
                <a:solidFill>
                  <a:srgbClr val="333333"/>
                </a:solidFill>
                <a:latin typeface="Malgun Gothic" pitchFamily="34" charset="0"/>
                <a:ea typeface="Malgun Gothic" pitchFamily="34" charset="-122"/>
                <a:cs typeface="Malgun Gothic" pitchFamily="34" charset="-120"/>
              </a:rPr>
              <a:t>· 동의어: 장비, 자산</a:t>
            </a:r>
            <a:endParaRPr lang="en-US" sz="900" dirty="0"/>
          </a:p>
        </p:txBody>
      </p:sp>
      <p:sp>
        <p:nvSpPr>
          <p:cNvPr id="15" name="Text 13"/>
          <p:cNvSpPr txBox="1"/>
          <p:nvPr/>
        </p:nvSpPr>
        <p:spPr>
          <a:xfrm>
            <a:off x="773549" y="3081631"/>
            <a:ext cx="1817731" cy="177322"/>
          </a:xfrm>
          <a:prstGeom prst="rect">
            <a:avLst/>
          </a:prstGeom>
          <a:noFill/>
          <a:ln/>
        </p:spPr>
        <p:txBody>
          <a:bodyPr wrap="none" lIns="0" tIns="0" rIns="0" bIns="0" rtlCol="0" anchor="ctr"/>
          <a:lstStyle/>
          <a:p>
            <a:pPr marL="0" indent="0" algn="l">
              <a:buNone/>
            </a:pPr>
            <a:r>
              <a:rPr lang="en-US" sz="900" dirty="0">
                <a:solidFill>
                  <a:srgbClr val="333333"/>
                </a:solidFill>
                <a:latin typeface="Malgun Gothic" pitchFamily="34" charset="0"/>
                <a:ea typeface="Malgun Gothic" pitchFamily="34" charset="-122"/>
                <a:cs typeface="Malgun Gothic" pitchFamily="34" charset="-120"/>
              </a:rPr>
              <a:t>· 관련도 순위: 검색 우선순위</a:t>
            </a:r>
            <a:endParaRPr lang="en-US" sz="900" dirty="0"/>
          </a:p>
        </p:txBody>
      </p:sp>
      <p:sp>
        <p:nvSpPr>
          <p:cNvPr id="16" name="Shape 14"/>
          <p:cNvSpPr/>
          <p:nvPr/>
        </p:nvSpPr>
        <p:spPr>
          <a:xfrm>
            <a:off x="3023447" y="2731753"/>
            <a:ext cx="476673" cy="0"/>
          </a:xfrm>
          <a:prstGeom prst="line">
            <a:avLst/>
          </a:prstGeom>
          <a:noFill/>
          <a:ln w="19830">
            <a:solidFill>
              <a:srgbClr val="8C8C8C"/>
            </a:solidFill>
            <a:prstDash val="dash"/>
          </a:ln>
        </p:spPr>
      </p:sp>
      <p:sp>
        <p:nvSpPr>
          <p:cNvPr id="17" name="Text 15"/>
          <p:cNvSpPr txBox="1"/>
          <p:nvPr/>
        </p:nvSpPr>
        <p:spPr>
          <a:xfrm>
            <a:off x="3111950" y="2536079"/>
            <a:ext cx="299667" cy="162546"/>
          </a:xfrm>
          <a:prstGeom prst="rect">
            <a:avLst/>
          </a:prstGeom>
          <a:noFill/>
          <a:ln/>
        </p:spPr>
        <p:txBody>
          <a:bodyPr wrap="none" lIns="0" tIns="0" rIns="0" bIns="0" rtlCol="0" anchor="ctr"/>
          <a:lstStyle/>
          <a:p>
            <a:pPr marL="0" indent="0" algn="ctr">
              <a:buNone/>
            </a:pPr>
            <a:r>
              <a:rPr lang="en-US" sz="830" dirty="0">
                <a:solidFill>
                  <a:srgbClr val="333333"/>
                </a:solidFill>
                <a:latin typeface="Malgun Gothic" pitchFamily="34" charset="0"/>
                <a:ea typeface="Malgun Gothic" pitchFamily="34" charset="-122"/>
                <a:cs typeface="Malgun Gothic" pitchFamily="34" charset="-120"/>
              </a:rPr>
              <a:t>매핑</a:t>
            </a:r>
            <a:endParaRPr lang="en-US" sz="830" dirty="0"/>
          </a:p>
        </p:txBody>
      </p:sp>
      <p:sp>
        <p:nvSpPr>
          <p:cNvPr id="18" name="Text 16"/>
          <p:cNvSpPr txBox="1"/>
          <p:nvPr/>
        </p:nvSpPr>
        <p:spPr>
          <a:xfrm>
            <a:off x="3500120" y="1899481"/>
            <a:ext cx="878722" cy="177322"/>
          </a:xfrm>
          <a:prstGeom prst="rect">
            <a:avLst/>
          </a:prstGeom>
          <a:noFill/>
          <a:ln/>
        </p:spPr>
        <p:txBody>
          <a:bodyPr wrap="none" lIns="0" tIns="0" rIns="0" bIns="0" rtlCol="0" anchor="ctr"/>
          <a:lstStyle/>
          <a:p>
            <a:pPr marL="0" indent="0" algn="l">
              <a:buNone/>
            </a:pPr>
            <a:r>
              <a:rPr lang="en-US" sz="900" b="1" dirty="0">
                <a:solidFill>
                  <a:srgbClr val="262626"/>
                </a:solidFill>
                <a:latin typeface="Malgun Gothic" pitchFamily="34" charset="0"/>
                <a:ea typeface="Malgun Gothic" pitchFamily="34" charset="-122"/>
                <a:cs typeface="Malgun Gothic" pitchFamily="34" charset="-120"/>
              </a:rPr>
              <a:t>관계형 스키마</a:t>
            </a:r>
            <a:endParaRPr lang="en-US" sz="900" dirty="0"/>
          </a:p>
        </p:txBody>
      </p:sp>
      <p:sp>
        <p:nvSpPr>
          <p:cNvPr id="19" name="Shape 17"/>
          <p:cNvSpPr/>
          <p:nvPr/>
        </p:nvSpPr>
        <p:spPr>
          <a:xfrm>
            <a:off x="3500120" y="2121611"/>
            <a:ext cx="2288032" cy="1220284"/>
          </a:xfrm>
          <a:prstGeom prst="roundRect">
            <a:avLst>
              <a:gd name="adj" fmla="val 4687"/>
            </a:avLst>
          </a:prstGeom>
          <a:solidFill>
            <a:srgbClr val="D9D9D9"/>
          </a:solidFill>
          <a:ln w="15254">
            <a:solidFill>
              <a:srgbClr val="7F7F7F"/>
            </a:solidFill>
            <a:prstDash val="solid"/>
          </a:ln>
        </p:spPr>
      </p:sp>
      <p:sp>
        <p:nvSpPr>
          <p:cNvPr id="20" name="Text 18"/>
          <p:cNvSpPr txBox="1"/>
          <p:nvPr/>
        </p:nvSpPr>
        <p:spPr>
          <a:xfrm>
            <a:off x="3633589" y="2238992"/>
            <a:ext cx="845363" cy="184711"/>
          </a:xfrm>
          <a:prstGeom prst="rect">
            <a:avLst/>
          </a:prstGeom>
          <a:noFill/>
          <a:ln/>
        </p:spPr>
        <p:txBody>
          <a:bodyPr wrap="none" lIns="0" tIns="0" rIns="0" bIns="0" rtlCol="0" anchor="ctr"/>
          <a:lstStyle/>
          <a:p>
            <a:pPr marL="0" indent="0" algn="l">
              <a:buNone/>
            </a:pPr>
            <a:r>
              <a:rPr lang="en-US" sz="940" dirty="0">
                <a:solidFill>
                  <a:srgbClr val="262626"/>
                </a:solidFill>
                <a:latin typeface="Consolas" pitchFamily="34" charset="0"/>
                <a:ea typeface="Consolas" pitchFamily="34" charset="-122"/>
                <a:cs typeface="Consolas" pitchFamily="34" charset="-120"/>
              </a:rPr>
              <a:t>TB_ASSET_M</a:t>
            </a:r>
            <a:endParaRPr lang="en-US" sz="940" dirty="0"/>
          </a:p>
        </p:txBody>
      </p:sp>
      <p:sp>
        <p:nvSpPr>
          <p:cNvPr id="21" name="Text 19"/>
          <p:cNvSpPr txBox="1"/>
          <p:nvPr/>
        </p:nvSpPr>
        <p:spPr>
          <a:xfrm>
            <a:off x="3633589" y="2471489"/>
            <a:ext cx="1360582" cy="177322"/>
          </a:xfrm>
          <a:prstGeom prst="rect">
            <a:avLst/>
          </a:prstGeom>
          <a:noFill/>
          <a:ln/>
        </p:spPr>
        <p:txBody>
          <a:bodyPr wrap="none" lIns="0" tIns="0" rIns="0" bIns="0" rtlCol="0" anchor="ctr"/>
          <a:lstStyle/>
          <a:p>
            <a:pPr marL="0" indent="0" algn="l">
              <a:buNone/>
            </a:pPr>
            <a:r>
              <a:rPr lang="en-US" sz="900" dirty="0">
                <a:solidFill>
                  <a:srgbClr val="262626"/>
                </a:solidFill>
                <a:latin typeface="Consolas" pitchFamily="34" charset="0"/>
                <a:ea typeface="Consolas" pitchFamily="34" charset="-122"/>
                <a:cs typeface="Consolas" pitchFamily="34" charset="-120"/>
              </a:rPr>
              <a:t> ASSET_NM → 설비명</a:t>
            </a:r>
            <a:endParaRPr lang="en-US" sz="900" dirty="0"/>
          </a:p>
        </p:txBody>
      </p:sp>
      <p:sp>
        <p:nvSpPr>
          <p:cNvPr id="22" name="Text 20"/>
          <p:cNvSpPr txBox="1"/>
          <p:nvPr/>
        </p:nvSpPr>
        <p:spPr>
          <a:xfrm>
            <a:off x="3633589" y="2681226"/>
            <a:ext cx="1454483" cy="177322"/>
          </a:xfrm>
          <a:prstGeom prst="rect">
            <a:avLst/>
          </a:prstGeom>
          <a:noFill/>
          <a:ln/>
        </p:spPr>
        <p:txBody>
          <a:bodyPr wrap="none" lIns="0" tIns="0" rIns="0" bIns="0" rtlCol="0" anchor="ctr"/>
          <a:lstStyle/>
          <a:p>
            <a:pPr marL="0" indent="0" algn="l">
              <a:buNone/>
            </a:pPr>
            <a:r>
              <a:rPr lang="en-US" sz="900" dirty="0">
                <a:solidFill>
                  <a:srgbClr val="262626"/>
                </a:solidFill>
                <a:latin typeface="Consolas" pitchFamily="34" charset="0"/>
                <a:ea typeface="Consolas" pitchFamily="34" charset="-122"/>
                <a:cs typeface="Consolas" pitchFamily="34" charset="-120"/>
              </a:rPr>
              <a:t> ASSET_TP_CD → 유형</a:t>
            </a:r>
            <a:endParaRPr lang="en-US" sz="900" dirty="0"/>
          </a:p>
        </p:txBody>
      </p:sp>
      <p:sp>
        <p:nvSpPr>
          <p:cNvPr id="23" name="Text 21"/>
          <p:cNvSpPr txBox="1"/>
          <p:nvPr/>
        </p:nvSpPr>
        <p:spPr>
          <a:xfrm>
            <a:off x="3633589" y="2890962"/>
            <a:ext cx="1283979" cy="177322"/>
          </a:xfrm>
          <a:prstGeom prst="rect">
            <a:avLst/>
          </a:prstGeom>
          <a:noFill/>
          <a:ln/>
        </p:spPr>
        <p:txBody>
          <a:bodyPr wrap="none" lIns="0" tIns="0" rIns="0" bIns="0" rtlCol="0" anchor="ctr"/>
          <a:lstStyle/>
          <a:p>
            <a:pPr marL="0" indent="0" algn="l">
              <a:buNone/>
            </a:pPr>
            <a:r>
              <a:rPr lang="en-US" sz="900" dirty="0">
                <a:solidFill>
                  <a:srgbClr val="262626"/>
                </a:solidFill>
                <a:latin typeface="Consolas" pitchFamily="34" charset="0"/>
                <a:ea typeface="Consolas" pitchFamily="34" charset="-122"/>
                <a:cs typeface="Consolas" pitchFamily="34" charset="-120"/>
              </a:rPr>
              <a:t> INST_DT → 설치일</a:t>
            </a:r>
            <a:endParaRPr lang="en-US" sz="900" dirty="0"/>
          </a:p>
        </p:txBody>
      </p:sp>
      <p:sp>
        <p:nvSpPr>
          <p:cNvPr id="24" name="Text 22"/>
          <p:cNvSpPr txBox="1"/>
          <p:nvPr/>
        </p:nvSpPr>
        <p:spPr>
          <a:xfrm>
            <a:off x="3633589" y="3100698"/>
            <a:ext cx="1471780" cy="177322"/>
          </a:xfrm>
          <a:prstGeom prst="rect">
            <a:avLst/>
          </a:prstGeom>
          <a:noFill/>
          <a:ln/>
        </p:spPr>
        <p:txBody>
          <a:bodyPr wrap="none" lIns="0" tIns="0" rIns="0" bIns="0" rtlCol="0" anchor="ctr"/>
          <a:lstStyle/>
          <a:p>
            <a:pPr marL="0" indent="0" algn="l">
              <a:buNone/>
            </a:pPr>
            <a:r>
              <a:rPr lang="en-US" sz="900" dirty="0">
                <a:solidFill>
                  <a:srgbClr val="262626"/>
                </a:solidFill>
                <a:latin typeface="Consolas" pitchFamily="34" charset="0"/>
                <a:ea typeface="Consolas" pitchFamily="34" charset="-122"/>
                <a:cs typeface="Consolas" pitchFamily="34" charset="-120"/>
              </a:rPr>
              <a:t> FCLT_ID → 시설 관계</a:t>
            </a:r>
            <a:endParaRPr lang="en-US" sz="900" dirty="0"/>
          </a:p>
        </p:txBody>
      </p:sp>
      <p:sp>
        <p:nvSpPr>
          <p:cNvPr id="25" name="Shape 23"/>
          <p:cNvSpPr/>
          <p:nvPr/>
        </p:nvSpPr>
        <p:spPr>
          <a:xfrm>
            <a:off x="640080" y="3532564"/>
            <a:ext cx="5148072" cy="686410"/>
          </a:xfrm>
          <a:prstGeom prst="roundRect">
            <a:avLst>
              <a:gd name="adj" fmla="val 8333"/>
            </a:avLst>
          </a:prstGeom>
          <a:solidFill>
            <a:srgbClr val="FFFFFF"/>
          </a:solidFill>
          <a:ln w="15254">
            <a:solidFill>
              <a:srgbClr val="3A3A3A"/>
            </a:solidFill>
            <a:prstDash val="solid"/>
          </a:ln>
        </p:spPr>
      </p:sp>
      <p:sp>
        <p:nvSpPr>
          <p:cNvPr id="26" name="Text 24"/>
          <p:cNvSpPr txBox="1"/>
          <p:nvPr/>
        </p:nvSpPr>
        <p:spPr>
          <a:xfrm>
            <a:off x="773549" y="3627184"/>
            <a:ext cx="1939019" cy="192099"/>
          </a:xfrm>
          <a:prstGeom prst="rect">
            <a:avLst/>
          </a:prstGeom>
          <a:noFill/>
          <a:ln/>
        </p:spPr>
        <p:txBody>
          <a:bodyPr wrap="none" lIns="0" tIns="0" rIns="0" bIns="0" rtlCol="0" anchor="ctr"/>
          <a:lstStyle/>
          <a:p>
            <a:pPr marL="0" indent="0" algn="l">
              <a:buNone/>
            </a:pPr>
            <a:r>
              <a:rPr lang="en-US" sz="980" b="1" dirty="0">
                <a:solidFill>
                  <a:srgbClr val="1A1A1A"/>
                </a:solidFill>
                <a:latin typeface="Malgun Gothic" pitchFamily="34" charset="0"/>
                <a:ea typeface="Malgun Gothic" pitchFamily="34" charset="-122"/>
                <a:cs typeface="Malgun Gothic" pitchFamily="34" charset="-120"/>
              </a:rPr>
              <a:t>LLM이 최소 클래스 집합 선택</a:t>
            </a:r>
            <a:endParaRPr lang="en-US" sz="980" dirty="0"/>
          </a:p>
        </p:txBody>
      </p:sp>
      <p:sp>
        <p:nvSpPr>
          <p:cNvPr id="27" name="Text 25"/>
          <p:cNvSpPr txBox="1"/>
          <p:nvPr/>
        </p:nvSpPr>
        <p:spPr>
          <a:xfrm>
            <a:off x="773549" y="3844309"/>
            <a:ext cx="3236127" cy="177322"/>
          </a:xfrm>
          <a:prstGeom prst="rect">
            <a:avLst/>
          </a:prstGeom>
          <a:noFill/>
          <a:ln/>
        </p:spPr>
        <p:txBody>
          <a:bodyPr wrap="none" lIns="0" tIns="0" rIns="0" bIns="0" rtlCol="0" anchor="ctr"/>
          <a:lstStyle/>
          <a:p>
            <a:pPr marL="0" indent="0" algn="l">
              <a:buNone/>
            </a:pPr>
            <a:r>
              <a:rPr lang="en-US" sz="900" dirty="0">
                <a:solidFill>
                  <a:srgbClr val="1A1A1A"/>
                </a:solidFill>
                <a:latin typeface="Malgun Gothic" pitchFamily="34" charset="0"/>
                <a:ea typeface="Malgun Gothic" pitchFamily="34" charset="-122"/>
                <a:cs typeface="Malgun Gothic" pitchFamily="34" charset="-120"/>
              </a:rPr>
              <a:t>입력: 1단계 매칭 결과 + few-shot 예시(FAISS 검색)</a:t>
            </a:r>
            <a:endParaRPr lang="en-US" sz="900" dirty="0"/>
          </a:p>
        </p:txBody>
      </p:sp>
      <p:sp>
        <p:nvSpPr>
          <p:cNvPr id="28" name="Text 26"/>
          <p:cNvSpPr txBox="1"/>
          <p:nvPr/>
        </p:nvSpPr>
        <p:spPr>
          <a:xfrm>
            <a:off x="773549" y="4034978"/>
            <a:ext cx="3690805" cy="177322"/>
          </a:xfrm>
          <a:prstGeom prst="rect">
            <a:avLst/>
          </a:prstGeom>
          <a:noFill/>
          <a:ln/>
        </p:spPr>
        <p:txBody>
          <a:bodyPr wrap="none" lIns="0" tIns="0" rIns="0" bIns="0" rtlCol="0" anchor="ctr"/>
          <a:lstStyle/>
          <a:p>
            <a:pPr marL="0" indent="0" algn="l">
              <a:buNone/>
            </a:pPr>
            <a:r>
              <a:rPr lang="en-US" sz="900" dirty="0">
                <a:solidFill>
                  <a:srgbClr val="1A1A1A"/>
                </a:solidFill>
                <a:latin typeface="Malgun Gothic" pitchFamily="34" charset="0"/>
                <a:ea typeface="Malgun Gothic" pitchFamily="34" charset="-122"/>
                <a:cs typeface="Malgun Gothic" pitchFamily="34" charset="-120"/>
              </a:rPr>
              <a:t>few-shot은 지식그래프·DB 문서로 LLM이 합성한 질문-SQL 쌍</a:t>
            </a:r>
            <a:endParaRPr lang="en-US" sz="900" dirty="0"/>
          </a:p>
        </p:txBody>
      </p:sp>
      <p:sp>
        <p:nvSpPr>
          <p:cNvPr id="29" name="Text 27"/>
          <p:cNvSpPr txBox="1"/>
          <p:nvPr/>
        </p:nvSpPr>
        <p:spPr>
          <a:xfrm>
            <a:off x="658368" y="4440767"/>
            <a:ext cx="5111496" cy="1731433"/>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200" b="1" dirty="0">
                <a:solidFill>
                  <a:srgbClr val="1A1A1A"/>
                </a:solidFill>
                <a:latin typeface="Malgun Gothic" pitchFamily="34" charset="0"/>
                <a:ea typeface="Malgun Gothic" pitchFamily="34" charset="-122"/>
                <a:cs typeface="Malgun Gothic" pitchFamily="34" charset="-120"/>
              </a:rPr>
              <a:t>클래스·속성 이름은  </a:t>
            </a:r>
            <a:r>
              <a:rPr lang="en-US" sz="1200" dirty="0">
                <a:solidFill>
                  <a:srgbClr val="5F5F5F"/>
                </a:solidFill>
                <a:latin typeface="Malgun Gothic" pitchFamily="34" charset="0"/>
                <a:ea typeface="Malgun Gothic" pitchFamily="34" charset="-122"/>
                <a:cs typeface="Malgun Gothic" pitchFamily="34" charset="-120"/>
              </a:rPr>
              <a:t>테이블명이 아니라 사용자가 쓰는 말로 짓는다</a:t>
            </a:r>
            <a:endParaRPr lang="en-US" sz="1200" dirty="0"/>
          </a:p>
          <a:p>
            <a:pPr marL="152400" indent="-152400">
              <a:lnSpc>
                <a:spcPct val="110000"/>
              </a:lnSpc>
              <a:spcAft>
                <a:spcPts val="400"/>
              </a:spcAft>
              <a:buSzPct val="100000"/>
              <a:buChar char="•"/>
            </a:pPr>
            <a:r>
              <a:rPr lang="en-US" sz="1200" dirty="0">
                <a:solidFill>
                  <a:srgbClr val="1A1A1A"/>
                </a:solidFill>
                <a:latin typeface="Malgun Gothic" pitchFamily="34" charset="0"/>
                <a:ea typeface="Malgun Gothic" pitchFamily="34" charset="-122"/>
                <a:cs typeface="Malgun Gothic" pitchFamily="34" charset="-120"/>
              </a:rPr>
              <a:t>지식그래프와 스키마는 분리하고, 매핑으로만 연결한다</a:t>
            </a:r>
            <a:endParaRPr lang="en-US" sz="1200" dirty="0"/>
          </a:p>
          <a:p>
            <a:pPr marL="152400" indent="-152400">
              <a:lnSpc>
                <a:spcPct val="110000"/>
              </a:lnSpc>
              <a:spcAft>
                <a:spcPts val="400"/>
              </a:spcAft>
              <a:buSzPct val="100000"/>
              <a:buChar char="•"/>
            </a:pPr>
            <a:r>
              <a:rPr lang="en-US" sz="1200" dirty="0">
                <a:solidFill>
                  <a:srgbClr val="1A1A1A"/>
                </a:solidFill>
                <a:latin typeface="Malgun Gothic" pitchFamily="34" charset="0"/>
                <a:ea typeface="Malgun Gothic" pitchFamily="34" charset="-122"/>
                <a:cs typeface="Malgun Gothic" pitchFamily="34" charset="-120"/>
              </a:rPr>
              <a:t>Schema linking F1: LLM 단독 0.851 → 제안 방법 0.996</a:t>
            </a:r>
            <a:endParaRPr lang="en-US" sz="1200" dirty="0"/>
          </a:p>
        </p:txBody>
      </p:sp>
      <p:sp>
        <p:nvSpPr>
          <p:cNvPr id="30" name="Shape 28"/>
          <p:cNvSpPr/>
          <p:nvPr/>
        </p:nvSpPr>
        <p:spPr>
          <a:xfrm>
            <a:off x="6217920" y="1325880"/>
            <a:ext cx="5513832" cy="4937760"/>
          </a:xfrm>
          <a:prstGeom prst="roundRect">
            <a:avLst>
              <a:gd name="adj" fmla="val 1481"/>
            </a:avLst>
          </a:prstGeom>
          <a:solidFill>
            <a:srgbClr val="F4F4F4"/>
          </a:solidFill>
          <a:ln w="9525">
            <a:solidFill>
              <a:srgbClr val="BFBFBF"/>
            </a:solidFill>
            <a:prstDash val="solid"/>
          </a:ln>
        </p:spPr>
      </p:sp>
      <p:sp>
        <p:nvSpPr>
          <p:cNvPr id="31" name="Shape 29"/>
          <p:cNvSpPr/>
          <p:nvPr/>
        </p:nvSpPr>
        <p:spPr>
          <a:xfrm>
            <a:off x="6400800" y="1481328"/>
            <a:ext cx="749808" cy="246888"/>
          </a:xfrm>
          <a:prstGeom prst="roundRect">
            <a:avLst>
              <a:gd name="adj" fmla="val 14815"/>
            </a:avLst>
          </a:prstGeom>
          <a:solidFill>
            <a:srgbClr val="1A1A1A"/>
          </a:solidFill>
          <a:ln/>
        </p:spPr>
      </p:sp>
      <p:sp>
        <p:nvSpPr>
          <p:cNvPr id="32" name="Text 30"/>
          <p:cNvSpPr txBox="1"/>
          <p:nvPr/>
        </p:nvSpPr>
        <p:spPr>
          <a:xfrm>
            <a:off x="6400800" y="1481328"/>
            <a:ext cx="749808" cy="246888"/>
          </a:xfrm>
          <a:prstGeom prst="rect">
            <a:avLst/>
          </a:prstGeom>
          <a:noFill/>
          <a:ln/>
        </p:spPr>
        <p:txBody>
          <a:bodyPr wrap="square" lIns="0" tIns="0" rIns="0" bIns="0" rtlCol="0" anchor="ctr"/>
          <a:lstStyle/>
          <a:p>
            <a:pPr marL="0" indent="0" algn="ctr">
              <a:buNone/>
            </a:pPr>
            <a:r>
              <a:rPr lang="en-US" sz="950" b="1" dirty="0">
                <a:solidFill>
                  <a:srgbClr val="FFFFFF"/>
                </a:solidFill>
                <a:latin typeface="Malgun Gothic" pitchFamily="34" charset="0"/>
                <a:ea typeface="Malgun Gothic" pitchFamily="34" charset="-122"/>
                <a:cs typeface="Malgun Gothic" pitchFamily="34" charset="-120"/>
              </a:rPr>
              <a:t>과제 적용</a:t>
            </a:r>
            <a:endParaRPr lang="en-US" sz="950" dirty="0"/>
          </a:p>
        </p:txBody>
      </p:sp>
      <p:sp>
        <p:nvSpPr>
          <p:cNvPr id="33" name="Text 31"/>
          <p:cNvSpPr txBox="1"/>
          <p:nvPr/>
        </p:nvSpPr>
        <p:spPr>
          <a:xfrm>
            <a:off x="7242048" y="1444752"/>
            <a:ext cx="4325112" cy="329184"/>
          </a:xfrm>
          <a:prstGeom prst="rect">
            <a:avLst/>
          </a:prstGeom>
          <a:noFill/>
          <a:ln/>
        </p:spPr>
        <p:txBody>
          <a:bodyPr wrap="square" lIns="0" tIns="0" rIns="0" bIns="0" rtlCol="0" anchor="ctr"/>
          <a:lstStyle/>
          <a:p>
            <a:pPr marL="0" indent="0">
              <a:buNone/>
            </a:pPr>
            <a:r>
              <a:rPr lang="en-US" sz="1350" b="1" dirty="0">
                <a:solidFill>
                  <a:srgbClr val="1A1A1A"/>
                </a:solidFill>
                <a:latin typeface="Malgun Gothic" pitchFamily="34" charset="0"/>
                <a:ea typeface="Malgun Gothic" pitchFamily="34" charset="-122"/>
                <a:cs typeface="Malgun Gothic" pitchFamily="34" charset="-120"/>
              </a:rPr>
              <a:t>반도체 제조 온톨로지</a:t>
            </a:r>
            <a:endParaRPr lang="en-US" sz="1350" dirty="0"/>
          </a:p>
        </p:txBody>
      </p:sp>
      <p:sp>
        <p:nvSpPr>
          <p:cNvPr id="34" name="Shape 32"/>
          <p:cNvSpPr/>
          <p:nvPr/>
        </p:nvSpPr>
        <p:spPr>
          <a:xfrm>
            <a:off x="6400800" y="1892808"/>
            <a:ext cx="5148072" cy="1906693"/>
          </a:xfrm>
          <a:prstGeom prst="roundRect">
            <a:avLst>
              <a:gd name="adj" fmla="val 3000"/>
            </a:avLst>
          </a:prstGeom>
          <a:solidFill>
            <a:srgbClr val="FFFFFF"/>
          </a:solidFill>
          <a:ln/>
        </p:spPr>
      </p:sp>
      <p:sp>
        <p:nvSpPr>
          <p:cNvPr id="35" name="Shape 33"/>
          <p:cNvSpPr/>
          <p:nvPr/>
        </p:nvSpPr>
        <p:spPr>
          <a:xfrm>
            <a:off x="6591469" y="2102544"/>
            <a:ext cx="1048681" cy="362272"/>
          </a:xfrm>
          <a:prstGeom prst="roundRect">
            <a:avLst>
              <a:gd name="adj" fmla="val 50000"/>
            </a:avLst>
          </a:prstGeom>
          <a:solidFill>
            <a:srgbClr val="EDEDED"/>
          </a:solidFill>
          <a:ln w="15254">
            <a:solidFill>
              <a:srgbClr val="A6A6A6"/>
            </a:solidFill>
            <a:prstDash val="solid"/>
          </a:ln>
        </p:spPr>
      </p:sp>
      <p:sp>
        <p:nvSpPr>
          <p:cNvPr id="36" name="Text 34"/>
          <p:cNvSpPr txBox="1"/>
          <p:nvPr/>
        </p:nvSpPr>
        <p:spPr>
          <a:xfrm>
            <a:off x="6891587" y="2183936"/>
            <a:ext cx="448446" cy="199488"/>
          </a:xfrm>
          <a:prstGeom prst="rect">
            <a:avLst/>
          </a:prstGeom>
          <a:noFill/>
          <a:ln/>
        </p:spPr>
        <p:txBody>
          <a:bodyPr wrap="none" lIns="0" tIns="0" rIns="0" bIns="0" rtlCol="0" anchor="ctr"/>
          <a:lstStyle/>
          <a:p>
            <a:pPr marL="0" indent="0" algn="ctr">
              <a:buNone/>
            </a:pPr>
            <a:r>
              <a:rPr lang="en-US" sz="1010" b="1" dirty="0">
                <a:solidFill>
                  <a:srgbClr val="333333"/>
                </a:solidFill>
                <a:latin typeface="Malgun Gothic" pitchFamily="34" charset="0"/>
                <a:ea typeface="Malgun Gothic" pitchFamily="34" charset="-122"/>
                <a:cs typeface="Malgun Gothic" pitchFamily="34" charset="-120"/>
              </a:rPr>
              <a:t>Wafer</a:t>
            </a:r>
            <a:endParaRPr lang="en-US" sz="1010" dirty="0"/>
          </a:p>
        </p:txBody>
      </p:sp>
      <p:sp>
        <p:nvSpPr>
          <p:cNvPr id="37" name="Shape 35"/>
          <p:cNvSpPr/>
          <p:nvPr/>
        </p:nvSpPr>
        <p:spPr>
          <a:xfrm>
            <a:off x="6591469" y="3151226"/>
            <a:ext cx="1048681" cy="362272"/>
          </a:xfrm>
          <a:prstGeom prst="roundRect">
            <a:avLst>
              <a:gd name="adj" fmla="val 50000"/>
            </a:avLst>
          </a:prstGeom>
          <a:solidFill>
            <a:srgbClr val="EDEDED"/>
          </a:solidFill>
          <a:ln w="15254">
            <a:solidFill>
              <a:srgbClr val="A6A6A6"/>
            </a:solidFill>
            <a:prstDash val="solid"/>
          </a:ln>
        </p:spPr>
      </p:sp>
      <p:sp>
        <p:nvSpPr>
          <p:cNvPr id="38" name="Text 36"/>
          <p:cNvSpPr txBox="1"/>
          <p:nvPr/>
        </p:nvSpPr>
        <p:spPr>
          <a:xfrm>
            <a:off x="6765099" y="3232618"/>
            <a:ext cx="701423" cy="199488"/>
          </a:xfrm>
          <a:prstGeom prst="rect">
            <a:avLst/>
          </a:prstGeom>
          <a:noFill/>
          <a:ln/>
        </p:spPr>
        <p:txBody>
          <a:bodyPr wrap="none" lIns="0" tIns="0" rIns="0" bIns="0" rtlCol="0" anchor="ctr"/>
          <a:lstStyle/>
          <a:p>
            <a:pPr marL="0" indent="0" algn="ctr">
              <a:buNone/>
            </a:pPr>
            <a:r>
              <a:rPr lang="en-US" sz="1010" b="1" dirty="0">
                <a:solidFill>
                  <a:srgbClr val="333333"/>
                </a:solidFill>
                <a:latin typeface="Malgun Gothic" pitchFamily="34" charset="0"/>
                <a:ea typeface="Malgun Gothic" pitchFamily="34" charset="-122"/>
                <a:cs typeface="Malgun Gothic" pitchFamily="34" charset="-120"/>
              </a:rPr>
              <a:t>계측 결과</a:t>
            </a:r>
            <a:endParaRPr lang="en-US" sz="1010" dirty="0"/>
          </a:p>
        </p:txBody>
      </p:sp>
      <p:sp>
        <p:nvSpPr>
          <p:cNvPr id="39" name="Shape 37"/>
          <p:cNvSpPr/>
          <p:nvPr/>
        </p:nvSpPr>
        <p:spPr>
          <a:xfrm>
            <a:off x="8307493" y="2102544"/>
            <a:ext cx="1048681" cy="362272"/>
          </a:xfrm>
          <a:prstGeom prst="roundRect">
            <a:avLst>
              <a:gd name="adj" fmla="val 50000"/>
            </a:avLst>
          </a:prstGeom>
          <a:solidFill>
            <a:srgbClr val="EDEDED"/>
          </a:solidFill>
          <a:ln w="15254">
            <a:solidFill>
              <a:srgbClr val="A6A6A6"/>
            </a:solidFill>
            <a:prstDash val="solid"/>
          </a:ln>
        </p:spPr>
      </p:sp>
      <p:sp>
        <p:nvSpPr>
          <p:cNvPr id="40" name="Text 38"/>
          <p:cNvSpPr txBox="1"/>
          <p:nvPr/>
        </p:nvSpPr>
        <p:spPr>
          <a:xfrm>
            <a:off x="8679890" y="2183936"/>
            <a:ext cx="303889" cy="199488"/>
          </a:xfrm>
          <a:prstGeom prst="rect">
            <a:avLst/>
          </a:prstGeom>
          <a:noFill/>
          <a:ln/>
        </p:spPr>
        <p:txBody>
          <a:bodyPr wrap="none" lIns="0" tIns="0" rIns="0" bIns="0" rtlCol="0" anchor="ctr"/>
          <a:lstStyle/>
          <a:p>
            <a:pPr marL="0" indent="0" algn="ctr">
              <a:buNone/>
            </a:pPr>
            <a:r>
              <a:rPr lang="en-US" sz="1010" b="1" dirty="0">
                <a:solidFill>
                  <a:srgbClr val="333333"/>
                </a:solidFill>
                <a:latin typeface="Malgun Gothic" pitchFamily="34" charset="0"/>
                <a:ea typeface="Malgun Gothic" pitchFamily="34" charset="-122"/>
                <a:cs typeface="Malgun Gothic" pitchFamily="34" charset="-120"/>
              </a:rPr>
              <a:t>Lot</a:t>
            </a:r>
            <a:endParaRPr lang="en-US" sz="1010" dirty="0"/>
          </a:p>
        </p:txBody>
      </p:sp>
      <p:sp>
        <p:nvSpPr>
          <p:cNvPr id="41" name="Shape 39"/>
          <p:cNvSpPr/>
          <p:nvPr/>
        </p:nvSpPr>
        <p:spPr>
          <a:xfrm>
            <a:off x="8307493" y="3151226"/>
            <a:ext cx="1048681" cy="362272"/>
          </a:xfrm>
          <a:prstGeom prst="roundRect">
            <a:avLst>
              <a:gd name="adj" fmla="val 50000"/>
            </a:avLst>
          </a:prstGeom>
          <a:solidFill>
            <a:srgbClr val="EDEDED"/>
          </a:solidFill>
          <a:ln w="15254">
            <a:solidFill>
              <a:srgbClr val="A6A6A6"/>
            </a:solidFill>
            <a:prstDash val="solid"/>
          </a:ln>
        </p:spPr>
      </p:sp>
      <p:sp>
        <p:nvSpPr>
          <p:cNvPr id="42" name="Text 40"/>
          <p:cNvSpPr txBox="1"/>
          <p:nvPr/>
        </p:nvSpPr>
        <p:spPr>
          <a:xfrm>
            <a:off x="8468613" y="3232618"/>
            <a:ext cx="726442" cy="199488"/>
          </a:xfrm>
          <a:prstGeom prst="rect">
            <a:avLst/>
          </a:prstGeom>
          <a:noFill/>
          <a:ln/>
        </p:spPr>
        <p:txBody>
          <a:bodyPr wrap="none" lIns="0" tIns="0" rIns="0" bIns="0" rtlCol="0" anchor="ctr"/>
          <a:lstStyle/>
          <a:p>
            <a:pPr marL="0" indent="0" algn="ctr">
              <a:buNone/>
            </a:pPr>
            <a:r>
              <a:rPr lang="en-US" sz="1010" b="1" dirty="0">
                <a:solidFill>
                  <a:srgbClr val="333333"/>
                </a:solidFill>
                <a:latin typeface="Malgun Gothic" pitchFamily="34" charset="0"/>
                <a:ea typeface="Malgun Gothic" pitchFamily="34" charset="-122"/>
                <a:cs typeface="Malgun Gothic" pitchFamily="34" charset="-120"/>
              </a:rPr>
              <a:t>공정 Step</a:t>
            </a:r>
            <a:endParaRPr lang="en-US" sz="1010" dirty="0"/>
          </a:p>
        </p:txBody>
      </p:sp>
      <p:sp>
        <p:nvSpPr>
          <p:cNvPr id="43" name="Shape 41"/>
          <p:cNvSpPr/>
          <p:nvPr/>
        </p:nvSpPr>
        <p:spPr>
          <a:xfrm>
            <a:off x="10214187" y="2102544"/>
            <a:ext cx="1144016" cy="362272"/>
          </a:xfrm>
          <a:prstGeom prst="roundRect">
            <a:avLst>
              <a:gd name="adj" fmla="val 50000"/>
            </a:avLst>
          </a:prstGeom>
          <a:solidFill>
            <a:srgbClr val="EDEDED"/>
          </a:solidFill>
          <a:ln w="15254">
            <a:solidFill>
              <a:srgbClr val="A6A6A6"/>
            </a:solidFill>
            <a:prstDash val="solid"/>
          </a:ln>
        </p:spPr>
      </p:sp>
      <p:sp>
        <p:nvSpPr>
          <p:cNvPr id="44" name="Text 42"/>
          <p:cNvSpPr txBox="1"/>
          <p:nvPr/>
        </p:nvSpPr>
        <p:spPr>
          <a:xfrm>
            <a:off x="10610621" y="2183936"/>
            <a:ext cx="351148" cy="199488"/>
          </a:xfrm>
          <a:prstGeom prst="rect">
            <a:avLst/>
          </a:prstGeom>
          <a:noFill/>
          <a:ln/>
        </p:spPr>
        <p:txBody>
          <a:bodyPr wrap="none" lIns="0" tIns="0" rIns="0" bIns="0" rtlCol="0" anchor="ctr"/>
          <a:lstStyle/>
          <a:p>
            <a:pPr marL="0" indent="0" algn="ctr">
              <a:buNone/>
            </a:pPr>
            <a:r>
              <a:rPr lang="en-US" sz="1010" b="1" dirty="0">
                <a:solidFill>
                  <a:srgbClr val="333333"/>
                </a:solidFill>
                <a:latin typeface="Malgun Gothic" pitchFamily="34" charset="0"/>
                <a:ea typeface="Malgun Gothic" pitchFamily="34" charset="-122"/>
                <a:cs typeface="Malgun Gothic" pitchFamily="34" charset="-120"/>
              </a:rPr>
              <a:t>설비</a:t>
            </a:r>
            <a:endParaRPr lang="en-US" sz="1010" dirty="0"/>
          </a:p>
        </p:txBody>
      </p:sp>
      <p:sp>
        <p:nvSpPr>
          <p:cNvPr id="45" name="Shape 43"/>
          <p:cNvSpPr/>
          <p:nvPr/>
        </p:nvSpPr>
        <p:spPr>
          <a:xfrm>
            <a:off x="10214187" y="3151226"/>
            <a:ext cx="1144016" cy="362272"/>
          </a:xfrm>
          <a:prstGeom prst="roundRect">
            <a:avLst>
              <a:gd name="adj" fmla="val 50000"/>
            </a:avLst>
          </a:prstGeom>
          <a:solidFill>
            <a:srgbClr val="EDEDED"/>
          </a:solidFill>
          <a:ln w="15254">
            <a:solidFill>
              <a:srgbClr val="A6A6A6"/>
            </a:solidFill>
            <a:prstDash val="solid"/>
          </a:ln>
        </p:spPr>
      </p:sp>
      <p:sp>
        <p:nvSpPr>
          <p:cNvPr id="46" name="Text 44"/>
          <p:cNvSpPr txBox="1"/>
          <p:nvPr/>
        </p:nvSpPr>
        <p:spPr>
          <a:xfrm>
            <a:off x="10365984" y="3232618"/>
            <a:ext cx="840421" cy="199488"/>
          </a:xfrm>
          <a:prstGeom prst="rect">
            <a:avLst/>
          </a:prstGeom>
          <a:noFill/>
          <a:ln/>
        </p:spPr>
        <p:txBody>
          <a:bodyPr wrap="none" lIns="0" tIns="0" rIns="0" bIns="0" rtlCol="0" anchor="ctr"/>
          <a:lstStyle/>
          <a:p>
            <a:pPr marL="0" indent="0" algn="ctr">
              <a:buNone/>
            </a:pPr>
            <a:r>
              <a:rPr lang="en-US" sz="1010" b="1" dirty="0">
                <a:solidFill>
                  <a:srgbClr val="333333"/>
                </a:solidFill>
                <a:latin typeface="Malgun Gothic" pitchFamily="34" charset="0"/>
                <a:ea typeface="Malgun Gothic" pitchFamily="34" charset="-122"/>
                <a:cs typeface="Malgun Gothic" pitchFamily="34" charset="-120"/>
              </a:rPr>
              <a:t>설비 이벤트</a:t>
            </a:r>
            <a:endParaRPr lang="en-US" sz="1010" dirty="0"/>
          </a:p>
        </p:txBody>
      </p:sp>
      <p:sp>
        <p:nvSpPr>
          <p:cNvPr id="47" name="Shape 45"/>
          <p:cNvSpPr/>
          <p:nvPr/>
        </p:nvSpPr>
        <p:spPr>
          <a:xfrm>
            <a:off x="7640151" y="2283680"/>
            <a:ext cx="629209" cy="0"/>
          </a:xfrm>
          <a:prstGeom prst="line">
            <a:avLst/>
          </a:prstGeom>
          <a:noFill/>
          <a:ln w="19830">
            <a:solidFill>
              <a:srgbClr val="4D4D4D"/>
            </a:solidFill>
            <a:prstDash val="solid"/>
            <a:tailEnd type="triangle"/>
          </a:ln>
        </p:spPr>
      </p:sp>
      <p:sp>
        <p:nvSpPr>
          <p:cNvPr id="48" name="Text 46"/>
          <p:cNvSpPr txBox="1"/>
          <p:nvPr/>
        </p:nvSpPr>
        <p:spPr>
          <a:xfrm>
            <a:off x="7804921" y="2107073"/>
            <a:ext cx="299667" cy="162546"/>
          </a:xfrm>
          <a:prstGeom prst="rect">
            <a:avLst/>
          </a:prstGeom>
          <a:noFill/>
          <a:ln/>
        </p:spPr>
        <p:txBody>
          <a:bodyPr wrap="none" lIns="0" tIns="0" rIns="0" bIns="0" rtlCol="0" anchor="ctr"/>
          <a:lstStyle/>
          <a:p>
            <a:pPr marL="0" indent="0" algn="ctr">
              <a:buNone/>
            </a:pPr>
            <a:r>
              <a:rPr lang="en-US" sz="830" dirty="0">
                <a:solidFill>
                  <a:srgbClr val="6B6B6B"/>
                </a:solidFill>
                <a:latin typeface="Malgun Gothic" pitchFamily="34" charset="0"/>
                <a:ea typeface="Malgun Gothic" pitchFamily="34" charset="-122"/>
                <a:cs typeface="Malgun Gothic" pitchFamily="34" charset="-120"/>
              </a:rPr>
              <a:t>소속</a:t>
            </a:r>
            <a:endParaRPr lang="en-US" sz="830" dirty="0"/>
          </a:p>
        </p:txBody>
      </p:sp>
      <p:sp>
        <p:nvSpPr>
          <p:cNvPr id="49" name="Shape 47"/>
          <p:cNvSpPr/>
          <p:nvPr/>
        </p:nvSpPr>
        <p:spPr>
          <a:xfrm flipV="1">
            <a:off x="7115810" y="2502950"/>
            <a:ext cx="0" cy="648276"/>
          </a:xfrm>
          <a:prstGeom prst="line">
            <a:avLst/>
          </a:prstGeom>
          <a:noFill/>
          <a:ln w="19830">
            <a:solidFill>
              <a:srgbClr val="4D4D4D"/>
            </a:solidFill>
            <a:prstDash val="solid"/>
            <a:tailEnd type="triangle"/>
          </a:ln>
        </p:spPr>
      </p:sp>
      <p:sp>
        <p:nvSpPr>
          <p:cNvPr id="50" name="Text 48"/>
          <p:cNvSpPr txBox="1"/>
          <p:nvPr/>
        </p:nvSpPr>
        <p:spPr>
          <a:xfrm>
            <a:off x="7201611" y="2745815"/>
            <a:ext cx="299667" cy="162546"/>
          </a:xfrm>
          <a:prstGeom prst="rect">
            <a:avLst/>
          </a:prstGeom>
          <a:noFill/>
          <a:ln/>
        </p:spPr>
        <p:txBody>
          <a:bodyPr wrap="none" lIns="0" tIns="0" rIns="0" bIns="0" rtlCol="0" anchor="ctr"/>
          <a:lstStyle/>
          <a:p>
            <a:pPr marL="0" indent="0" algn="l">
              <a:buNone/>
            </a:pPr>
            <a:r>
              <a:rPr lang="en-US" sz="830" dirty="0">
                <a:solidFill>
                  <a:srgbClr val="6B6B6B"/>
                </a:solidFill>
                <a:latin typeface="Malgun Gothic" pitchFamily="34" charset="0"/>
                <a:ea typeface="Malgun Gothic" pitchFamily="34" charset="-122"/>
                <a:cs typeface="Malgun Gothic" pitchFamily="34" charset="-120"/>
              </a:rPr>
              <a:t>대상</a:t>
            </a:r>
            <a:endParaRPr lang="en-US" sz="830" dirty="0"/>
          </a:p>
        </p:txBody>
      </p:sp>
      <p:sp>
        <p:nvSpPr>
          <p:cNvPr id="51" name="Shape 49"/>
          <p:cNvSpPr/>
          <p:nvPr/>
        </p:nvSpPr>
        <p:spPr>
          <a:xfrm>
            <a:off x="8831834" y="2464816"/>
            <a:ext cx="0" cy="648276"/>
          </a:xfrm>
          <a:prstGeom prst="line">
            <a:avLst/>
          </a:prstGeom>
          <a:noFill/>
          <a:ln w="19830">
            <a:solidFill>
              <a:srgbClr val="4D4D4D"/>
            </a:solidFill>
            <a:prstDash val="solid"/>
            <a:tailEnd type="triangle"/>
          </a:ln>
        </p:spPr>
      </p:sp>
      <p:sp>
        <p:nvSpPr>
          <p:cNvPr id="52" name="Text 50"/>
          <p:cNvSpPr txBox="1"/>
          <p:nvPr/>
        </p:nvSpPr>
        <p:spPr>
          <a:xfrm>
            <a:off x="8917635" y="2707681"/>
            <a:ext cx="299667" cy="162546"/>
          </a:xfrm>
          <a:prstGeom prst="rect">
            <a:avLst/>
          </a:prstGeom>
          <a:noFill/>
          <a:ln/>
        </p:spPr>
        <p:txBody>
          <a:bodyPr wrap="none" lIns="0" tIns="0" rIns="0" bIns="0" rtlCol="0" anchor="ctr"/>
          <a:lstStyle/>
          <a:p>
            <a:pPr marL="0" indent="0" algn="l">
              <a:buNone/>
            </a:pPr>
            <a:r>
              <a:rPr lang="en-US" sz="830" dirty="0">
                <a:solidFill>
                  <a:srgbClr val="6B6B6B"/>
                </a:solidFill>
                <a:latin typeface="Malgun Gothic" pitchFamily="34" charset="0"/>
                <a:ea typeface="Malgun Gothic" pitchFamily="34" charset="-122"/>
                <a:cs typeface="Malgun Gothic" pitchFamily="34" charset="-120"/>
              </a:rPr>
              <a:t>진행</a:t>
            </a:r>
            <a:endParaRPr lang="en-US" sz="830" dirty="0"/>
          </a:p>
        </p:txBody>
      </p:sp>
      <p:sp>
        <p:nvSpPr>
          <p:cNvPr id="53" name="Shape 51"/>
          <p:cNvSpPr/>
          <p:nvPr/>
        </p:nvSpPr>
        <p:spPr>
          <a:xfrm flipV="1">
            <a:off x="9356175" y="2369481"/>
            <a:ext cx="838945" cy="962880"/>
          </a:xfrm>
          <a:prstGeom prst="line">
            <a:avLst/>
          </a:prstGeom>
          <a:noFill/>
          <a:ln w="19830">
            <a:solidFill>
              <a:srgbClr val="4D4D4D"/>
            </a:solidFill>
            <a:prstDash val="solid"/>
            <a:tailEnd type="triangle"/>
          </a:ln>
        </p:spPr>
      </p:sp>
      <p:sp>
        <p:nvSpPr>
          <p:cNvPr id="54" name="Text 52"/>
          <p:cNvSpPr txBox="1"/>
          <p:nvPr/>
        </p:nvSpPr>
        <p:spPr>
          <a:xfrm>
            <a:off x="9947250" y="2879283"/>
            <a:ext cx="299667" cy="162546"/>
          </a:xfrm>
          <a:prstGeom prst="rect">
            <a:avLst/>
          </a:prstGeom>
          <a:noFill/>
          <a:ln/>
        </p:spPr>
        <p:txBody>
          <a:bodyPr wrap="none" lIns="0" tIns="0" rIns="0" bIns="0" rtlCol="0" anchor="ctr"/>
          <a:lstStyle/>
          <a:p>
            <a:pPr marL="0" indent="0" algn="l">
              <a:buNone/>
            </a:pPr>
            <a:r>
              <a:rPr lang="en-US" sz="830" dirty="0">
                <a:solidFill>
                  <a:srgbClr val="6B6B6B"/>
                </a:solidFill>
                <a:latin typeface="Malgun Gothic" pitchFamily="34" charset="0"/>
                <a:ea typeface="Malgun Gothic" pitchFamily="34" charset="-122"/>
                <a:cs typeface="Malgun Gothic" pitchFamily="34" charset="-120"/>
              </a:rPr>
              <a:t>수행</a:t>
            </a:r>
            <a:endParaRPr lang="en-US" sz="830" dirty="0"/>
          </a:p>
        </p:txBody>
      </p:sp>
      <p:sp>
        <p:nvSpPr>
          <p:cNvPr id="55" name="Shape 53"/>
          <p:cNvSpPr/>
          <p:nvPr/>
        </p:nvSpPr>
        <p:spPr>
          <a:xfrm>
            <a:off x="10786195" y="2464816"/>
            <a:ext cx="0" cy="648276"/>
          </a:xfrm>
          <a:prstGeom prst="line">
            <a:avLst/>
          </a:prstGeom>
          <a:noFill/>
          <a:ln w="19830">
            <a:solidFill>
              <a:srgbClr val="4D4D4D"/>
            </a:solidFill>
            <a:prstDash val="solid"/>
            <a:tailEnd type="triangle"/>
          </a:ln>
        </p:spPr>
      </p:sp>
      <p:sp>
        <p:nvSpPr>
          <p:cNvPr id="56" name="Text 54"/>
          <p:cNvSpPr txBox="1"/>
          <p:nvPr/>
        </p:nvSpPr>
        <p:spPr>
          <a:xfrm>
            <a:off x="10871996" y="2707681"/>
            <a:ext cx="299667" cy="162546"/>
          </a:xfrm>
          <a:prstGeom prst="rect">
            <a:avLst/>
          </a:prstGeom>
          <a:noFill/>
          <a:ln/>
        </p:spPr>
        <p:txBody>
          <a:bodyPr wrap="none" lIns="0" tIns="0" rIns="0" bIns="0" rtlCol="0" anchor="ctr"/>
          <a:lstStyle/>
          <a:p>
            <a:pPr marL="0" indent="0" algn="l">
              <a:buNone/>
            </a:pPr>
            <a:r>
              <a:rPr lang="en-US" sz="830" dirty="0">
                <a:solidFill>
                  <a:srgbClr val="6B6B6B"/>
                </a:solidFill>
                <a:latin typeface="Malgun Gothic" pitchFamily="34" charset="0"/>
                <a:ea typeface="Malgun Gothic" pitchFamily="34" charset="-122"/>
                <a:cs typeface="Malgun Gothic" pitchFamily="34" charset="-120"/>
              </a:rPr>
              <a:t>발생</a:t>
            </a:r>
            <a:endParaRPr lang="en-US" sz="830" dirty="0"/>
          </a:p>
        </p:txBody>
      </p:sp>
      <p:sp>
        <p:nvSpPr>
          <p:cNvPr id="57" name="Text 55"/>
          <p:cNvSpPr txBox="1"/>
          <p:nvPr/>
        </p:nvSpPr>
        <p:spPr>
          <a:xfrm>
            <a:off x="7532733" y="3622894"/>
            <a:ext cx="2884205" cy="162546"/>
          </a:xfrm>
          <a:prstGeom prst="rect">
            <a:avLst/>
          </a:prstGeom>
          <a:noFill/>
          <a:ln/>
        </p:spPr>
        <p:txBody>
          <a:bodyPr wrap="none" lIns="0" tIns="0" rIns="0" bIns="0" rtlCol="0" anchor="ctr"/>
          <a:lstStyle/>
          <a:p>
            <a:pPr marL="0" indent="0" algn="ctr">
              <a:buNone/>
            </a:pPr>
            <a:r>
              <a:rPr lang="en-US" sz="830" dirty="0">
                <a:solidFill>
                  <a:srgbClr val="6B6B6B"/>
                </a:solidFill>
                <a:latin typeface="Malgun Gothic" pitchFamily="34" charset="0"/>
                <a:ea typeface="Malgun Gothic" pitchFamily="34" charset="-122"/>
                <a:cs typeface="Malgun Gothic" pitchFamily="34" charset="-120"/>
              </a:rPr>
              <a:t>클래스 구성은 예시이며 Lot 추적 영역 조사 후 확정</a:t>
            </a:r>
            <a:endParaRPr lang="en-US" sz="830" dirty="0"/>
          </a:p>
        </p:txBody>
      </p:sp>
      <p:sp>
        <p:nvSpPr>
          <p:cNvPr id="58" name="Text 56"/>
          <p:cNvSpPr txBox="1"/>
          <p:nvPr/>
        </p:nvSpPr>
        <p:spPr>
          <a:xfrm>
            <a:off x="6419088" y="3982381"/>
            <a:ext cx="5111496" cy="2194560"/>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200" b="1" dirty="0">
                <a:solidFill>
                  <a:srgbClr val="1A1A1A"/>
                </a:solidFill>
                <a:latin typeface="Malgun Gothic" pitchFamily="34" charset="0"/>
                <a:ea typeface="Malgun Gothic" pitchFamily="34" charset="-122"/>
                <a:cs typeface="Malgun Gothic" pitchFamily="34" charset="-120"/>
              </a:rPr>
              <a:t>동의어  </a:t>
            </a:r>
            <a:r>
              <a:rPr lang="en-US" sz="1200" dirty="0">
                <a:solidFill>
                  <a:srgbClr val="5F5F5F"/>
                </a:solidFill>
                <a:latin typeface="Malgun Gothic" pitchFamily="34" charset="0"/>
                <a:ea typeface="Malgun Gothic" pitchFamily="34" charset="-122"/>
                <a:cs typeface="Malgun Gothic" pitchFamily="34" charset="-120"/>
              </a:rPr>
              <a:t>설비 = 장비 = EQP = Tool, 설비 이벤트 ⊃ PM·Down</a:t>
            </a:r>
            <a:endParaRPr lang="en-US" sz="1200" dirty="0"/>
          </a:p>
          <a:p>
            <a:pPr marL="152400" indent="-152400">
              <a:lnSpc>
                <a:spcPct val="110000"/>
              </a:lnSpc>
              <a:spcAft>
                <a:spcPts val="400"/>
              </a:spcAft>
              <a:buSzPct val="100000"/>
              <a:buChar char="•"/>
            </a:pPr>
            <a:r>
              <a:rPr lang="en-US" sz="1200" b="1" dirty="0">
                <a:solidFill>
                  <a:srgbClr val="1A1A1A"/>
                </a:solidFill>
                <a:latin typeface="Malgun Gothic" pitchFamily="34" charset="0"/>
                <a:ea typeface="Malgun Gothic" pitchFamily="34" charset="-122"/>
                <a:cs typeface="Malgun Gothic" pitchFamily="34" charset="-120"/>
              </a:rPr>
              <a:t>매핑 후보 자동 추출  </a:t>
            </a:r>
            <a:r>
              <a:rPr lang="en-US" sz="1200" dirty="0">
                <a:solidFill>
                  <a:srgbClr val="5F5F5F"/>
                </a:solidFill>
                <a:latin typeface="Malgun Gothic" pitchFamily="34" charset="0"/>
                <a:ea typeface="Malgun Gothic" pitchFamily="34" charset="-122"/>
                <a:cs typeface="Malgun Gothic" pitchFamily="34" charset="-120"/>
              </a:rPr>
              <a:t>테이블 정의서·컬럼 주석·쿼리 로그로 초안을 만들고 현업이 검수</a:t>
            </a:r>
            <a:endParaRPr lang="en-US" sz="1200" dirty="0"/>
          </a:p>
          <a:p>
            <a:pPr marL="152400" indent="-152400">
              <a:lnSpc>
                <a:spcPct val="110000"/>
              </a:lnSpc>
              <a:spcAft>
                <a:spcPts val="400"/>
              </a:spcAft>
              <a:buSzPct val="100000"/>
              <a:buChar char="•"/>
            </a:pPr>
            <a:r>
              <a:rPr lang="en-US" sz="1200" b="1" dirty="0">
                <a:solidFill>
                  <a:srgbClr val="1A1A1A"/>
                </a:solidFill>
                <a:latin typeface="Malgun Gothic" pitchFamily="34" charset="0"/>
                <a:ea typeface="Malgun Gothic" pitchFamily="34" charset="-122"/>
                <a:cs typeface="Malgun Gothic" pitchFamily="34" charset="-120"/>
              </a:rPr>
              <a:t>관련도 순위  </a:t>
            </a:r>
            <a:r>
              <a:rPr lang="en-US" sz="1200" dirty="0">
                <a:solidFill>
                  <a:srgbClr val="5F5F5F"/>
                </a:solidFill>
                <a:latin typeface="Malgun Gothic" pitchFamily="34" charset="0"/>
                <a:ea typeface="Malgun Gothic" pitchFamily="34" charset="-122"/>
                <a:cs typeface="Malgun Gothic" pitchFamily="34" charset="-120"/>
              </a:rPr>
              <a:t>쿼리 사용 빈도로 같은 개념의 테이블 중 우선순위 결정</a:t>
            </a:r>
            <a:endParaRPr lang="en-US" sz="1200" dirty="0"/>
          </a:p>
          <a:p>
            <a:pPr marL="152400" indent="-152400">
              <a:lnSpc>
                <a:spcPct val="110000"/>
              </a:lnSpc>
              <a:spcAft>
                <a:spcPts val="400"/>
              </a:spcAft>
              <a:buSzPct val="100000"/>
              <a:buChar char="•"/>
            </a:pPr>
            <a:r>
              <a:rPr lang="en-US" sz="1200" b="1" dirty="0">
                <a:solidFill>
                  <a:srgbClr val="1A1A1A"/>
                </a:solidFill>
                <a:latin typeface="Malgun Gothic" pitchFamily="34" charset="0"/>
                <a:ea typeface="Malgun Gothic" pitchFamily="34" charset="-122"/>
                <a:cs typeface="Malgun Gothic" pitchFamily="34" charset="-120"/>
              </a:rPr>
              <a:t>few-shot 확보  </a:t>
            </a:r>
            <a:r>
              <a:rPr lang="en-US" sz="1200" dirty="0">
                <a:solidFill>
                  <a:srgbClr val="5F5F5F"/>
                </a:solidFill>
                <a:latin typeface="Malgun Gothic" pitchFamily="34" charset="0"/>
                <a:ea typeface="Malgun Gothic" pitchFamily="34" charset="-122"/>
                <a:cs typeface="Malgun Gothic" pitchFamily="34" charset="-120"/>
              </a:rPr>
              <a:t>골든 쿼리가 부족한 초기에 온톨로지로 질문-SQL 쌍 합성</a:t>
            </a:r>
            <a:endParaRPr lang="en-US" sz="1200" dirty="0"/>
          </a:p>
        </p:txBody>
      </p:sp>
      <p:sp>
        <p:nvSpPr>
          <p:cNvPr id="59" name="Slide Number Placeholder 0"/>
          <p:cNvSpPr>
            <a:spLocks noGrp="1"/>
          </p:cNvSpPr>
          <p:nvPr>
            <p:ph type="sldNum" sz="quarter" idx="4294967295"/>
          </p:nvPr>
        </p:nvSpPr>
        <p:spPr>
          <a:xfrm>
            <a:off x="11183112" y="6419088"/>
            <a:ext cx="54864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6B6B6B"/>
                </a:solidFill>
                <a:latin typeface="Malgun Gothic"/>
                <a:ea typeface="Malgun Gothic"/>
                <a:cs typeface="Malgun Gothic"/>
              </a:defRPr>
            </a:lvl1pPr>
          </a:lstStyle>
          <a:p>
            <a:pPr algn="r"/>
            <a:fld id="{F7021451-1387-4CA6-816F-3879F97B5CBC}" type="slidenum">
              <a:rPr lang="en-US" b="0"/>
              <a:t>7</a:t>
            </a:fld>
            <a:endParaRPr lang="en-US"/>
          </a:p>
        </p:txBody>
      </p:sp>
      <p:sp>
        <p:nvSpPr>
          <p:cNvPr id="62" name="Text 0"/>
          <p:cNvSpPr>
            <a:spLocks noGrp="1"/>
          </p:cNvSpPr>
          <p:nvPr>
            <p:ph type="body" idx="102" hasCustomPrompt="1"/>
          </p:nvPr>
        </p:nvSpPr>
        <p:spPr>
          <a:xfrm>
            <a:off x="457200" y="6419088"/>
            <a:ext cx="10241280" cy="256032"/>
          </a:xfrm>
          <a:prstGeom prst="rect">
            <a:avLst/>
          </a:prstGeom>
          <a:noFill/>
          <a:ln/>
        </p:spPr>
        <p:txBody>
          <a:bodyPr wrap="square" lIns="0" tIns="0" rIns="0" bIns="0" rtlCol="0" anchor="ctr"/>
          <a:lstStyle/>
          <a:p>
            <a:r>
              <a:rPr lang="en-US"/>
              <a:t>A Text-to-SQL Strategy Based on Large Language Models and Knowledge Graphs for Real-World Databases (DKE 2026)</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11274552" cy="292608"/>
          </a:xfrm>
          <a:prstGeom prst="rect">
            <a:avLst/>
          </a:prstGeom>
          <a:noFill/>
          <a:ln/>
        </p:spPr>
        <p:txBody>
          <a:bodyPr wrap="square" lIns="0" tIns="0" rIns="0" bIns="0" rtlCol="0" anchor="ctr"/>
          <a:lstStyle/>
          <a:p>
            <a:pPr marL="0" indent="0">
              <a:buNone/>
            </a:pPr>
            <a:r>
              <a:rPr lang="en-US" sz="1100" b="1" smtClean="0">
                <a:solidFill>
                  <a:srgbClr val="6B6B6B"/>
                </a:solidFill>
                <a:latin typeface="Malgun Gothic" pitchFamily="34" charset="0"/>
                <a:ea typeface="Malgun Gothic" pitchFamily="34" charset="-122"/>
                <a:cs typeface="Malgun Gothic" pitchFamily="34" charset="-120"/>
              </a:rPr>
              <a:t>단계별 </a:t>
            </a:r>
            <a:r>
              <a:rPr lang="en-US" sz="1100" b="1" dirty="0">
                <a:solidFill>
                  <a:srgbClr val="6B6B6B"/>
                </a:solidFill>
                <a:latin typeface="Malgun Gothic" pitchFamily="34" charset="0"/>
                <a:ea typeface="Malgun Gothic" pitchFamily="34" charset="-122"/>
                <a:cs typeface="Malgun Gothic" pitchFamily="34" charset="-120"/>
              </a:rPr>
              <a:t>적용 3/4 · 테이블·컬럼 선정</a:t>
            </a:r>
            <a:endParaRPr lang="en-US" sz="1100" dirty="0"/>
          </a:p>
        </p:txBody>
      </p:sp>
      <p:sp>
        <p:nvSpPr>
          <p:cNvPr id="3" name="Text 0"/>
          <p:cNvSpPr>
            <a:spLocks noGrp="1"/>
          </p:cNvSpPr>
          <p:nvPr>
            <p:ph type="title" idx="101" hasCustomPrompt="1"/>
          </p:nvPr>
        </p:nvSpPr>
        <p:spPr>
          <a:xfrm>
            <a:off x="457200" y="512064"/>
            <a:ext cx="11274552" cy="768096"/>
          </a:xfrm>
          <a:prstGeom prst="rect">
            <a:avLst/>
          </a:prstGeom>
          <a:noFill/>
          <a:ln/>
        </p:spPr>
        <p:txBody>
          <a:bodyPr wrap="square" lIns="0" tIns="0" rIns="0" bIns="0" rtlCol="0" anchor="ctr"/>
          <a:lstStyle/>
          <a:p>
            <a:pPr marL="0" indent="0" algn="l">
              <a:buNone/>
            </a:pPr>
            <a:r>
              <a:rPr lang="en-US" sz="2100" b="1" dirty="0">
                <a:solidFill>
                  <a:schemeClr val="tx1"/>
                </a:solidFill>
                <a:latin typeface="Malgun Gothic" pitchFamily="34" charset="0"/>
                <a:ea typeface="Malgun Gothic" pitchFamily="34" charset="-122"/>
                <a:cs typeface="Malgun Gothic" pitchFamily="34" charset="-120"/>
              </a:rPr>
              <a:t>고른 클래스를 Steiner tree로 이어 Join이 담긴 View를 만들고, LLM은 그 위에서만 SQL을 쓴다</a:t>
            </a:r>
            <a:endParaRPr lang="en-US" sz="2100" dirty="0"/>
          </a:p>
        </p:txBody>
      </p:sp>
      <p:sp>
        <p:nvSpPr>
          <p:cNvPr id="5" name="Shape 3"/>
          <p:cNvSpPr/>
          <p:nvPr/>
        </p:nvSpPr>
        <p:spPr>
          <a:xfrm>
            <a:off x="457200" y="1325880"/>
            <a:ext cx="5513832" cy="4937760"/>
          </a:xfrm>
          <a:prstGeom prst="roundRect">
            <a:avLst>
              <a:gd name="adj" fmla="val 1481"/>
            </a:avLst>
          </a:prstGeom>
          <a:solidFill>
            <a:srgbClr val="FFFFFF"/>
          </a:solidFill>
          <a:ln w="9525">
            <a:solidFill>
              <a:srgbClr val="D0D0D0"/>
            </a:solidFill>
            <a:prstDash val="solid"/>
          </a:ln>
        </p:spPr>
      </p:sp>
      <p:sp>
        <p:nvSpPr>
          <p:cNvPr id="6" name="Shape 4"/>
          <p:cNvSpPr/>
          <p:nvPr/>
        </p:nvSpPr>
        <p:spPr>
          <a:xfrm>
            <a:off x="640080" y="1481328"/>
            <a:ext cx="749808" cy="246888"/>
          </a:xfrm>
          <a:prstGeom prst="roundRect">
            <a:avLst>
              <a:gd name="adj" fmla="val 14815"/>
            </a:avLst>
          </a:prstGeom>
          <a:solidFill>
            <a:srgbClr val="8C8C8C"/>
          </a:solidFill>
          <a:ln/>
        </p:spPr>
      </p:sp>
      <p:sp>
        <p:nvSpPr>
          <p:cNvPr id="7" name="Text 5"/>
          <p:cNvSpPr txBox="1"/>
          <p:nvPr/>
        </p:nvSpPr>
        <p:spPr>
          <a:xfrm>
            <a:off x="640080" y="1481328"/>
            <a:ext cx="749808" cy="246888"/>
          </a:xfrm>
          <a:prstGeom prst="rect">
            <a:avLst/>
          </a:prstGeom>
          <a:noFill/>
          <a:ln/>
        </p:spPr>
        <p:txBody>
          <a:bodyPr wrap="square" lIns="0" tIns="0" rIns="0" bIns="0" rtlCol="0" anchor="ctr"/>
          <a:lstStyle/>
          <a:p>
            <a:pPr marL="0" indent="0" algn="ctr">
              <a:buNone/>
            </a:pPr>
            <a:r>
              <a:rPr lang="en-US" sz="950" b="1" dirty="0">
                <a:solidFill>
                  <a:srgbClr val="FFFFFF"/>
                </a:solidFill>
                <a:latin typeface="Malgun Gothic" pitchFamily="34" charset="0"/>
                <a:ea typeface="Malgun Gothic" pitchFamily="34" charset="-122"/>
                <a:cs typeface="Malgun Gothic" pitchFamily="34" charset="-120"/>
              </a:rPr>
              <a:t>논문</a:t>
            </a:r>
            <a:endParaRPr lang="en-US" sz="950" dirty="0"/>
          </a:p>
        </p:txBody>
      </p:sp>
      <p:sp>
        <p:nvSpPr>
          <p:cNvPr id="8" name="Text 6"/>
          <p:cNvSpPr txBox="1"/>
          <p:nvPr/>
        </p:nvSpPr>
        <p:spPr>
          <a:xfrm>
            <a:off x="1481328" y="1444752"/>
            <a:ext cx="4325112" cy="329184"/>
          </a:xfrm>
          <a:prstGeom prst="rect">
            <a:avLst/>
          </a:prstGeom>
          <a:noFill/>
          <a:ln/>
        </p:spPr>
        <p:txBody>
          <a:bodyPr wrap="square" lIns="0" tIns="0" rIns="0" bIns="0" rtlCol="0" anchor="ctr"/>
          <a:lstStyle/>
          <a:p>
            <a:pPr marL="0" indent="0">
              <a:buNone/>
            </a:pPr>
            <a:r>
              <a:rPr lang="en-US" sz="1350" b="1" dirty="0">
                <a:solidFill>
                  <a:srgbClr val="1A1A1A"/>
                </a:solidFill>
                <a:latin typeface="Malgun Gothic" pitchFamily="34" charset="0"/>
                <a:ea typeface="Malgun Gothic" pitchFamily="34" charset="-122"/>
                <a:cs typeface="Malgun Gothic" pitchFamily="34" charset="-120"/>
              </a:rPr>
              <a:t>Steiner tree View 합성</a:t>
            </a:r>
            <a:endParaRPr lang="en-US" sz="1350" dirty="0"/>
          </a:p>
        </p:txBody>
      </p:sp>
      <p:sp>
        <p:nvSpPr>
          <p:cNvPr id="9" name="Shape 7"/>
          <p:cNvSpPr/>
          <p:nvPr/>
        </p:nvSpPr>
        <p:spPr>
          <a:xfrm>
            <a:off x="1402757" y="2274147"/>
            <a:ext cx="953347" cy="0"/>
          </a:xfrm>
          <a:prstGeom prst="line">
            <a:avLst/>
          </a:prstGeom>
          <a:noFill/>
          <a:ln w="15254">
            <a:solidFill>
              <a:srgbClr val="D0D0D0"/>
            </a:solidFill>
            <a:prstDash val="dash"/>
          </a:ln>
        </p:spPr>
      </p:sp>
      <p:sp>
        <p:nvSpPr>
          <p:cNvPr id="10" name="Shape 8"/>
          <p:cNvSpPr/>
          <p:nvPr/>
        </p:nvSpPr>
        <p:spPr>
          <a:xfrm>
            <a:off x="1307423" y="2445749"/>
            <a:ext cx="190669" cy="514807"/>
          </a:xfrm>
          <a:prstGeom prst="line">
            <a:avLst/>
          </a:prstGeom>
          <a:noFill/>
          <a:ln w="15254">
            <a:solidFill>
              <a:srgbClr val="D0D0D0"/>
            </a:solidFill>
            <a:prstDash val="dash"/>
          </a:ln>
        </p:spPr>
      </p:sp>
      <p:sp>
        <p:nvSpPr>
          <p:cNvPr id="11" name="Shape 9"/>
          <p:cNvSpPr/>
          <p:nvPr/>
        </p:nvSpPr>
        <p:spPr>
          <a:xfrm>
            <a:off x="3786124" y="2464816"/>
            <a:ext cx="0" cy="495740"/>
          </a:xfrm>
          <a:prstGeom prst="line">
            <a:avLst/>
          </a:prstGeom>
          <a:noFill/>
          <a:ln w="15254">
            <a:solidFill>
              <a:srgbClr val="D0D0D0"/>
            </a:solidFill>
            <a:prstDash val="dash"/>
          </a:ln>
        </p:spPr>
      </p:sp>
      <p:sp>
        <p:nvSpPr>
          <p:cNvPr id="12" name="Shape 10"/>
          <p:cNvSpPr/>
          <p:nvPr/>
        </p:nvSpPr>
        <p:spPr>
          <a:xfrm>
            <a:off x="2928112" y="2274147"/>
            <a:ext cx="667343" cy="0"/>
          </a:xfrm>
          <a:prstGeom prst="line">
            <a:avLst/>
          </a:prstGeom>
          <a:noFill/>
          <a:ln w="15254">
            <a:solidFill>
              <a:srgbClr val="D0D0D0"/>
            </a:solidFill>
            <a:prstDash val="dash"/>
          </a:ln>
        </p:spPr>
      </p:sp>
      <p:sp>
        <p:nvSpPr>
          <p:cNvPr id="13" name="Shape 11"/>
          <p:cNvSpPr/>
          <p:nvPr/>
        </p:nvSpPr>
        <p:spPr>
          <a:xfrm>
            <a:off x="1784096" y="3132159"/>
            <a:ext cx="572008" cy="0"/>
          </a:xfrm>
          <a:prstGeom prst="line">
            <a:avLst/>
          </a:prstGeom>
          <a:noFill/>
          <a:ln w="38100">
            <a:solidFill>
              <a:srgbClr val="D9480F"/>
            </a:solidFill>
            <a:prstDash val="solid"/>
          </a:ln>
        </p:spPr>
      </p:sp>
      <p:sp>
        <p:nvSpPr>
          <p:cNvPr id="14" name="Shape 12"/>
          <p:cNvSpPr/>
          <p:nvPr/>
        </p:nvSpPr>
        <p:spPr>
          <a:xfrm>
            <a:off x="2928112" y="3132159"/>
            <a:ext cx="572008" cy="0"/>
          </a:xfrm>
          <a:prstGeom prst="line">
            <a:avLst/>
          </a:prstGeom>
          <a:noFill/>
          <a:ln w="38100">
            <a:solidFill>
              <a:srgbClr val="D9480F"/>
            </a:solidFill>
            <a:prstDash val="solid"/>
          </a:ln>
        </p:spPr>
      </p:sp>
      <p:sp>
        <p:nvSpPr>
          <p:cNvPr id="15" name="Shape 13"/>
          <p:cNvSpPr/>
          <p:nvPr/>
        </p:nvSpPr>
        <p:spPr>
          <a:xfrm flipV="1">
            <a:off x="2642108" y="2445749"/>
            <a:ext cx="0" cy="514807"/>
          </a:xfrm>
          <a:prstGeom prst="line">
            <a:avLst/>
          </a:prstGeom>
          <a:noFill/>
          <a:ln w="38100">
            <a:solidFill>
              <a:srgbClr val="D9480F"/>
            </a:solidFill>
            <a:prstDash val="solid"/>
          </a:ln>
        </p:spPr>
      </p:sp>
      <p:sp>
        <p:nvSpPr>
          <p:cNvPr id="16" name="Shape 14"/>
          <p:cNvSpPr/>
          <p:nvPr/>
        </p:nvSpPr>
        <p:spPr>
          <a:xfrm>
            <a:off x="4072128" y="3132159"/>
            <a:ext cx="572008" cy="0"/>
          </a:xfrm>
          <a:prstGeom prst="line">
            <a:avLst/>
          </a:prstGeom>
          <a:noFill/>
          <a:ln w="38100">
            <a:solidFill>
              <a:srgbClr val="D9480F"/>
            </a:solidFill>
            <a:prstDash val="solid"/>
          </a:ln>
        </p:spPr>
      </p:sp>
      <p:sp>
        <p:nvSpPr>
          <p:cNvPr id="17" name="Shape 15"/>
          <p:cNvSpPr/>
          <p:nvPr/>
        </p:nvSpPr>
        <p:spPr>
          <a:xfrm>
            <a:off x="1021419" y="2083477"/>
            <a:ext cx="381339" cy="381339"/>
          </a:xfrm>
          <a:prstGeom prst="ellipse">
            <a:avLst/>
          </a:prstGeom>
          <a:solidFill>
            <a:srgbClr val="FFFFFF"/>
          </a:solidFill>
          <a:ln w="15254">
            <a:solidFill>
              <a:srgbClr val="D0D0D0"/>
            </a:solidFill>
            <a:prstDash val="solid"/>
          </a:ln>
        </p:spPr>
      </p:sp>
      <p:sp>
        <p:nvSpPr>
          <p:cNvPr id="18" name="Text 16"/>
          <p:cNvSpPr txBox="1"/>
          <p:nvPr/>
        </p:nvSpPr>
        <p:spPr>
          <a:xfrm>
            <a:off x="1057106" y="2189180"/>
            <a:ext cx="309963" cy="169934"/>
          </a:xfrm>
          <a:prstGeom prst="rect">
            <a:avLst/>
          </a:prstGeom>
          <a:noFill/>
          <a:ln/>
        </p:spPr>
        <p:txBody>
          <a:bodyPr wrap="none" lIns="0" tIns="0" rIns="0" bIns="0" rtlCol="0" anchor="ctr"/>
          <a:lstStyle/>
          <a:p>
            <a:pPr marL="0" indent="0" algn="ctr">
              <a:buNone/>
            </a:pPr>
            <a:r>
              <a:rPr lang="en-US" sz="860" dirty="0">
                <a:solidFill>
                  <a:srgbClr val="6B6B6B"/>
                </a:solidFill>
                <a:latin typeface="Malgun Gothic" pitchFamily="34" charset="0"/>
                <a:ea typeface="Malgun Gothic" pitchFamily="34" charset="-122"/>
                <a:cs typeface="Malgun Gothic" pitchFamily="34" charset="-120"/>
              </a:rPr>
              <a:t>위치</a:t>
            </a:r>
            <a:endParaRPr lang="en-US" sz="860" dirty="0"/>
          </a:p>
        </p:txBody>
      </p:sp>
      <p:sp>
        <p:nvSpPr>
          <p:cNvPr id="19" name="Shape 17"/>
          <p:cNvSpPr/>
          <p:nvPr/>
        </p:nvSpPr>
        <p:spPr>
          <a:xfrm>
            <a:off x="3595455" y="2083477"/>
            <a:ext cx="381339" cy="381339"/>
          </a:xfrm>
          <a:prstGeom prst="ellipse">
            <a:avLst/>
          </a:prstGeom>
          <a:solidFill>
            <a:srgbClr val="FFFFFF"/>
          </a:solidFill>
          <a:ln w="15254">
            <a:solidFill>
              <a:srgbClr val="D0D0D0"/>
            </a:solidFill>
            <a:prstDash val="solid"/>
          </a:ln>
        </p:spPr>
      </p:sp>
      <p:sp>
        <p:nvSpPr>
          <p:cNvPr id="20" name="Text 18"/>
          <p:cNvSpPr txBox="1"/>
          <p:nvPr/>
        </p:nvSpPr>
        <p:spPr>
          <a:xfrm>
            <a:off x="3631142" y="2189180"/>
            <a:ext cx="309963" cy="169934"/>
          </a:xfrm>
          <a:prstGeom prst="rect">
            <a:avLst/>
          </a:prstGeom>
          <a:noFill/>
          <a:ln/>
        </p:spPr>
        <p:txBody>
          <a:bodyPr wrap="none" lIns="0" tIns="0" rIns="0" bIns="0" rtlCol="0" anchor="ctr"/>
          <a:lstStyle/>
          <a:p>
            <a:pPr marL="0" indent="0" algn="ctr">
              <a:buNone/>
            </a:pPr>
            <a:r>
              <a:rPr lang="en-US" sz="860" dirty="0">
                <a:solidFill>
                  <a:srgbClr val="6B6B6B"/>
                </a:solidFill>
                <a:latin typeface="Malgun Gothic" pitchFamily="34" charset="0"/>
                <a:ea typeface="Malgun Gothic" pitchFamily="34" charset="-122"/>
                <a:cs typeface="Malgun Gothic" pitchFamily="34" charset="-120"/>
              </a:rPr>
              <a:t>정비</a:t>
            </a:r>
            <a:endParaRPr lang="en-US" sz="860" dirty="0"/>
          </a:p>
        </p:txBody>
      </p:sp>
      <p:sp>
        <p:nvSpPr>
          <p:cNvPr id="21" name="Shape 19"/>
          <p:cNvSpPr/>
          <p:nvPr/>
        </p:nvSpPr>
        <p:spPr>
          <a:xfrm>
            <a:off x="1345557" y="2960556"/>
            <a:ext cx="438539" cy="343205"/>
          </a:xfrm>
          <a:prstGeom prst="roundRect">
            <a:avLst>
              <a:gd name="adj" fmla="val 50000"/>
            </a:avLst>
          </a:prstGeom>
          <a:solidFill>
            <a:srgbClr val="FFFFFF"/>
          </a:solidFill>
          <a:ln w="27456">
            <a:solidFill>
              <a:srgbClr val="1A1A1A"/>
            </a:solidFill>
            <a:prstDash val="solid"/>
          </a:ln>
        </p:spPr>
      </p:sp>
      <p:sp>
        <p:nvSpPr>
          <p:cNvPr id="22" name="Text 20"/>
          <p:cNvSpPr txBox="1"/>
          <p:nvPr/>
        </p:nvSpPr>
        <p:spPr>
          <a:xfrm>
            <a:off x="1404697" y="3043497"/>
            <a:ext cx="320259" cy="177322"/>
          </a:xfrm>
          <a:prstGeom prst="rect">
            <a:avLst/>
          </a:prstGeom>
          <a:noFill/>
          <a:ln/>
        </p:spPr>
        <p:txBody>
          <a:bodyPr wrap="none" lIns="0" tIns="0" rIns="0" bIns="0" rtlCol="0" anchor="ctr"/>
          <a:lstStyle/>
          <a:p>
            <a:pPr marL="0" indent="0" algn="ctr">
              <a:buNone/>
            </a:pPr>
            <a:r>
              <a:rPr lang="en-US" sz="900" b="1" dirty="0">
                <a:solidFill>
                  <a:srgbClr val="1A1A1A"/>
                </a:solidFill>
                <a:latin typeface="Malgun Gothic" pitchFamily="34" charset="0"/>
                <a:ea typeface="Malgun Gothic" pitchFamily="34" charset="-122"/>
                <a:cs typeface="Malgun Gothic" pitchFamily="34" charset="-120"/>
              </a:rPr>
              <a:t>시설</a:t>
            </a:r>
            <a:endParaRPr lang="en-US" sz="900" dirty="0"/>
          </a:p>
        </p:txBody>
      </p:sp>
      <p:sp>
        <p:nvSpPr>
          <p:cNvPr id="23" name="Shape 21"/>
          <p:cNvSpPr/>
          <p:nvPr/>
        </p:nvSpPr>
        <p:spPr>
          <a:xfrm>
            <a:off x="2356104" y="2960556"/>
            <a:ext cx="572008" cy="343205"/>
          </a:xfrm>
          <a:prstGeom prst="roundRect">
            <a:avLst>
              <a:gd name="adj" fmla="val 50000"/>
            </a:avLst>
          </a:prstGeom>
          <a:solidFill>
            <a:srgbClr val="FCE9E1"/>
          </a:solidFill>
          <a:ln w="24406">
            <a:solidFill>
              <a:srgbClr val="D9480F"/>
            </a:solidFill>
            <a:prstDash val="dash"/>
          </a:ln>
        </p:spPr>
      </p:sp>
      <p:sp>
        <p:nvSpPr>
          <p:cNvPr id="24" name="Text 22"/>
          <p:cNvSpPr txBox="1"/>
          <p:nvPr/>
        </p:nvSpPr>
        <p:spPr>
          <a:xfrm>
            <a:off x="2481978" y="3043497"/>
            <a:ext cx="320259" cy="177322"/>
          </a:xfrm>
          <a:prstGeom prst="rect">
            <a:avLst/>
          </a:prstGeom>
          <a:noFill/>
          <a:ln/>
        </p:spPr>
        <p:txBody>
          <a:bodyPr wrap="none" lIns="0" tIns="0" rIns="0" bIns="0" rtlCol="0" anchor="ctr"/>
          <a:lstStyle/>
          <a:p>
            <a:pPr marL="0" indent="0" algn="ctr">
              <a:buNone/>
            </a:pPr>
            <a:r>
              <a:rPr lang="en-US" sz="900" dirty="0">
                <a:solidFill>
                  <a:srgbClr val="1A1A1A"/>
                </a:solidFill>
                <a:latin typeface="Malgun Gothic" pitchFamily="34" charset="0"/>
                <a:ea typeface="Malgun Gothic" pitchFamily="34" charset="-122"/>
                <a:cs typeface="Malgun Gothic" pitchFamily="34" charset="-120"/>
              </a:rPr>
              <a:t>설비</a:t>
            </a:r>
            <a:endParaRPr lang="en-US" sz="900" dirty="0"/>
          </a:p>
        </p:txBody>
      </p:sp>
      <p:sp>
        <p:nvSpPr>
          <p:cNvPr id="25" name="Shape 23"/>
          <p:cNvSpPr/>
          <p:nvPr/>
        </p:nvSpPr>
        <p:spPr>
          <a:xfrm>
            <a:off x="2356104" y="2102544"/>
            <a:ext cx="572008" cy="343205"/>
          </a:xfrm>
          <a:prstGeom prst="roundRect">
            <a:avLst>
              <a:gd name="adj" fmla="val 50000"/>
            </a:avLst>
          </a:prstGeom>
          <a:solidFill>
            <a:srgbClr val="FFFFFF"/>
          </a:solidFill>
          <a:ln w="27456">
            <a:solidFill>
              <a:srgbClr val="1A1A1A"/>
            </a:solidFill>
            <a:prstDash val="solid"/>
          </a:ln>
        </p:spPr>
      </p:sp>
      <p:sp>
        <p:nvSpPr>
          <p:cNvPr id="26" name="Text 24"/>
          <p:cNvSpPr txBox="1"/>
          <p:nvPr/>
        </p:nvSpPr>
        <p:spPr>
          <a:xfrm>
            <a:off x="2481978" y="2185485"/>
            <a:ext cx="320259" cy="177322"/>
          </a:xfrm>
          <a:prstGeom prst="rect">
            <a:avLst/>
          </a:prstGeom>
          <a:noFill/>
          <a:ln/>
        </p:spPr>
        <p:txBody>
          <a:bodyPr wrap="none" lIns="0" tIns="0" rIns="0" bIns="0" rtlCol="0" anchor="ctr"/>
          <a:lstStyle/>
          <a:p>
            <a:pPr marL="0" indent="0" algn="ctr">
              <a:buNone/>
            </a:pPr>
            <a:r>
              <a:rPr lang="en-US" sz="900" b="1" dirty="0">
                <a:solidFill>
                  <a:srgbClr val="1A1A1A"/>
                </a:solidFill>
                <a:latin typeface="Malgun Gothic" pitchFamily="34" charset="0"/>
                <a:ea typeface="Malgun Gothic" pitchFamily="34" charset="-122"/>
                <a:cs typeface="Malgun Gothic" pitchFamily="34" charset="-120"/>
              </a:rPr>
              <a:t>유형</a:t>
            </a:r>
            <a:endParaRPr lang="en-US" sz="900" dirty="0"/>
          </a:p>
        </p:txBody>
      </p:sp>
      <p:sp>
        <p:nvSpPr>
          <p:cNvPr id="27" name="Shape 25"/>
          <p:cNvSpPr/>
          <p:nvPr/>
        </p:nvSpPr>
        <p:spPr>
          <a:xfrm>
            <a:off x="3500120" y="2960556"/>
            <a:ext cx="572008" cy="343205"/>
          </a:xfrm>
          <a:prstGeom prst="roundRect">
            <a:avLst>
              <a:gd name="adj" fmla="val 50000"/>
            </a:avLst>
          </a:prstGeom>
          <a:solidFill>
            <a:srgbClr val="FCE9E1"/>
          </a:solidFill>
          <a:ln w="24406">
            <a:solidFill>
              <a:srgbClr val="D9480F"/>
            </a:solidFill>
            <a:prstDash val="dash"/>
          </a:ln>
        </p:spPr>
      </p:sp>
      <p:sp>
        <p:nvSpPr>
          <p:cNvPr id="28" name="Text 26"/>
          <p:cNvSpPr txBox="1"/>
          <p:nvPr/>
        </p:nvSpPr>
        <p:spPr>
          <a:xfrm>
            <a:off x="3625994" y="3043497"/>
            <a:ext cx="320259" cy="177322"/>
          </a:xfrm>
          <a:prstGeom prst="rect">
            <a:avLst/>
          </a:prstGeom>
          <a:noFill/>
          <a:ln/>
        </p:spPr>
        <p:txBody>
          <a:bodyPr wrap="none" lIns="0" tIns="0" rIns="0" bIns="0" rtlCol="0" anchor="ctr"/>
          <a:lstStyle/>
          <a:p>
            <a:pPr marL="0" indent="0" algn="ctr">
              <a:buNone/>
            </a:pPr>
            <a:r>
              <a:rPr lang="en-US" sz="900" dirty="0">
                <a:solidFill>
                  <a:srgbClr val="1A1A1A"/>
                </a:solidFill>
                <a:latin typeface="Malgun Gothic" pitchFamily="34" charset="0"/>
                <a:ea typeface="Malgun Gothic" pitchFamily="34" charset="-122"/>
                <a:cs typeface="Malgun Gothic" pitchFamily="34" charset="-120"/>
              </a:rPr>
              <a:t>검사</a:t>
            </a:r>
            <a:endParaRPr lang="en-US" sz="900" dirty="0"/>
          </a:p>
        </p:txBody>
      </p:sp>
      <p:sp>
        <p:nvSpPr>
          <p:cNvPr id="29" name="Shape 27"/>
          <p:cNvSpPr/>
          <p:nvPr/>
        </p:nvSpPr>
        <p:spPr>
          <a:xfrm>
            <a:off x="4644136" y="2960556"/>
            <a:ext cx="667343" cy="343205"/>
          </a:xfrm>
          <a:prstGeom prst="roundRect">
            <a:avLst>
              <a:gd name="adj" fmla="val 50000"/>
            </a:avLst>
          </a:prstGeom>
          <a:solidFill>
            <a:srgbClr val="FFFFFF"/>
          </a:solidFill>
          <a:ln w="27456">
            <a:solidFill>
              <a:srgbClr val="1A1A1A"/>
            </a:solidFill>
            <a:prstDash val="solid"/>
          </a:ln>
        </p:spPr>
      </p:sp>
      <p:sp>
        <p:nvSpPr>
          <p:cNvPr id="30" name="Text 28"/>
          <p:cNvSpPr txBox="1"/>
          <p:nvPr/>
        </p:nvSpPr>
        <p:spPr>
          <a:xfrm>
            <a:off x="4662000" y="3043497"/>
            <a:ext cx="631615" cy="177322"/>
          </a:xfrm>
          <a:prstGeom prst="rect">
            <a:avLst/>
          </a:prstGeom>
          <a:noFill/>
          <a:ln/>
        </p:spPr>
        <p:txBody>
          <a:bodyPr wrap="none" lIns="0" tIns="0" rIns="0" bIns="0" rtlCol="0" anchor="ctr"/>
          <a:lstStyle/>
          <a:p>
            <a:pPr marL="0" indent="0" algn="ctr">
              <a:buNone/>
            </a:pPr>
            <a:r>
              <a:rPr lang="en-US" sz="900" b="1" dirty="0">
                <a:solidFill>
                  <a:srgbClr val="1A1A1A"/>
                </a:solidFill>
                <a:latin typeface="Malgun Gothic" pitchFamily="34" charset="0"/>
                <a:ea typeface="Malgun Gothic" pitchFamily="34" charset="-122"/>
                <a:cs typeface="Malgun Gothic" pitchFamily="34" charset="-120"/>
              </a:rPr>
              <a:t>검사 결과</a:t>
            </a:r>
            <a:endParaRPr lang="en-US" sz="900" dirty="0"/>
          </a:p>
        </p:txBody>
      </p:sp>
      <p:sp>
        <p:nvSpPr>
          <p:cNvPr id="31" name="Shape 29"/>
          <p:cNvSpPr/>
          <p:nvPr/>
        </p:nvSpPr>
        <p:spPr>
          <a:xfrm>
            <a:off x="4167463" y="2083477"/>
            <a:ext cx="1582555" cy="533874"/>
          </a:xfrm>
          <a:prstGeom prst="roundRect">
            <a:avLst>
              <a:gd name="adj" fmla="val 7143"/>
            </a:avLst>
          </a:prstGeom>
          <a:solidFill>
            <a:srgbClr val="FFFFFF"/>
          </a:solidFill>
          <a:ln w="15254">
            <a:solidFill>
              <a:srgbClr val="D0D0D0"/>
            </a:solidFill>
            <a:prstDash val="solid"/>
          </a:ln>
        </p:spPr>
      </p:sp>
      <p:sp>
        <p:nvSpPr>
          <p:cNvPr id="32" name="Shape 30"/>
          <p:cNvSpPr/>
          <p:nvPr/>
        </p:nvSpPr>
        <p:spPr>
          <a:xfrm>
            <a:off x="4262797" y="2188345"/>
            <a:ext cx="152535" cy="95335"/>
          </a:xfrm>
          <a:prstGeom prst="roundRect">
            <a:avLst>
              <a:gd name="adj" fmla="val 50000"/>
            </a:avLst>
          </a:prstGeom>
          <a:solidFill>
            <a:srgbClr val="FFFFFF"/>
          </a:solidFill>
          <a:ln w="24406">
            <a:solidFill>
              <a:srgbClr val="1A1A1A"/>
            </a:solidFill>
            <a:prstDash val="solid"/>
          </a:ln>
        </p:spPr>
      </p:sp>
      <p:sp>
        <p:nvSpPr>
          <p:cNvPr id="33" name="Text 31"/>
          <p:cNvSpPr txBox="1"/>
          <p:nvPr/>
        </p:nvSpPr>
        <p:spPr>
          <a:xfrm>
            <a:off x="4472534" y="2154740"/>
            <a:ext cx="1081144" cy="162546"/>
          </a:xfrm>
          <a:prstGeom prst="rect">
            <a:avLst/>
          </a:prstGeom>
          <a:noFill/>
          <a:ln/>
        </p:spPr>
        <p:txBody>
          <a:bodyPr wrap="none" lIns="0" tIns="0" rIns="0" bIns="0" rtlCol="0" anchor="ctr"/>
          <a:lstStyle/>
          <a:p>
            <a:pPr marL="0" indent="0" algn="l">
              <a:buNone/>
            </a:pPr>
            <a:r>
              <a:rPr lang="en-US" sz="830" dirty="0">
                <a:solidFill>
                  <a:srgbClr val="6B6B6B"/>
                </a:solidFill>
                <a:latin typeface="Malgun Gothic" pitchFamily="34" charset="0"/>
                <a:ea typeface="Malgun Gothic" pitchFamily="34" charset="-122"/>
                <a:cs typeface="Malgun Gothic" pitchFamily="34" charset="-120"/>
              </a:rPr>
              <a:t>LLM이 고른 클래스</a:t>
            </a:r>
            <a:endParaRPr lang="en-US" sz="830" dirty="0"/>
          </a:p>
        </p:txBody>
      </p:sp>
      <p:sp>
        <p:nvSpPr>
          <p:cNvPr id="34" name="Shape 32"/>
          <p:cNvSpPr/>
          <p:nvPr/>
        </p:nvSpPr>
        <p:spPr>
          <a:xfrm>
            <a:off x="4262797" y="2398082"/>
            <a:ext cx="152535" cy="95335"/>
          </a:xfrm>
          <a:prstGeom prst="roundRect">
            <a:avLst>
              <a:gd name="adj" fmla="val 50000"/>
            </a:avLst>
          </a:prstGeom>
          <a:solidFill>
            <a:srgbClr val="FCE9E1"/>
          </a:solidFill>
          <a:ln w="15254">
            <a:solidFill>
              <a:srgbClr val="D9480F"/>
            </a:solidFill>
            <a:prstDash val="dash"/>
          </a:ln>
        </p:spPr>
      </p:sp>
      <p:sp>
        <p:nvSpPr>
          <p:cNvPr id="35" name="Text 33"/>
          <p:cNvSpPr txBox="1"/>
          <p:nvPr/>
        </p:nvSpPr>
        <p:spPr>
          <a:xfrm>
            <a:off x="4472534" y="2364476"/>
            <a:ext cx="1495667" cy="162546"/>
          </a:xfrm>
          <a:prstGeom prst="rect">
            <a:avLst/>
          </a:prstGeom>
          <a:noFill/>
          <a:ln/>
        </p:spPr>
        <p:txBody>
          <a:bodyPr wrap="none" lIns="0" tIns="0" rIns="0" bIns="0" rtlCol="0" anchor="ctr"/>
          <a:lstStyle/>
          <a:p>
            <a:pPr marL="0" indent="0" algn="l">
              <a:buNone/>
            </a:pPr>
            <a:r>
              <a:rPr lang="en-US" sz="830" dirty="0">
                <a:solidFill>
                  <a:srgbClr val="6B6B6B"/>
                </a:solidFill>
                <a:latin typeface="Malgun Gothic" pitchFamily="34" charset="0"/>
                <a:ea typeface="Malgun Gothic" pitchFamily="34" charset="-122"/>
                <a:cs typeface="Malgun Gothic" pitchFamily="34" charset="-120"/>
              </a:rPr>
              <a:t>트리가 추가한 연결 클래스</a:t>
            </a:r>
            <a:endParaRPr lang="en-US" sz="830" dirty="0"/>
          </a:p>
        </p:txBody>
      </p:sp>
      <p:sp>
        <p:nvSpPr>
          <p:cNvPr id="36" name="Shape 34"/>
          <p:cNvSpPr/>
          <p:nvPr/>
        </p:nvSpPr>
        <p:spPr>
          <a:xfrm>
            <a:off x="3214116" y="3418163"/>
            <a:ext cx="0" cy="209736"/>
          </a:xfrm>
          <a:prstGeom prst="line">
            <a:avLst/>
          </a:prstGeom>
          <a:noFill/>
          <a:ln w="19830">
            <a:solidFill>
              <a:srgbClr val="4D4D4D"/>
            </a:solidFill>
            <a:prstDash val="solid"/>
            <a:tailEnd type="triangle"/>
          </a:ln>
        </p:spPr>
      </p:sp>
      <p:sp>
        <p:nvSpPr>
          <p:cNvPr id="37" name="Shape 35"/>
          <p:cNvSpPr/>
          <p:nvPr/>
        </p:nvSpPr>
        <p:spPr>
          <a:xfrm>
            <a:off x="640080" y="3666033"/>
            <a:ext cx="5148072" cy="552941"/>
          </a:xfrm>
          <a:prstGeom prst="roundRect">
            <a:avLst>
              <a:gd name="adj" fmla="val 10345"/>
            </a:avLst>
          </a:prstGeom>
          <a:solidFill>
            <a:srgbClr val="FFFFFF"/>
          </a:solidFill>
          <a:ln w="15254">
            <a:solidFill>
              <a:srgbClr val="3A3A3A"/>
            </a:solidFill>
            <a:prstDash val="solid"/>
          </a:ln>
        </p:spPr>
      </p:sp>
      <p:sp>
        <p:nvSpPr>
          <p:cNvPr id="38" name="Text 36"/>
          <p:cNvSpPr txBox="1"/>
          <p:nvPr/>
        </p:nvSpPr>
        <p:spPr>
          <a:xfrm>
            <a:off x="773549" y="3751119"/>
            <a:ext cx="5073783" cy="192099"/>
          </a:xfrm>
          <a:prstGeom prst="rect">
            <a:avLst/>
          </a:prstGeom>
          <a:noFill/>
          <a:ln/>
        </p:spPr>
        <p:txBody>
          <a:bodyPr wrap="none" lIns="0" tIns="0" rIns="0" bIns="0" rtlCol="0" anchor="ctr"/>
          <a:lstStyle/>
          <a:p>
            <a:pPr marL="0" indent="0" algn="l">
              <a:buNone/>
            </a:pPr>
            <a:r>
              <a:rPr lang="en-US" sz="980" b="1" dirty="0">
                <a:solidFill>
                  <a:srgbClr val="1A1A1A"/>
                </a:solidFill>
                <a:latin typeface="Malgun Gothic" pitchFamily="34" charset="0"/>
                <a:ea typeface="Malgun Gothic" pitchFamily="34" charset="-122"/>
                <a:cs typeface="Malgun Gothic" pitchFamily="34" charset="-120"/>
              </a:rPr>
              <a:t>단일 SQL View → 질문 분해 → View 위 SQL → WITH 절로 원 스키마 재매핑</a:t>
            </a:r>
            <a:endParaRPr lang="en-US" sz="980" dirty="0"/>
          </a:p>
        </p:txBody>
      </p:sp>
      <p:sp>
        <p:nvSpPr>
          <p:cNvPr id="39" name="Text 37"/>
          <p:cNvSpPr txBox="1"/>
          <p:nvPr/>
        </p:nvSpPr>
        <p:spPr>
          <a:xfrm>
            <a:off x="773549" y="3977777"/>
            <a:ext cx="4432128" cy="177322"/>
          </a:xfrm>
          <a:prstGeom prst="rect">
            <a:avLst/>
          </a:prstGeom>
          <a:noFill/>
          <a:ln/>
        </p:spPr>
        <p:txBody>
          <a:bodyPr wrap="none" lIns="0" tIns="0" rIns="0" bIns="0" rtlCol="0" anchor="ctr"/>
          <a:lstStyle/>
          <a:p>
            <a:pPr marL="0" indent="0" algn="l">
              <a:buNone/>
            </a:pPr>
            <a:r>
              <a:rPr lang="en-US" sz="900" dirty="0">
                <a:solidFill>
                  <a:srgbClr val="1A1A1A"/>
                </a:solidFill>
                <a:latin typeface="Malgun Gothic" pitchFamily="34" charset="0"/>
                <a:ea typeface="Malgun Gothic" pitchFamily="34" charset="-122"/>
                <a:cs typeface="Malgun Gothic" pitchFamily="34" charset="-120"/>
              </a:rPr>
              <a:t>View 컬럼 이름은 클래스명 규칙을 따르므로 LLM이 Join 없이 SQL을 쓴다</a:t>
            </a:r>
            <a:endParaRPr lang="en-US" sz="900" dirty="0"/>
          </a:p>
        </p:txBody>
      </p:sp>
      <p:sp>
        <p:nvSpPr>
          <p:cNvPr id="40" name="Text 38"/>
          <p:cNvSpPr txBox="1"/>
          <p:nvPr/>
        </p:nvSpPr>
        <p:spPr>
          <a:xfrm>
            <a:off x="658368" y="4440767"/>
            <a:ext cx="5111496" cy="1731433"/>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200" b="1" dirty="0">
                <a:solidFill>
                  <a:srgbClr val="1A1A1A"/>
                </a:solidFill>
                <a:latin typeface="Malgun Gothic" pitchFamily="34" charset="0"/>
                <a:ea typeface="Malgun Gothic" pitchFamily="34" charset="-122"/>
                <a:cs typeface="Malgun Gothic" pitchFamily="34" charset="-120"/>
              </a:rPr>
              <a:t>LLM이 고른 클래스만 잇되,  </a:t>
            </a:r>
            <a:r>
              <a:rPr lang="en-US" sz="1200" dirty="0">
                <a:solidFill>
                  <a:srgbClr val="5F5F5F"/>
                </a:solidFill>
                <a:latin typeface="Malgun Gothic" pitchFamily="34" charset="0"/>
                <a:ea typeface="Malgun Gothic" pitchFamily="34" charset="-122"/>
                <a:cs typeface="Malgun Gothic" pitchFamily="34" charset="-120"/>
              </a:rPr>
              <a:t>중간 연결 클래스는 트리가 자동으로 넣는다</a:t>
            </a:r>
            <a:endParaRPr lang="en-US" sz="1200" dirty="0"/>
          </a:p>
          <a:p>
            <a:pPr marL="152400" indent="-152400">
              <a:lnSpc>
                <a:spcPct val="110000"/>
              </a:lnSpc>
              <a:spcAft>
                <a:spcPts val="400"/>
              </a:spcAft>
              <a:buSzPct val="100000"/>
              <a:buChar char="•"/>
            </a:pPr>
            <a:r>
              <a:rPr lang="en-US" sz="1200" dirty="0">
                <a:solidFill>
                  <a:srgbClr val="1A1A1A"/>
                </a:solidFill>
                <a:latin typeface="Malgun Gothic" pitchFamily="34" charset="0"/>
                <a:ea typeface="Malgun Gothic" pitchFamily="34" charset="-122"/>
                <a:cs typeface="Malgun Gothic" pitchFamily="34" charset="-120"/>
              </a:rPr>
              <a:t>Join은 그래프가, SQL 작성은 LLM이 나눠 맡는다</a:t>
            </a:r>
            <a:endParaRPr lang="en-US" sz="1200" dirty="0"/>
          </a:p>
          <a:p>
            <a:pPr marL="152400" indent="-152400">
              <a:lnSpc>
                <a:spcPct val="110000"/>
              </a:lnSpc>
              <a:spcAft>
                <a:spcPts val="400"/>
              </a:spcAft>
              <a:buSzPct val="100000"/>
              <a:buChar char="•"/>
            </a:pPr>
            <a:r>
              <a:rPr lang="en-US" sz="1200" dirty="0">
                <a:solidFill>
                  <a:srgbClr val="1A1A1A"/>
                </a:solidFill>
                <a:latin typeface="Malgun Gothic" pitchFamily="34" charset="0"/>
                <a:ea typeface="Malgun Gothic" pitchFamily="34" charset="-122"/>
                <a:cs typeface="Malgun Gothic" pitchFamily="34" charset="-120"/>
              </a:rPr>
              <a:t>전체 정확도 약 93% (비교 대상 중 최고 0.84)</a:t>
            </a:r>
            <a:endParaRPr lang="en-US" sz="1200" dirty="0"/>
          </a:p>
        </p:txBody>
      </p:sp>
      <p:sp>
        <p:nvSpPr>
          <p:cNvPr id="41" name="Shape 39"/>
          <p:cNvSpPr/>
          <p:nvPr/>
        </p:nvSpPr>
        <p:spPr>
          <a:xfrm>
            <a:off x="6217920" y="1325880"/>
            <a:ext cx="5513832" cy="4937760"/>
          </a:xfrm>
          <a:prstGeom prst="roundRect">
            <a:avLst>
              <a:gd name="adj" fmla="val 1481"/>
            </a:avLst>
          </a:prstGeom>
          <a:solidFill>
            <a:srgbClr val="F4F4F4"/>
          </a:solidFill>
          <a:ln w="9525">
            <a:solidFill>
              <a:srgbClr val="BFBFBF"/>
            </a:solidFill>
            <a:prstDash val="solid"/>
          </a:ln>
        </p:spPr>
      </p:sp>
      <p:sp>
        <p:nvSpPr>
          <p:cNvPr id="42" name="Shape 40"/>
          <p:cNvSpPr/>
          <p:nvPr/>
        </p:nvSpPr>
        <p:spPr>
          <a:xfrm>
            <a:off x="6400800" y="1481328"/>
            <a:ext cx="749808" cy="246888"/>
          </a:xfrm>
          <a:prstGeom prst="roundRect">
            <a:avLst>
              <a:gd name="adj" fmla="val 14815"/>
            </a:avLst>
          </a:prstGeom>
          <a:solidFill>
            <a:srgbClr val="1A1A1A"/>
          </a:solidFill>
          <a:ln/>
        </p:spPr>
      </p:sp>
      <p:sp>
        <p:nvSpPr>
          <p:cNvPr id="43" name="Text 41"/>
          <p:cNvSpPr txBox="1"/>
          <p:nvPr/>
        </p:nvSpPr>
        <p:spPr>
          <a:xfrm>
            <a:off x="6400800" y="1481328"/>
            <a:ext cx="749808" cy="246888"/>
          </a:xfrm>
          <a:prstGeom prst="rect">
            <a:avLst/>
          </a:prstGeom>
          <a:noFill/>
          <a:ln/>
        </p:spPr>
        <p:txBody>
          <a:bodyPr wrap="square" lIns="0" tIns="0" rIns="0" bIns="0" rtlCol="0" anchor="ctr"/>
          <a:lstStyle/>
          <a:p>
            <a:pPr marL="0" indent="0" algn="ctr">
              <a:buNone/>
            </a:pPr>
            <a:r>
              <a:rPr lang="en-US" sz="950" b="1" dirty="0">
                <a:solidFill>
                  <a:srgbClr val="FFFFFF"/>
                </a:solidFill>
                <a:latin typeface="Malgun Gothic" pitchFamily="34" charset="0"/>
                <a:ea typeface="Malgun Gothic" pitchFamily="34" charset="-122"/>
                <a:cs typeface="Malgun Gothic" pitchFamily="34" charset="-120"/>
              </a:rPr>
              <a:t>과제 적용</a:t>
            </a:r>
            <a:endParaRPr lang="en-US" sz="950" dirty="0"/>
          </a:p>
        </p:txBody>
      </p:sp>
      <p:sp>
        <p:nvSpPr>
          <p:cNvPr id="44" name="Text 42"/>
          <p:cNvSpPr txBox="1"/>
          <p:nvPr/>
        </p:nvSpPr>
        <p:spPr>
          <a:xfrm>
            <a:off x="7242048" y="1444752"/>
            <a:ext cx="4325112" cy="329184"/>
          </a:xfrm>
          <a:prstGeom prst="rect">
            <a:avLst/>
          </a:prstGeom>
          <a:noFill/>
          <a:ln/>
        </p:spPr>
        <p:txBody>
          <a:bodyPr wrap="square" lIns="0" tIns="0" rIns="0" bIns="0" rtlCol="0" anchor="ctr"/>
          <a:lstStyle/>
          <a:p>
            <a:pPr marL="0" indent="0">
              <a:buNone/>
            </a:pPr>
            <a:r>
              <a:rPr lang="en-US" sz="1350" b="1" dirty="0">
                <a:solidFill>
                  <a:srgbClr val="1A1A1A"/>
                </a:solidFill>
                <a:latin typeface="Malgun Gothic" pitchFamily="34" charset="0"/>
                <a:ea typeface="Malgun Gothic" pitchFamily="34" charset="-122"/>
                <a:cs typeface="Malgun Gothic" pitchFamily="34" charset="-120"/>
              </a:rPr>
              <a:t>Data Hub Join 그래프 + View</a:t>
            </a:r>
            <a:endParaRPr lang="en-US" sz="1350" dirty="0"/>
          </a:p>
        </p:txBody>
      </p:sp>
      <p:sp>
        <p:nvSpPr>
          <p:cNvPr id="45" name="Shape 43"/>
          <p:cNvSpPr/>
          <p:nvPr/>
        </p:nvSpPr>
        <p:spPr>
          <a:xfrm>
            <a:off x="6400800" y="1892808"/>
            <a:ext cx="5148072" cy="2350008"/>
          </a:xfrm>
          <a:prstGeom prst="roundRect">
            <a:avLst>
              <a:gd name="adj" fmla="val 3113"/>
            </a:avLst>
          </a:prstGeom>
          <a:solidFill>
            <a:srgbClr val="FFFFFF"/>
          </a:solidFill>
          <a:ln/>
        </p:spPr>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6492240" y="1947672"/>
          <a:ext cx="4965192" cy="1798320"/>
        </p:xfrm>
        <a:graphic>
          <a:graphicData uri="http://schemas.openxmlformats.org/drawingml/2006/table">
            <a:tbl>
              <a:tblPr/>
              <a:tblGrid>
                <a:gridCol w="13258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10512">
                  <a:extLst>
                    <a:ext uri="{9D8B030D-6E8A-4147-A177-3AD203B41FA5}">
                      <a16:colId xmlns:a16="http://schemas.microsoft.com/office/drawing/2014/main" val="20002"/>
                    </a:ext>
                  </a:extLst>
                </a:gridCol>
              </a:tblGrid>
              <a:tr h="0">
                <a:tc>
                  <a:txBody>
                    <a:bodyPr/>
                    <a:lstStyle/>
                    <a:p>
                      <a:pPr marL="0" indent="0">
                        <a:buNone/>
                      </a:pPr>
                      <a:r>
                        <a:rPr lang="en-US" sz="1000" b="1" dirty="0">
                          <a:solidFill>
                            <a:srgbClr val="1A1A1A"/>
                          </a:solidFill>
                          <a:latin typeface="Malgun Gothic" pitchFamily="34" charset="0"/>
                          <a:ea typeface="Malgun Gothic" pitchFamily="34" charset="-122"/>
                          <a:cs typeface="Malgun Gothic" pitchFamily="34" charset="-120"/>
                        </a:rPr>
                        <a:t>논문 전제</a:t>
                      </a:r>
                      <a:endParaRPr lang="en-US" sz="100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0" cap="flat" cmpd="sng" algn="ctr">
                      <a:noFill/>
                    </a:lnT>
                    <a:lnB w="15875" cap="flat" cmpd="sng" algn="ctr">
                      <a:solidFill>
                        <a:srgbClr val="1A1A1A"/>
                      </a:solidFill>
                      <a:prstDash val="solid"/>
                      <a:round/>
                      <a:headEnd type="none" w="med" len="med"/>
                      <a:tailEnd type="none" w="med" len="med"/>
                    </a:lnB>
                  </a:tcPr>
                </a:tc>
                <a:tc>
                  <a:txBody>
                    <a:bodyPr/>
                    <a:lstStyle/>
                    <a:p>
                      <a:pPr marL="0" indent="0">
                        <a:buNone/>
                      </a:pPr>
                      <a:r>
                        <a:rPr lang="en-US" sz="1000" b="1" dirty="0">
                          <a:solidFill>
                            <a:srgbClr val="1A1A1A"/>
                          </a:solidFill>
                          <a:latin typeface="Malgun Gothic" pitchFamily="34" charset="0"/>
                          <a:ea typeface="Malgun Gothic" pitchFamily="34" charset="-122"/>
                          <a:cs typeface="Malgun Gothic" pitchFamily="34" charset="-120"/>
                        </a:rPr>
                        <a:t>Data Hub 현실</a:t>
                      </a:r>
                      <a:endParaRPr lang="en-US" sz="100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0" cap="flat" cmpd="sng" algn="ctr">
                      <a:noFill/>
                    </a:lnT>
                    <a:lnB w="15875" cap="flat" cmpd="sng" algn="ctr">
                      <a:solidFill>
                        <a:srgbClr val="1A1A1A"/>
                      </a:solidFill>
                      <a:prstDash val="solid"/>
                      <a:round/>
                      <a:headEnd type="none" w="med" len="med"/>
                      <a:tailEnd type="none" w="med" len="med"/>
                    </a:lnB>
                  </a:tcPr>
                </a:tc>
                <a:tc>
                  <a:txBody>
                    <a:bodyPr/>
                    <a:lstStyle/>
                    <a:p>
                      <a:pPr marL="0" indent="0">
                        <a:buNone/>
                      </a:pPr>
                      <a:r>
                        <a:rPr lang="en-US" sz="1000" b="1" dirty="0">
                          <a:solidFill>
                            <a:srgbClr val="1A1A1A"/>
                          </a:solidFill>
                          <a:latin typeface="Malgun Gothic" pitchFamily="34" charset="0"/>
                          <a:ea typeface="Malgun Gothic" pitchFamily="34" charset="-122"/>
                          <a:cs typeface="Malgun Gothic" pitchFamily="34" charset="-120"/>
                        </a:rPr>
                        <a:t>대응</a:t>
                      </a:r>
                      <a:endParaRPr lang="en-US" sz="100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0" cap="flat" cmpd="sng" algn="ctr">
                      <a:noFill/>
                    </a:lnT>
                    <a:lnB w="15875" cap="flat" cmpd="sng" algn="ctr">
                      <a:solidFill>
                        <a:srgbClr val="1A1A1A"/>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FK 30개로 간선 확보</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CDC 복제 테이블엔 FK가 없을 가능성</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쿼리 로그의 Join 패턴으로 간선 추출</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키로만 Join</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PM 시각 ~ Lot 진행 시각 같은 시간 Join</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관계에 Join 조건 템플릿 정의</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경로가 대체로 하나</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Lot↔설비 경로가 여러 개</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질문 관련도로 경로 가중 (Graph-Link)</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27개 테이블</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약 9,000개 테이블</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도메인 라우팅 후 도메인 안에서만 트리 (7장)</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7" name="Text 44"/>
          <p:cNvSpPr txBox="1"/>
          <p:nvPr/>
        </p:nvSpPr>
        <p:spPr>
          <a:xfrm>
            <a:off x="6419088" y="4425696"/>
            <a:ext cx="5111496" cy="1737360"/>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200" b="1" dirty="0">
                <a:solidFill>
                  <a:srgbClr val="1A1A1A"/>
                </a:solidFill>
                <a:latin typeface="Malgun Gothic" pitchFamily="34" charset="0"/>
                <a:ea typeface="Malgun Gothic" pitchFamily="34" charset="-122"/>
                <a:cs typeface="Malgun Gothic" pitchFamily="34" charset="-120"/>
              </a:rPr>
              <a:t>View 경량화  </a:t>
            </a:r>
            <a:r>
              <a:rPr lang="en-US" sz="1200" dirty="0">
                <a:solidFill>
                  <a:srgbClr val="5F5F5F"/>
                </a:solidFill>
                <a:latin typeface="Malgun Gothic" pitchFamily="34" charset="0"/>
                <a:ea typeface="Malgun Gothic" pitchFamily="34" charset="-122"/>
                <a:cs typeface="Malgun Gothic" pitchFamily="34" charset="-120"/>
              </a:rPr>
              <a:t>클래스의 전체 컬럼이 아니라 질문 관련 컬럼만 View에 노출</a:t>
            </a:r>
            <a:endParaRPr lang="en-US" sz="1200" dirty="0"/>
          </a:p>
          <a:p>
            <a:pPr marL="152400" indent="-152400">
              <a:lnSpc>
                <a:spcPct val="110000"/>
              </a:lnSpc>
              <a:spcAft>
                <a:spcPts val="400"/>
              </a:spcAft>
              <a:buSzPct val="100000"/>
              <a:buChar char="•"/>
            </a:pPr>
            <a:r>
              <a:rPr lang="en-US" sz="1200" b="1" dirty="0">
                <a:solidFill>
                  <a:srgbClr val="1A1A1A"/>
                </a:solidFill>
                <a:latin typeface="Malgun Gothic" pitchFamily="34" charset="0"/>
                <a:ea typeface="Malgun Gothic" pitchFamily="34" charset="-122"/>
                <a:cs typeface="Malgun Gothic" pitchFamily="34" charset="-120"/>
              </a:rPr>
              <a:t>실행 위치  </a:t>
            </a:r>
            <a:r>
              <a:rPr lang="en-US" sz="1200" dirty="0">
                <a:solidFill>
                  <a:srgbClr val="5F5F5F"/>
                </a:solidFill>
                <a:latin typeface="Malgun Gothic" pitchFamily="34" charset="0"/>
                <a:ea typeface="Malgun Gothic" pitchFamily="34" charset="-122"/>
                <a:cs typeface="Malgun Gothic" pitchFamily="34" charset="-120"/>
              </a:rPr>
              <a:t>WITH 절로 바뀐 SQL은 Data Hub(Exadata)에서만 실행, 생산 DB 접근 없음</a:t>
            </a:r>
            <a:endParaRPr lang="en-US" sz="1200" dirty="0"/>
          </a:p>
          <a:p>
            <a:pPr marL="152400" indent="-152400">
              <a:lnSpc>
                <a:spcPct val="110000"/>
              </a:lnSpc>
              <a:spcAft>
                <a:spcPts val="400"/>
              </a:spcAft>
              <a:buSzPct val="100000"/>
              <a:buChar char="•"/>
            </a:pPr>
            <a:r>
              <a:rPr lang="en-US" sz="1200" b="1" dirty="0">
                <a:solidFill>
                  <a:srgbClr val="1A1A1A"/>
                </a:solidFill>
                <a:latin typeface="Malgun Gothic" pitchFamily="34" charset="0"/>
                <a:ea typeface="Malgun Gothic" pitchFamily="34" charset="-122"/>
                <a:cs typeface="Malgun Gothic" pitchFamily="34" charset="-120"/>
              </a:rPr>
              <a:t>PoC 측정  </a:t>
            </a:r>
            <a:r>
              <a:rPr lang="en-US" sz="1200" dirty="0">
                <a:solidFill>
                  <a:srgbClr val="5F5F5F"/>
                </a:solidFill>
                <a:latin typeface="Malgun Gothic" pitchFamily="34" charset="0"/>
                <a:ea typeface="Malgun Gothic" pitchFamily="34" charset="-122"/>
                <a:cs typeface="Malgun Gothic" pitchFamily="34" charset="-120"/>
              </a:rPr>
              <a:t>경로가 여러 개인 질문 20~30개로 Join 경로 정확도 비교</a:t>
            </a:r>
            <a:endParaRPr lang="en-US" sz="1200" dirty="0"/>
          </a:p>
        </p:txBody>
      </p:sp>
      <p:sp>
        <p:nvSpPr>
          <p:cNvPr id="48" name="Slide Number Placeholder 0"/>
          <p:cNvSpPr>
            <a:spLocks noGrp="1"/>
          </p:cNvSpPr>
          <p:nvPr>
            <p:ph type="sldNum" sz="quarter" idx="4294967295"/>
          </p:nvPr>
        </p:nvSpPr>
        <p:spPr>
          <a:xfrm>
            <a:off x="11183112" y="6419088"/>
            <a:ext cx="54864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6B6B6B"/>
                </a:solidFill>
                <a:latin typeface="Malgun Gothic"/>
                <a:ea typeface="Malgun Gothic"/>
                <a:cs typeface="Malgun Gothic"/>
              </a:defRPr>
            </a:lvl1pPr>
          </a:lstStyle>
          <a:p>
            <a:pPr algn="r"/>
            <a:fld id="{F7021451-1387-4CA6-816F-3879F97B5CBC}" type="slidenum">
              <a:rPr lang="en-US" b="0"/>
              <a:t>8</a:t>
            </a:fld>
            <a:endParaRPr lang="en-US"/>
          </a:p>
        </p:txBody>
      </p:sp>
      <p:sp>
        <p:nvSpPr>
          <p:cNvPr id="50" name="Text 0"/>
          <p:cNvSpPr>
            <a:spLocks noGrp="1"/>
          </p:cNvSpPr>
          <p:nvPr>
            <p:ph type="body" idx="102" hasCustomPrompt="1"/>
          </p:nvPr>
        </p:nvSpPr>
        <p:spPr>
          <a:xfrm>
            <a:off x="457200" y="6419088"/>
            <a:ext cx="10241280" cy="256032"/>
          </a:xfrm>
          <a:prstGeom prst="rect">
            <a:avLst/>
          </a:prstGeom>
          <a:noFill/>
          <a:ln/>
        </p:spPr>
        <p:txBody>
          <a:bodyPr wrap="square" lIns="0" tIns="0" rIns="0" bIns="0" rtlCol="0" anchor="ctr"/>
          <a:lstStyle/>
          <a:p>
            <a:r>
              <a:rPr lang="en-US"/>
              <a:t>A Text-to-SQL Strategy Based on Large Language Models and Knowledge Graphs for Real-World Databases (DKE 2026)</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11274552" cy="292608"/>
          </a:xfrm>
          <a:prstGeom prst="rect">
            <a:avLst/>
          </a:prstGeom>
          <a:noFill/>
          <a:ln/>
        </p:spPr>
        <p:txBody>
          <a:bodyPr wrap="square" lIns="0" tIns="0" rIns="0" bIns="0" rtlCol="0" anchor="ctr"/>
          <a:lstStyle/>
          <a:p>
            <a:pPr marL="0" indent="0">
              <a:buNone/>
            </a:pPr>
            <a:r>
              <a:rPr lang="en-US" sz="1100" b="1" smtClean="0">
                <a:solidFill>
                  <a:srgbClr val="6B6B6B"/>
                </a:solidFill>
                <a:latin typeface="Malgun Gothic" pitchFamily="34" charset="0"/>
                <a:ea typeface="Malgun Gothic" pitchFamily="34" charset="-122"/>
                <a:cs typeface="Malgun Gothic" pitchFamily="34" charset="-120"/>
              </a:rPr>
              <a:t>단계별 </a:t>
            </a:r>
            <a:r>
              <a:rPr lang="en-US" sz="1100" b="1" dirty="0">
                <a:solidFill>
                  <a:srgbClr val="6B6B6B"/>
                </a:solidFill>
                <a:latin typeface="Malgun Gothic" pitchFamily="34" charset="0"/>
                <a:ea typeface="Malgun Gothic" pitchFamily="34" charset="-122"/>
                <a:cs typeface="Malgun Gothic" pitchFamily="34" charset="-120"/>
              </a:rPr>
              <a:t>적용 4/4 · SQL 생성</a:t>
            </a:r>
            <a:endParaRPr lang="en-US" sz="1100" dirty="0"/>
          </a:p>
        </p:txBody>
      </p:sp>
      <p:sp>
        <p:nvSpPr>
          <p:cNvPr id="3" name="Text 0"/>
          <p:cNvSpPr>
            <a:spLocks noGrp="1"/>
          </p:cNvSpPr>
          <p:nvPr>
            <p:ph type="title" idx="101" hasCustomPrompt="1"/>
          </p:nvPr>
        </p:nvSpPr>
        <p:spPr>
          <a:xfrm>
            <a:off x="457200" y="512064"/>
            <a:ext cx="11274552" cy="768096"/>
          </a:xfrm>
          <a:prstGeom prst="rect">
            <a:avLst/>
          </a:prstGeom>
          <a:noFill/>
          <a:ln/>
        </p:spPr>
        <p:txBody>
          <a:bodyPr wrap="square" lIns="0" tIns="0" rIns="0" bIns="0" rtlCol="0" anchor="ctr"/>
          <a:lstStyle/>
          <a:p>
            <a:pPr marL="0" indent="0" algn="l">
              <a:buNone/>
            </a:pPr>
            <a:r>
              <a:rPr lang="en-US" sz="2100" b="1" dirty="0">
                <a:solidFill>
                  <a:schemeClr val="tx1"/>
                </a:solidFill>
                <a:latin typeface="Malgun Gothic" pitchFamily="34" charset="0"/>
                <a:ea typeface="Malgun Gothic" pitchFamily="34" charset="-122"/>
                <a:cs typeface="Malgun Gothic" pitchFamily="34" charset="-120"/>
              </a:rPr>
              <a:t>복합 질문은 나눠서 예시를 붙이고, LLM이 쓴 View 기준 SQL은 규칙으로 실제 테이블에 옮긴다</a:t>
            </a:r>
            <a:endParaRPr lang="en-US" sz="2100" dirty="0"/>
          </a:p>
        </p:txBody>
      </p:sp>
      <p:sp>
        <p:nvSpPr>
          <p:cNvPr id="5" name="Shape 3"/>
          <p:cNvSpPr/>
          <p:nvPr/>
        </p:nvSpPr>
        <p:spPr>
          <a:xfrm>
            <a:off x="457200" y="1325880"/>
            <a:ext cx="5513832" cy="4937760"/>
          </a:xfrm>
          <a:prstGeom prst="roundRect">
            <a:avLst>
              <a:gd name="adj" fmla="val 1481"/>
            </a:avLst>
          </a:prstGeom>
          <a:solidFill>
            <a:srgbClr val="FFFFFF"/>
          </a:solidFill>
          <a:ln w="9525">
            <a:solidFill>
              <a:srgbClr val="D0D0D0"/>
            </a:solidFill>
            <a:prstDash val="solid"/>
          </a:ln>
        </p:spPr>
      </p:sp>
      <p:sp>
        <p:nvSpPr>
          <p:cNvPr id="6" name="Shape 4"/>
          <p:cNvSpPr/>
          <p:nvPr/>
        </p:nvSpPr>
        <p:spPr>
          <a:xfrm>
            <a:off x="640080" y="1481328"/>
            <a:ext cx="749808" cy="246888"/>
          </a:xfrm>
          <a:prstGeom prst="roundRect">
            <a:avLst>
              <a:gd name="adj" fmla="val 14815"/>
            </a:avLst>
          </a:prstGeom>
          <a:solidFill>
            <a:srgbClr val="8C8C8C"/>
          </a:solidFill>
          <a:ln/>
        </p:spPr>
      </p:sp>
      <p:sp>
        <p:nvSpPr>
          <p:cNvPr id="7" name="Text 5"/>
          <p:cNvSpPr txBox="1"/>
          <p:nvPr/>
        </p:nvSpPr>
        <p:spPr>
          <a:xfrm>
            <a:off x="640080" y="1481328"/>
            <a:ext cx="749808" cy="246888"/>
          </a:xfrm>
          <a:prstGeom prst="rect">
            <a:avLst/>
          </a:prstGeom>
          <a:noFill/>
          <a:ln/>
        </p:spPr>
        <p:txBody>
          <a:bodyPr wrap="square" lIns="0" tIns="0" rIns="0" bIns="0" rtlCol="0" anchor="ctr"/>
          <a:lstStyle/>
          <a:p>
            <a:pPr marL="0" indent="0" algn="ctr">
              <a:buNone/>
            </a:pPr>
            <a:r>
              <a:rPr lang="en-US" sz="950" b="1" dirty="0">
                <a:solidFill>
                  <a:srgbClr val="FFFFFF"/>
                </a:solidFill>
                <a:latin typeface="Malgun Gothic" pitchFamily="34" charset="0"/>
                <a:ea typeface="Malgun Gothic" pitchFamily="34" charset="-122"/>
                <a:cs typeface="Malgun Gothic" pitchFamily="34" charset="-120"/>
              </a:rPr>
              <a:t>논문</a:t>
            </a:r>
            <a:endParaRPr lang="en-US" sz="950" dirty="0"/>
          </a:p>
        </p:txBody>
      </p:sp>
      <p:sp>
        <p:nvSpPr>
          <p:cNvPr id="8" name="Text 6"/>
          <p:cNvSpPr txBox="1"/>
          <p:nvPr/>
        </p:nvSpPr>
        <p:spPr>
          <a:xfrm>
            <a:off x="1481328" y="1444752"/>
            <a:ext cx="4325112" cy="329184"/>
          </a:xfrm>
          <a:prstGeom prst="rect">
            <a:avLst/>
          </a:prstGeom>
          <a:noFill/>
          <a:ln/>
        </p:spPr>
        <p:txBody>
          <a:bodyPr wrap="square" lIns="0" tIns="0" rIns="0" bIns="0" rtlCol="0" anchor="ctr"/>
          <a:lstStyle/>
          <a:p>
            <a:pPr marL="0" indent="0">
              <a:buNone/>
            </a:pPr>
            <a:r>
              <a:rPr lang="en-US" sz="1350" b="1" dirty="0">
                <a:solidFill>
                  <a:srgbClr val="1A1A1A"/>
                </a:solidFill>
                <a:latin typeface="Malgun Gothic" pitchFamily="34" charset="0"/>
                <a:ea typeface="Malgun Gothic" pitchFamily="34" charset="-122"/>
                <a:cs typeface="Malgun Gothic" pitchFamily="34" charset="-120"/>
              </a:rPr>
              <a:t>질문 분해 → View 위 SQL → WITH 재매핑</a:t>
            </a:r>
            <a:endParaRPr lang="en-US" sz="1350" dirty="0"/>
          </a:p>
        </p:txBody>
      </p:sp>
      <p:sp>
        <p:nvSpPr>
          <p:cNvPr id="9" name="Shape 7"/>
          <p:cNvSpPr/>
          <p:nvPr/>
        </p:nvSpPr>
        <p:spPr>
          <a:xfrm>
            <a:off x="640080" y="1930942"/>
            <a:ext cx="5148072" cy="324138"/>
          </a:xfrm>
          <a:prstGeom prst="roundRect">
            <a:avLst>
              <a:gd name="adj" fmla="val 17647"/>
            </a:avLst>
          </a:prstGeom>
          <a:solidFill>
            <a:srgbClr val="FFFFFF"/>
          </a:solidFill>
          <a:ln w="24406">
            <a:solidFill>
              <a:srgbClr val="1A1A1A"/>
            </a:solidFill>
            <a:prstDash val="solid"/>
          </a:ln>
        </p:spPr>
      </p:sp>
      <p:sp>
        <p:nvSpPr>
          <p:cNvPr id="10" name="Text 8"/>
          <p:cNvSpPr txBox="1"/>
          <p:nvPr/>
        </p:nvSpPr>
        <p:spPr>
          <a:xfrm>
            <a:off x="1487016" y="1996961"/>
            <a:ext cx="3454200" cy="192099"/>
          </a:xfrm>
          <a:prstGeom prst="rect">
            <a:avLst/>
          </a:prstGeom>
          <a:noFill/>
          <a:ln/>
        </p:spPr>
        <p:txBody>
          <a:bodyPr wrap="none" lIns="0" tIns="0" rIns="0" bIns="0" rtlCol="0" anchor="ctr"/>
          <a:lstStyle/>
          <a:p>
            <a:pPr marL="0" indent="0" algn="ctr">
              <a:buNone/>
            </a:pPr>
            <a:r>
              <a:rPr lang="en-US" sz="980" dirty="0">
                <a:solidFill>
                  <a:srgbClr val="1A1A1A"/>
                </a:solidFill>
                <a:latin typeface="Malgun Gothic" pitchFamily="34" charset="0"/>
                <a:ea typeface="Malgun Gothic" pitchFamily="34" charset="-122"/>
                <a:cs typeface="Malgun Gothic" pitchFamily="34" charset="-120"/>
              </a:rPr>
              <a:t>“시설별로 최근 1년 압력용기 검사 불합격 건수는?”</a:t>
            </a:r>
            <a:endParaRPr lang="en-US" sz="980" dirty="0"/>
          </a:p>
        </p:txBody>
      </p:sp>
      <p:sp>
        <p:nvSpPr>
          <p:cNvPr id="11" name="Shape 9"/>
          <p:cNvSpPr/>
          <p:nvPr/>
        </p:nvSpPr>
        <p:spPr>
          <a:xfrm>
            <a:off x="3214116" y="2255080"/>
            <a:ext cx="0" cy="133469"/>
          </a:xfrm>
          <a:prstGeom prst="line">
            <a:avLst/>
          </a:prstGeom>
          <a:noFill/>
          <a:ln w="19830">
            <a:solidFill>
              <a:srgbClr val="4D4D4D"/>
            </a:solidFill>
            <a:prstDash val="solid"/>
            <a:tailEnd type="triangle"/>
          </a:ln>
        </p:spPr>
      </p:sp>
      <p:sp>
        <p:nvSpPr>
          <p:cNvPr id="12" name="Shape 10"/>
          <p:cNvSpPr/>
          <p:nvPr/>
        </p:nvSpPr>
        <p:spPr>
          <a:xfrm>
            <a:off x="640080" y="2407615"/>
            <a:ext cx="3241379" cy="629209"/>
          </a:xfrm>
          <a:prstGeom prst="roundRect">
            <a:avLst>
              <a:gd name="adj" fmla="val 9091"/>
            </a:avLst>
          </a:prstGeom>
          <a:solidFill>
            <a:srgbClr val="FFFFFF"/>
          </a:solidFill>
          <a:ln w="15254">
            <a:solidFill>
              <a:srgbClr val="3A3A3A"/>
            </a:solidFill>
            <a:prstDash val="solid"/>
          </a:ln>
        </p:spPr>
      </p:sp>
      <p:sp>
        <p:nvSpPr>
          <p:cNvPr id="13" name="Text 11"/>
          <p:cNvSpPr txBox="1"/>
          <p:nvPr/>
        </p:nvSpPr>
        <p:spPr>
          <a:xfrm>
            <a:off x="754482" y="2467795"/>
            <a:ext cx="850511" cy="184711"/>
          </a:xfrm>
          <a:prstGeom prst="rect">
            <a:avLst/>
          </a:prstGeom>
          <a:noFill/>
          <a:ln/>
        </p:spPr>
        <p:txBody>
          <a:bodyPr wrap="none" lIns="0" tIns="0" rIns="0" bIns="0" rtlCol="0" anchor="ctr"/>
          <a:lstStyle/>
          <a:p>
            <a:pPr marL="0" indent="0" algn="l">
              <a:buNone/>
            </a:pPr>
            <a:r>
              <a:rPr lang="en-US" sz="940" b="1" dirty="0">
                <a:solidFill>
                  <a:srgbClr val="1A1A1A"/>
                </a:solidFill>
                <a:latin typeface="Malgun Gothic" pitchFamily="34" charset="0"/>
                <a:ea typeface="Malgun Gothic" pitchFamily="34" charset="-122"/>
                <a:cs typeface="Malgun Gothic" pitchFamily="34" charset="-120"/>
              </a:rPr>
              <a:t>③ 질문 분해</a:t>
            </a:r>
            <a:endParaRPr lang="en-US" sz="940" dirty="0"/>
          </a:p>
        </p:txBody>
      </p:sp>
      <p:sp>
        <p:nvSpPr>
          <p:cNvPr id="14" name="Text 12"/>
          <p:cNvSpPr txBox="1"/>
          <p:nvPr/>
        </p:nvSpPr>
        <p:spPr>
          <a:xfrm>
            <a:off x="754482" y="2671692"/>
            <a:ext cx="1983293" cy="177322"/>
          </a:xfrm>
          <a:prstGeom prst="rect">
            <a:avLst/>
          </a:prstGeom>
          <a:noFill/>
          <a:ln/>
        </p:spPr>
        <p:txBody>
          <a:bodyPr wrap="none" lIns="0" tIns="0" rIns="0" bIns="0" rtlCol="0" anchor="ctr"/>
          <a:lstStyle/>
          <a:p>
            <a:pPr marL="0" indent="0" algn="l">
              <a:buNone/>
            </a:pPr>
            <a:r>
              <a:rPr lang="en-US" sz="900" dirty="0">
                <a:solidFill>
                  <a:srgbClr val="1A1A1A"/>
                </a:solidFill>
                <a:latin typeface="Malgun Gothic" pitchFamily="34" charset="0"/>
                <a:ea typeface="Malgun Gothic" pitchFamily="34" charset="-122"/>
                <a:cs typeface="Malgun Gothic" pitchFamily="34" charset="-120"/>
              </a:rPr>
              <a:t>Q1 최근 1년 압력용기 검사 결과</a:t>
            </a:r>
            <a:endParaRPr lang="en-US" sz="900" dirty="0"/>
          </a:p>
        </p:txBody>
      </p:sp>
      <p:sp>
        <p:nvSpPr>
          <p:cNvPr id="15" name="Text 13"/>
          <p:cNvSpPr txBox="1"/>
          <p:nvPr/>
        </p:nvSpPr>
        <p:spPr>
          <a:xfrm>
            <a:off x="754482" y="2843295"/>
            <a:ext cx="1718888" cy="177322"/>
          </a:xfrm>
          <a:prstGeom prst="rect">
            <a:avLst/>
          </a:prstGeom>
          <a:noFill/>
          <a:ln/>
        </p:spPr>
        <p:txBody>
          <a:bodyPr wrap="none" lIns="0" tIns="0" rIns="0" bIns="0" rtlCol="0" anchor="ctr"/>
          <a:lstStyle/>
          <a:p>
            <a:pPr marL="0" indent="0" algn="l">
              <a:buNone/>
            </a:pPr>
            <a:r>
              <a:rPr lang="en-US" sz="900" dirty="0">
                <a:solidFill>
                  <a:srgbClr val="1A1A1A"/>
                </a:solidFill>
                <a:latin typeface="Malgun Gothic" pitchFamily="34" charset="0"/>
                <a:ea typeface="Malgun Gothic" pitchFamily="34" charset="-122"/>
                <a:cs typeface="Malgun Gothic" pitchFamily="34" charset="-120"/>
              </a:rPr>
              <a:t>Q2 시설별 불합격 건수 집계</a:t>
            </a:r>
            <a:endParaRPr lang="en-US" sz="900" dirty="0"/>
          </a:p>
        </p:txBody>
      </p:sp>
      <p:sp>
        <p:nvSpPr>
          <p:cNvPr id="16" name="Shape 14"/>
          <p:cNvSpPr/>
          <p:nvPr/>
        </p:nvSpPr>
        <p:spPr>
          <a:xfrm>
            <a:off x="4072128" y="2407615"/>
            <a:ext cx="1716024" cy="629209"/>
          </a:xfrm>
          <a:prstGeom prst="roundRect">
            <a:avLst>
              <a:gd name="adj" fmla="val 9091"/>
            </a:avLst>
          </a:prstGeom>
          <a:solidFill>
            <a:srgbClr val="EDEDED"/>
          </a:solidFill>
          <a:ln w="15254">
            <a:solidFill>
              <a:srgbClr val="A6A6A6"/>
            </a:solidFill>
            <a:prstDash val="solid"/>
          </a:ln>
        </p:spPr>
      </p:sp>
      <p:sp>
        <p:nvSpPr>
          <p:cNvPr id="17" name="Text 15"/>
          <p:cNvSpPr txBox="1"/>
          <p:nvPr/>
        </p:nvSpPr>
        <p:spPr>
          <a:xfrm>
            <a:off x="4319554" y="2486862"/>
            <a:ext cx="1221172" cy="184711"/>
          </a:xfrm>
          <a:prstGeom prst="rect">
            <a:avLst/>
          </a:prstGeom>
          <a:noFill/>
          <a:ln/>
        </p:spPr>
        <p:txBody>
          <a:bodyPr wrap="none" lIns="0" tIns="0" rIns="0" bIns="0" rtlCol="0" anchor="ctr"/>
          <a:lstStyle/>
          <a:p>
            <a:pPr marL="0" indent="0" algn="ctr">
              <a:buNone/>
            </a:pPr>
            <a:r>
              <a:rPr lang="en-US" sz="940" b="1" dirty="0">
                <a:solidFill>
                  <a:srgbClr val="333333"/>
                </a:solidFill>
                <a:latin typeface="Malgun Gothic" pitchFamily="34" charset="0"/>
                <a:ea typeface="Malgun Gothic" pitchFamily="34" charset="-122"/>
                <a:cs typeface="Malgun Gothic" pitchFamily="34" charset="-120"/>
              </a:rPr>
              <a:t>Few-shot (FAISS)</a:t>
            </a:r>
            <a:endParaRPr lang="en-US" sz="940" dirty="0"/>
          </a:p>
        </p:txBody>
      </p:sp>
      <p:sp>
        <p:nvSpPr>
          <p:cNvPr id="18" name="Text 16"/>
          <p:cNvSpPr txBox="1"/>
          <p:nvPr/>
        </p:nvSpPr>
        <p:spPr>
          <a:xfrm>
            <a:off x="4507562" y="2684920"/>
            <a:ext cx="845157" cy="169934"/>
          </a:xfrm>
          <a:prstGeom prst="rect">
            <a:avLst/>
          </a:prstGeom>
          <a:noFill/>
          <a:ln/>
        </p:spPr>
        <p:txBody>
          <a:bodyPr wrap="none" lIns="0" tIns="0" rIns="0" bIns="0" rtlCol="0" anchor="ctr"/>
          <a:lstStyle/>
          <a:p>
            <a:pPr marL="0" indent="0" algn="ctr">
              <a:buNone/>
            </a:pPr>
            <a:r>
              <a:rPr lang="en-US" sz="860" dirty="0">
                <a:solidFill>
                  <a:srgbClr val="333333"/>
                </a:solidFill>
                <a:latin typeface="Malgun Gothic" pitchFamily="34" charset="0"/>
                <a:ea typeface="Malgun Gothic" pitchFamily="34" charset="-122"/>
                <a:cs typeface="Malgun Gothic" pitchFamily="34" charset="-120"/>
              </a:rPr>
              <a:t>하위 질문마다</a:t>
            </a:r>
            <a:endParaRPr lang="en-US" sz="860" dirty="0"/>
          </a:p>
        </p:txBody>
      </p:sp>
      <p:sp>
        <p:nvSpPr>
          <p:cNvPr id="19" name="Text 17"/>
          <p:cNvSpPr txBox="1"/>
          <p:nvPr/>
        </p:nvSpPr>
        <p:spPr>
          <a:xfrm>
            <a:off x="4417573" y="2837455"/>
            <a:ext cx="1025133" cy="169934"/>
          </a:xfrm>
          <a:prstGeom prst="rect">
            <a:avLst/>
          </a:prstGeom>
          <a:noFill/>
          <a:ln/>
        </p:spPr>
        <p:txBody>
          <a:bodyPr wrap="none" lIns="0" tIns="0" rIns="0" bIns="0" rtlCol="0" anchor="ctr"/>
          <a:lstStyle/>
          <a:p>
            <a:pPr marL="0" indent="0" algn="ctr">
              <a:buNone/>
            </a:pPr>
            <a:r>
              <a:rPr lang="en-US" sz="860" dirty="0">
                <a:solidFill>
                  <a:srgbClr val="333333"/>
                </a:solidFill>
                <a:latin typeface="Malgun Gothic" pitchFamily="34" charset="0"/>
                <a:ea typeface="Malgun Gothic" pitchFamily="34" charset="-122"/>
                <a:cs typeface="Malgun Gothic" pitchFamily="34" charset="-120"/>
              </a:rPr>
              <a:t>비슷한 예시 검색</a:t>
            </a:r>
            <a:endParaRPr lang="en-US" sz="860" dirty="0"/>
          </a:p>
        </p:txBody>
      </p:sp>
      <p:sp>
        <p:nvSpPr>
          <p:cNvPr id="20" name="Shape 18"/>
          <p:cNvSpPr/>
          <p:nvPr/>
        </p:nvSpPr>
        <p:spPr>
          <a:xfrm flipH="1">
            <a:off x="3919593" y="2722220"/>
            <a:ext cx="152535" cy="0"/>
          </a:xfrm>
          <a:prstGeom prst="line">
            <a:avLst/>
          </a:prstGeom>
          <a:noFill/>
          <a:ln w="19830">
            <a:solidFill>
              <a:srgbClr val="8C8C8C"/>
            </a:solidFill>
            <a:prstDash val="dash"/>
            <a:tailEnd type="triangle"/>
          </a:ln>
        </p:spPr>
      </p:sp>
      <p:sp>
        <p:nvSpPr>
          <p:cNvPr id="21" name="Shape 19"/>
          <p:cNvSpPr/>
          <p:nvPr/>
        </p:nvSpPr>
        <p:spPr>
          <a:xfrm>
            <a:off x="2260769" y="3036824"/>
            <a:ext cx="0" cy="133469"/>
          </a:xfrm>
          <a:prstGeom prst="line">
            <a:avLst/>
          </a:prstGeom>
          <a:noFill/>
          <a:ln w="19830">
            <a:solidFill>
              <a:srgbClr val="4D4D4D"/>
            </a:solidFill>
            <a:prstDash val="solid"/>
            <a:tailEnd type="triangle"/>
          </a:ln>
        </p:spPr>
      </p:sp>
      <p:sp>
        <p:nvSpPr>
          <p:cNvPr id="22" name="Shape 20"/>
          <p:cNvSpPr/>
          <p:nvPr/>
        </p:nvSpPr>
        <p:spPr>
          <a:xfrm>
            <a:off x="640080" y="3189359"/>
            <a:ext cx="5148072" cy="572008"/>
          </a:xfrm>
          <a:prstGeom prst="roundRect">
            <a:avLst>
              <a:gd name="adj" fmla="val 10000"/>
            </a:avLst>
          </a:prstGeom>
          <a:solidFill>
            <a:srgbClr val="FCE9E1"/>
          </a:solidFill>
          <a:ln w="30507">
            <a:solidFill>
              <a:srgbClr val="D9480F"/>
            </a:solidFill>
            <a:prstDash val="solid"/>
          </a:ln>
        </p:spPr>
      </p:sp>
      <p:sp>
        <p:nvSpPr>
          <p:cNvPr id="23" name="Text 21"/>
          <p:cNvSpPr txBox="1"/>
          <p:nvPr/>
        </p:nvSpPr>
        <p:spPr>
          <a:xfrm>
            <a:off x="754482" y="3249539"/>
            <a:ext cx="2745001" cy="184711"/>
          </a:xfrm>
          <a:prstGeom prst="rect">
            <a:avLst/>
          </a:prstGeom>
          <a:noFill/>
          <a:ln/>
        </p:spPr>
        <p:txBody>
          <a:bodyPr wrap="none" lIns="0" tIns="0" rIns="0" bIns="0" rtlCol="0" anchor="ctr"/>
          <a:lstStyle/>
          <a:p>
            <a:pPr marL="0" indent="0" algn="l">
              <a:buNone/>
            </a:pPr>
            <a:r>
              <a:rPr lang="en-US" sz="940" b="1" dirty="0">
                <a:solidFill>
                  <a:srgbClr val="1A1A1A"/>
                </a:solidFill>
                <a:latin typeface="Malgun Gothic" pitchFamily="34" charset="0"/>
                <a:ea typeface="Malgun Gothic" pitchFamily="34" charset="-122"/>
                <a:cs typeface="Malgun Gothic" pitchFamily="34" charset="-120"/>
              </a:rPr>
              <a:t>④ LLM이 View 기준 SQL 작성 (Join 없음)</a:t>
            </a:r>
            <a:endParaRPr lang="en-US" sz="940" dirty="0"/>
          </a:p>
        </p:txBody>
      </p:sp>
      <p:sp>
        <p:nvSpPr>
          <p:cNvPr id="24" name="Text 22"/>
          <p:cNvSpPr txBox="1"/>
          <p:nvPr/>
        </p:nvSpPr>
        <p:spPr>
          <a:xfrm>
            <a:off x="754482" y="3447597"/>
            <a:ext cx="2990667" cy="169934"/>
          </a:xfrm>
          <a:prstGeom prst="rect">
            <a:avLst/>
          </a:prstGeom>
          <a:noFill/>
          <a:ln/>
        </p:spPr>
        <p:txBody>
          <a:bodyPr wrap="none" lIns="0" tIns="0" rIns="0" bIns="0" rtlCol="0" anchor="ctr"/>
          <a:lstStyle/>
          <a:p>
            <a:pPr marL="0" indent="0" algn="l">
              <a:buNone/>
            </a:pPr>
            <a:r>
              <a:rPr lang="en-US" sz="860" dirty="0">
                <a:solidFill>
                  <a:srgbClr val="1A1A1A"/>
                </a:solidFill>
                <a:latin typeface="Consolas" pitchFamily="34" charset="0"/>
                <a:ea typeface="Consolas" pitchFamily="34" charset="-122"/>
                <a:cs typeface="Consolas" pitchFamily="34" charset="-120"/>
              </a:rPr>
              <a:t>SELECT 시설명, COUNT(*) FROM V_시설_설비_검사</a:t>
            </a:r>
            <a:endParaRPr lang="en-US" sz="860" dirty="0"/>
          </a:p>
        </p:txBody>
      </p:sp>
      <p:sp>
        <p:nvSpPr>
          <p:cNvPr id="25" name="Text 23"/>
          <p:cNvSpPr txBox="1"/>
          <p:nvPr/>
        </p:nvSpPr>
        <p:spPr>
          <a:xfrm>
            <a:off x="754482" y="3600133"/>
            <a:ext cx="4049214" cy="169934"/>
          </a:xfrm>
          <a:prstGeom prst="rect">
            <a:avLst/>
          </a:prstGeom>
          <a:noFill/>
          <a:ln/>
        </p:spPr>
        <p:txBody>
          <a:bodyPr wrap="none" lIns="0" tIns="0" rIns="0" bIns="0" rtlCol="0" anchor="ctr"/>
          <a:lstStyle/>
          <a:p>
            <a:pPr marL="0" indent="0" algn="l">
              <a:buNone/>
            </a:pPr>
            <a:r>
              <a:rPr lang="en-US" sz="860" dirty="0">
                <a:solidFill>
                  <a:srgbClr val="1A1A1A"/>
                </a:solidFill>
                <a:latin typeface="Consolas" pitchFamily="34" charset="0"/>
                <a:ea typeface="Consolas" pitchFamily="34" charset="-122"/>
                <a:cs typeface="Consolas" pitchFamily="34" charset="-120"/>
              </a:rPr>
              <a:t> WHERE 설비유형='압력용기' AND 판정='불합격' … GROUP BY 시설명</a:t>
            </a:r>
            <a:endParaRPr lang="en-US" sz="860" dirty="0"/>
          </a:p>
        </p:txBody>
      </p:sp>
      <p:sp>
        <p:nvSpPr>
          <p:cNvPr id="26" name="Shape 24"/>
          <p:cNvSpPr/>
          <p:nvPr/>
        </p:nvSpPr>
        <p:spPr>
          <a:xfrm>
            <a:off x="2260769" y="3761367"/>
            <a:ext cx="0" cy="133469"/>
          </a:xfrm>
          <a:prstGeom prst="line">
            <a:avLst/>
          </a:prstGeom>
          <a:noFill/>
          <a:ln w="19830">
            <a:solidFill>
              <a:srgbClr val="4D4D4D"/>
            </a:solidFill>
            <a:prstDash val="solid"/>
            <a:tailEnd type="triangle"/>
          </a:ln>
        </p:spPr>
      </p:sp>
      <p:sp>
        <p:nvSpPr>
          <p:cNvPr id="27" name="Shape 25"/>
          <p:cNvSpPr/>
          <p:nvPr/>
        </p:nvSpPr>
        <p:spPr>
          <a:xfrm>
            <a:off x="640080" y="3913903"/>
            <a:ext cx="5148072" cy="495740"/>
          </a:xfrm>
          <a:prstGeom prst="roundRect">
            <a:avLst>
              <a:gd name="adj" fmla="val 11538"/>
            </a:avLst>
          </a:prstGeom>
          <a:solidFill>
            <a:srgbClr val="D9D9D9"/>
          </a:solidFill>
          <a:ln w="15254">
            <a:solidFill>
              <a:srgbClr val="7F7F7F"/>
            </a:solidFill>
            <a:prstDash val="solid"/>
          </a:ln>
        </p:spPr>
      </p:sp>
      <p:sp>
        <p:nvSpPr>
          <p:cNvPr id="28" name="Text 26"/>
          <p:cNvSpPr txBox="1"/>
          <p:nvPr/>
        </p:nvSpPr>
        <p:spPr>
          <a:xfrm>
            <a:off x="754482" y="3974083"/>
            <a:ext cx="1934180" cy="184711"/>
          </a:xfrm>
          <a:prstGeom prst="rect">
            <a:avLst/>
          </a:prstGeom>
          <a:noFill/>
          <a:ln/>
        </p:spPr>
        <p:txBody>
          <a:bodyPr wrap="none" lIns="0" tIns="0" rIns="0" bIns="0" rtlCol="0" anchor="ctr"/>
          <a:lstStyle/>
          <a:p>
            <a:pPr marL="0" indent="0" algn="l">
              <a:buNone/>
            </a:pPr>
            <a:r>
              <a:rPr lang="en-US" sz="940" b="1" dirty="0">
                <a:solidFill>
                  <a:srgbClr val="262626"/>
                </a:solidFill>
                <a:latin typeface="Malgun Gothic" pitchFamily="34" charset="0"/>
                <a:ea typeface="Malgun Gothic" pitchFamily="34" charset="-122"/>
                <a:cs typeface="Malgun Gothic" pitchFamily="34" charset="-120"/>
              </a:rPr>
              <a:t>규칙 기반 재매핑 → 실행 SQL</a:t>
            </a:r>
            <a:endParaRPr lang="en-US" sz="940" dirty="0"/>
          </a:p>
        </p:txBody>
      </p:sp>
      <p:sp>
        <p:nvSpPr>
          <p:cNvPr id="29" name="Text 27"/>
          <p:cNvSpPr txBox="1"/>
          <p:nvPr/>
        </p:nvSpPr>
        <p:spPr>
          <a:xfrm>
            <a:off x="754482" y="4172141"/>
            <a:ext cx="5126705" cy="169934"/>
          </a:xfrm>
          <a:prstGeom prst="rect">
            <a:avLst/>
          </a:prstGeom>
          <a:noFill/>
          <a:ln/>
        </p:spPr>
        <p:txBody>
          <a:bodyPr wrap="none" lIns="0" tIns="0" rIns="0" bIns="0" rtlCol="0" anchor="ctr"/>
          <a:lstStyle/>
          <a:p>
            <a:pPr marL="0" indent="0" algn="l">
              <a:buNone/>
            </a:pPr>
            <a:r>
              <a:rPr lang="en-US" sz="860" dirty="0">
                <a:solidFill>
                  <a:srgbClr val="262626"/>
                </a:solidFill>
                <a:latin typeface="Consolas" pitchFamily="34" charset="0"/>
                <a:ea typeface="Consolas" pitchFamily="34" charset="-122"/>
                <a:cs typeface="Consolas" pitchFamily="34" charset="-120"/>
              </a:rPr>
              <a:t>WITH V_시설_설비_검사 AS (SELECT … FROM TB_FCLT_M JOIN TB_ASSET_M JOIN …)</a:t>
            </a:r>
            <a:endParaRPr lang="en-US" sz="860" dirty="0"/>
          </a:p>
        </p:txBody>
      </p:sp>
      <p:sp>
        <p:nvSpPr>
          <p:cNvPr id="30" name="Text 28"/>
          <p:cNvSpPr txBox="1"/>
          <p:nvPr/>
        </p:nvSpPr>
        <p:spPr>
          <a:xfrm>
            <a:off x="658368" y="4612369"/>
            <a:ext cx="5111496" cy="1559831"/>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200" dirty="0">
                <a:solidFill>
                  <a:srgbClr val="1A1A1A"/>
                </a:solidFill>
                <a:latin typeface="Malgun Gothic" pitchFamily="34" charset="0"/>
                <a:ea typeface="Malgun Gothic" pitchFamily="34" charset="-122"/>
                <a:cs typeface="Malgun Gothic" pitchFamily="34" charset="-120"/>
              </a:rPr>
              <a:t>하위 질문마다 예시를 따로 붙여, 복합 질문에서도 맞는 패턴을 참고하게 한다</a:t>
            </a:r>
            <a:endParaRPr lang="en-US" sz="1200" dirty="0"/>
          </a:p>
          <a:p>
            <a:pPr marL="152400" indent="-152400">
              <a:lnSpc>
                <a:spcPct val="110000"/>
              </a:lnSpc>
              <a:spcAft>
                <a:spcPts val="400"/>
              </a:spcAft>
              <a:buSzPct val="100000"/>
              <a:buChar char="•"/>
            </a:pPr>
            <a:r>
              <a:rPr lang="en-US" sz="1200" b="1" dirty="0">
                <a:solidFill>
                  <a:srgbClr val="1A1A1A"/>
                </a:solidFill>
                <a:latin typeface="Malgun Gothic" pitchFamily="34" charset="0"/>
                <a:ea typeface="Malgun Gothic" pitchFamily="34" charset="-122"/>
                <a:cs typeface="Malgun Gothic" pitchFamily="34" charset="-120"/>
              </a:rPr>
              <a:t>LLM은 Join 없는 단순 SQL만 쓰고,  </a:t>
            </a:r>
            <a:r>
              <a:rPr lang="en-US" sz="1200" dirty="0">
                <a:solidFill>
                  <a:srgbClr val="5F5F5F"/>
                </a:solidFill>
                <a:latin typeface="Malgun Gothic" pitchFamily="34" charset="0"/>
                <a:ea typeface="Malgun Gothic" pitchFamily="34" charset="-122"/>
                <a:cs typeface="Malgun Gothic" pitchFamily="34" charset="-120"/>
              </a:rPr>
              <a:t>실제 테이블로 바꾸는 일은 규칙이 맡는다</a:t>
            </a:r>
            <a:endParaRPr lang="en-US" sz="1200" dirty="0"/>
          </a:p>
          <a:p>
            <a:pPr marL="152400" indent="-152400">
              <a:lnSpc>
                <a:spcPct val="110000"/>
              </a:lnSpc>
              <a:spcAft>
                <a:spcPts val="400"/>
              </a:spcAft>
              <a:buSzPct val="100000"/>
              <a:buChar char="•"/>
            </a:pPr>
            <a:r>
              <a:rPr lang="en-US" sz="1200" dirty="0">
                <a:solidFill>
                  <a:srgbClr val="1A1A1A"/>
                </a:solidFill>
                <a:latin typeface="Malgun Gothic" pitchFamily="34" charset="0"/>
                <a:ea typeface="Malgun Gothic" pitchFamily="34" charset="-122"/>
                <a:cs typeface="Malgun Gothic" pitchFamily="34" charset="-120"/>
              </a:rPr>
              <a:t>예시 SQL은 설명용 단순화 · 전체 정확도 약 93%</a:t>
            </a:r>
            <a:endParaRPr lang="en-US" sz="1200" dirty="0"/>
          </a:p>
        </p:txBody>
      </p:sp>
      <p:sp>
        <p:nvSpPr>
          <p:cNvPr id="31" name="Shape 29"/>
          <p:cNvSpPr/>
          <p:nvPr/>
        </p:nvSpPr>
        <p:spPr>
          <a:xfrm>
            <a:off x="6217920" y="1325880"/>
            <a:ext cx="5513832" cy="4937760"/>
          </a:xfrm>
          <a:prstGeom prst="roundRect">
            <a:avLst>
              <a:gd name="adj" fmla="val 1481"/>
            </a:avLst>
          </a:prstGeom>
          <a:solidFill>
            <a:srgbClr val="F4F4F4"/>
          </a:solidFill>
          <a:ln w="9525">
            <a:solidFill>
              <a:srgbClr val="BFBFBF"/>
            </a:solidFill>
            <a:prstDash val="solid"/>
          </a:ln>
        </p:spPr>
      </p:sp>
      <p:sp>
        <p:nvSpPr>
          <p:cNvPr id="32" name="Shape 30"/>
          <p:cNvSpPr/>
          <p:nvPr/>
        </p:nvSpPr>
        <p:spPr>
          <a:xfrm>
            <a:off x="6400800" y="1481328"/>
            <a:ext cx="749808" cy="246888"/>
          </a:xfrm>
          <a:prstGeom prst="roundRect">
            <a:avLst>
              <a:gd name="adj" fmla="val 14815"/>
            </a:avLst>
          </a:prstGeom>
          <a:solidFill>
            <a:srgbClr val="1A1A1A"/>
          </a:solidFill>
          <a:ln/>
        </p:spPr>
      </p:sp>
      <p:sp>
        <p:nvSpPr>
          <p:cNvPr id="33" name="Text 31"/>
          <p:cNvSpPr txBox="1"/>
          <p:nvPr/>
        </p:nvSpPr>
        <p:spPr>
          <a:xfrm>
            <a:off x="6400800" y="1481328"/>
            <a:ext cx="749808" cy="246888"/>
          </a:xfrm>
          <a:prstGeom prst="rect">
            <a:avLst/>
          </a:prstGeom>
          <a:noFill/>
          <a:ln/>
        </p:spPr>
        <p:txBody>
          <a:bodyPr wrap="square" lIns="0" tIns="0" rIns="0" bIns="0" rtlCol="0" anchor="ctr"/>
          <a:lstStyle/>
          <a:p>
            <a:pPr marL="0" indent="0" algn="ctr">
              <a:buNone/>
            </a:pPr>
            <a:r>
              <a:rPr lang="en-US" sz="950" b="1" dirty="0">
                <a:solidFill>
                  <a:srgbClr val="FFFFFF"/>
                </a:solidFill>
                <a:latin typeface="Malgun Gothic" pitchFamily="34" charset="0"/>
                <a:ea typeface="Malgun Gothic" pitchFamily="34" charset="-122"/>
                <a:cs typeface="Malgun Gothic" pitchFamily="34" charset="-120"/>
              </a:rPr>
              <a:t>과제 적용</a:t>
            </a:r>
            <a:endParaRPr lang="en-US" sz="950" dirty="0"/>
          </a:p>
        </p:txBody>
      </p:sp>
      <p:sp>
        <p:nvSpPr>
          <p:cNvPr id="34" name="Text 32"/>
          <p:cNvSpPr txBox="1"/>
          <p:nvPr/>
        </p:nvSpPr>
        <p:spPr>
          <a:xfrm>
            <a:off x="7242048" y="1444752"/>
            <a:ext cx="4325112" cy="329184"/>
          </a:xfrm>
          <a:prstGeom prst="rect">
            <a:avLst/>
          </a:prstGeom>
          <a:noFill/>
          <a:ln/>
        </p:spPr>
        <p:txBody>
          <a:bodyPr wrap="square" lIns="0" tIns="0" rIns="0" bIns="0" rtlCol="0" anchor="ctr"/>
          <a:lstStyle/>
          <a:p>
            <a:pPr marL="0" indent="0">
              <a:buNone/>
            </a:pPr>
            <a:r>
              <a:rPr lang="en-US" sz="1350" b="1" dirty="0">
                <a:solidFill>
                  <a:srgbClr val="1A1A1A"/>
                </a:solidFill>
                <a:latin typeface="Malgun Gothic" pitchFamily="34" charset="0"/>
                <a:ea typeface="Malgun Gothic" pitchFamily="34" charset="-122"/>
                <a:cs typeface="Malgun Gothic" pitchFamily="34" charset="-120"/>
              </a:rPr>
              <a:t>반도체 복합 질의 + Exadata 실행 규칙</a:t>
            </a:r>
            <a:endParaRPr lang="en-US" sz="1350" dirty="0"/>
          </a:p>
        </p:txBody>
      </p:sp>
      <p:sp>
        <p:nvSpPr>
          <p:cNvPr id="35" name="Shape 33"/>
          <p:cNvSpPr/>
          <p:nvPr/>
        </p:nvSpPr>
        <p:spPr>
          <a:xfrm>
            <a:off x="6400800" y="1892808"/>
            <a:ext cx="5148072" cy="1296551"/>
          </a:xfrm>
          <a:prstGeom prst="roundRect">
            <a:avLst>
              <a:gd name="adj" fmla="val 4412"/>
            </a:avLst>
          </a:prstGeom>
          <a:solidFill>
            <a:srgbClr val="FFFFFF"/>
          </a:solidFill>
          <a:ln/>
        </p:spPr>
      </p:sp>
      <p:sp>
        <p:nvSpPr>
          <p:cNvPr id="36" name="Shape 34"/>
          <p:cNvSpPr/>
          <p:nvPr/>
        </p:nvSpPr>
        <p:spPr>
          <a:xfrm>
            <a:off x="6496135" y="1988143"/>
            <a:ext cx="4957403" cy="305071"/>
          </a:xfrm>
          <a:prstGeom prst="roundRect">
            <a:avLst>
              <a:gd name="adj" fmla="val 18750"/>
            </a:avLst>
          </a:prstGeom>
          <a:solidFill>
            <a:srgbClr val="FFFFFF"/>
          </a:solidFill>
          <a:ln w="24406">
            <a:solidFill>
              <a:srgbClr val="1A1A1A"/>
            </a:solidFill>
            <a:prstDash val="solid"/>
          </a:ln>
        </p:spPr>
      </p:sp>
      <p:sp>
        <p:nvSpPr>
          <p:cNvPr id="37" name="Text 35"/>
          <p:cNvSpPr txBox="1"/>
          <p:nvPr/>
        </p:nvSpPr>
        <p:spPr>
          <a:xfrm>
            <a:off x="6711719" y="2048323"/>
            <a:ext cx="4526234" cy="184711"/>
          </a:xfrm>
          <a:prstGeom prst="rect">
            <a:avLst/>
          </a:prstGeom>
          <a:noFill/>
          <a:ln/>
        </p:spPr>
        <p:txBody>
          <a:bodyPr wrap="none" lIns="0" tIns="0" rIns="0" bIns="0" rtlCol="0" anchor="ctr"/>
          <a:lstStyle/>
          <a:p>
            <a:pPr marL="0" indent="0" algn="ctr">
              <a:buNone/>
            </a:pPr>
            <a:r>
              <a:rPr lang="en-US" sz="940" dirty="0">
                <a:solidFill>
                  <a:srgbClr val="1A1A1A"/>
                </a:solidFill>
                <a:latin typeface="Malgun Gothic" pitchFamily="34" charset="0"/>
                <a:ea typeface="Malgun Gothic" pitchFamily="34" charset="-122"/>
                <a:cs typeface="Malgun Gothic" pitchFamily="34" charset="-120"/>
              </a:rPr>
              <a:t>“어제 A라인 Etch 설비 PM 이후 진행한 Lot 중 수율이 떨어진 Lot은?”</a:t>
            </a:r>
            <a:endParaRPr lang="en-US" sz="940" dirty="0"/>
          </a:p>
        </p:txBody>
      </p:sp>
      <p:sp>
        <p:nvSpPr>
          <p:cNvPr id="38" name="Shape 36"/>
          <p:cNvSpPr/>
          <p:nvPr/>
        </p:nvSpPr>
        <p:spPr>
          <a:xfrm>
            <a:off x="7735485" y="2293214"/>
            <a:ext cx="0" cy="133469"/>
          </a:xfrm>
          <a:prstGeom prst="line">
            <a:avLst/>
          </a:prstGeom>
          <a:noFill/>
          <a:ln w="19830">
            <a:solidFill>
              <a:srgbClr val="4D4D4D"/>
            </a:solidFill>
            <a:prstDash val="solid"/>
            <a:tailEnd type="triangle"/>
          </a:ln>
        </p:spPr>
      </p:sp>
      <p:sp>
        <p:nvSpPr>
          <p:cNvPr id="39" name="Shape 37"/>
          <p:cNvSpPr/>
          <p:nvPr/>
        </p:nvSpPr>
        <p:spPr>
          <a:xfrm>
            <a:off x="10214187" y="2293214"/>
            <a:ext cx="0" cy="133469"/>
          </a:xfrm>
          <a:prstGeom prst="line">
            <a:avLst/>
          </a:prstGeom>
          <a:noFill/>
          <a:ln w="19830">
            <a:solidFill>
              <a:srgbClr val="4D4D4D"/>
            </a:solidFill>
            <a:prstDash val="solid"/>
            <a:tailEnd type="triangle"/>
          </a:ln>
        </p:spPr>
      </p:sp>
      <p:sp>
        <p:nvSpPr>
          <p:cNvPr id="40" name="Shape 38"/>
          <p:cNvSpPr/>
          <p:nvPr/>
        </p:nvSpPr>
        <p:spPr>
          <a:xfrm>
            <a:off x="6496135" y="2445749"/>
            <a:ext cx="2431034" cy="648276"/>
          </a:xfrm>
          <a:prstGeom prst="roundRect">
            <a:avLst>
              <a:gd name="adj" fmla="val 8824"/>
            </a:avLst>
          </a:prstGeom>
          <a:solidFill>
            <a:srgbClr val="EDEDED"/>
          </a:solidFill>
          <a:ln w="15254">
            <a:solidFill>
              <a:srgbClr val="A6A6A6"/>
            </a:solidFill>
            <a:prstDash val="solid"/>
          </a:ln>
        </p:spPr>
      </p:sp>
      <p:sp>
        <p:nvSpPr>
          <p:cNvPr id="41" name="Text 39"/>
          <p:cNvSpPr txBox="1"/>
          <p:nvPr/>
        </p:nvSpPr>
        <p:spPr>
          <a:xfrm>
            <a:off x="6610536" y="2524996"/>
            <a:ext cx="1388484" cy="184711"/>
          </a:xfrm>
          <a:prstGeom prst="rect">
            <a:avLst/>
          </a:prstGeom>
          <a:noFill/>
          <a:ln/>
        </p:spPr>
        <p:txBody>
          <a:bodyPr wrap="none" lIns="0" tIns="0" rIns="0" bIns="0" rtlCol="0" anchor="ctr"/>
          <a:lstStyle/>
          <a:p>
            <a:pPr marL="0" indent="0" algn="l">
              <a:buNone/>
            </a:pPr>
            <a:r>
              <a:rPr lang="en-US" sz="940" b="1" dirty="0">
                <a:solidFill>
                  <a:srgbClr val="333333"/>
                </a:solidFill>
                <a:latin typeface="Malgun Gothic" pitchFamily="34" charset="0"/>
                <a:ea typeface="Malgun Gothic" pitchFamily="34" charset="-122"/>
                <a:cs typeface="Malgun Gothic" pitchFamily="34" charset="-120"/>
              </a:rPr>
              <a:t>Q1 PM 이후 진행 Lot</a:t>
            </a:r>
            <a:endParaRPr lang="en-US" sz="940" dirty="0"/>
          </a:p>
        </p:txBody>
      </p:sp>
      <p:sp>
        <p:nvSpPr>
          <p:cNvPr id="42" name="Text 40"/>
          <p:cNvSpPr txBox="1"/>
          <p:nvPr/>
        </p:nvSpPr>
        <p:spPr>
          <a:xfrm>
            <a:off x="6610536" y="2723054"/>
            <a:ext cx="1463234" cy="169934"/>
          </a:xfrm>
          <a:prstGeom prst="rect">
            <a:avLst/>
          </a:prstGeom>
          <a:noFill/>
          <a:ln/>
        </p:spPr>
        <p:txBody>
          <a:bodyPr wrap="none" lIns="0" tIns="0" rIns="0" bIns="0" rtlCol="0" anchor="ctr"/>
          <a:lstStyle/>
          <a:p>
            <a:pPr marL="0" indent="0" algn="l">
              <a:buNone/>
            </a:pPr>
            <a:r>
              <a:rPr lang="en-US" sz="860" dirty="0">
                <a:solidFill>
                  <a:srgbClr val="333333"/>
                </a:solidFill>
                <a:latin typeface="Malgun Gothic" pitchFamily="34" charset="0"/>
                <a:ea typeface="Malgun Gothic" pitchFamily="34" charset="-122"/>
                <a:cs typeface="Malgun Gothic" pitchFamily="34" charset="-120"/>
              </a:rPr>
              <a:t>설비 이벤트 ↔ Lot 이력</a:t>
            </a:r>
            <a:endParaRPr lang="en-US" sz="860" dirty="0"/>
          </a:p>
        </p:txBody>
      </p:sp>
      <p:sp>
        <p:nvSpPr>
          <p:cNvPr id="43" name="Text 41"/>
          <p:cNvSpPr txBox="1"/>
          <p:nvPr/>
        </p:nvSpPr>
        <p:spPr>
          <a:xfrm>
            <a:off x="6610536" y="2894656"/>
            <a:ext cx="1344829" cy="169934"/>
          </a:xfrm>
          <a:prstGeom prst="rect">
            <a:avLst/>
          </a:prstGeom>
          <a:noFill/>
          <a:ln/>
        </p:spPr>
        <p:txBody>
          <a:bodyPr wrap="none" lIns="0" tIns="0" rIns="0" bIns="0" rtlCol="0" anchor="ctr"/>
          <a:lstStyle/>
          <a:p>
            <a:pPr marL="0" indent="0" algn="l">
              <a:buNone/>
            </a:pPr>
            <a:r>
              <a:rPr lang="en-US" sz="860" dirty="0">
                <a:solidFill>
                  <a:srgbClr val="333333"/>
                </a:solidFill>
                <a:latin typeface="Malgun Gothic" pitchFamily="34" charset="0"/>
                <a:ea typeface="Malgun Gothic" pitchFamily="34" charset="-122"/>
                <a:cs typeface="Malgun Gothic" pitchFamily="34" charset="-120"/>
              </a:rPr>
              <a:t>시간 Join 템플릿 사용</a:t>
            </a:r>
            <a:endParaRPr lang="en-US" sz="860" dirty="0"/>
          </a:p>
        </p:txBody>
      </p:sp>
      <p:sp>
        <p:nvSpPr>
          <p:cNvPr id="44" name="Shape 42"/>
          <p:cNvSpPr/>
          <p:nvPr/>
        </p:nvSpPr>
        <p:spPr>
          <a:xfrm>
            <a:off x="9022503" y="2445749"/>
            <a:ext cx="2431034" cy="648276"/>
          </a:xfrm>
          <a:prstGeom prst="roundRect">
            <a:avLst>
              <a:gd name="adj" fmla="val 8824"/>
            </a:avLst>
          </a:prstGeom>
          <a:solidFill>
            <a:srgbClr val="EDEDED"/>
          </a:solidFill>
          <a:ln w="15254">
            <a:solidFill>
              <a:srgbClr val="A6A6A6"/>
            </a:solidFill>
            <a:prstDash val="solid"/>
          </a:ln>
        </p:spPr>
      </p:sp>
      <p:sp>
        <p:nvSpPr>
          <p:cNvPr id="45" name="Text 43"/>
          <p:cNvSpPr txBox="1"/>
          <p:nvPr/>
        </p:nvSpPr>
        <p:spPr>
          <a:xfrm>
            <a:off x="9136905" y="2524996"/>
            <a:ext cx="1205728" cy="184711"/>
          </a:xfrm>
          <a:prstGeom prst="rect">
            <a:avLst/>
          </a:prstGeom>
          <a:noFill/>
          <a:ln/>
        </p:spPr>
        <p:txBody>
          <a:bodyPr wrap="none" lIns="0" tIns="0" rIns="0" bIns="0" rtlCol="0" anchor="ctr"/>
          <a:lstStyle/>
          <a:p>
            <a:pPr marL="0" indent="0" algn="l">
              <a:buNone/>
            </a:pPr>
            <a:r>
              <a:rPr lang="en-US" sz="940" b="1" dirty="0">
                <a:solidFill>
                  <a:srgbClr val="333333"/>
                </a:solidFill>
                <a:latin typeface="Malgun Gothic" pitchFamily="34" charset="0"/>
                <a:ea typeface="Malgun Gothic" pitchFamily="34" charset="-122"/>
                <a:cs typeface="Malgun Gothic" pitchFamily="34" charset="-120"/>
              </a:rPr>
              <a:t>Q2 수율 하락 판정</a:t>
            </a:r>
            <a:endParaRPr lang="en-US" sz="940" dirty="0"/>
          </a:p>
        </p:txBody>
      </p:sp>
      <p:sp>
        <p:nvSpPr>
          <p:cNvPr id="46" name="Text 44"/>
          <p:cNvSpPr txBox="1"/>
          <p:nvPr/>
        </p:nvSpPr>
        <p:spPr>
          <a:xfrm>
            <a:off x="9136905" y="2723054"/>
            <a:ext cx="1503492" cy="169934"/>
          </a:xfrm>
          <a:prstGeom prst="rect">
            <a:avLst/>
          </a:prstGeom>
          <a:noFill/>
          <a:ln/>
        </p:spPr>
        <p:txBody>
          <a:bodyPr wrap="none" lIns="0" tIns="0" rIns="0" bIns="0" rtlCol="0" anchor="ctr"/>
          <a:lstStyle/>
          <a:p>
            <a:pPr marL="0" indent="0" algn="l">
              <a:buNone/>
            </a:pPr>
            <a:r>
              <a:rPr lang="en-US" sz="860" dirty="0">
                <a:solidFill>
                  <a:srgbClr val="333333"/>
                </a:solidFill>
                <a:latin typeface="Malgun Gothic" pitchFamily="34" charset="0"/>
                <a:ea typeface="Malgun Gothic" pitchFamily="34" charset="-122"/>
                <a:cs typeface="Malgun Gothic" pitchFamily="34" charset="-120"/>
              </a:rPr>
              <a:t>수율 지표 정의(용어집)로</a:t>
            </a:r>
            <a:endParaRPr lang="en-US" sz="860" dirty="0"/>
          </a:p>
        </p:txBody>
      </p:sp>
      <p:sp>
        <p:nvSpPr>
          <p:cNvPr id="47" name="Text 45"/>
          <p:cNvSpPr txBox="1"/>
          <p:nvPr/>
        </p:nvSpPr>
        <p:spPr>
          <a:xfrm>
            <a:off x="9136905" y="2894656"/>
            <a:ext cx="1323516" cy="169934"/>
          </a:xfrm>
          <a:prstGeom prst="rect">
            <a:avLst/>
          </a:prstGeom>
          <a:noFill/>
          <a:ln/>
        </p:spPr>
        <p:txBody>
          <a:bodyPr wrap="none" lIns="0" tIns="0" rIns="0" bIns="0" rtlCol="0" anchor="ctr"/>
          <a:lstStyle/>
          <a:p>
            <a:pPr marL="0" indent="0" algn="l">
              <a:buNone/>
            </a:pPr>
            <a:r>
              <a:rPr lang="en-US" sz="860" dirty="0">
                <a:solidFill>
                  <a:srgbClr val="333333"/>
                </a:solidFill>
                <a:latin typeface="Malgun Gothic" pitchFamily="34" charset="0"/>
                <a:ea typeface="Malgun Gothic" pitchFamily="34" charset="-122"/>
                <a:cs typeface="Malgun Gothic" pitchFamily="34" charset="-120"/>
              </a:rPr>
              <a:t>기준값·비교 기간 결정</a:t>
            </a:r>
            <a:endParaRPr lang="en-US" sz="860" dirty="0"/>
          </a:p>
        </p:txBody>
      </p:sp>
      <p:sp>
        <p:nvSpPr>
          <p:cNvPr id="48" name="Shape 46"/>
          <p:cNvSpPr/>
          <p:nvPr/>
        </p:nvSpPr>
        <p:spPr>
          <a:xfrm>
            <a:off x="6400800" y="3372239"/>
            <a:ext cx="5148072" cy="2212848"/>
          </a:xfrm>
          <a:prstGeom prst="roundRect">
            <a:avLst>
              <a:gd name="adj" fmla="val 3306"/>
            </a:avLst>
          </a:prstGeom>
          <a:solidFill>
            <a:srgbClr val="FFFFFF"/>
          </a:solidFill>
          <a:ln/>
        </p:spPr>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6492240" y="3427103"/>
          <a:ext cx="4965192" cy="1638300"/>
        </p:xfrm>
        <a:graphic>
          <a:graphicData uri="http://schemas.openxmlformats.org/drawingml/2006/table">
            <a:tbl>
              <a:tblPr/>
              <a:tblGrid>
                <a:gridCol w="1417320">
                  <a:extLst>
                    <a:ext uri="{9D8B030D-6E8A-4147-A177-3AD203B41FA5}">
                      <a16:colId xmlns:a16="http://schemas.microsoft.com/office/drawing/2014/main" val="20000"/>
                    </a:ext>
                  </a:extLst>
                </a:gridCol>
                <a:gridCol w="3547872">
                  <a:extLst>
                    <a:ext uri="{9D8B030D-6E8A-4147-A177-3AD203B41FA5}">
                      <a16:colId xmlns:a16="http://schemas.microsoft.com/office/drawing/2014/main" val="20001"/>
                    </a:ext>
                  </a:extLst>
                </a:gridCol>
              </a:tblGrid>
              <a:tr h="0">
                <a:tc>
                  <a:txBody>
                    <a:bodyPr/>
                    <a:lstStyle/>
                    <a:p>
                      <a:pPr marL="0" indent="0">
                        <a:buNone/>
                      </a:pPr>
                      <a:r>
                        <a:rPr lang="en-US" sz="1000" b="1" dirty="0">
                          <a:solidFill>
                            <a:srgbClr val="1A1A1A"/>
                          </a:solidFill>
                          <a:latin typeface="Malgun Gothic" pitchFamily="34" charset="0"/>
                          <a:ea typeface="Malgun Gothic" pitchFamily="34" charset="-122"/>
                          <a:cs typeface="Malgun Gothic" pitchFamily="34" charset="-120"/>
                        </a:rPr>
                        <a:t>항목</a:t>
                      </a:r>
                      <a:endParaRPr lang="en-US" sz="100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0" cap="flat" cmpd="sng" algn="ctr">
                      <a:noFill/>
                    </a:lnT>
                    <a:lnB w="15875" cap="flat" cmpd="sng" algn="ctr">
                      <a:solidFill>
                        <a:srgbClr val="1A1A1A"/>
                      </a:solidFill>
                      <a:prstDash val="solid"/>
                      <a:round/>
                      <a:headEnd type="none" w="med" len="med"/>
                      <a:tailEnd type="none" w="med" len="med"/>
                    </a:lnB>
                  </a:tcPr>
                </a:tc>
                <a:tc>
                  <a:txBody>
                    <a:bodyPr/>
                    <a:lstStyle/>
                    <a:p>
                      <a:pPr marL="0" indent="0">
                        <a:buNone/>
                      </a:pPr>
                      <a:r>
                        <a:rPr lang="en-US" sz="1000" b="1" dirty="0">
                          <a:solidFill>
                            <a:srgbClr val="1A1A1A"/>
                          </a:solidFill>
                          <a:latin typeface="Malgun Gothic" pitchFamily="34" charset="0"/>
                          <a:ea typeface="Malgun Gothic" pitchFamily="34" charset="-122"/>
                          <a:cs typeface="Malgun Gothic" pitchFamily="34" charset="-120"/>
                        </a:rPr>
                        <a:t>Data Hub 적용 방안</a:t>
                      </a:r>
                      <a:endParaRPr lang="en-US" sz="100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0" cap="flat" cmpd="sng" algn="ctr">
                      <a:noFill/>
                    </a:lnT>
                    <a:lnB w="15875" cap="flat" cmpd="sng" algn="ctr">
                      <a:solidFill>
                        <a:srgbClr val="1A1A1A"/>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Few-shot 저장소</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초기엔 온톨로지로 합성, 운영 중엔 검증된 질의를 피드백 로그에서 승격</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SQL 작성 규칙</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Oracle 문법, 기간 조건 필수, 행 수 제한(FETCH FIRST)</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WITH 재매핑</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기간 조건을 안쪽 이력 테이블까지 내려 넣어 파티션 범위 한정</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검증 연계</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1A1A1A"/>
                          </a:solidFill>
                          <a:latin typeface="Malgun Gothic" pitchFamily="34" charset="0"/>
                          <a:ea typeface="Malgun Gothic" pitchFamily="34" charset="-122"/>
                          <a:cs typeface="Malgun Gothic" pitchFamily="34" charset="-120"/>
                        </a:rPr>
                        <a:t>View 밖 컬럼 참조 차단, 실행 계획 확인은 검증 단계로 전달</a:t>
                      </a:r>
                      <a:endParaRPr lang="en-US" sz="1050" dirty="0">
                        <a:latin typeface="Malgun Gothic" charset="0"/>
                        <a:ea typeface="Malgun Gothic" charset="0"/>
                        <a:cs typeface="Malgun Gothic" charset="0"/>
                      </a:endParaRPr>
                    </a:p>
                  </a:txBody>
                  <a:tcPr marL="54864" marR="54864" marT="36576" marB="36576">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0" name="Slide Number Placeholder 0"/>
          <p:cNvSpPr>
            <a:spLocks noGrp="1"/>
          </p:cNvSpPr>
          <p:nvPr>
            <p:ph type="sldNum" sz="quarter" idx="4294967295"/>
          </p:nvPr>
        </p:nvSpPr>
        <p:spPr>
          <a:xfrm>
            <a:off x="11183112" y="6419088"/>
            <a:ext cx="54864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6B6B6B"/>
                </a:solidFill>
                <a:latin typeface="Malgun Gothic"/>
                <a:ea typeface="Malgun Gothic"/>
                <a:cs typeface="Malgun Gothic"/>
              </a:defRPr>
            </a:lvl1pPr>
          </a:lstStyle>
          <a:p>
            <a:pPr algn="r"/>
            <a:fld id="{F7021451-1387-4CA6-816F-3879F97B5CBC}" type="slidenum">
              <a:rPr lang="en-US" b="0"/>
              <a:t>9</a:t>
            </a:fld>
            <a:endParaRPr lang="en-US"/>
          </a:p>
        </p:txBody>
      </p:sp>
      <p:sp>
        <p:nvSpPr>
          <p:cNvPr id="52" name="Text 0"/>
          <p:cNvSpPr>
            <a:spLocks noGrp="1"/>
          </p:cNvSpPr>
          <p:nvPr>
            <p:ph type="body" idx="102" hasCustomPrompt="1"/>
          </p:nvPr>
        </p:nvSpPr>
        <p:spPr>
          <a:xfrm>
            <a:off x="457200" y="6419088"/>
            <a:ext cx="10241280" cy="256032"/>
          </a:xfrm>
          <a:prstGeom prst="rect">
            <a:avLst/>
          </a:prstGeom>
          <a:noFill/>
          <a:ln/>
        </p:spPr>
        <p:txBody>
          <a:bodyPr wrap="square" lIns="0" tIns="0" rIns="0" bIns="0" rtlCol="0" anchor="ctr"/>
          <a:lstStyle/>
          <a:p>
            <a:r>
              <a:rPr lang="en-US"/>
              <a:t>A Text-to-SQL Strategy Based on Large Language Models and Knowledge Graphs for Real-World Databases (DKE 2026)</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11274552" cy="292608"/>
          </a:xfrm>
          <a:prstGeom prst="rect">
            <a:avLst/>
          </a:prstGeom>
          <a:noFill/>
          <a:ln/>
        </p:spPr>
        <p:txBody>
          <a:bodyPr wrap="square" lIns="0" tIns="0" rIns="0" bIns="0" rtlCol="0" anchor="ctr"/>
          <a:lstStyle/>
          <a:p>
            <a:pPr marL="0" indent="0">
              <a:buNone/>
            </a:pPr>
            <a:r>
              <a:rPr lang="en-US" sz="1100" b="1" smtClean="0">
                <a:solidFill>
                  <a:srgbClr val="6B6B6B"/>
                </a:solidFill>
                <a:latin typeface="Malgun Gothic" pitchFamily="34" charset="0"/>
                <a:ea typeface="Malgun Gothic" pitchFamily="34" charset="-122"/>
                <a:cs typeface="Malgun Gothic" pitchFamily="34" charset="-120"/>
              </a:rPr>
              <a:t>프로세스 </a:t>
            </a:r>
            <a:r>
              <a:rPr lang="en-US" sz="1100" b="1" dirty="0">
                <a:solidFill>
                  <a:srgbClr val="6B6B6B"/>
                </a:solidFill>
                <a:latin typeface="Malgun Gothic" pitchFamily="34" charset="0"/>
                <a:ea typeface="Malgun Gothic" pitchFamily="34" charset="-122"/>
                <a:cs typeface="Malgun Gothic" pitchFamily="34" charset="-120"/>
              </a:rPr>
              <a:t>보완 · 도메인 라우팅 추가</a:t>
            </a:r>
            <a:endParaRPr lang="en-US" sz="1100" dirty="0"/>
          </a:p>
        </p:txBody>
      </p:sp>
      <p:sp>
        <p:nvSpPr>
          <p:cNvPr id="3" name="Text 0"/>
          <p:cNvSpPr>
            <a:spLocks noGrp="1"/>
          </p:cNvSpPr>
          <p:nvPr>
            <p:ph type="title" idx="101" hasCustomPrompt="1"/>
          </p:nvPr>
        </p:nvSpPr>
        <p:spPr>
          <a:xfrm>
            <a:off x="457200" y="512064"/>
            <a:ext cx="11274552" cy="768096"/>
          </a:xfrm>
          <a:prstGeom prst="rect">
            <a:avLst/>
          </a:prstGeom>
          <a:noFill/>
          <a:ln/>
        </p:spPr>
        <p:txBody>
          <a:bodyPr wrap="square" lIns="0" tIns="0" rIns="0" bIns="0" rtlCol="0" anchor="ctr"/>
          <a:lstStyle/>
          <a:p>
            <a:pPr marL="0" indent="0" algn="l">
              <a:buNone/>
            </a:pPr>
            <a:r>
              <a:rPr lang="en-US" sz="2100" b="1" dirty="0">
                <a:solidFill>
                  <a:schemeClr val="tx1"/>
                </a:solidFill>
                <a:latin typeface="Malgun Gothic" pitchFamily="34" charset="0"/>
                <a:ea typeface="Malgun Gothic" pitchFamily="34" charset="-122"/>
                <a:cs typeface="Malgun Gothic" pitchFamily="34" charset="-120"/>
              </a:rPr>
              <a:t>논문보다 테이블이 약 330배 많으므로, 엔티티 추출 앞에서 대상 도메인부터 좁힌다</a:t>
            </a:r>
            <a:endParaRPr lang="en-US" sz="2100" dirty="0"/>
          </a:p>
        </p:txBody>
      </p:sp>
      <p:sp>
        <p:nvSpPr>
          <p:cNvPr id="5" name="Shape 3"/>
          <p:cNvSpPr/>
          <p:nvPr/>
        </p:nvSpPr>
        <p:spPr>
          <a:xfrm>
            <a:off x="457200" y="1325880"/>
            <a:ext cx="11274552" cy="3246120"/>
          </a:xfrm>
          <a:prstGeom prst="roundRect">
            <a:avLst>
              <a:gd name="adj" fmla="val 2254"/>
            </a:avLst>
          </a:prstGeom>
          <a:solidFill>
            <a:srgbClr val="FFFFFF"/>
          </a:solidFill>
          <a:ln w="9525">
            <a:solidFill>
              <a:srgbClr val="D0D0D0"/>
            </a:solidFill>
            <a:prstDash val="solid"/>
          </a:ln>
        </p:spPr>
      </p:sp>
      <p:sp>
        <p:nvSpPr>
          <p:cNvPr id="6" name="Shape 4"/>
          <p:cNvSpPr/>
          <p:nvPr/>
        </p:nvSpPr>
        <p:spPr>
          <a:xfrm>
            <a:off x="553440" y="1440408"/>
            <a:ext cx="11082073" cy="2770518"/>
          </a:xfrm>
          <a:prstGeom prst="roundRect">
            <a:avLst>
              <a:gd name="adj" fmla="val 1250"/>
            </a:avLst>
          </a:prstGeom>
          <a:solidFill>
            <a:srgbClr val="FFFFFF">
              <a:alpha val="0"/>
            </a:srgbClr>
          </a:solidFill>
          <a:ln w="9235">
            <a:solidFill>
              <a:srgbClr val="D0D0D0"/>
            </a:solidFill>
            <a:prstDash val="solid"/>
          </a:ln>
        </p:spPr>
      </p:sp>
      <p:sp>
        <p:nvSpPr>
          <p:cNvPr id="7" name="Shape 5"/>
          <p:cNvSpPr/>
          <p:nvPr/>
        </p:nvSpPr>
        <p:spPr>
          <a:xfrm>
            <a:off x="553440" y="2133037"/>
            <a:ext cx="11082073" cy="0"/>
          </a:xfrm>
          <a:prstGeom prst="line">
            <a:avLst/>
          </a:prstGeom>
          <a:noFill/>
          <a:ln w="9235">
            <a:solidFill>
              <a:srgbClr val="D0D0D0"/>
            </a:solidFill>
            <a:prstDash val="solid"/>
          </a:ln>
        </p:spPr>
      </p:sp>
      <p:sp>
        <p:nvSpPr>
          <p:cNvPr id="8" name="Shape 6"/>
          <p:cNvSpPr/>
          <p:nvPr/>
        </p:nvSpPr>
        <p:spPr>
          <a:xfrm>
            <a:off x="553440" y="3056543"/>
            <a:ext cx="11082073" cy="0"/>
          </a:xfrm>
          <a:prstGeom prst="line">
            <a:avLst/>
          </a:prstGeom>
          <a:noFill/>
          <a:ln w="9235">
            <a:solidFill>
              <a:srgbClr val="D0D0D0"/>
            </a:solidFill>
            <a:prstDash val="solid"/>
          </a:ln>
        </p:spPr>
      </p:sp>
      <p:sp>
        <p:nvSpPr>
          <p:cNvPr id="9" name="Shape 7"/>
          <p:cNvSpPr/>
          <p:nvPr/>
        </p:nvSpPr>
        <p:spPr>
          <a:xfrm>
            <a:off x="1038280" y="1440408"/>
            <a:ext cx="0" cy="2770518"/>
          </a:xfrm>
          <a:prstGeom prst="line">
            <a:avLst/>
          </a:prstGeom>
          <a:noFill/>
          <a:ln w="9235">
            <a:solidFill>
              <a:srgbClr val="D0D0D0"/>
            </a:solidFill>
            <a:prstDash val="solid"/>
          </a:ln>
        </p:spPr>
      </p:sp>
      <p:sp>
        <p:nvSpPr>
          <p:cNvPr id="10" name="Shape 8"/>
          <p:cNvSpPr/>
          <p:nvPr/>
        </p:nvSpPr>
        <p:spPr>
          <a:xfrm>
            <a:off x="553440" y="1440408"/>
            <a:ext cx="484841" cy="2770518"/>
          </a:xfrm>
          <a:prstGeom prst="rect">
            <a:avLst/>
          </a:prstGeom>
          <a:solidFill>
            <a:srgbClr val="F2F2F2"/>
          </a:solidFill>
          <a:ln/>
        </p:spPr>
      </p:sp>
      <p:sp>
        <p:nvSpPr>
          <p:cNvPr id="11" name="Text 9"/>
          <p:cNvSpPr txBox="1"/>
          <p:nvPr/>
        </p:nvSpPr>
        <p:spPr>
          <a:xfrm>
            <a:off x="628377" y="1724097"/>
            <a:ext cx="334966" cy="125251"/>
          </a:xfrm>
          <a:prstGeom prst="rect">
            <a:avLst/>
          </a:prstGeom>
          <a:noFill/>
          <a:ln/>
        </p:spPr>
        <p:txBody>
          <a:bodyPr wrap="none" lIns="0" tIns="0" rIns="0" bIns="0" rtlCol="0" anchor="ctr"/>
          <a:lstStyle/>
          <a:p>
            <a:pPr marL="0" indent="0" algn="ctr">
              <a:buNone/>
            </a:pPr>
            <a:r>
              <a:rPr lang="en-US" sz="640" b="1" dirty="0">
                <a:solidFill>
                  <a:srgbClr val="595959"/>
                </a:solidFill>
                <a:latin typeface="Malgun Gothic" pitchFamily="34" charset="0"/>
                <a:ea typeface="Malgun Gothic" pitchFamily="34" charset="-122"/>
                <a:cs typeface="Malgun Gothic" pitchFamily="34" charset="-120"/>
              </a:rPr>
              <a:t>사용자</a:t>
            </a:r>
            <a:endParaRPr lang="en-US" sz="640" dirty="0"/>
          </a:p>
        </p:txBody>
      </p:sp>
      <p:sp>
        <p:nvSpPr>
          <p:cNvPr id="12" name="Text 10"/>
          <p:cNvSpPr txBox="1"/>
          <p:nvPr/>
        </p:nvSpPr>
        <p:spPr>
          <a:xfrm>
            <a:off x="555942" y="2480218"/>
            <a:ext cx="479836" cy="125251"/>
          </a:xfrm>
          <a:prstGeom prst="rect">
            <a:avLst/>
          </a:prstGeom>
          <a:noFill/>
          <a:ln/>
        </p:spPr>
        <p:txBody>
          <a:bodyPr wrap="none" lIns="0" tIns="0" rIns="0" bIns="0" rtlCol="0" anchor="ctr"/>
          <a:lstStyle/>
          <a:p>
            <a:pPr marL="0" indent="0" algn="ctr">
              <a:buNone/>
            </a:pPr>
            <a:r>
              <a:rPr lang="en-US" sz="640" b="1" dirty="0">
                <a:solidFill>
                  <a:srgbClr val="595959"/>
                </a:solidFill>
                <a:latin typeface="Malgun Gothic" pitchFamily="34" charset="0"/>
                <a:ea typeface="Malgun Gothic" pitchFamily="34" charset="-122"/>
                <a:cs typeface="Malgun Gothic" pitchFamily="34" charset="-120"/>
              </a:rPr>
              <a:t>Text2SQL</a:t>
            </a:r>
            <a:endParaRPr lang="en-US" sz="640" dirty="0"/>
          </a:p>
        </p:txBody>
      </p:sp>
      <p:sp>
        <p:nvSpPr>
          <p:cNvPr id="13" name="Text 11"/>
          <p:cNvSpPr txBox="1"/>
          <p:nvPr/>
        </p:nvSpPr>
        <p:spPr>
          <a:xfrm>
            <a:off x="672013" y="2584112"/>
            <a:ext cx="247695" cy="125251"/>
          </a:xfrm>
          <a:prstGeom prst="rect">
            <a:avLst/>
          </a:prstGeom>
          <a:noFill/>
          <a:ln/>
        </p:spPr>
        <p:txBody>
          <a:bodyPr wrap="none" lIns="0" tIns="0" rIns="0" bIns="0" rtlCol="0" anchor="ctr"/>
          <a:lstStyle/>
          <a:p>
            <a:pPr marL="0" indent="0" algn="ctr">
              <a:buNone/>
            </a:pPr>
            <a:r>
              <a:rPr lang="en-US" sz="640" b="1" dirty="0">
                <a:solidFill>
                  <a:srgbClr val="595959"/>
                </a:solidFill>
                <a:latin typeface="Malgun Gothic" pitchFamily="34" charset="0"/>
                <a:ea typeface="Malgun Gothic" pitchFamily="34" charset="-122"/>
                <a:cs typeface="Malgun Gothic" pitchFamily="34" charset="-120"/>
              </a:rPr>
              <a:t>엔진</a:t>
            </a:r>
            <a:endParaRPr lang="en-US" sz="640" dirty="0"/>
          </a:p>
        </p:txBody>
      </p:sp>
      <p:sp>
        <p:nvSpPr>
          <p:cNvPr id="14" name="Text 12"/>
          <p:cNvSpPr txBox="1"/>
          <p:nvPr/>
        </p:nvSpPr>
        <p:spPr>
          <a:xfrm>
            <a:off x="541106" y="3519162"/>
            <a:ext cx="509509" cy="125251"/>
          </a:xfrm>
          <a:prstGeom prst="rect">
            <a:avLst/>
          </a:prstGeom>
          <a:noFill/>
          <a:ln/>
        </p:spPr>
        <p:txBody>
          <a:bodyPr wrap="none" lIns="0" tIns="0" rIns="0" bIns="0" rtlCol="0" anchor="ctr"/>
          <a:lstStyle/>
          <a:p>
            <a:pPr marL="0" indent="0" algn="ctr">
              <a:buNone/>
            </a:pPr>
            <a:r>
              <a:rPr lang="en-US" sz="640" b="1" dirty="0">
                <a:solidFill>
                  <a:srgbClr val="595959"/>
                </a:solidFill>
                <a:latin typeface="Malgun Gothic" pitchFamily="34" charset="0"/>
                <a:ea typeface="Malgun Gothic" pitchFamily="34" charset="-122"/>
                <a:cs typeface="Malgun Gothic" pitchFamily="34" charset="-120"/>
              </a:rPr>
              <a:t>메타데이터</a:t>
            </a:r>
            <a:endParaRPr lang="en-US" sz="640" dirty="0"/>
          </a:p>
        </p:txBody>
      </p:sp>
      <p:sp>
        <p:nvSpPr>
          <p:cNvPr id="15" name="Text 13"/>
          <p:cNvSpPr txBox="1"/>
          <p:nvPr/>
        </p:nvSpPr>
        <p:spPr>
          <a:xfrm>
            <a:off x="628377" y="3623057"/>
            <a:ext cx="334966" cy="125251"/>
          </a:xfrm>
          <a:prstGeom prst="rect">
            <a:avLst/>
          </a:prstGeom>
          <a:noFill/>
          <a:ln/>
        </p:spPr>
        <p:txBody>
          <a:bodyPr wrap="none" lIns="0" tIns="0" rIns="0" bIns="0" rtlCol="0" anchor="ctr"/>
          <a:lstStyle/>
          <a:p>
            <a:pPr marL="0" indent="0" algn="ctr">
              <a:buNone/>
            </a:pPr>
            <a:r>
              <a:rPr lang="en-US" sz="640" b="1" dirty="0">
                <a:solidFill>
                  <a:srgbClr val="595959"/>
                </a:solidFill>
                <a:latin typeface="Malgun Gothic" pitchFamily="34" charset="0"/>
                <a:ea typeface="Malgun Gothic" pitchFamily="34" charset="-122"/>
                <a:cs typeface="Malgun Gothic" pitchFamily="34" charset="-120"/>
              </a:rPr>
              <a:t>저장소</a:t>
            </a:r>
            <a:endParaRPr lang="en-US" sz="640" dirty="0"/>
          </a:p>
        </p:txBody>
      </p:sp>
      <p:sp>
        <p:nvSpPr>
          <p:cNvPr id="16" name="Shape 14"/>
          <p:cNvSpPr/>
          <p:nvPr/>
        </p:nvSpPr>
        <p:spPr>
          <a:xfrm>
            <a:off x="1165262" y="1705916"/>
            <a:ext cx="161614" cy="161614"/>
          </a:xfrm>
          <a:prstGeom prst="ellipse">
            <a:avLst/>
          </a:prstGeom>
          <a:solidFill>
            <a:srgbClr val="FFFFFF"/>
          </a:solidFill>
          <a:ln w="12929">
            <a:solidFill>
              <a:srgbClr val="1A1A1A"/>
            </a:solidFill>
            <a:prstDash val="solid"/>
          </a:ln>
        </p:spPr>
      </p:sp>
      <p:sp>
        <p:nvSpPr>
          <p:cNvPr id="17" name="Text 15"/>
          <p:cNvSpPr txBox="1"/>
          <p:nvPr/>
        </p:nvSpPr>
        <p:spPr>
          <a:xfrm>
            <a:off x="1033392" y="1927052"/>
            <a:ext cx="425354" cy="111831"/>
          </a:xfrm>
          <a:prstGeom prst="rect">
            <a:avLst/>
          </a:prstGeom>
          <a:noFill/>
          <a:ln/>
        </p:spPr>
        <p:txBody>
          <a:bodyPr wrap="none" lIns="0" tIns="0" rIns="0" bIns="0" rtlCol="0" anchor="ctr"/>
          <a:lstStyle/>
          <a:p>
            <a:pPr marL="0" indent="0" algn="ctr">
              <a:buNone/>
            </a:pPr>
            <a:r>
              <a:rPr lang="en-US" sz="570" dirty="0">
                <a:solidFill>
                  <a:srgbClr val="6B6B6B"/>
                </a:solidFill>
                <a:latin typeface="Malgun Gothic" pitchFamily="34" charset="0"/>
                <a:ea typeface="Malgun Gothic" pitchFamily="34" charset="-122"/>
                <a:cs typeface="Malgun Gothic" pitchFamily="34" charset="-120"/>
              </a:rPr>
              <a:t>질문 입력</a:t>
            </a:r>
            <a:endParaRPr lang="en-US" sz="570" dirty="0"/>
          </a:p>
        </p:txBody>
      </p:sp>
      <p:sp>
        <p:nvSpPr>
          <p:cNvPr id="18" name="Shape 16"/>
          <p:cNvSpPr/>
          <p:nvPr/>
        </p:nvSpPr>
        <p:spPr>
          <a:xfrm>
            <a:off x="1246069" y="1867529"/>
            <a:ext cx="0" cy="727261"/>
          </a:xfrm>
          <a:prstGeom prst="line">
            <a:avLst/>
          </a:prstGeom>
          <a:noFill/>
          <a:ln w="12929">
            <a:solidFill>
              <a:srgbClr val="4D4D4D"/>
            </a:solidFill>
            <a:prstDash val="solid"/>
          </a:ln>
        </p:spPr>
      </p:sp>
      <p:sp>
        <p:nvSpPr>
          <p:cNvPr id="19" name="Shape 17"/>
          <p:cNvSpPr/>
          <p:nvPr/>
        </p:nvSpPr>
        <p:spPr>
          <a:xfrm>
            <a:off x="1246069" y="2594790"/>
            <a:ext cx="207789" cy="0"/>
          </a:xfrm>
          <a:prstGeom prst="line">
            <a:avLst/>
          </a:prstGeom>
          <a:noFill/>
          <a:ln w="12929">
            <a:solidFill>
              <a:srgbClr val="4D4D4D"/>
            </a:solidFill>
            <a:prstDash val="solid"/>
            <a:tailEnd type="triangle"/>
          </a:ln>
        </p:spPr>
      </p:sp>
      <p:sp>
        <p:nvSpPr>
          <p:cNvPr id="20" name="Shape 18"/>
          <p:cNvSpPr/>
          <p:nvPr/>
        </p:nvSpPr>
        <p:spPr>
          <a:xfrm>
            <a:off x="1476946" y="2450492"/>
            <a:ext cx="808068" cy="288596"/>
          </a:xfrm>
          <a:prstGeom prst="roundRect">
            <a:avLst>
              <a:gd name="adj" fmla="val 12000"/>
            </a:avLst>
          </a:prstGeom>
          <a:solidFill>
            <a:srgbClr val="FFFFFF"/>
          </a:solidFill>
          <a:ln w="9235">
            <a:solidFill>
              <a:srgbClr val="3A3A3A"/>
            </a:solidFill>
            <a:prstDash val="solid"/>
          </a:ln>
        </p:spPr>
      </p:sp>
      <p:sp>
        <p:nvSpPr>
          <p:cNvPr id="21" name="Text 19"/>
          <p:cNvSpPr txBox="1"/>
          <p:nvPr/>
        </p:nvSpPr>
        <p:spPr>
          <a:xfrm>
            <a:off x="1633082" y="2527692"/>
            <a:ext cx="495795" cy="134197"/>
          </a:xfrm>
          <a:prstGeom prst="rect">
            <a:avLst/>
          </a:prstGeom>
          <a:noFill/>
          <a:ln/>
        </p:spPr>
        <p:txBody>
          <a:bodyPr wrap="none" lIns="0" tIns="0" rIns="0" bIns="0" rtlCol="0" anchor="ctr"/>
          <a:lstStyle/>
          <a:p>
            <a:pPr marL="0" indent="0" algn="ctr">
              <a:buNone/>
            </a:pPr>
            <a:r>
              <a:rPr lang="en-US" sz="680" b="1" dirty="0">
                <a:solidFill>
                  <a:srgbClr val="1A1A1A"/>
                </a:solidFill>
                <a:latin typeface="Malgun Gothic" pitchFamily="34" charset="0"/>
                <a:ea typeface="Malgun Gothic" pitchFamily="34" charset="-122"/>
                <a:cs typeface="Malgun Gothic" pitchFamily="34" charset="-120"/>
              </a:rPr>
              <a:t>의도 분석</a:t>
            </a:r>
            <a:endParaRPr lang="en-US" sz="680" dirty="0"/>
          </a:p>
        </p:txBody>
      </p:sp>
      <p:sp>
        <p:nvSpPr>
          <p:cNvPr id="22" name="Shape 20"/>
          <p:cNvSpPr/>
          <p:nvPr/>
        </p:nvSpPr>
        <p:spPr>
          <a:xfrm>
            <a:off x="2285014" y="2594790"/>
            <a:ext cx="277052" cy="0"/>
          </a:xfrm>
          <a:prstGeom prst="line">
            <a:avLst/>
          </a:prstGeom>
          <a:noFill/>
          <a:ln w="12929">
            <a:solidFill>
              <a:srgbClr val="4D4D4D"/>
            </a:solidFill>
            <a:prstDash val="solid"/>
            <a:tailEnd type="triangle"/>
          </a:ln>
        </p:spPr>
      </p:sp>
      <p:sp>
        <p:nvSpPr>
          <p:cNvPr id="23" name="Shape 21"/>
          <p:cNvSpPr/>
          <p:nvPr/>
        </p:nvSpPr>
        <p:spPr>
          <a:xfrm>
            <a:off x="2573609" y="2479352"/>
            <a:ext cx="230877" cy="230877"/>
          </a:xfrm>
          <a:prstGeom prst="diamond">
            <a:avLst/>
          </a:prstGeom>
          <a:solidFill>
            <a:srgbClr val="FFFFFF"/>
          </a:solidFill>
          <a:ln w="11082">
            <a:solidFill>
              <a:srgbClr val="1A1A1A"/>
            </a:solidFill>
            <a:prstDash val="solid"/>
          </a:ln>
        </p:spPr>
      </p:sp>
      <p:sp>
        <p:nvSpPr>
          <p:cNvPr id="24" name="Shape 22"/>
          <p:cNvSpPr/>
          <p:nvPr/>
        </p:nvSpPr>
        <p:spPr>
          <a:xfrm>
            <a:off x="2648644" y="2554387"/>
            <a:ext cx="80807" cy="80807"/>
          </a:xfrm>
          <a:prstGeom prst="line">
            <a:avLst/>
          </a:prstGeom>
          <a:noFill/>
          <a:ln w="12929">
            <a:solidFill>
              <a:srgbClr val="1A1A1A"/>
            </a:solidFill>
            <a:prstDash val="solid"/>
          </a:ln>
        </p:spPr>
      </p:sp>
      <p:sp>
        <p:nvSpPr>
          <p:cNvPr id="25" name="Shape 23"/>
          <p:cNvSpPr/>
          <p:nvPr/>
        </p:nvSpPr>
        <p:spPr>
          <a:xfrm flipH="1">
            <a:off x="2648644" y="2554387"/>
            <a:ext cx="80807" cy="80807"/>
          </a:xfrm>
          <a:prstGeom prst="line">
            <a:avLst/>
          </a:prstGeom>
          <a:noFill/>
          <a:ln w="12929">
            <a:solidFill>
              <a:srgbClr val="1A1A1A"/>
            </a:solidFill>
            <a:prstDash val="solid"/>
          </a:ln>
        </p:spPr>
      </p:sp>
      <p:sp>
        <p:nvSpPr>
          <p:cNvPr id="26" name="Shape 24"/>
          <p:cNvSpPr/>
          <p:nvPr/>
        </p:nvSpPr>
        <p:spPr>
          <a:xfrm flipV="1">
            <a:off x="2689047" y="1942564"/>
            <a:ext cx="0" cy="536788"/>
          </a:xfrm>
          <a:prstGeom prst="line">
            <a:avLst/>
          </a:prstGeom>
          <a:noFill/>
          <a:ln w="12929">
            <a:solidFill>
              <a:srgbClr val="4D4D4D"/>
            </a:solidFill>
            <a:prstDash val="solid"/>
            <a:tailEnd type="triangle"/>
          </a:ln>
        </p:spPr>
      </p:sp>
      <p:sp>
        <p:nvSpPr>
          <p:cNvPr id="27" name="Text 25"/>
          <p:cNvSpPr txBox="1"/>
          <p:nvPr/>
        </p:nvSpPr>
        <p:spPr>
          <a:xfrm>
            <a:off x="2735223" y="2190323"/>
            <a:ext cx="235227" cy="116304"/>
          </a:xfrm>
          <a:prstGeom prst="rect">
            <a:avLst/>
          </a:prstGeom>
          <a:noFill/>
          <a:ln/>
        </p:spPr>
        <p:txBody>
          <a:bodyPr wrap="none" lIns="0" tIns="0" rIns="0" bIns="0" rtlCol="0" anchor="ctr"/>
          <a:lstStyle/>
          <a:p>
            <a:pPr marL="0" indent="0" algn="l">
              <a:buNone/>
            </a:pPr>
            <a:r>
              <a:rPr lang="en-US" sz="590" dirty="0">
                <a:solidFill>
                  <a:srgbClr val="6B6B6B"/>
                </a:solidFill>
                <a:latin typeface="Malgun Gothic" pitchFamily="34" charset="0"/>
                <a:ea typeface="Malgun Gothic" pitchFamily="34" charset="-122"/>
                <a:cs typeface="Malgun Gothic" pitchFamily="34" charset="-120"/>
              </a:rPr>
              <a:t>모호</a:t>
            </a:r>
            <a:endParaRPr lang="en-US" sz="590" dirty="0"/>
          </a:p>
        </p:txBody>
      </p:sp>
      <p:sp>
        <p:nvSpPr>
          <p:cNvPr id="28" name="Shape 26"/>
          <p:cNvSpPr/>
          <p:nvPr/>
        </p:nvSpPr>
        <p:spPr>
          <a:xfrm>
            <a:off x="2285014" y="1642425"/>
            <a:ext cx="808068" cy="288596"/>
          </a:xfrm>
          <a:prstGeom prst="roundRect">
            <a:avLst>
              <a:gd name="adj" fmla="val 12000"/>
            </a:avLst>
          </a:prstGeom>
          <a:solidFill>
            <a:srgbClr val="D9D9D9"/>
          </a:solidFill>
          <a:ln w="9235">
            <a:solidFill>
              <a:srgbClr val="7F7F7F"/>
            </a:solidFill>
            <a:prstDash val="solid"/>
          </a:ln>
        </p:spPr>
      </p:sp>
      <p:sp>
        <p:nvSpPr>
          <p:cNvPr id="29" name="Text 27"/>
          <p:cNvSpPr txBox="1"/>
          <p:nvPr/>
        </p:nvSpPr>
        <p:spPr>
          <a:xfrm>
            <a:off x="2394398" y="1719624"/>
            <a:ext cx="589300" cy="134197"/>
          </a:xfrm>
          <a:prstGeom prst="rect">
            <a:avLst/>
          </a:prstGeom>
          <a:noFill/>
          <a:ln/>
        </p:spPr>
        <p:txBody>
          <a:bodyPr wrap="none" lIns="0" tIns="0" rIns="0" bIns="0" rtlCol="0" anchor="ctr"/>
          <a:lstStyle/>
          <a:p>
            <a:pPr marL="0" indent="0" algn="ctr">
              <a:buNone/>
            </a:pPr>
            <a:r>
              <a:rPr lang="en-US" sz="680" b="1" dirty="0">
                <a:solidFill>
                  <a:srgbClr val="262626"/>
                </a:solidFill>
                <a:latin typeface="Malgun Gothic" pitchFamily="34" charset="0"/>
                <a:ea typeface="Malgun Gothic" pitchFamily="34" charset="-122"/>
                <a:cs typeface="Malgun Gothic" pitchFamily="34" charset="-120"/>
              </a:rPr>
              <a:t>명확화 답변</a:t>
            </a:r>
            <a:endParaRPr lang="en-US" sz="680" dirty="0"/>
          </a:p>
        </p:txBody>
      </p:sp>
      <p:sp>
        <p:nvSpPr>
          <p:cNvPr id="30" name="Shape 28"/>
          <p:cNvSpPr/>
          <p:nvPr/>
        </p:nvSpPr>
        <p:spPr>
          <a:xfrm flipH="1">
            <a:off x="1880980" y="1786722"/>
            <a:ext cx="404034" cy="0"/>
          </a:xfrm>
          <a:prstGeom prst="line">
            <a:avLst/>
          </a:prstGeom>
          <a:noFill/>
          <a:ln w="12929">
            <a:solidFill>
              <a:srgbClr val="4D4D4D"/>
            </a:solidFill>
            <a:prstDash val="solid"/>
          </a:ln>
        </p:spPr>
      </p:sp>
      <p:sp>
        <p:nvSpPr>
          <p:cNvPr id="31" name="Shape 29"/>
          <p:cNvSpPr/>
          <p:nvPr/>
        </p:nvSpPr>
        <p:spPr>
          <a:xfrm>
            <a:off x="1880980" y="1786722"/>
            <a:ext cx="0" cy="640682"/>
          </a:xfrm>
          <a:prstGeom prst="line">
            <a:avLst/>
          </a:prstGeom>
          <a:noFill/>
          <a:ln w="12929">
            <a:solidFill>
              <a:srgbClr val="4D4D4D"/>
            </a:solidFill>
            <a:prstDash val="solid"/>
            <a:tailEnd type="triangle"/>
          </a:ln>
        </p:spPr>
      </p:sp>
      <p:sp>
        <p:nvSpPr>
          <p:cNvPr id="32" name="Shape 30"/>
          <p:cNvSpPr/>
          <p:nvPr/>
        </p:nvSpPr>
        <p:spPr>
          <a:xfrm>
            <a:off x="2804486" y="2594790"/>
            <a:ext cx="265508" cy="0"/>
          </a:xfrm>
          <a:prstGeom prst="line">
            <a:avLst/>
          </a:prstGeom>
          <a:noFill/>
          <a:ln w="12929">
            <a:solidFill>
              <a:srgbClr val="4D4D4D"/>
            </a:solidFill>
            <a:prstDash val="solid"/>
            <a:tailEnd type="triangle"/>
          </a:ln>
        </p:spPr>
      </p:sp>
      <p:sp>
        <p:nvSpPr>
          <p:cNvPr id="33" name="Text 31"/>
          <p:cNvSpPr txBox="1"/>
          <p:nvPr/>
        </p:nvSpPr>
        <p:spPr>
          <a:xfrm>
            <a:off x="2839117" y="2478919"/>
            <a:ext cx="235227" cy="116304"/>
          </a:xfrm>
          <a:prstGeom prst="rect">
            <a:avLst/>
          </a:prstGeom>
          <a:noFill/>
          <a:ln/>
        </p:spPr>
        <p:txBody>
          <a:bodyPr wrap="none" lIns="0" tIns="0" rIns="0" bIns="0" rtlCol="0" anchor="ctr"/>
          <a:lstStyle/>
          <a:p>
            <a:pPr marL="0" indent="0" algn="l">
              <a:buNone/>
            </a:pPr>
            <a:r>
              <a:rPr lang="en-US" sz="590" dirty="0">
                <a:solidFill>
                  <a:srgbClr val="6B6B6B"/>
                </a:solidFill>
                <a:latin typeface="Malgun Gothic" pitchFamily="34" charset="0"/>
                <a:ea typeface="Malgun Gothic" pitchFamily="34" charset="-122"/>
                <a:cs typeface="Malgun Gothic" pitchFamily="34" charset="-120"/>
              </a:rPr>
              <a:t>명확</a:t>
            </a:r>
            <a:endParaRPr lang="en-US" sz="590" dirty="0"/>
          </a:p>
        </p:txBody>
      </p:sp>
      <p:sp>
        <p:nvSpPr>
          <p:cNvPr id="34" name="Shape 32"/>
          <p:cNvSpPr/>
          <p:nvPr/>
        </p:nvSpPr>
        <p:spPr>
          <a:xfrm>
            <a:off x="3093081" y="2450492"/>
            <a:ext cx="808068" cy="288596"/>
          </a:xfrm>
          <a:prstGeom prst="roundRect">
            <a:avLst>
              <a:gd name="adj" fmla="val 12000"/>
            </a:avLst>
          </a:prstGeom>
          <a:solidFill>
            <a:srgbClr val="FCE9E1"/>
          </a:solidFill>
          <a:ln w="20317">
            <a:solidFill>
              <a:srgbClr val="D9480F"/>
            </a:solidFill>
            <a:prstDash val="solid"/>
          </a:ln>
        </p:spPr>
      </p:sp>
      <p:sp>
        <p:nvSpPr>
          <p:cNvPr id="35" name="Text 33"/>
          <p:cNvSpPr txBox="1"/>
          <p:nvPr/>
        </p:nvSpPr>
        <p:spPr>
          <a:xfrm>
            <a:off x="3155713" y="2527692"/>
            <a:ext cx="682805" cy="134197"/>
          </a:xfrm>
          <a:prstGeom prst="rect">
            <a:avLst/>
          </a:prstGeom>
          <a:noFill/>
          <a:ln/>
        </p:spPr>
        <p:txBody>
          <a:bodyPr wrap="none" lIns="0" tIns="0" rIns="0" bIns="0" rtlCol="0" anchor="ctr"/>
          <a:lstStyle/>
          <a:p>
            <a:pPr marL="0" indent="0" algn="ctr">
              <a:buNone/>
            </a:pPr>
            <a:r>
              <a:rPr lang="en-US" sz="680" b="1" dirty="0">
                <a:solidFill>
                  <a:srgbClr val="9A3412"/>
                </a:solidFill>
                <a:latin typeface="Malgun Gothic" pitchFamily="34" charset="0"/>
                <a:ea typeface="Malgun Gothic" pitchFamily="34" charset="-122"/>
                <a:cs typeface="Malgun Gothic" pitchFamily="34" charset="-120"/>
              </a:rPr>
              <a:t>도메인 라우팅</a:t>
            </a:r>
            <a:endParaRPr lang="en-US" sz="680" dirty="0"/>
          </a:p>
        </p:txBody>
      </p:sp>
      <p:sp>
        <p:nvSpPr>
          <p:cNvPr id="36" name="Shape 34"/>
          <p:cNvSpPr/>
          <p:nvPr/>
        </p:nvSpPr>
        <p:spPr>
          <a:xfrm>
            <a:off x="3901149" y="2594790"/>
            <a:ext cx="92351" cy="0"/>
          </a:xfrm>
          <a:prstGeom prst="line">
            <a:avLst/>
          </a:prstGeom>
          <a:noFill/>
          <a:ln w="12929">
            <a:solidFill>
              <a:srgbClr val="4D4D4D"/>
            </a:solidFill>
            <a:prstDash val="solid"/>
            <a:tailEnd type="triangle"/>
          </a:ln>
        </p:spPr>
      </p:sp>
      <p:sp>
        <p:nvSpPr>
          <p:cNvPr id="37" name="Shape 35"/>
          <p:cNvSpPr/>
          <p:nvPr/>
        </p:nvSpPr>
        <p:spPr>
          <a:xfrm>
            <a:off x="4016587" y="2450492"/>
            <a:ext cx="808068" cy="288596"/>
          </a:xfrm>
          <a:prstGeom prst="roundRect">
            <a:avLst>
              <a:gd name="adj" fmla="val 12000"/>
            </a:avLst>
          </a:prstGeom>
          <a:solidFill>
            <a:srgbClr val="FFFFFF"/>
          </a:solidFill>
          <a:ln w="9235">
            <a:solidFill>
              <a:srgbClr val="3A3A3A"/>
            </a:solidFill>
            <a:prstDash val="solid"/>
          </a:ln>
        </p:spPr>
      </p:sp>
      <p:sp>
        <p:nvSpPr>
          <p:cNvPr id="38" name="Text 36"/>
          <p:cNvSpPr txBox="1"/>
          <p:nvPr/>
        </p:nvSpPr>
        <p:spPr>
          <a:xfrm>
            <a:off x="4125972" y="2527692"/>
            <a:ext cx="589300" cy="134197"/>
          </a:xfrm>
          <a:prstGeom prst="rect">
            <a:avLst/>
          </a:prstGeom>
          <a:noFill/>
          <a:ln/>
        </p:spPr>
        <p:txBody>
          <a:bodyPr wrap="none" lIns="0" tIns="0" rIns="0" bIns="0" rtlCol="0" anchor="ctr"/>
          <a:lstStyle/>
          <a:p>
            <a:pPr marL="0" indent="0" algn="ctr">
              <a:buNone/>
            </a:pPr>
            <a:r>
              <a:rPr lang="en-US" sz="680" b="1" dirty="0">
                <a:solidFill>
                  <a:srgbClr val="1A1A1A"/>
                </a:solidFill>
                <a:latin typeface="Malgun Gothic" pitchFamily="34" charset="0"/>
                <a:ea typeface="Malgun Gothic" pitchFamily="34" charset="-122"/>
                <a:cs typeface="Malgun Gothic" pitchFamily="34" charset="-120"/>
              </a:rPr>
              <a:t>엔티티 추출</a:t>
            </a:r>
            <a:endParaRPr lang="en-US" sz="680" dirty="0"/>
          </a:p>
        </p:txBody>
      </p:sp>
      <p:sp>
        <p:nvSpPr>
          <p:cNvPr id="39" name="Shape 37"/>
          <p:cNvSpPr/>
          <p:nvPr/>
        </p:nvSpPr>
        <p:spPr>
          <a:xfrm>
            <a:off x="4824655" y="2594790"/>
            <a:ext cx="92351" cy="0"/>
          </a:xfrm>
          <a:prstGeom prst="line">
            <a:avLst/>
          </a:prstGeom>
          <a:noFill/>
          <a:ln w="12929">
            <a:solidFill>
              <a:srgbClr val="4D4D4D"/>
            </a:solidFill>
            <a:prstDash val="solid"/>
            <a:tailEnd type="triangle"/>
          </a:ln>
        </p:spPr>
      </p:sp>
      <p:sp>
        <p:nvSpPr>
          <p:cNvPr id="40" name="Shape 38"/>
          <p:cNvSpPr/>
          <p:nvPr/>
        </p:nvSpPr>
        <p:spPr>
          <a:xfrm>
            <a:off x="4940093" y="2450492"/>
            <a:ext cx="808068" cy="288596"/>
          </a:xfrm>
          <a:prstGeom prst="roundRect">
            <a:avLst>
              <a:gd name="adj" fmla="val 12000"/>
            </a:avLst>
          </a:prstGeom>
          <a:solidFill>
            <a:srgbClr val="FFFFFF"/>
          </a:solidFill>
          <a:ln w="9235">
            <a:solidFill>
              <a:srgbClr val="3A3A3A"/>
            </a:solidFill>
            <a:prstDash val="solid"/>
          </a:ln>
        </p:spPr>
      </p:sp>
      <p:sp>
        <p:nvSpPr>
          <p:cNvPr id="41" name="Text 39"/>
          <p:cNvSpPr txBox="1"/>
          <p:nvPr/>
        </p:nvSpPr>
        <p:spPr>
          <a:xfrm>
            <a:off x="5002725" y="2527692"/>
            <a:ext cx="682805" cy="134197"/>
          </a:xfrm>
          <a:prstGeom prst="rect">
            <a:avLst/>
          </a:prstGeom>
          <a:noFill/>
          <a:ln/>
        </p:spPr>
        <p:txBody>
          <a:bodyPr wrap="none" lIns="0" tIns="0" rIns="0" bIns="0" rtlCol="0" anchor="ctr"/>
          <a:lstStyle/>
          <a:p>
            <a:pPr marL="0" indent="0" algn="ctr">
              <a:buNone/>
            </a:pPr>
            <a:r>
              <a:rPr lang="en-US" sz="680" b="1" dirty="0">
                <a:solidFill>
                  <a:srgbClr val="1A1A1A"/>
                </a:solidFill>
                <a:latin typeface="Malgun Gothic" pitchFamily="34" charset="0"/>
                <a:ea typeface="Malgun Gothic" pitchFamily="34" charset="-122"/>
                <a:cs typeface="Malgun Gothic" pitchFamily="34" charset="-120"/>
              </a:rPr>
              <a:t>온톨로지 매핑</a:t>
            </a:r>
            <a:endParaRPr lang="en-US" sz="680" dirty="0"/>
          </a:p>
        </p:txBody>
      </p:sp>
      <p:sp>
        <p:nvSpPr>
          <p:cNvPr id="42" name="Shape 40"/>
          <p:cNvSpPr/>
          <p:nvPr/>
        </p:nvSpPr>
        <p:spPr>
          <a:xfrm>
            <a:off x="5748161" y="2594790"/>
            <a:ext cx="92351" cy="0"/>
          </a:xfrm>
          <a:prstGeom prst="line">
            <a:avLst/>
          </a:prstGeom>
          <a:noFill/>
          <a:ln w="12929">
            <a:solidFill>
              <a:srgbClr val="4D4D4D"/>
            </a:solidFill>
            <a:prstDash val="solid"/>
            <a:tailEnd type="triangle"/>
          </a:ln>
        </p:spPr>
      </p:sp>
      <p:sp>
        <p:nvSpPr>
          <p:cNvPr id="43" name="Shape 41"/>
          <p:cNvSpPr/>
          <p:nvPr/>
        </p:nvSpPr>
        <p:spPr>
          <a:xfrm>
            <a:off x="5863599" y="2450492"/>
            <a:ext cx="808068" cy="288596"/>
          </a:xfrm>
          <a:prstGeom prst="roundRect">
            <a:avLst>
              <a:gd name="adj" fmla="val 12000"/>
            </a:avLst>
          </a:prstGeom>
          <a:solidFill>
            <a:srgbClr val="FFFFFF"/>
          </a:solidFill>
          <a:ln w="9235">
            <a:solidFill>
              <a:srgbClr val="3A3A3A"/>
            </a:solidFill>
            <a:prstDash val="solid"/>
          </a:ln>
        </p:spPr>
      </p:sp>
      <p:sp>
        <p:nvSpPr>
          <p:cNvPr id="44" name="Text 42"/>
          <p:cNvSpPr txBox="1"/>
          <p:nvPr/>
        </p:nvSpPr>
        <p:spPr>
          <a:xfrm>
            <a:off x="5855167" y="2527692"/>
            <a:ext cx="824932" cy="134197"/>
          </a:xfrm>
          <a:prstGeom prst="rect">
            <a:avLst/>
          </a:prstGeom>
          <a:noFill/>
          <a:ln/>
        </p:spPr>
        <p:txBody>
          <a:bodyPr wrap="none" lIns="0" tIns="0" rIns="0" bIns="0" rtlCol="0" anchor="ctr"/>
          <a:lstStyle/>
          <a:p>
            <a:pPr marL="0" indent="0" algn="ctr">
              <a:buNone/>
            </a:pPr>
            <a:r>
              <a:rPr lang="en-US" sz="680" b="1" dirty="0">
                <a:solidFill>
                  <a:srgbClr val="1A1A1A"/>
                </a:solidFill>
                <a:latin typeface="Malgun Gothic" pitchFamily="34" charset="0"/>
                <a:ea typeface="Malgun Gothic" pitchFamily="34" charset="-122"/>
                <a:cs typeface="Malgun Gothic" pitchFamily="34" charset="-120"/>
              </a:rPr>
              <a:t>테이블·컬럼 선정</a:t>
            </a:r>
            <a:endParaRPr lang="en-US" sz="680" dirty="0"/>
          </a:p>
        </p:txBody>
      </p:sp>
      <p:sp>
        <p:nvSpPr>
          <p:cNvPr id="45" name="Shape 43"/>
          <p:cNvSpPr/>
          <p:nvPr/>
        </p:nvSpPr>
        <p:spPr>
          <a:xfrm>
            <a:off x="6671667" y="2594790"/>
            <a:ext cx="92351" cy="0"/>
          </a:xfrm>
          <a:prstGeom prst="line">
            <a:avLst/>
          </a:prstGeom>
          <a:noFill/>
          <a:ln w="12929">
            <a:solidFill>
              <a:srgbClr val="4D4D4D"/>
            </a:solidFill>
            <a:prstDash val="solid"/>
            <a:tailEnd type="triangle"/>
          </a:ln>
        </p:spPr>
      </p:sp>
      <p:sp>
        <p:nvSpPr>
          <p:cNvPr id="46" name="Shape 44"/>
          <p:cNvSpPr/>
          <p:nvPr/>
        </p:nvSpPr>
        <p:spPr>
          <a:xfrm>
            <a:off x="6787106" y="2450492"/>
            <a:ext cx="808068" cy="288596"/>
          </a:xfrm>
          <a:prstGeom prst="roundRect">
            <a:avLst>
              <a:gd name="adj" fmla="val 12000"/>
            </a:avLst>
          </a:prstGeom>
          <a:solidFill>
            <a:srgbClr val="FFFFFF"/>
          </a:solidFill>
          <a:ln w="9235">
            <a:solidFill>
              <a:srgbClr val="3A3A3A"/>
            </a:solidFill>
            <a:prstDash val="solid"/>
          </a:ln>
        </p:spPr>
      </p:sp>
      <p:sp>
        <p:nvSpPr>
          <p:cNvPr id="47" name="Text 45"/>
          <p:cNvSpPr txBox="1"/>
          <p:nvPr/>
        </p:nvSpPr>
        <p:spPr>
          <a:xfrm>
            <a:off x="6949788" y="2527692"/>
            <a:ext cx="482704" cy="134197"/>
          </a:xfrm>
          <a:prstGeom prst="rect">
            <a:avLst/>
          </a:prstGeom>
          <a:noFill/>
          <a:ln/>
        </p:spPr>
        <p:txBody>
          <a:bodyPr wrap="none" lIns="0" tIns="0" rIns="0" bIns="0" rtlCol="0" anchor="ctr"/>
          <a:lstStyle/>
          <a:p>
            <a:pPr marL="0" indent="0" algn="ctr">
              <a:buNone/>
            </a:pPr>
            <a:r>
              <a:rPr lang="en-US" sz="680" b="1" dirty="0">
                <a:solidFill>
                  <a:srgbClr val="1A1A1A"/>
                </a:solidFill>
                <a:latin typeface="Malgun Gothic" pitchFamily="34" charset="0"/>
                <a:ea typeface="Malgun Gothic" pitchFamily="34" charset="-122"/>
                <a:cs typeface="Malgun Gothic" pitchFamily="34" charset="-120"/>
              </a:rPr>
              <a:t>SQL 생성</a:t>
            </a:r>
            <a:endParaRPr lang="en-US" sz="680" dirty="0"/>
          </a:p>
        </p:txBody>
      </p:sp>
      <p:sp>
        <p:nvSpPr>
          <p:cNvPr id="48" name="Shape 46"/>
          <p:cNvSpPr/>
          <p:nvPr/>
        </p:nvSpPr>
        <p:spPr>
          <a:xfrm>
            <a:off x="7595173" y="2594790"/>
            <a:ext cx="92351" cy="0"/>
          </a:xfrm>
          <a:prstGeom prst="line">
            <a:avLst/>
          </a:prstGeom>
          <a:noFill/>
          <a:ln w="12929">
            <a:solidFill>
              <a:srgbClr val="4D4D4D"/>
            </a:solidFill>
            <a:prstDash val="solid"/>
            <a:tailEnd type="triangle"/>
          </a:ln>
        </p:spPr>
      </p:sp>
      <p:sp>
        <p:nvSpPr>
          <p:cNvPr id="49" name="Shape 47"/>
          <p:cNvSpPr/>
          <p:nvPr/>
        </p:nvSpPr>
        <p:spPr>
          <a:xfrm>
            <a:off x="7710612" y="2450492"/>
            <a:ext cx="808068" cy="288596"/>
          </a:xfrm>
          <a:prstGeom prst="roundRect">
            <a:avLst>
              <a:gd name="adj" fmla="val 12000"/>
            </a:avLst>
          </a:prstGeom>
          <a:solidFill>
            <a:srgbClr val="FFFFFF"/>
          </a:solidFill>
          <a:ln w="9235">
            <a:solidFill>
              <a:srgbClr val="3A3A3A"/>
            </a:solidFill>
            <a:prstDash val="solid"/>
          </a:ln>
        </p:spPr>
      </p:sp>
      <p:sp>
        <p:nvSpPr>
          <p:cNvPr id="50" name="Text 48"/>
          <p:cNvSpPr txBox="1"/>
          <p:nvPr/>
        </p:nvSpPr>
        <p:spPr>
          <a:xfrm>
            <a:off x="7873294" y="2527692"/>
            <a:ext cx="482704" cy="134197"/>
          </a:xfrm>
          <a:prstGeom prst="rect">
            <a:avLst/>
          </a:prstGeom>
          <a:noFill/>
          <a:ln/>
        </p:spPr>
        <p:txBody>
          <a:bodyPr wrap="none" lIns="0" tIns="0" rIns="0" bIns="0" rtlCol="0" anchor="ctr"/>
          <a:lstStyle/>
          <a:p>
            <a:pPr marL="0" indent="0" algn="ctr">
              <a:buNone/>
            </a:pPr>
            <a:r>
              <a:rPr lang="en-US" sz="680" b="1" dirty="0">
                <a:solidFill>
                  <a:srgbClr val="1A1A1A"/>
                </a:solidFill>
                <a:latin typeface="Malgun Gothic" pitchFamily="34" charset="0"/>
                <a:ea typeface="Malgun Gothic" pitchFamily="34" charset="-122"/>
                <a:cs typeface="Malgun Gothic" pitchFamily="34" charset="-120"/>
              </a:rPr>
              <a:t>SQL 검증</a:t>
            </a:r>
            <a:endParaRPr lang="en-US" sz="680" dirty="0"/>
          </a:p>
        </p:txBody>
      </p:sp>
      <p:sp>
        <p:nvSpPr>
          <p:cNvPr id="51" name="Shape 49"/>
          <p:cNvSpPr/>
          <p:nvPr/>
        </p:nvSpPr>
        <p:spPr>
          <a:xfrm>
            <a:off x="8518679" y="2594790"/>
            <a:ext cx="277052" cy="0"/>
          </a:xfrm>
          <a:prstGeom prst="line">
            <a:avLst/>
          </a:prstGeom>
          <a:noFill/>
          <a:ln w="12929">
            <a:solidFill>
              <a:srgbClr val="4D4D4D"/>
            </a:solidFill>
            <a:prstDash val="solid"/>
            <a:tailEnd type="triangle"/>
          </a:ln>
        </p:spPr>
      </p:sp>
      <p:sp>
        <p:nvSpPr>
          <p:cNvPr id="52" name="Shape 50"/>
          <p:cNvSpPr/>
          <p:nvPr/>
        </p:nvSpPr>
        <p:spPr>
          <a:xfrm>
            <a:off x="8807275" y="2479352"/>
            <a:ext cx="230877" cy="230877"/>
          </a:xfrm>
          <a:prstGeom prst="diamond">
            <a:avLst/>
          </a:prstGeom>
          <a:solidFill>
            <a:srgbClr val="FFFFFF"/>
          </a:solidFill>
          <a:ln w="11082">
            <a:solidFill>
              <a:srgbClr val="1A1A1A"/>
            </a:solidFill>
            <a:prstDash val="solid"/>
          </a:ln>
        </p:spPr>
      </p:sp>
      <p:sp>
        <p:nvSpPr>
          <p:cNvPr id="53" name="Shape 51"/>
          <p:cNvSpPr/>
          <p:nvPr/>
        </p:nvSpPr>
        <p:spPr>
          <a:xfrm>
            <a:off x="8882310" y="2554387"/>
            <a:ext cx="80807" cy="80807"/>
          </a:xfrm>
          <a:prstGeom prst="line">
            <a:avLst/>
          </a:prstGeom>
          <a:noFill/>
          <a:ln w="12929">
            <a:solidFill>
              <a:srgbClr val="1A1A1A"/>
            </a:solidFill>
            <a:prstDash val="solid"/>
          </a:ln>
        </p:spPr>
      </p:sp>
      <p:sp>
        <p:nvSpPr>
          <p:cNvPr id="54" name="Shape 52"/>
          <p:cNvSpPr/>
          <p:nvPr/>
        </p:nvSpPr>
        <p:spPr>
          <a:xfrm flipH="1">
            <a:off x="8882310" y="2554387"/>
            <a:ext cx="80807" cy="80807"/>
          </a:xfrm>
          <a:prstGeom prst="line">
            <a:avLst/>
          </a:prstGeom>
          <a:noFill/>
          <a:ln w="12929">
            <a:solidFill>
              <a:srgbClr val="1A1A1A"/>
            </a:solidFill>
            <a:prstDash val="solid"/>
          </a:ln>
        </p:spPr>
      </p:sp>
      <p:sp>
        <p:nvSpPr>
          <p:cNvPr id="55" name="Shape 53"/>
          <p:cNvSpPr/>
          <p:nvPr/>
        </p:nvSpPr>
        <p:spPr>
          <a:xfrm flipV="1">
            <a:off x="8922713" y="2306195"/>
            <a:ext cx="0" cy="173157"/>
          </a:xfrm>
          <a:prstGeom prst="line">
            <a:avLst/>
          </a:prstGeom>
          <a:noFill/>
          <a:ln w="12929">
            <a:solidFill>
              <a:srgbClr val="4D4D4D"/>
            </a:solidFill>
            <a:prstDash val="solid"/>
          </a:ln>
        </p:spPr>
      </p:sp>
      <p:sp>
        <p:nvSpPr>
          <p:cNvPr id="56" name="Shape 54"/>
          <p:cNvSpPr/>
          <p:nvPr/>
        </p:nvSpPr>
        <p:spPr>
          <a:xfrm flipH="1">
            <a:off x="7191139" y="2306195"/>
            <a:ext cx="1731574" cy="0"/>
          </a:xfrm>
          <a:prstGeom prst="line">
            <a:avLst/>
          </a:prstGeom>
          <a:noFill/>
          <a:ln w="12929">
            <a:solidFill>
              <a:srgbClr val="4D4D4D"/>
            </a:solidFill>
            <a:prstDash val="solid"/>
          </a:ln>
        </p:spPr>
      </p:sp>
      <p:sp>
        <p:nvSpPr>
          <p:cNvPr id="57" name="Shape 55"/>
          <p:cNvSpPr/>
          <p:nvPr/>
        </p:nvSpPr>
        <p:spPr>
          <a:xfrm>
            <a:off x="7191139" y="2306195"/>
            <a:ext cx="0" cy="121210"/>
          </a:xfrm>
          <a:prstGeom prst="line">
            <a:avLst/>
          </a:prstGeom>
          <a:noFill/>
          <a:ln w="12929">
            <a:solidFill>
              <a:srgbClr val="4D4D4D"/>
            </a:solidFill>
            <a:prstDash val="solid"/>
            <a:tailEnd type="triangle"/>
          </a:ln>
        </p:spPr>
      </p:sp>
      <p:sp>
        <p:nvSpPr>
          <p:cNvPr id="58" name="Text 56"/>
          <p:cNvSpPr txBox="1"/>
          <p:nvPr/>
        </p:nvSpPr>
        <p:spPr>
          <a:xfrm>
            <a:off x="8968889" y="2340393"/>
            <a:ext cx="604759" cy="116304"/>
          </a:xfrm>
          <a:prstGeom prst="rect">
            <a:avLst/>
          </a:prstGeom>
          <a:noFill/>
          <a:ln/>
        </p:spPr>
        <p:txBody>
          <a:bodyPr wrap="none" lIns="0" tIns="0" rIns="0" bIns="0" rtlCol="0" anchor="ctr"/>
          <a:lstStyle/>
          <a:p>
            <a:pPr marL="0" indent="0" algn="l">
              <a:buNone/>
            </a:pPr>
            <a:r>
              <a:rPr lang="en-US" sz="590" dirty="0">
                <a:solidFill>
                  <a:srgbClr val="6B6B6B"/>
                </a:solidFill>
                <a:latin typeface="Malgun Gothic" pitchFamily="34" charset="0"/>
                <a:ea typeface="Malgun Gothic" pitchFamily="34" charset="-122"/>
                <a:cs typeface="Malgun Gothic" pitchFamily="34" charset="-120"/>
              </a:rPr>
              <a:t>실패 · 재생성</a:t>
            </a:r>
            <a:endParaRPr lang="en-US" sz="590" dirty="0"/>
          </a:p>
        </p:txBody>
      </p:sp>
      <p:sp>
        <p:nvSpPr>
          <p:cNvPr id="59" name="Shape 57"/>
          <p:cNvSpPr/>
          <p:nvPr/>
        </p:nvSpPr>
        <p:spPr>
          <a:xfrm>
            <a:off x="9038152" y="2594790"/>
            <a:ext cx="265508" cy="0"/>
          </a:xfrm>
          <a:prstGeom prst="line">
            <a:avLst/>
          </a:prstGeom>
          <a:noFill/>
          <a:ln w="12929">
            <a:solidFill>
              <a:srgbClr val="4D4D4D"/>
            </a:solidFill>
            <a:prstDash val="solid"/>
            <a:tailEnd type="triangle"/>
          </a:ln>
        </p:spPr>
      </p:sp>
      <p:sp>
        <p:nvSpPr>
          <p:cNvPr id="60" name="Text 58"/>
          <p:cNvSpPr txBox="1"/>
          <p:nvPr/>
        </p:nvSpPr>
        <p:spPr>
          <a:xfrm>
            <a:off x="9072783" y="2478919"/>
            <a:ext cx="235227" cy="116304"/>
          </a:xfrm>
          <a:prstGeom prst="rect">
            <a:avLst/>
          </a:prstGeom>
          <a:noFill/>
          <a:ln/>
        </p:spPr>
        <p:txBody>
          <a:bodyPr wrap="none" lIns="0" tIns="0" rIns="0" bIns="0" rtlCol="0" anchor="ctr"/>
          <a:lstStyle/>
          <a:p>
            <a:pPr marL="0" indent="0" algn="l">
              <a:buNone/>
            </a:pPr>
            <a:r>
              <a:rPr lang="en-US" sz="590" dirty="0">
                <a:solidFill>
                  <a:srgbClr val="6B6B6B"/>
                </a:solidFill>
                <a:latin typeface="Malgun Gothic" pitchFamily="34" charset="0"/>
                <a:ea typeface="Malgun Gothic" pitchFamily="34" charset="-122"/>
                <a:cs typeface="Malgun Gothic" pitchFamily="34" charset="-120"/>
              </a:rPr>
              <a:t>통과</a:t>
            </a:r>
            <a:endParaRPr lang="en-US" sz="590" dirty="0"/>
          </a:p>
        </p:txBody>
      </p:sp>
      <p:sp>
        <p:nvSpPr>
          <p:cNvPr id="61" name="Shape 59"/>
          <p:cNvSpPr/>
          <p:nvPr/>
        </p:nvSpPr>
        <p:spPr>
          <a:xfrm>
            <a:off x="9326747" y="2450492"/>
            <a:ext cx="808068" cy="288596"/>
          </a:xfrm>
          <a:prstGeom prst="roundRect">
            <a:avLst>
              <a:gd name="adj" fmla="val 12000"/>
            </a:avLst>
          </a:prstGeom>
          <a:solidFill>
            <a:srgbClr val="FFFFFF"/>
          </a:solidFill>
          <a:ln w="9235">
            <a:solidFill>
              <a:srgbClr val="3A3A3A"/>
            </a:solidFill>
            <a:prstDash val="solid"/>
          </a:ln>
        </p:spPr>
      </p:sp>
      <p:sp>
        <p:nvSpPr>
          <p:cNvPr id="62" name="Text 60"/>
          <p:cNvSpPr txBox="1"/>
          <p:nvPr/>
        </p:nvSpPr>
        <p:spPr>
          <a:xfrm>
            <a:off x="9482884" y="2481516"/>
            <a:ext cx="495795" cy="134197"/>
          </a:xfrm>
          <a:prstGeom prst="rect">
            <a:avLst/>
          </a:prstGeom>
          <a:noFill/>
          <a:ln/>
        </p:spPr>
        <p:txBody>
          <a:bodyPr wrap="none" lIns="0" tIns="0" rIns="0" bIns="0" rtlCol="0" anchor="ctr"/>
          <a:lstStyle/>
          <a:p>
            <a:pPr marL="0" indent="0" algn="ctr">
              <a:buNone/>
            </a:pPr>
            <a:r>
              <a:rPr lang="en-US" sz="680" b="1" dirty="0">
                <a:solidFill>
                  <a:srgbClr val="1A1A1A"/>
                </a:solidFill>
                <a:latin typeface="Malgun Gothic" pitchFamily="34" charset="0"/>
                <a:ea typeface="Malgun Gothic" pitchFamily="34" charset="-122"/>
                <a:cs typeface="Malgun Gothic" pitchFamily="34" charset="-120"/>
              </a:rPr>
              <a:t>쿼리 실행</a:t>
            </a:r>
            <a:endParaRPr lang="en-US" sz="680" dirty="0"/>
          </a:p>
        </p:txBody>
      </p:sp>
      <p:sp>
        <p:nvSpPr>
          <p:cNvPr id="63" name="Text 61"/>
          <p:cNvSpPr txBox="1"/>
          <p:nvPr/>
        </p:nvSpPr>
        <p:spPr>
          <a:xfrm>
            <a:off x="9327977" y="2602366"/>
            <a:ext cx="805608" cy="111831"/>
          </a:xfrm>
          <a:prstGeom prst="rect">
            <a:avLst/>
          </a:prstGeom>
          <a:noFill/>
          <a:ln/>
        </p:spPr>
        <p:txBody>
          <a:bodyPr wrap="none" lIns="0" tIns="0" rIns="0" bIns="0" rtlCol="0" anchor="ctr"/>
          <a:lstStyle/>
          <a:p>
            <a:pPr marL="0" indent="0" algn="ctr">
              <a:buNone/>
            </a:pPr>
            <a:r>
              <a:rPr lang="en-US" sz="570" dirty="0">
                <a:solidFill>
                  <a:srgbClr val="595959"/>
                </a:solidFill>
                <a:latin typeface="Malgun Gothic" pitchFamily="34" charset="0"/>
                <a:ea typeface="Malgun Gothic" pitchFamily="34" charset="-122"/>
                <a:cs typeface="Malgun Gothic" pitchFamily="34" charset="-120"/>
              </a:rPr>
              <a:t>Data Hub 조회 전용</a:t>
            </a:r>
            <a:endParaRPr lang="en-US" sz="570" dirty="0"/>
          </a:p>
        </p:txBody>
      </p:sp>
      <p:sp>
        <p:nvSpPr>
          <p:cNvPr id="64" name="Shape 62"/>
          <p:cNvSpPr/>
          <p:nvPr/>
        </p:nvSpPr>
        <p:spPr>
          <a:xfrm>
            <a:off x="10134815" y="2594790"/>
            <a:ext cx="92351" cy="0"/>
          </a:xfrm>
          <a:prstGeom prst="line">
            <a:avLst/>
          </a:prstGeom>
          <a:noFill/>
          <a:ln w="12929">
            <a:solidFill>
              <a:srgbClr val="4D4D4D"/>
            </a:solidFill>
            <a:prstDash val="solid"/>
            <a:tailEnd type="triangle"/>
          </a:ln>
        </p:spPr>
      </p:sp>
      <p:sp>
        <p:nvSpPr>
          <p:cNvPr id="65" name="Shape 63"/>
          <p:cNvSpPr/>
          <p:nvPr/>
        </p:nvSpPr>
        <p:spPr>
          <a:xfrm>
            <a:off x="10250253" y="2450492"/>
            <a:ext cx="808068" cy="288596"/>
          </a:xfrm>
          <a:prstGeom prst="roundRect">
            <a:avLst>
              <a:gd name="adj" fmla="val 12000"/>
            </a:avLst>
          </a:prstGeom>
          <a:solidFill>
            <a:srgbClr val="FFFFFF"/>
          </a:solidFill>
          <a:ln w="9235">
            <a:solidFill>
              <a:srgbClr val="3A3A3A"/>
            </a:solidFill>
            <a:prstDash val="solid"/>
          </a:ln>
        </p:spPr>
      </p:sp>
      <p:sp>
        <p:nvSpPr>
          <p:cNvPr id="66" name="Text 64"/>
          <p:cNvSpPr txBox="1"/>
          <p:nvPr/>
        </p:nvSpPr>
        <p:spPr>
          <a:xfrm>
            <a:off x="10288574" y="2527692"/>
            <a:ext cx="731427" cy="134197"/>
          </a:xfrm>
          <a:prstGeom prst="rect">
            <a:avLst/>
          </a:prstGeom>
          <a:noFill/>
          <a:ln/>
        </p:spPr>
        <p:txBody>
          <a:bodyPr wrap="none" lIns="0" tIns="0" rIns="0" bIns="0" rtlCol="0" anchor="ctr"/>
          <a:lstStyle/>
          <a:p>
            <a:pPr marL="0" indent="0" algn="ctr">
              <a:buNone/>
            </a:pPr>
            <a:r>
              <a:rPr lang="en-US" sz="680" b="1" dirty="0">
                <a:solidFill>
                  <a:srgbClr val="1A1A1A"/>
                </a:solidFill>
                <a:latin typeface="Malgun Gothic" pitchFamily="34" charset="0"/>
                <a:ea typeface="Malgun Gothic" pitchFamily="34" charset="-122"/>
                <a:cs typeface="Malgun Gothic" pitchFamily="34" charset="-120"/>
              </a:rPr>
              <a:t>결과 해석·요약</a:t>
            </a:r>
            <a:endParaRPr lang="en-US" sz="680" dirty="0"/>
          </a:p>
        </p:txBody>
      </p:sp>
      <p:sp>
        <p:nvSpPr>
          <p:cNvPr id="67" name="Shape 65"/>
          <p:cNvSpPr/>
          <p:nvPr/>
        </p:nvSpPr>
        <p:spPr>
          <a:xfrm flipV="1">
            <a:off x="10654287" y="1942564"/>
            <a:ext cx="0" cy="507928"/>
          </a:xfrm>
          <a:prstGeom prst="line">
            <a:avLst/>
          </a:prstGeom>
          <a:noFill/>
          <a:ln w="12929">
            <a:solidFill>
              <a:srgbClr val="4D4D4D"/>
            </a:solidFill>
            <a:prstDash val="solid"/>
            <a:tailEnd type="triangle"/>
          </a:ln>
        </p:spPr>
      </p:sp>
      <p:sp>
        <p:nvSpPr>
          <p:cNvPr id="68" name="Shape 66"/>
          <p:cNvSpPr/>
          <p:nvPr/>
        </p:nvSpPr>
        <p:spPr>
          <a:xfrm>
            <a:off x="10250253" y="1642425"/>
            <a:ext cx="808068" cy="288596"/>
          </a:xfrm>
          <a:prstGeom prst="roundRect">
            <a:avLst>
              <a:gd name="adj" fmla="val 12000"/>
            </a:avLst>
          </a:prstGeom>
          <a:solidFill>
            <a:srgbClr val="D9D9D9"/>
          </a:solidFill>
          <a:ln w="9235">
            <a:solidFill>
              <a:srgbClr val="7F7F7F"/>
            </a:solidFill>
            <a:prstDash val="solid"/>
          </a:ln>
        </p:spPr>
      </p:sp>
      <p:sp>
        <p:nvSpPr>
          <p:cNvPr id="69" name="Text 67"/>
          <p:cNvSpPr txBox="1"/>
          <p:nvPr/>
        </p:nvSpPr>
        <p:spPr>
          <a:xfrm>
            <a:off x="10406390" y="1719624"/>
            <a:ext cx="495795" cy="134197"/>
          </a:xfrm>
          <a:prstGeom prst="rect">
            <a:avLst/>
          </a:prstGeom>
          <a:noFill/>
          <a:ln/>
        </p:spPr>
        <p:txBody>
          <a:bodyPr wrap="none" lIns="0" tIns="0" rIns="0" bIns="0" rtlCol="0" anchor="ctr"/>
          <a:lstStyle/>
          <a:p>
            <a:pPr marL="0" indent="0" algn="ctr">
              <a:buNone/>
            </a:pPr>
            <a:r>
              <a:rPr lang="en-US" sz="680" b="1" dirty="0">
                <a:solidFill>
                  <a:srgbClr val="262626"/>
                </a:solidFill>
                <a:latin typeface="Malgun Gothic" pitchFamily="34" charset="0"/>
                <a:ea typeface="Malgun Gothic" pitchFamily="34" charset="-122"/>
                <a:cs typeface="Malgun Gothic" pitchFamily="34" charset="-120"/>
              </a:rPr>
              <a:t>결과 확인</a:t>
            </a:r>
            <a:endParaRPr lang="en-US" sz="680" dirty="0"/>
          </a:p>
        </p:txBody>
      </p:sp>
      <p:sp>
        <p:nvSpPr>
          <p:cNvPr id="70" name="Shape 68"/>
          <p:cNvSpPr/>
          <p:nvPr/>
        </p:nvSpPr>
        <p:spPr>
          <a:xfrm>
            <a:off x="11058321" y="1729003"/>
            <a:ext cx="253964" cy="0"/>
          </a:xfrm>
          <a:prstGeom prst="line">
            <a:avLst/>
          </a:prstGeom>
          <a:noFill/>
          <a:ln w="12929">
            <a:solidFill>
              <a:srgbClr val="4D4D4D"/>
            </a:solidFill>
            <a:prstDash val="solid"/>
            <a:tailEnd type="triangle"/>
          </a:ln>
        </p:spPr>
      </p:sp>
      <p:sp>
        <p:nvSpPr>
          <p:cNvPr id="71" name="Shape 69"/>
          <p:cNvSpPr/>
          <p:nvPr/>
        </p:nvSpPr>
        <p:spPr>
          <a:xfrm>
            <a:off x="11323829" y="1648197"/>
            <a:ext cx="161614" cy="161614"/>
          </a:xfrm>
          <a:prstGeom prst="ellipse">
            <a:avLst/>
          </a:prstGeom>
          <a:solidFill>
            <a:srgbClr val="FFFFFF"/>
          </a:solidFill>
          <a:ln w="32323">
            <a:solidFill>
              <a:srgbClr val="1A1A1A"/>
            </a:solidFill>
            <a:prstDash val="solid"/>
          </a:ln>
        </p:spPr>
      </p:sp>
      <p:sp>
        <p:nvSpPr>
          <p:cNvPr id="72" name="Text 70"/>
          <p:cNvSpPr txBox="1"/>
          <p:nvPr/>
        </p:nvSpPr>
        <p:spPr>
          <a:xfrm>
            <a:off x="11290139" y="1869333"/>
            <a:ext cx="228994" cy="111831"/>
          </a:xfrm>
          <a:prstGeom prst="rect">
            <a:avLst/>
          </a:prstGeom>
          <a:noFill/>
          <a:ln/>
        </p:spPr>
        <p:txBody>
          <a:bodyPr wrap="none" lIns="0" tIns="0" rIns="0" bIns="0" rtlCol="0" anchor="ctr"/>
          <a:lstStyle/>
          <a:p>
            <a:pPr marL="0" indent="0" algn="ctr">
              <a:buNone/>
            </a:pPr>
            <a:r>
              <a:rPr lang="en-US" sz="570" dirty="0">
                <a:solidFill>
                  <a:srgbClr val="6B6B6B"/>
                </a:solidFill>
                <a:latin typeface="Malgun Gothic" pitchFamily="34" charset="0"/>
                <a:ea typeface="Malgun Gothic" pitchFamily="34" charset="-122"/>
                <a:cs typeface="Malgun Gothic" pitchFamily="34" charset="-120"/>
              </a:rPr>
              <a:t>종료</a:t>
            </a:r>
            <a:endParaRPr lang="en-US" sz="570" dirty="0"/>
          </a:p>
        </p:txBody>
      </p:sp>
      <p:sp>
        <p:nvSpPr>
          <p:cNvPr id="73" name="Shape 71"/>
          <p:cNvSpPr/>
          <p:nvPr/>
        </p:nvSpPr>
        <p:spPr>
          <a:xfrm>
            <a:off x="1880980" y="2739088"/>
            <a:ext cx="0" cy="421350"/>
          </a:xfrm>
          <a:prstGeom prst="line">
            <a:avLst/>
          </a:prstGeom>
          <a:noFill/>
          <a:ln w="9235">
            <a:solidFill>
              <a:srgbClr val="9E9E9E"/>
            </a:solidFill>
            <a:prstDash val="dash"/>
          </a:ln>
        </p:spPr>
      </p:sp>
      <p:sp>
        <p:nvSpPr>
          <p:cNvPr id="74" name="Shape 72"/>
          <p:cNvSpPr/>
          <p:nvPr/>
        </p:nvSpPr>
        <p:spPr>
          <a:xfrm>
            <a:off x="1500033" y="3160438"/>
            <a:ext cx="761892" cy="657998"/>
          </a:xfrm>
          <a:prstGeom prst="roundRect">
            <a:avLst>
              <a:gd name="adj" fmla="val 7018"/>
            </a:avLst>
          </a:prstGeom>
          <a:solidFill>
            <a:srgbClr val="FFFFFF">
              <a:alpha val="0"/>
            </a:srgbClr>
          </a:solidFill>
          <a:ln w="9235">
            <a:solidFill>
              <a:srgbClr val="C8C8C8"/>
            </a:solidFill>
            <a:prstDash val="dash"/>
          </a:ln>
        </p:spPr>
      </p:sp>
      <p:sp>
        <p:nvSpPr>
          <p:cNvPr id="75" name="Shape 73"/>
          <p:cNvSpPr/>
          <p:nvPr/>
        </p:nvSpPr>
        <p:spPr>
          <a:xfrm>
            <a:off x="1523121" y="3218157"/>
            <a:ext cx="715717" cy="150070"/>
          </a:xfrm>
          <a:prstGeom prst="roundRect">
            <a:avLst>
              <a:gd name="adj" fmla="val 15385"/>
            </a:avLst>
          </a:prstGeom>
          <a:solidFill>
            <a:srgbClr val="EDEDED"/>
          </a:solidFill>
          <a:ln w="7620">
            <a:solidFill>
              <a:srgbClr val="A6A6A6"/>
            </a:solidFill>
            <a:prstDash val="solid"/>
          </a:ln>
        </p:spPr>
      </p:sp>
      <p:sp>
        <p:nvSpPr>
          <p:cNvPr id="76" name="Text 74"/>
          <p:cNvSpPr txBox="1"/>
          <p:nvPr/>
        </p:nvSpPr>
        <p:spPr>
          <a:xfrm>
            <a:off x="1539702" y="3235040"/>
            <a:ext cx="682555" cy="116304"/>
          </a:xfrm>
          <a:prstGeom prst="rect">
            <a:avLst/>
          </a:prstGeom>
          <a:noFill/>
          <a:ln/>
        </p:spPr>
        <p:txBody>
          <a:bodyPr wrap="none" lIns="0" tIns="0" rIns="0" bIns="0" rtlCol="0" anchor="ctr"/>
          <a:lstStyle/>
          <a:p>
            <a:pPr marL="0" indent="0" algn="ctr">
              <a:buNone/>
            </a:pPr>
            <a:r>
              <a:rPr lang="en-US" sz="590" dirty="0">
                <a:solidFill>
                  <a:srgbClr val="333333"/>
                </a:solidFill>
                <a:latin typeface="Malgun Gothic" pitchFamily="34" charset="0"/>
                <a:ea typeface="Malgun Gothic" pitchFamily="34" charset="-122"/>
                <a:cs typeface="Malgun Gothic" pitchFamily="34" charset="-120"/>
              </a:rPr>
              <a:t>비즈니스 용어집</a:t>
            </a:r>
            <a:endParaRPr lang="en-US" sz="590" dirty="0"/>
          </a:p>
        </p:txBody>
      </p:sp>
      <p:sp>
        <p:nvSpPr>
          <p:cNvPr id="77" name="Shape 75"/>
          <p:cNvSpPr/>
          <p:nvPr/>
        </p:nvSpPr>
        <p:spPr>
          <a:xfrm>
            <a:off x="1523121" y="3414402"/>
            <a:ext cx="715717" cy="150070"/>
          </a:xfrm>
          <a:prstGeom prst="roundRect">
            <a:avLst>
              <a:gd name="adj" fmla="val 15385"/>
            </a:avLst>
          </a:prstGeom>
          <a:solidFill>
            <a:srgbClr val="EDEDED"/>
          </a:solidFill>
          <a:ln w="7620">
            <a:solidFill>
              <a:srgbClr val="A6A6A6"/>
            </a:solidFill>
            <a:prstDash val="solid"/>
          </a:ln>
        </p:spPr>
      </p:sp>
      <p:sp>
        <p:nvSpPr>
          <p:cNvPr id="78" name="Text 76"/>
          <p:cNvSpPr txBox="1"/>
          <p:nvPr/>
        </p:nvSpPr>
        <p:spPr>
          <a:xfrm>
            <a:off x="1543754" y="3431285"/>
            <a:ext cx="674451" cy="116304"/>
          </a:xfrm>
          <a:prstGeom prst="rect">
            <a:avLst/>
          </a:prstGeom>
          <a:noFill/>
          <a:ln/>
        </p:spPr>
        <p:txBody>
          <a:bodyPr wrap="none" lIns="0" tIns="0" rIns="0" bIns="0" rtlCol="0" anchor="ctr"/>
          <a:lstStyle/>
          <a:p>
            <a:pPr marL="0" indent="0" algn="ctr">
              <a:buNone/>
            </a:pPr>
            <a:r>
              <a:rPr lang="en-US" sz="590" dirty="0">
                <a:solidFill>
                  <a:srgbClr val="333333"/>
                </a:solidFill>
                <a:latin typeface="Malgun Gothic" pitchFamily="34" charset="0"/>
                <a:ea typeface="Malgun Gothic" pitchFamily="34" charset="-122"/>
                <a:cs typeface="Malgun Gothic" pitchFamily="34" charset="-120"/>
              </a:rPr>
              <a:t>지표(KPI) 정의</a:t>
            </a:r>
            <a:endParaRPr lang="en-US" sz="590" dirty="0"/>
          </a:p>
        </p:txBody>
      </p:sp>
      <p:sp>
        <p:nvSpPr>
          <p:cNvPr id="79" name="Shape 77"/>
          <p:cNvSpPr/>
          <p:nvPr/>
        </p:nvSpPr>
        <p:spPr>
          <a:xfrm>
            <a:off x="1523121" y="3610647"/>
            <a:ext cx="715717" cy="150070"/>
          </a:xfrm>
          <a:prstGeom prst="roundRect">
            <a:avLst>
              <a:gd name="adj" fmla="val 15385"/>
            </a:avLst>
          </a:prstGeom>
          <a:solidFill>
            <a:srgbClr val="EDEDED"/>
          </a:solidFill>
          <a:ln w="7620">
            <a:solidFill>
              <a:srgbClr val="A6A6A6"/>
            </a:solidFill>
            <a:prstDash val="solid"/>
          </a:ln>
        </p:spPr>
      </p:sp>
      <p:sp>
        <p:nvSpPr>
          <p:cNvPr id="80" name="Text 78"/>
          <p:cNvSpPr txBox="1"/>
          <p:nvPr/>
        </p:nvSpPr>
        <p:spPr>
          <a:xfrm>
            <a:off x="1569686" y="3627530"/>
            <a:ext cx="622587" cy="116304"/>
          </a:xfrm>
          <a:prstGeom prst="rect">
            <a:avLst/>
          </a:prstGeom>
          <a:noFill/>
          <a:ln/>
        </p:spPr>
        <p:txBody>
          <a:bodyPr wrap="none" lIns="0" tIns="0" rIns="0" bIns="0" rtlCol="0" anchor="ctr"/>
          <a:lstStyle/>
          <a:p>
            <a:pPr marL="0" indent="0" algn="ctr">
              <a:buNone/>
            </a:pPr>
            <a:r>
              <a:rPr lang="en-US" sz="590" dirty="0">
                <a:solidFill>
                  <a:srgbClr val="333333"/>
                </a:solidFill>
                <a:latin typeface="Malgun Gothic" pitchFamily="34" charset="0"/>
                <a:ea typeface="Malgun Gothic" pitchFamily="34" charset="-122"/>
                <a:cs typeface="Malgun Gothic" pitchFamily="34" charset="-120"/>
              </a:rPr>
              <a:t>Few-shot 예시</a:t>
            </a:r>
            <a:endParaRPr lang="en-US" sz="590" dirty="0"/>
          </a:p>
        </p:txBody>
      </p:sp>
      <p:sp>
        <p:nvSpPr>
          <p:cNvPr id="81" name="Shape 79"/>
          <p:cNvSpPr/>
          <p:nvPr/>
        </p:nvSpPr>
        <p:spPr>
          <a:xfrm>
            <a:off x="2689047" y="2710228"/>
            <a:ext cx="0" cy="450209"/>
          </a:xfrm>
          <a:prstGeom prst="line">
            <a:avLst/>
          </a:prstGeom>
          <a:noFill/>
          <a:ln w="9235">
            <a:solidFill>
              <a:srgbClr val="9E9E9E"/>
            </a:solidFill>
            <a:prstDash val="dash"/>
          </a:ln>
        </p:spPr>
      </p:sp>
      <p:sp>
        <p:nvSpPr>
          <p:cNvPr id="82" name="Shape 80"/>
          <p:cNvSpPr/>
          <p:nvPr/>
        </p:nvSpPr>
        <p:spPr>
          <a:xfrm>
            <a:off x="2308101" y="3160438"/>
            <a:ext cx="761892" cy="657998"/>
          </a:xfrm>
          <a:prstGeom prst="roundRect">
            <a:avLst>
              <a:gd name="adj" fmla="val 7018"/>
            </a:avLst>
          </a:prstGeom>
          <a:solidFill>
            <a:srgbClr val="FFFFFF">
              <a:alpha val="0"/>
            </a:srgbClr>
          </a:solidFill>
          <a:ln w="9235">
            <a:solidFill>
              <a:srgbClr val="C8C8C8"/>
            </a:solidFill>
            <a:prstDash val="dash"/>
          </a:ln>
        </p:spPr>
      </p:sp>
      <p:sp>
        <p:nvSpPr>
          <p:cNvPr id="83" name="Shape 81"/>
          <p:cNvSpPr/>
          <p:nvPr/>
        </p:nvSpPr>
        <p:spPr>
          <a:xfrm>
            <a:off x="2331189" y="3218157"/>
            <a:ext cx="715717" cy="150070"/>
          </a:xfrm>
          <a:prstGeom prst="roundRect">
            <a:avLst>
              <a:gd name="adj" fmla="val 15385"/>
            </a:avLst>
          </a:prstGeom>
          <a:solidFill>
            <a:srgbClr val="EDEDED"/>
          </a:solidFill>
          <a:ln w="7620">
            <a:solidFill>
              <a:srgbClr val="A6A6A6"/>
            </a:solidFill>
            <a:prstDash val="solid"/>
          </a:ln>
        </p:spPr>
      </p:sp>
      <p:sp>
        <p:nvSpPr>
          <p:cNvPr id="84" name="Text 82"/>
          <p:cNvSpPr txBox="1"/>
          <p:nvPr/>
        </p:nvSpPr>
        <p:spPr>
          <a:xfrm>
            <a:off x="2367219" y="3235040"/>
            <a:ext cx="643657" cy="116304"/>
          </a:xfrm>
          <a:prstGeom prst="rect">
            <a:avLst/>
          </a:prstGeom>
          <a:noFill/>
          <a:ln/>
        </p:spPr>
        <p:txBody>
          <a:bodyPr wrap="none" lIns="0" tIns="0" rIns="0" bIns="0" rtlCol="0" anchor="ctr"/>
          <a:lstStyle/>
          <a:p>
            <a:pPr marL="0" indent="0" algn="ctr">
              <a:buNone/>
            </a:pPr>
            <a:r>
              <a:rPr lang="en-US" sz="590" dirty="0">
                <a:solidFill>
                  <a:srgbClr val="333333"/>
                </a:solidFill>
                <a:latin typeface="Malgun Gothic" pitchFamily="34" charset="0"/>
                <a:ea typeface="Malgun Gothic" pitchFamily="34" charset="-122"/>
                <a:cs typeface="Malgun Gothic" pitchFamily="34" charset="-120"/>
              </a:rPr>
              <a:t>필수 조건 규칙</a:t>
            </a:r>
            <a:endParaRPr lang="en-US" sz="590" dirty="0"/>
          </a:p>
        </p:txBody>
      </p:sp>
      <p:sp>
        <p:nvSpPr>
          <p:cNvPr id="85" name="Shape 83"/>
          <p:cNvSpPr/>
          <p:nvPr/>
        </p:nvSpPr>
        <p:spPr>
          <a:xfrm>
            <a:off x="2331189" y="3414402"/>
            <a:ext cx="715717" cy="150070"/>
          </a:xfrm>
          <a:prstGeom prst="roundRect">
            <a:avLst>
              <a:gd name="adj" fmla="val 15385"/>
            </a:avLst>
          </a:prstGeom>
          <a:solidFill>
            <a:srgbClr val="EDEDED"/>
          </a:solidFill>
          <a:ln w="7620">
            <a:solidFill>
              <a:srgbClr val="A6A6A6"/>
            </a:solidFill>
            <a:prstDash val="solid"/>
          </a:ln>
        </p:spPr>
      </p:sp>
      <p:sp>
        <p:nvSpPr>
          <p:cNvPr id="86" name="Text 84"/>
          <p:cNvSpPr txBox="1"/>
          <p:nvPr/>
        </p:nvSpPr>
        <p:spPr>
          <a:xfrm>
            <a:off x="2388289" y="3431285"/>
            <a:ext cx="601518" cy="116304"/>
          </a:xfrm>
          <a:prstGeom prst="rect">
            <a:avLst/>
          </a:prstGeom>
          <a:noFill/>
          <a:ln/>
        </p:spPr>
        <p:txBody>
          <a:bodyPr wrap="none" lIns="0" tIns="0" rIns="0" bIns="0" rtlCol="0" anchor="ctr"/>
          <a:lstStyle/>
          <a:p>
            <a:pPr marL="0" indent="0" algn="ctr">
              <a:buNone/>
            </a:pPr>
            <a:r>
              <a:rPr lang="en-US" sz="590" dirty="0">
                <a:solidFill>
                  <a:srgbClr val="333333"/>
                </a:solidFill>
                <a:latin typeface="Malgun Gothic" pitchFamily="34" charset="0"/>
                <a:ea typeface="Malgun Gothic" pitchFamily="34" charset="-122"/>
                <a:cs typeface="Malgun Gothic" pitchFamily="34" charset="-120"/>
              </a:rPr>
              <a:t>사용자 프로필</a:t>
            </a:r>
            <a:endParaRPr lang="en-US" sz="590" dirty="0"/>
          </a:p>
        </p:txBody>
      </p:sp>
      <p:sp>
        <p:nvSpPr>
          <p:cNvPr id="87" name="Shape 85"/>
          <p:cNvSpPr/>
          <p:nvPr/>
        </p:nvSpPr>
        <p:spPr>
          <a:xfrm>
            <a:off x="3497115" y="2739088"/>
            <a:ext cx="0" cy="421350"/>
          </a:xfrm>
          <a:prstGeom prst="line">
            <a:avLst/>
          </a:prstGeom>
          <a:noFill/>
          <a:ln w="9235">
            <a:solidFill>
              <a:srgbClr val="9E9E9E"/>
            </a:solidFill>
            <a:prstDash val="dash"/>
          </a:ln>
        </p:spPr>
      </p:sp>
      <p:sp>
        <p:nvSpPr>
          <p:cNvPr id="88" name="Shape 86"/>
          <p:cNvSpPr/>
          <p:nvPr/>
        </p:nvSpPr>
        <p:spPr>
          <a:xfrm>
            <a:off x="3116169" y="3160438"/>
            <a:ext cx="761892" cy="657998"/>
          </a:xfrm>
          <a:prstGeom prst="roundRect">
            <a:avLst>
              <a:gd name="adj" fmla="val 7018"/>
            </a:avLst>
          </a:prstGeom>
          <a:solidFill>
            <a:srgbClr val="FFFFFF">
              <a:alpha val="0"/>
            </a:srgbClr>
          </a:solidFill>
          <a:ln w="16623">
            <a:solidFill>
              <a:srgbClr val="D9480F"/>
            </a:solidFill>
            <a:prstDash val="dash"/>
          </a:ln>
        </p:spPr>
      </p:sp>
      <p:sp>
        <p:nvSpPr>
          <p:cNvPr id="89" name="Shape 87"/>
          <p:cNvSpPr/>
          <p:nvPr/>
        </p:nvSpPr>
        <p:spPr>
          <a:xfrm>
            <a:off x="3139257" y="3218157"/>
            <a:ext cx="715717" cy="150070"/>
          </a:xfrm>
          <a:prstGeom prst="roundRect">
            <a:avLst>
              <a:gd name="adj" fmla="val 15385"/>
            </a:avLst>
          </a:prstGeom>
          <a:solidFill>
            <a:srgbClr val="FCE9E1"/>
          </a:solidFill>
          <a:ln w="20317">
            <a:solidFill>
              <a:srgbClr val="D9480F"/>
            </a:solidFill>
            <a:prstDash val="solid"/>
          </a:ln>
        </p:spPr>
      </p:sp>
      <p:sp>
        <p:nvSpPr>
          <p:cNvPr id="90" name="Text 88"/>
          <p:cNvSpPr txBox="1"/>
          <p:nvPr/>
        </p:nvSpPr>
        <p:spPr>
          <a:xfrm>
            <a:off x="3155838" y="3235040"/>
            <a:ext cx="682555" cy="116304"/>
          </a:xfrm>
          <a:prstGeom prst="rect">
            <a:avLst/>
          </a:prstGeom>
          <a:noFill/>
          <a:ln/>
        </p:spPr>
        <p:txBody>
          <a:bodyPr wrap="none" lIns="0" tIns="0" rIns="0" bIns="0" rtlCol="0" anchor="ctr"/>
          <a:lstStyle>
            <a:lvl1pPr indent="0" algn="ctr">
              <a:buNone/>
              <a:defRPr sz="590">
                <a:solidFill>
                  <a:srgbClr val="333333"/>
                </a:solidFill>
                <a:latin typeface="Malgun Gothic" pitchFamily="34" charset="0"/>
                <a:ea typeface="Malgun Gothic" pitchFamily="34" charset="-122"/>
                <a:cs typeface="Malgun Gothic" pitchFamily="34" charset="-120"/>
              </a:defRPr>
            </a:lvl1pPr>
          </a:lstStyle>
          <a:p>
            <a:r>
              <a:rPr lang="en-US" b="1" dirty="0">
                <a:solidFill>
                  <a:srgbClr val="C00000"/>
                </a:solidFill>
              </a:rPr>
              <a:t>도메인 카탈로그</a:t>
            </a:r>
          </a:p>
        </p:txBody>
      </p:sp>
      <p:sp>
        <p:nvSpPr>
          <p:cNvPr id="91" name="Shape 89"/>
          <p:cNvSpPr/>
          <p:nvPr/>
        </p:nvSpPr>
        <p:spPr>
          <a:xfrm>
            <a:off x="3139257" y="3414402"/>
            <a:ext cx="715717" cy="150070"/>
          </a:xfrm>
          <a:prstGeom prst="roundRect">
            <a:avLst>
              <a:gd name="adj" fmla="val 15385"/>
            </a:avLst>
          </a:prstGeom>
          <a:solidFill>
            <a:srgbClr val="EDEDED"/>
          </a:solidFill>
          <a:ln w="7620">
            <a:solidFill>
              <a:srgbClr val="A6A6A6"/>
            </a:solidFill>
            <a:prstDash val="solid"/>
          </a:ln>
        </p:spPr>
      </p:sp>
      <p:sp>
        <p:nvSpPr>
          <p:cNvPr id="92" name="Text 90"/>
          <p:cNvSpPr txBox="1"/>
          <p:nvPr/>
        </p:nvSpPr>
        <p:spPr>
          <a:xfrm>
            <a:off x="3134768" y="3431285"/>
            <a:ext cx="724695" cy="116304"/>
          </a:xfrm>
          <a:prstGeom prst="rect">
            <a:avLst/>
          </a:prstGeom>
          <a:noFill/>
          <a:ln/>
        </p:spPr>
        <p:txBody>
          <a:bodyPr wrap="none" lIns="0" tIns="0" rIns="0" bIns="0" rtlCol="0" anchor="ctr"/>
          <a:lstStyle/>
          <a:p>
            <a:pPr marL="0" indent="0" algn="ctr">
              <a:buNone/>
            </a:pPr>
            <a:r>
              <a:rPr lang="en-US" sz="590" dirty="0">
                <a:solidFill>
                  <a:srgbClr val="333333"/>
                </a:solidFill>
                <a:latin typeface="Malgun Gothic" pitchFamily="34" charset="0"/>
                <a:ea typeface="Malgun Gothic" pitchFamily="34" charset="-122"/>
                <a:cs typeface="Malgun Gothic" pitchFamily="34" charset="-120"/>
              </a:rPr>
              <a:t>원천 시스템 분류</a:t>
            </a:r>
            <a:endParaRPr lang="en-US" sz="590" dirty="0"/>
          </a:p>
        </p:txBody>
      </p:sp>
      <p:sp>
        <p:nvSpPr>
          <p:cNvPr id="93" name="Shape 91"/>
          <p:cNvSpPr/>
          <p:nvPr/>
        </p:nvSpPr>
        <p:spPr>
          <a:xfrm>
            <a:off x="3139257" y="3610647"/>
            <a:ext cx="715717" cy="150070"/>
          </a:xfrm>
          <a:prstGeom prst="roundRect">
            <a:avLst>
              <a:gd name="adj" fmla="val 15385"/>
            </a:avLst>
          </a:prstGeom>
          <a:solidFill>
            <a:srgbClr val="EDEDED"/>
          </a:solidFill>
          <a:ln w="7620">
            <a:solidFill>
              <a:srgbClr val="A6A6A6"/>
            </a:solidFill>
            <a:prstDash val="solid"/>
          </a:ln>
        </p:spPr>
      </p:sp>
      <p:sp>
        <p:nvSpPr>
          <p:cNvPr id="94" name="Text 92"/>
          <p:cNvSpPr txBox="1"/>
          <p:nvPr/>
        </p:nvSpPr>
        <p:spPr>
          <a:xfrm>
            <a:off x="3134768" y="3627530"/>
            <a:ext cx="724695" cy="116304"/>
          </a:xfrm>
          <a:prstGeom prst="rect">
            <a:avLst/>
          </a:prstGeom>
          <a:noFill/>
          <a:ln/>
        </p:spPr>
        <p:txBody>
          <a:bodyPr wrap="none" lIns="0" tIns="0" rIns="0" bIns="0" rtlCol="0" anchor="ctr"/>
          <a:lstStyle/>
          <a:p>
            <a:pPr marL="0" indent="0" algn="ctr">
              <a:buNone/>
            </a:pPr>
            <a:r>
              <a:rPr lang="en-US" sz="590" dirty="0">
                <a:solidFill>
                  <a:srgbClr val="333333"/>
                </a:solidFill>
                <a:latin typeface="Malgun Gothic" pitchFamily="34" charset="0"/>
                <a:ea typeface="Malgun Gothic" pitchFamily="34" charset="-122"/>
                <a:cs typeface="Malgun Gothic" pitchFamily="34" charset="-120"/>
              </a:rPr>
              <a:t>공유 허브 테이블</a:t>
            </a:r>
            <a:endParaRPr lang="en-US" sz="590" dirty="0"/>
          </a:p>
        </p:txBody>
      </p:sp>
      <p:sp>
        <p:nvSpPr>
          <p:cNvPr id="95" name="Shape 93"/>
          <p:cNvSpPr/>
          <p:nvPr/>
        </p:nvSpPr>
        <p:spPr>
          <a:xfrm>
            <a:off x="4420621" y="2739088"/>
            <a:ext cx="0" cy="421350"/>
          </a:xfrm>
          <a:prstGeom prst="line">
            <a:avLst/>
          </a:prstGeom>
          <a:noFill/>
          <a:ln w="9235">
            <a:solidFill>
              <a:srgbClr val="9E9E9E"/>
            </a:solidFill>
            <a:prstDash val="dash"/>
          </a:ln>
        </p:spPr>
      </p:sp>
      <p:sp>
        <p:nvSpPr>
          <p:cNvPr id="96" name="Shape 94"/>
          <p:cNvSpPr/>
          <p:nvPr/>
        </p:nvSpPr>
        <p:spPr>
          <a:xfrm>
            <a:off x="4039675" y="3160438"/>
            <a:ext cx="761892" cy="657998"/>
          </a:xfrm>
          <a:prstGeom prst="roundRect">
            <a:avLst>
              <a:gd name="adj" fmla="val 7018"/>
            </a:avLst>
          </a:prstGeom>
          <a:solidFill>
            <a:srgbClr val="FFFFFF">
              <a:alpha val="0"/>
            </a:srgbClr>
          </a:solidFill>
          <a:ln w="9235">
            <a:solidFill>
              <a:srgbClr val="C8C8C8"/>
            </a:solidFill>
            <a:prstDash val="dash"/>
          </a:ln>
        </p:spPr>
      </p:sp>
      <p:sp>
        <p:nvSpPr>
          <p:cNvPr id="97" name="Shape 95"/>
          <p:cNvSpPr/>
          <p:nvPr/>
        </p:nvSpPr>
        <p:spPr>
          <a:xfrm>
            <a:off x="4062763" y="3218157"/>
            <a:ext cx="715717" cy="150070"/>
          </a:xfrm>
          <a:prstGeom prst="roundRect">
            <a:avLst>
              <a:gd name="adj" fmla="val 15385"/>
            </a:avLst>
          </a:prstGeom>
          <a:solidFill>
            <a:srgbClr val="EDEDED"/>
          </a:solidFill>
          <a:ln w="7620">
            <a:solidFill>
              <a:srgbClr val="A6A6A6"/>
            </a:solidFill>
            <a:prstDash val="solid"/>
          </a:ln>
        </p:spPr>
      </p:sp>
      <p:sp>
        <p:nvSpPr>
          <p:cNvPr id="98" name="Text 96"/>
          <p:cNvSpPr txBox="1"/>
          <p:nvPr/>
        </p:nvSpPr>
        <p:spPr>
          <a:xfrm>
            <a:off x="4058274" y="3235040"/>
            <a:ext cx="724695" cy="116304"/>
          </a:xfrm>
          <a:prstGeom prst="rect">
            <a:avLst/>
          </a:prstGeom>
          <a:noFill/>
          <a:ln/>
        </p:spPr>
        <p:txBody>
          <a:bodyPr wrap="none" lIns="0" tIns="0" rIns="0" bIns="0" rtlCol="0" anchor="ctr"/>
          <a:lstStyle/>
          <a:p>
            <a:pPr marL="0" indent="0" algn="ctr">
              <a:buNone/>
            </a:pPr>
            <a:r>
              <a:rPr lang="en-US" sz="590" dirty="0">
                <a:solidFill>
                  <a:srgbClr val="333333"/>
                </a:solidFill>
                <a:latin typeface="Malgun Gothic" pitchFamily="34" charset="0"/>
                <a:ea typeface="Malgun Gothic" pitchFamily="34" charset="-122"/>
                <a:cs typeface="Malgun Gothic" pitchFamily="34" charset="-120"/>
              </a:rPr>
              <a:t>마스터 코드 사전</a:t>
            </a:r>
            <a:endParaRPr lang="en-US" sz="590" dirty="0"/>
          </a:p>
        </p:txBody>
      </p:sp>
      <p:sp>
        <p:nvSpPr>
          <p:cNvPr id="99" name="Shape 97"/>
          <p:cNvSpPr/>
          <p:nvPr/>
        </p:nvSpPr>
        <p:spPr>
          <a:xfrm>
            <a:off x="4062763" y="3414402"/>
            <a:ext cx="715717" cy="150070"/>
          </a:xfrm>
          <a:prstGeom prst="roundRect">
            <a:avLst>
              <a:gd name="adj" fmla="val 15385"/>
            </a:avLst>
          </a:prstGeom>
          <a:solidFill>
            <a:srgbClr val="EDEDED"/>
          </a:solidFill>
          <a:ln w="7620">
            <a:solidFill>
              <a:srgbClr val="A6A6A6"/>
            </a:solidFill>
            <a:prstDash val="solid"/>
          </a:ln>
        </p:spPr>
      </p:sp>
      <p:sp>
        <p:nvSpPr>
          <p:cNvPr id="100" name="Text 98"/>
          <p:cNvSpPr txBox="1"/>
          <p:nvPr/>
        </p:nvSpPr>
        <p:spPr>
          <a:xfrm>
            <a:off x="4058274" y="3431285"/>
            <a:ext cx="724695" cy="116304"/>
          </a:xfrm>
          <a:prstGeom prst="rect">
            <a:avLst/>
          </a:prstGeom>
          <a:noFill/>
          <a:ln/>
        </p:spPr>
        <p:txBody>
          <a:bodyPr wrap="none" lIns="0" tIns="0" rIns="0" bIns="0" rtlCol="0" anchor="ctr"/>
          <a:lstStyle/>
          <a:p>
            <a:pPr marL="0" indent="0" algn="ctr">
              <a:buNone/>
            </a:pPr>
            <a:r>
              <a:rPr lang="en-US" sz="590" dirty="0">
                <a:solidFill>
                  <a:srgbClr val="333333"/>
                </a:solidFill>
                <a:latin typeface="Malgun Gothic" pitchFamily="34" charset="0"/>
                <a:ea typeface="Malgun Gothic" pitchFamily="34" charset="-122"/>
                <a:cs typeface="Malgun Gothic" pitchFamily="34" charset="-120"/>
              </a:rPr>
              <a:t>동의어·약어 사전</a:t>
            </a:r>
            <a:endParaRPr lang="en-US" sz="590" dirty="0"/>
          </a:p>
        </p:txBody>
      </p:sp>
      <p:sp>
        <p:nvSpPr>
          <p:cNvPr id="101" name="Shape 99"/>
          <p:cNvSpPr/>
          <p:nvPr/>
        </p:nvSpPr>
        <p:spPr>
          <a:xfrm>
            <a:off x="5344127" y="2739088"/>
            <a:ext cx="0" cy="421350"/>
          </a:xfrm>
          <a:prstGeom prst="line">
            <a:avLst/>
          </a:prstGeom>
          <a:noFill/>
          <a:ln w="9235">
            <a:solidFill>
              <a:srgbClr val="9E9E9E"/>
            </a:solidFill>
            <a:prstDash val="dash"/>
          </a:ln>
        </p:spPr>
      </p:sp>
      <p:sp>
        <p:nvSpPr>
          <p:cNvPr id="102" name="Shape 100"/>
          <p:cNvSpPr/>
          <p:nvPr/>
        </p:nvSpPr>
        <p:spPr>
          <a:xfrm>
            <a:off x="4963181" y="3160438"/>
            <a:ext cx="761892" cy="657998"/>
          </a:xfrm>
          <a:prstGeom prst="roundRect">
            <a:avLst>
              <a:gd name="adj" fmla="val 7018"/>
            </a:avLst>
          </a:prstGeom>
          <a:solidFill>
            <a:srgbClr val="FFFFFF">
              <a:alpha val="0"/>
            </a:srgbClr>
          </a:solidFill>
          <a:ln w="9235">
            <a:solidFill>
              <a:srgbClr val="C8C8C8"/>
            </a:solidFill>
            <a:prstDash val="dash"/>
          </a:ln>
        </p:spPr>
      </p:sp>
      <p:sp>
        <p:nvSpPr>
          <p:cNvPr id="103" name="Shape 101"/>
          <p:cNvSpPr/>
          <p:nvPr/>
        </p:nvSpPr>
        <p:spPr>
          <a:xfrm>
            <a:off x="4986269" y="3218157"/>
            <a:ext cx="715717" cy="150070"/>
          </a:xfrm>
          <a:prstGeom prst="roundRect">
            <a:avLst>
              <a:gd name="adj" fmla="val 15385"/>
            </a:avLst>
          </a:prstGeom>
          <a:solidFill>
            <a:srgbClr val="EDEDED"/>
          </a:solidFill>
          <a:ln w="7620">
            <a:solidFill>
              <a:srgbClr val="A6A6A6"/>
            </a:solidFill>
            <a:prstDash val="solid"/>
          </a:ln>
        </p:spPr>
      </p:sp>
      <p:sp>
        <p:nvSpPr>
          <p:cNvPr id="104" name="Text 102"/>
          <p:cNvSpPr txBox="1"/>
          <p:nvPr/>
        </p:nvSpPr>
        <p:spPr>
          <a:xfrm>
            <a:off x="5145476" y="3235040"/>
            <a:ext cx="397303" cy="116304"/>
          </a:xfrm>
          <a:prstGeom prst="rect">
            <a:avLst/>
          </a:prstGeom>
          <a:noFill/>
          <a:ln/>
        </p:spPr>
        <p:txBody>
          <a:bodyPr wrap="none" lIns="0" tIns="0" rIns="0" bIns="0" rtlCol="0" anchor="ctr"/>
          <a:lstStyle/>
          <a:p>
            <a:pPr marL="0" indent="0" algn="ctr">
              <a:buNone/>
            </a:pPr>
            <a:r>
              <a:rPr lang="en-US" sz="590" dirty="0">
                <a:solidFill>
                  <a:srgbClr val="333333"/>
                </a:solidFill>
                <a:latin typeface="Malgun Gothic" pitchFamily="34" charset="0"/>
                <a:ea typeface="Malgun Gothic" pitchFamily="34" charset="-122"/>
                <a:cs typeface="Malgun Gothic" pitchFamily="34" charset="-120"/>
              </a:rPr>
              <a:t>온톨로지</a:t>
            </a:r>
            <a:endParaRPr lang="en-US" sz="590" dirty="0"/>
          </a:p>
        </p:txBody>
      </p:sp>
      <p:sp>
        <p:nvSpPr>
          <p:cNvPr id="105" name="Shape 103"/>
          <p:cNvSpPr/>
          <p:nvPr/>
        </p:nvSpPr>
        <p:spPr>
          <a:xfrm>
            <a:off x="4986269" y="3414402"/>
            <a:ext cx="715717" cy="150070"/>
          </a:xfrm>
          <a:prstGeom prst="roundRect">
            <a:avLst>
              <a:gd name="adj" fmla="val 15385"/>
            </a:avLst>
          </a:prstGeom>
          <a:solidFill>
            <a:srgbClr val="EDEDED"/>
          </a:solidFill>
          <a:ln w="7620">
            <a:solidFill>
              <a:srgbClr val="A6A6A6"/>
            </a:solidFill>
            <a:prstDash val="solid"/>
          </a:ln>
        </p:spPr>
      </p:sp>
      <p:sp>
        <p:nvSpPr>
          <p:cNvPr id="106" name="Text 104"/>
          <p:cNvSpPr txBox="1"/>
          <p:nvPr/>
        </p:nvSpPr>
        <p:spPr>
          <a:xfrm>
            <a:off x="4981780" y="3431285"/>
            <a:ext cx="724695" cy="116304"/>
          </a:xfrm>
          <a:prstGeom prst="rect">
            <a:avLst/>
          </a:prstGeom>
          <a:noFill/>
          <a:ln/>
        </p:spPr>
        <p:txBody>
          <a:bodyPr wrap="none" lIns="0" tIns="0" rIns="0" bIns="0" rtlCol="0" anchor="ctr"/>
          <a:lstStyle/>
          <a:p>
            <a:pPr marL="0" indent="0" algn="ctr">
              <a:buNone/>
            </a:pPr>
            <a:r>
              <a:rPr lang="en-US" sz="590" dirty="0">
                <a:solidFill>
                  <a:srgbClr val="333333"/>
                </a:solidFill>
                <a:latin typeface="Malgun Gothic" pitchFamily="34" charset="0"/>
                <a:ea typeface="Malgun Gothic" pitchFamily="34" charset="-122"/>
                <a:cs typeface="Malgun Gothic" pitchFamily="34" charset="-120"/>
              </a:rPr>
              <a:t>개념-테이블 매핑</a:t>
            </a:r>
            <a:endParaRPr lang="en-US" sz="590" dirty="0"/>
          </a:p>
        </p:txBody>
      </p:sp>
      <p:sp>
        <p:nvSpPr>
          <p:cNvPr id="107" name="Shape 105"/>
          <p:cNvSpPr/>
          <p:nvPr/>
        </p:nvSpPr>
        <p:spPr>
          <a:xfrm>
            <a:off x="6267633" y="2739088"/>
            <a:ext cx="0" cy="421350"/>
          </a:xfrm>
          <a:prstGeom prst="line">
            <a:avLst/>
          </a:prstGeom>
          <a:noFill/>
          <a:ln w="9235">
            <a:solidFill>
              <a:srgbClr val="9E9E9E"/>
            </a:solidFill>
            <a:prstDash val="dash"/>
          </a:ln>
        </p:spPr>
      </p:sp>
      <p:sp>
        <p:nvSpPr>
          <p:cNvPr id="108" name="Shape 106"/>
          <p:cNvSpPr/>
          <p:nvPr/>
        </p:nvSpPr>
        <p:spPr>
          <a:xfrm>
            <a:off x="5886687" y="3160438"/>
            <a:ext cx="761892" cy="657998"/>
          </a:xfrm>
          <a:prstGeom prst="roundRect">
            <a:avLst>
              <a:gd name="adj" fmla="val 7018"/>
            </a:avLst>
          </a:prstGeom>
          <a:solidFill>
            <a:srgbClr val="FFFFFF">
              <a:alpha val="0"/>
            </a:srgbClr>
          </a:solidFill>
          <a:ln w="9235">
            <a:solidFill>
              <a:srgbClr val="C8C8C8"/>
            </a:solidFill>
            <a:prstDash val="dash"/>
          </a:ln>
        </p:spPr>
      </p:sp>
      <p:sp>
        <p:nvSpPr>
          <p:cNvPr id="109" name="Shape 107"/>
          <p:cNvSpPr/>
          <p:nvPr/>
        </p:nvSpPr>
        <p:spPr>
          <a:xfrm>
            <a:off x="5909775" y="3218157"/>
            <a:ext cx="715717" cy="150070"/>
          </a:xfrm>
          <a:prstGeom prst="roundRect">
            <a:avLst>
              <a:gd name="adj" fmla="val 15385"/>
            </a:avLst>
          </a:prstGeom>
          <a:solidFill>
            <a:srgbClr val="EDEDED"/>
          </a:solidFill>
          <a:ln w="7620">
            <a:solidFill>
              <a:srgbClr val="A6A6A6"/>
            </a:solidFill>
            <a:prstDash val="solid"/>
          </a:ln>
        </p:spPr>
      </p:sp>
      <p:sp>
        <p:nvSpPr>
          <p:cNvPr id="110" name="Text 108"/>
          <p:cNvSpPr txBox="1"/>
          <p:nvPr/>
        </p:nvSpPr>
        <p:spPr>
          <a:xfrm>
            <a:off x="5926356" y="3235040"/>
            <a:ext cx="682555" cy="116304"/>
          </a:xfrm>
          <a:prstGeom prst="rect">
            <a:avLst/>
          </a:prstGeom>
          <a:noFill/>
          <a:ln/>
        </p:spPr>
        <p:txBody>
          <a:bodyPr wrap="none" lIns="0" tIns="0" rIns="0" bIns="0" rtlCol="0" anchor="ctr"/>
          <a:lstStyle/>
          <a:p>
            <a:pPr marL="0" indent="0" algn="ctr">
              <a:buNone/>
            </a:pPr>
            <a:r>
              <a:rPr lang="en-US" sz="590" dirty="0">
                <a:solidFill>
                  <a:srgbClr val="333333"/>
                </a:solidFill>
                <a:latin typeface="Malgun Gothic" pitchFamily="34" charset="0"/>
                <a:ea typeface="Malgun Gothic" pitchFamily="34" charset="-122"/>
                <a:cs typeface="Malgun Gothic" pitchFamily="34" charset="-120"/>
              </a:rPr>
              <a:t>테이블 카탈로그</a:t>
            </a:r>
            <a:endParaRPr lang="en-US" sz="590" dirty="0"/>
          </a:p>
        </p:txBody>
      </p:sp>
      <p:sp>
        <p:nvSpPr>
          <p:cNvPr id="111" name="Shape 109"/>
          <p:cNvSpPr/>
          <p:nvPr/>
        </p:nvSpPr>
        <p:spPr>
          <a:xfrm>
            <a:off x="5909775" y="3414402"/>
            <a:ext cx="715717" cy="150070"/>
          </a:xfrm>
          <a:prstGeom prst="roundRect">
            <a:avLst>
              <a:gd name="adj" fmla="val 15385"/>
            </a:avLst>
          </a:prstGeom>
          <a:solidFill>
            <a:srgbClr val="EDEDED"/>
          </a:solidFill>
          <a:ln w="7620">
            <a:solidFill>
              <a:srgbClr val="A6A6A6"/>
            </a:solidFill>
            <a:prstDash val="solid"/>
          </a:ln>
        </p:spPr>
      </p:sp>
      <p:sp>
        <p:nvSpPr>
          <p:cNvPr id="112" name="Text 110"/>
          <p:cNvSpPr txBox="1"/>
          <p:nvPr/>
        </p:nvSpPr>
        <p:spPr>
          <a:xfrm>
            <a:off x="5897993" y="3431285"/>
            <a:ext cx="739282" cy="116304"/>
          </a:xfrm>
          <a:prstGeom prst="rect">
            <a:avLst/>
          </a:prstGeom>
          <a:noFill/>
          <a:ln/>
        </p:spPr>
        <p:txBody>
          <a:bodyPr wrap="none" lIns="0" tIns="0" rIns="0" bIns="0" rtlCol="0" anchor="ctr"/>
          <a:lstStyle/>
          <a:p>
            <a:pPr marL="0" indent="0" algn="ctr">
              <a:buNone/>
            </a:pPr>
            <a:r>
              <a:rPr lang="en-US" sz="590" dirty="0">
                <a:solidFill>
                  <a:srgbClr val="333333"/>
                </a:solidFill>
                <a:latin typeface="Malgun Gothic" pitchFamily="34" charset="0"/>
                <a:ea typeface="Malgun Gothic" pitchFamily="34" charset="-122"/>
                <a:cs typeface="Malgun Gothic" pitchFamily="34" charset="-120"/>
              </a:rPr>
              <a:t>Join 경로 그래프</a:t>
            </a:r>
            <a:endParaRPr lang="en-US" sz="590" dirty="0"/>
          </a:p>
        </p:txBody>
      </p:sp>
      <p:sp>
        <p:nvSpPr>
          <p:cNvPr id="113" name="Shape 111"/>
          <p:cNvSpPr/>
          <p:nvPr/>
        </p:nvSpPr>
        <p:spPr>
          <a:xfrm>
            <a:off x="5909775" y="3610647"/>
            <a:ext cx="715717" cy="150070"/>
          </a:xfrm>
          <a:prstGeom prst="roundRect">
            <a:avLst>
              <a:gd name="adj" fmla="val 15385"/>
            </a:avLst>
          </a:prstGeom>
          <a:solidFill>
            <a:srgbClr val="EDEDED"/>
          </a:solidFill>
          <a:ln w="7620">
            <a:solidFill>
              <a:srgbClr val="A6A6A6"/>
            </a:solidFill>
            <a:prstDash val="solid"/>
          </a:ln>
        </p:spPr>
      </p:sp>
      <p:sp>
        <p:nvSpPr>
          <p:cNvPr id="114" name="Text 112"/>
          <p:cNvSpPr txBox="1"/>
          <p:nvPr/>
        </p:nvSpPr>
        <p:spPr>
          <a:xfrm>
            <a:off x="5945805" y="3627530"/>
            <a:ext cx="643657" cy="116304"/>
          </a:xfrm>
          <a:prstGeom prst="rect">
            <a:avLst/>
          </a:prstGeom>
          <a:noFill/>
          <a:ln/>
        </p:spPr>
        <p:txBody>
          <a:bodyPr wrap="none" lIns="0" tIns="0" rIns="0" bIns="0" rtlCol="0" anchor="ctr"/>
          <a:lstStyle/>
          <a:p>
            <a:pPr marL="0" indent="0" algn="ctr">
              <a:buNone/>
            </a:pPr>
            <a:r>
              <a:rPr lang="en-US" sz="590" dirty="0">
                <a:solidFill>
                  <a:srgbClr val="333333"/>
                </a:solidFill>
                <a:latin typeface="Malgun Gothic" pitchFamily="34" charset="0"/>
                <a:ea typeface="Malgun Gothic" pitchFamily="34" charset="-122"/>
                <a:cs typeface="Malgun Gothic" pitchFamily="34" charset="-120"/>
              </a:rPr>
              <a:t>쿼리 사용 이력</a:t>
            </a:r>
            <a:endParaRPr lang="en-US" sz="590" dirty="0"/>
          </a:p>
        </p:txBody>
      </p:sp>
      <p:sp>
        <p:nvSpPr>
          <p:cNvPr id="115" name="Shape 113"/>
          <p:cNvSpPr/>
          <p:nvPr/>
        </p:nvSpPr>
        <p:spPr>
          <a:xfrm>
            <a:off x="7191139" y="2739088"/>
            <a:ext cx="0" cy="421350"/>
          </a:xfrm>
          <a:prstGeom prst="line">
            <a:avLst/>
          </a:prstGeom>
          <a:noFill/>
          <a:ln w="9235">
            <a:solidFill>
              <a:srgbClr val="9E9E9E"/>
            </a:solidFill>
            <a:prstDash val="dash"/>
          </a:ln>
        </p:spPr>
      </p:sp>
      <p:sp>
        <p:nvSpPr>
          <p:cNvPr id="116" name="Shape 114"/>
          <p:cNvSpPr/>
          <p:nvPr/>
        </p:nvSpPr>
        <p:spPr>
          <a:xfrm>
            <a:off x="6810193" y="3160438"/>
            <a:ext cx="761892" cy="657998"/>
          </a:xfrm>
          <a:prstGeom prst="roundRect">
            <a:avLst>
              <a:gd name="adj" fmla="val 7018"/>
            </a:avLst>
          </a:prstGeom>
          <a:solidFill>
            <a:srgbClr val="FFFFFF">
              <a:alpha val="0"/>
            </a:srgbClr>
          </a:solidFill>
          <a:ln w="9235">
            <a:solidFill>
              <a:srgbClr val="C8C8C8"/>
            </a:solidFill>
            <a:prstDash val="dash"/>
          </a:ln>
        </p:spPr>
      </p:sp>
      <p:sp>
        <p:nvSpPr>
          <p:cNvPr id="117" name="Shape 115"/>
          <p:cNvSpPr/>
          <p:nvPr/>
        </p:nvSpPr>
        <p:spPr>
          <a:xfrm>
            <a:off x="6833281" y="3218157"/>
            <a:ext cx="715717" cy="150070"/>
          </a:xfrm>
          <a:prstGeom prst="roundRect">
            <a:avLst>
              <a:gd name="adj" fmla="val 15385"/>
            </a:avLst>
          </a:prstGeom>
          <a:solidFill>
            <a:srgbClr val="EDEDED"/>
          </a:solidFill>
          <a:ln w="7620">
            <a:solidFill>
              <a:srgbClr val="A6A6A6"/>
            </a:solidFill>
            <a:prstDash val="solid"/>
          </a:ln>
        </p:spPr>
      </p:sp>
      <p:sp>
        <p:nvSpPr>
          <p:cNvPr id="118" name="Text 116"/>
          <p:cNvSpPr txBox="1"/>
          <p:nvPr/>
        </p:nvSpPr>
        <p:spPr>
          <a:xfrm>
            <a:off x="6971418" y="3235040"/>
            <a:ext cx="439442" cy="116304"/>
          </a:xfrm>
          <a:prstGeom prst="rect">
            <a:avLst/>
          </a:prstGeom>
          <a:noFill/>
          <a:ln/>
        </p:spPr>
        <p:txBody>
          <a:bodyPr wrap="none" lIns="0" tIns="0" rIns="0" bIns="0" rtlCol="0" anchor="ctr"/>
          <a:lstStyle/>
          <a:p>
            <a:pPr marL="0" indent="0" algn="ctr">
              <a:buNone/>
            </a:pPr>
            <a:r>
              <a:rPr lang="en-US" sz="590" dirty="0">
                <a:solidFill>
                  <a:srgbClr val="333333"/>
                </a:solidFill>
                <a:latin typeface="Malgun Gothic" pitchFamily="34" charset="0"/>
                <a:ea typeface="Malgun Gothic" pitchFamily="34" charset="-122"/>
                <a:cs typeface="Malgun Gothic" pitchFamily="34" charset="-120"/>
              </a:rPr>
              <a:t>골든 쿼리</a:t>
            </a:r>
            <a:endParaRPr lang="en-US" sz="590" dirty="0"/>
          </a:p>
        </p:txBody>
      </p:sp>
      <p:sp>
        <p:nvSpPr>
          <p:cNvPr id="119" name="Shape 117"/>
          <p:cNvSpPr/>
          <p:nvPr/>
        </p:nvSpPr>
        <p:spPr>
          <a:xfrm>
            <a:off x="6833281" y="3414402"/>
            <a:ext cx="715717" cy="150070"/>
          </a:xfrm>
          <a:prstGeom prst="roundRect">
            <a:avLst>
              <a:gd name="adj" fmla="val 15385"/>
            </a:avLst>
          </a:prstGeom>
          <a:solidFill>
            <a:srgbClr val="EDEDED"/>
          </a:solidFill>
          <a:ln w="7620">
            <a:solidFill>
              <a:srgbClr val="A6A6A6"/>
            </a:solidFill>
            <a:prstDash val="solid"/>
          </a:ln>
        </p:spPr>
      </p:sp>
      <p:sp>
        <p:nvSpPr>
          <p:cNvPr id="120" name="Text 118"/>
          <p:cNvSpPr txBox="1"/>
          <p:nvPr/>
        </p:nvSpPr>
        <p:spPr>
          <a:xfrm>
            <a:off x="6874984" y="3431285"/>
            <a:ext cx="632312" cy="116304"/>
          </a:xfrm>
          <a:prstGeom prst="rect">
            <a:avLst/>
          </a:prstGeom>
          <a:noFill/>
          <a:ln/>
        </p:spPr>
        <p:txBody>
          <a:bodyPr wrap="none" lIns="0" tIns="0" rIns="0" bIns="0" rtlCol="0" anchor="ctr"/>
          <a:lstStyle/>
          <a:p>
            <a:pPr marL="0" indent="0" algn="ctr">
              <a:buNone/>
            </a:pPr>
            <a:r>
              <a:rPr lang="en-US" sz="590" dirty="0">
                <a:solidFill>
                  <a:srgbClr val="333333"/>
                </a:solidFill>
                <a:latin typeface="Malgun Gothic" pitchFamily="34" charset="0"/>
                <a:ea typeface="Malgun Gothic" pitchFamily="34" charset="-122"/>
                <a:cs typeface="Malgun Gothic" pitchFamily="34" charset="-120"/>
              </a:rPr>
              <a:t>SQL 작성 규칙</a:t>
            </a:r>
            <a:endParaRPr lang="en-US" sz="590" dirty="0"/>
          </a:p>
        </p:txBody>
      </p:sp>
      <p:sp>
        <p:nvSpPr>
          <p:cNvPr id="121" name="Shape 119"/>
          <p:cNvSpPr/>
          <p:nvPr/>
        </p:nvSpPr>
        <p:spPr>
          <a:xfrm>
            <a:off x="6833281" y="3610647"/>
            <a:ext cx="715717" cy="150070"/>
          </a:xfrm>
          <a:prstGeom prst="roundRect">
            <a:avLst>
              <a:gd name="adj" fmla="val 15385"/>
            </a:avLst>
          </a:prstGeom>
          <a:solidFill>
            <a:srgbClr val="EDEDED"/>
          </a:solidFill>
          <a:ln w="7620">
            <a:solidFill>
              <a:srgbClr val="A6A6A6"/>
            </a:solidFill>
            <a:prstDash val="solid"/>
          </a:ln>
        </p:spPr>
      </p:sp>
      <p:sp>
        <p:nvSpPr>
          <p:cNvPr id="122" name="Text 120"/>
          <p:cNvSpPr txBox="1"/>
          <p:nvPr/>
        </p:nvSpPr>
        <p:spPr>
          <a:xfrm>
            <a:off x="6900105" y="3627530"/>
            <a:ext cx="582068" cy="116304"/>
          </a:xfrm>
          <a:prstGeom prst="rect">
            <a:avLst/>
          </a:prstGeom>
          <a:noFill/>
          <a:ln/>
        </p:spPr>
        <p:txBody>
          <a:bodyPr wrap="none" lIns="0" tIns="0" rIns="0" bIns="0" rtlCol="0" anchor="ctr"/>
          <a:lstStyle/>
          <a:p>
            <a:pPr marL="0" indent="0" algn="ctr">
              <a:buNone/>
            </a:pPr>
            <a:r>
              <a:rPr lang="en-US" sz="590" dirty="0">
                <a:solidFill>
                  <a:srgbClr val="333333"/>
                </a:solidFill>
                <a:latin typeface="Malgun Gothic" pitchFamily="34" charset="0"/>
                <a:ea typeface="Malgun Gothic" pitchFamily="34" charset="-122"/>
                <a:cs typeface="Malgun Gothic" pitchFamily="34" charset="-120"/>
              </a:rPr>
              <a:t>DB 방언 정보</a:t>
            </a:r>
            <a:endParaRPr lang="en-US" sz="590" dirty="0"/>
          </a:p>
        </p:txBody>
      </p:sp>
      <p:sp>
        <p:nvSpPr>
          <p:cNvPr id="123" name="Shape 121"/>
          <p:cNvSpPr/>
          <p:nvPr/>
        </p:nvSpPr>
        <p:spPr>
          <a:xfrm>
            <a:off x="8114646" y="2739088"/>
            <a:ext cx="0" cy="421350"/>
          </a:xfrm>
          <a:prstGeom prst="line">
            <a:avLst/>
          </a:prstGeom>
          <a:noFill/>
          <a:ln w="9235">
            <a:solidFill>
              <a:srgbClr val="9E9E9E"/>
            </a:solidFill>
            <a:prstDash val="dash"/>
          </a:ln>
        </p:spPr>
      </p:sp>
      <p:sp>
        <p:nvSpPr>
          <p:cNvPr id="124" name="Shape 122"/>
          <p:cNvSpPr/>
          <p:nvPr/>
        </p:nvSpPr>
        <p:spPr>
          <a:xfrm>
            <a:off x="7733699" y="3160438"/>
            <a:ext cx="761892" cy="657998"/>
          </a:xfrm>
          <a:prstGeom prst="roundRect">
            <a:avLst>
              <a:gd name="adj" fmla="val 7018"/>
            </a:avLst>
          </a:prstGeom>
          <a:solidFill>
            <a:srgbClr val="FFFFFF">
              <a:alpha val="0"/>
            </a:srgbClr>
          </a:solidFill>
          <a:ln w="9235">
            <a:solidFill>
              <a:srgbClr val="C8C8C8"/>
            </a:solidFill>
            <a:prstDash val="dash"/>
          </a:ln>
        </p:spPr>
      </p:sp>
      <p:sp>
        <p:nvSpPr>
          <p:cNvPr id="125" name="Shape 123"/>
          <p:cNvSpPr/>
          <p:nvPr/>
        </p:nvSpPr>
        <p:spPr>
          <a:xfrm>
            <a:off x="7756787" y="3218157"/>
            <a:ext cx="715717" cy="150070"/>
          </a:xfrm>
          <a:prstGeom prst="roundRect">
            <a:avLst>
              <a:gd name="adj" fmla="val 15385"/>
            </a:avLst>
          </a:prstGeom>
          <a:solidFill>
            <a:srgbClr val="EDEDED"/>
          </a:solidFill>
          <a:ln w="7620">
            <a:solidFill>
              <a:srgbClr val="A6A6A6"/>
            </a:solidFill>
            <a:prstDash val="solid"/>
          </a:ln>
        </p:spPr>
      </p:sp>
      <p:sp>
        <p:nvSpPr>
          <p:cNvPr id="126" name="Text 124"/>
          <p:cNvSpPr txBox="1"/>
          <p:nvPr/>
        </p:nvSpPr>
        <p:spPr>
          <a:xfrm>
            <a:off x="7792817" y="3235040"/>
            <a:ext cx="643657" cy="116304"/>
          </a:xfrm>
          <a:prstGeom prst="rect">
            <a:avLst/>
          </a:prstGeom>
          <a:noFill/>
          <a:ln/>
        </p:spPr>
        <p:txBody>
          <a:bodyPr wrap="none" lIns="0" tIns="0" rIns="0" bIns="0" rtlCol="0" anchor="ctr"/>
          <a:lstStyle/>
          <a:p>
            <a:pPr marL="0" indent="0" algn="ctr">
              <a:buNone/>
            </a:pPr>
            <a:r>
              <a:rPr lang="en-US" sz="590" dirty="0">
                <a:solidFill>
                  <a:srgbClr val="333333"/>
                </a:solidFill>
                <a:latin typeface="Malgun Gothic" pitchFamily="34" charset="0"/>
                <a:ea typeface="Malgun Gothic" pitchFamily="34" charset="-122"/>
                <a:cs typeface="Malgun Gothic" pitchFamily="34" charset="-120"/>
              </a:rPr>
              <a:t>접근 권한 정책</a:t>
            </a:r>
            <a:endParaRPr lang="en-US" sz="590" dirty="0"/>
          </a:p>
        </p:txBody>
      </p:sp>
      <p:sp>
        <p:nvSpPr>
          <p:cNvPr id="127" name="Shape 125"/>
          <p:cNvSpPr/>
          <p:nvPr/>
        </p:nvSpPr>
        <p:spPr>
          <a:xfrm>
            <a:off x="7756787" y="3414402"/>
            <a:ext cx="715717" cy="150070"/>
          </a:xfrm>
          <a:prstGeom prst="roundRect">
            <a:avLst>
              <a:gd name="adj" fmla="val 15385"/>
            </a:avLst>
          </a:prstGeom>
          <a:solidFill>
            <a:srgbClr val="EDEDED"/>
          </a:solidFill>
          <a:ln w="7620">
            <a:solidFill>
              <a:srgbClr val="A6A6A6"/>
            </a:solidFill>
            <a:prstDash val="solid"/>
          </a:ln>
        </p:spPr>
      </p:sp>
      <p:sp>
        <p:nvSpPr>
          <p:cNvPr id="128" name="Text 126"/>
          <p:cNvSpPr txBox="1"/>
          <p:nvPr/>
        </p:nvSpPr>
        <p:spPr>
          <a:xfrm>
            <a:off x="7854406" y="3431285"/>
            <a:ext cx="520480" cy="116304"/>
          </a:xfrm>
          <a:prstGeom prst="rect">
            <a:avLst/>
          </a:prstGeom>
          <a:noFill/>
          <a:ln/>
        </p:spPr>
        <p:txBody>
          <a:bodyPr wrap="none" lIns="0" tIns="0" rIns="0" bIns="0" rtlCol="0" anchor="ctr"/>
          <a:lstStyle/>
          <a:p>
            <a:pPr marL="0" indent="0" algn="ctr">
              <a:buNone/>
            </a:pPr>
            <a:r>
              <a:rPr lang="en-US" sz="590" dirty="0">
                <a:solidFill>
                  <a:srgbClr val="333333"/>
                </a:solidFill>
                <a:latin typeface="Malgun Gothic" pitchFamily="34" charset="0"/>
                <a:ea typeface="Malgun Gothic" pitchFamily="34" charset="-122"/>
                <a:cs typeface="Malgun Gothic" pitchFamily="34" charset="-120"/>
              </a:rPr>
              <a:t>테이블 통계</a:t>
            </a:r>
            <a:endParaRPr lang="en-US" sz="590" dirty="0"/>
          </a:p>
        </p:txBody>
      </p:sp>
      <p:sp>
        <p:nvSpPr>
          <p:cNvPr id="129" name="Shape 127"/>
          <p:cNvSpPr/>
          <p:nvPr/>
        </p:nvSpPr>
        <p:spPr>
          <a:xfrm>
            <a:off x="7756787" y="3610647"/>
            <a:ext cx="715717" cy="150070"/>
          </a:xfrm>
          <a:prstGeom prst="roundRect">
            <a:avLst>
              <a:gd name="adj" fmla="val 15385"/>
            </a:avLst>
          </a:prstGeom>
          <a:solidFill>
            <a:srgbClr val="EDEDED"/>
          </a:solidFill>
          <a:ln w="7620">
            <a:solidFill>
              <a:srgbClr val="A6A6A6"/>
            </a:solidFill>
            <a:prstDash val="solid"/>
          </a:ln>
        </p:spPr>
      </p:sp>
      <p:sp>
        <p:nvSpPr>
          <p:cNvPr id="130" name="Text 128"/>
          <p:cNvSpPr txBox="1"/>
          <p:nvPr/>
        </p:nvSpPr>
        <p:spPr>
          <a:xfrm>
            <a:off x="7854406" y="3627530"/>
            <a:ext cx="520480" cy="116304"/>
          </a:xfrm>
          <a:prstGeom prst="rect">
            <a:avLst/>
          </a:prstGeom>
          <a:noFill/>
          <a:ln/>
        </p:spPr>
        <p:txBody>
          <a:bodyPr wrap="none" lIns="0" tIns="0" rIns="0" bIns="0" rtlCol="0" anchor="ctr"/>
          <a:lstStyle/>
          <a:p>
            <a:pPr marL="0" indent="0" algn="ctr">
              <a:buNone/>
            </a:pPr>
            <a:r>
              <a:rPr lang="en-US" sz="590" dirty="0">
                <a:solidFill>
                  <a:srgbClr val="333333"/>
                </a:solidFill>
                <a:latin typeface="Malgun Gothic" pitchFamily="34" charset="0"/>
                <a:ea typeface="Malgun Gothic" pitchFamily="34" charset="-122"/>
                <a:cs typeface="Malgun Gothic" pitchFamily="34" charset="-120"/>
              </a:rPr>
              <a:t>파티션 정보</a:t>
            </a:r>
            <a:endParaRPr lang="en-US" sz="590" dirty="0"/>
          </a:p>
        </p:txBody>
      </p:sp>
      <p:sp>
        <p:nvSpPr>
          <p:cNvPr id="131" name="Shape 129"/>
          <p:cNvSpPr/>
          <p:nvPr/>
        </p:nvSpPr>
        <p:spPr>
          <a:xfrm>
            <a:off x="9730781" y="2739088"/>
            <a:ext cx="0" cy="421350"/>
          </a:xfrm>
          <a:prstGeom prst="line">
            <a:avLst/>
          </a:prstGeom>
          <a:noFill/>
          <a:ln w="9235">
            <a:solidFill>
              <a:srgbClr val="9E9E9E"/>
            </a:solidFill>
            <a:prstDash val="dash"/>
          </a:ln>
        </p:spPr>
      </p:sp>
      <p:sp>
        <p:nvSpPr>
          <p:cNvPr id="132" name="Shape 130"/>
          <p:cNvSpPr/>
          <p:nvPr/>
        </p:nvSpPr>
        <p:spPr>
          <a:xfrm>
            <a:off x="9349835" y="3160438"/>
            <a:ext cx="761892" cy="657998"/>
          </a:xfrm>
          <a:prstGeom prst="roundRect">
            <a:avLst>
              <a:gd name="adj" fmla="val 7018"/>
            </a:avLst>
          </a:prstGeom>
          <a:solidFill>
            <a:srgbClr val="FFFFFF">
              <a:alpha val="0"/>
            </a:srgbClr>
          </a:solidFill>
          <a:ln w="9235">
            <a:solidFill>
              <a:srgbClr val="C8C8C8"/>
            </a:solidFill>
            <a:prstDash val="dash"/>
          </a:ln>
        </p:spPr>
      </p:sp>
      <p:sp>
        <p:nvSpPr>
          <p:cNvPr id="133" name="Shape 131"/>
          <p:cNvSpPr/>
          <p:nvPr/>
        </p:nvSpPr>
        <p:spPr>
          <a:xfrm>
            <a:off x="9372923" y="3218157"/>
            <a:ext cx="715717" cy="150070"/>
          </a:xfrm>
          <a:prstGeom prst="roundRect">
            <a:avLst>
              <a:gd name="adj" fmla="val 15385"/>
            </a:avLst>
          </a:prstGeom>
          <a:solidFill>
            <a:srgbClr val="EDEDED"/>
          </a:solidFill>
          <a:ln w="7620">
            <a:solidFill>
              <a:srgbClr val="A6A6A6"/>
            </a:solidFill>
            <a:prstDash val="solid"/>
          </a:ln>
        </p:spPr>
      </p:sp>
      <p:sp>
        <p:nvSpPr>
          <p:cNvPr id="134" name="Text 132"/>
          <p:cNvSpPr txBox="1"/>
          <p:nvPr/>
        </p:nvSpPr>
        <p:spPr>
          <a:xfrm>
            <a:off x="9430022" y="3235040"/>
            <a:ext cx="601518" cy="116304"/>
          </a:xfrm>
          <a:prstGeom prst="rect">
            <a:avLst/>
          </a:prstGeom>
          <a:noFill/>
          <a:ln/>
        </p:spPr>
        <p:txBody>
          <a:bodyPr wrap="none" lIns="0" tIns="0" rIns="0" bIns="0" rtlCol="0" anchor="ctr"/>
          <a:lstStyle/>
          <a:p>
            <a:pPr marL="0" indent="0" algn="ctr">
              <a:buNone/>
            </a:pPr>
            <a:r>
              <a:rPr lang="en-US" sz="590" dirty="0">
                <a:solidFill>
                  <a:srgbClr val="333333"/>
                </a:solidFill>
                <a:latin typeface="Malgun Gothic" pitchFamily="34" charset="0"/>
                <a:ea typeface="Malgun Gothic" pitchFamily="34" charset="-122"/>
                <a:cs typeface="Malgun Gothic" pitchFamily="34" charset="-120"/>
              </a:rPr>
              <a:t>보관기간 정보</a:t>
            </a:r>
            <a:endParaRPr lang="en-US" sz="590" dirty="0"/>
          </a:p>
        </p:txBody>
      </p:sp>
      <p:sp>
        <p:nvSpPr>
          <p:cNvPr id="135" name="Shape 133"/>
          <p:cNvSpPr/>
          <p:nvPr/>
        </p:nvSpPr>
        <p:spPr>
          <a:xfrm>
            <a:off x="9372923" y="3414402"/>
            <a:ext cx="715717" cy="150070"/>
          </a:xfrm>
          <a:prstGeom prst="roundRect">
            <a:avLst>
              <a:gd name="adj" fmla="val 15385"/>
            </a:avLst>
          </a:prstGeom>
          <a:solidFill>
            <a:srgbClr val="EDEDED"/>
          </a:solidFill>
          <a:ln w="7620">
            <a:solidFill>
              <a:srgbClr val="A6A6A6"/>
            </a:solidFill>
            <a:prstDash val="solid"/>
          </a:ln>
        </p:spPr>
      </p:sp>
      <p:sp>
        <p:nvSpPr>
          <p:cNvPr id="136" name="Text 134"/>
          <p:cNvSpPr txBox="1"/>
          <p:nvPr/>
        </p:nvSpPr>
        <p:spPr>
          <a:xfrm>
            <a:off x="9408953" y="3431285"/>
            <a:ext cx="643657" cy="116304"/>
          </a:xfrm>
          <a:prstGeom prst="rect">
            <a:avLst/>
          </a:prstGeom>
          <a:noFill/>
          <a:ln/>
        </p:spPr>
        <p:txBody>
          <a:bodyPr wrap="none" lIns="0" tIns="0" rIns="0" bIns="0" rtlCol="0" anchor="ctr"/>
          <a:lstStyle/>
          <a:p>
            <a:pPr marL="0" indent="0" algn="ctr">
              <a:buNone/>
            </a:pPr>
            <a:r>
              <a:rPr lang="en-US" sz="590" dirty="0">
                <a:solidFill>
                  <a:srgbClr val="333333"/>
                </a:solidFill>
                <a:latin typeface="Malgun Gothic" pitchFamily="34" charset="0"/>
                <a:ea typeface="Malgun Gothic" pitchFamily="34" charset="-122"/>
                <a:cs typeface="Malgun Gothic" pitchFamily="34" charset="-120"/>
              </a:rPr>
              <a:t>적재 지연 현황</a:t>
            </a:r>
            <a:endParaRPr lang="en-US" sz="590" dirty="0"/>
          </a:p>
        </p:txBody>
      </p:sp>
      <p:sp>
        <p:nvSpPr>
          <p:cNvPr id="137" name="Shape 135"/>
          <p:cNvSpPr/>
          <p:nvPr/>
        </p:nvSpPr>
        <p:spPr>
          <a:xfrm>
            <a:off x="10654287" y="2739088"/>
            <a:ext cx="0" cy="421350"/>
          </a:xfrm>
          <a:prstGeom prst="line">
            <a:avLst/>
          </a:prstGeom>
          <a:noFill/>
          <a:ln w="9235">
            <a:solidFill>
              <a:srgbClr val="9E9E9E"/>
            </a:solidFill>
            <a:prstDash val="dash"/>
          </a:ln>
        </p:spPr>
      </p:sp>
      <p:sp>
        <p:nvSpPr>
          <p:cNvPr id="138" name="Shape 136"/>
          <p:cNvSpPr/>
          <p:nvPr/>
        </p:nvSpPr>
        <p:spPr>
          <a:xfrm>
            <a:off x="10273341" y="3160438"/>
            <a:ext cx="761892" cy="657998"/>
          </a:xfrm>
          <a:prstGeom prst="roundRect">
            <a:avLst>
              <a:gd name="adj" fmla="val 7018"/>
            </a:avLst>
          </a:prstGeom>
          <a:solidFill>
            <a:srgbClr val="FFFFFF">
              <a:alpha val="0"/>
            </a:srgbClr>
          </a:solidFill>
          <a:ln w="9235">
            <a:solidFill>
              <a:srgbClr val="C8C8C8"/>
            </a:solidFill>
            <a:prstDash val="dash"/>
          </a:ln>
        </p:spPr>
      </p:sp>
      <p:sp>
        <p:nvSpPr>
          <p:cNvPr id="139" name="Shape 137"/>
          <p:cNvSpPr/>
          <p:nvPr/>
        </p:nvSpPr>
        <p:spPr>
          <a:xfrm>
            <a:off x="10296429" y="3218157"/>
            <a:ext cx="715717" cy="150070"/>
          </a:xfrm>
          <a:prstGeom prst="roundRect">
            <a:avLst>
              <a:gd name="adj" fmla="val 15385"/>
            </a:avLst>
          </a:prstGeom>
          <a:solidFill>
            <a:srgbClr val="EDEDED"/>
          </a:solidFill>
          <a:ln w="7620">
            <a:solidFill>
              <a:srgbClr val="A6A6A6"/>
            </a:solidFill>
            <a:prstDash val="solid"/>
          </a:ln>
        </p:spPr>
      </p:sp>
      <p:sp>
        <p:nvSpPr>
          <p:cNvPr id="140" name="Text 138"/>
          <p:cNvSpPr txBox="1"/>
          <p:nvPr/>
        </p:nvSpPr>
        <p:spPr>
          <a:xfrm>
            <a:off x="10353528" y="3235040"/>
            <a:ext cx="601518" cy="116304"/>
          </a:xfrm>
          <a:prstGeom prst="rect">
            <a:avLst/>
          </a:prstGeom>
          <a:noFill/>
          <a:ln/>
        </p:spPr>
        <p:txBody>
          <a:bodyPr wrap="none" lIns="0" tIns="0" rIns="0" bIns="0" rtlCol="0" anchor="ctr"/>
          <a:lstStyle/>
          <a:p>
            <a:pPr marL="0" indent="0" algn="ctr">
              <a:buNone/>
            </a:pPr>
            <a:r>
              <a:rPr lang="en-US" sz="590" dirty="0">
                <a:solidFill>
                  <a:srgbClr val="333333"/>
                </a:solidFill>
                <a:latin typeface="Malgun Gothic" pitchFamily="34" charset="0"/>
                <a:ea typeface="Malgun Gothic" pitchFamily="34" charset="-122"/>
                <a:cs typeface="Malgun Gothic" pitchFamily="34" charset="-120"/>
              </a:rPr>
              <a:t>코드값 해석표</a:t>
            </a:r>
            <a:endParaRPr lang="en-US" sz="590" dirty="0"/>
          </a:p>
        </p:txBody>
      </p:sp>
      <p:sp>
        <p:nvSpPr>
          <p:cNvPr id="141" name="Shape 139"/>
          <p:cNvSpPr/>
          <p:nvPr/>
        </p:nvSpPr>
        <p:spPr>
          <a:xfrm>
            <a:off x="10296429" y="3414402"/>
            <a:ext cx="715717" cy="150070"/>
          </a:xfrm>
          <a:prstGeom prst="roundRect">
            <a:avLst>
              <a:gd name="adj" fmla="val 15385"/>
            </a:avLst>
          </a:prstGeom>
          <a:solidFill>
            <a:srgbClr val="EDEDED"/>
          </a:solidFill>
          <a:ln w="7620">
            <a:solidFill>
              <a:srgbClr val="A6A6A6"/>
            </a:solidFill>
            <a:prstDash val="solid"/>
          </a:ln>
        </p:spPr>
      </p:sp>
      <p:sp>
        <p:nvSpPr>
          <p:cNvPr id="142" name="Text 140"/>
          <p:cNvSpPr txBox="1"/>
          <p:nvPr/>
        </p:nvSpPr>
        <p:spPr>
          <a:xfrm>
            <a:off x="10332459" y="3431285"/>
            <a:ext cx="643657" cy="116304"/>
          </a:xfrm>
          <a:prstGeom prst="rect">
            <a:avLst/>
          </a:prstGeom>
          <a:noFill/>
          <a:ln/>
        </p:spPr>
        <p:txBody>
          <a:bodyPr wrap="none" lIns="0" tIns="0" rIns="0" bIns="0" rtlCol="0" anchor="ctr"/>
          <a:lstStyle/>
          <a:p>
            <a:pPr marL="0" indent="0" algn="ctr">
              <a:buNone/>
            </a:pPr>
            <a:r>
              <a:rPr lang="en-US" sz="590" dirty="0">
                <a:solidFill>
                  <a:srgbClr val="333333"/>
                </a:solidFill>
                <a:latin typeface="Malgun Gothic" pitchFamily="34" charset="0"/>
                <a:ea typeface="Malgun Gothic" pitchFamily="34" charset="-122"/>
                <a:cs typeface="Malgun Gothic" pitchFamily="34" charset="-120"/>
              </a:rPr>
              <a:t>단위·지표 정의</a:t>
            </a:r>
            <a:endParaRPr lang="en-US" sz="590" dirty="0"/>
          </a:p>
        </p:txBody>
      </p:sp>
      <p:sp>
        <p:nvSpPr>
          <p:cNvPr id="143" name="Shape 141"/>
          <p:cNvSpPr/>
          <p:nvPr/>
        </p:nvSpPr>
        <p:spPr>
          <a:xfrm>
            <a:off x="11058321" y="1873301"/>
            <a:ext cx="184701" cy="0"/>
          </a:xfrm>
          <a:prstGeom prst="line">
            <a:avLst/>
          </a:prstGeom>
          <a:noFill/>
          <a:ln w="12929">
            <a:solidFill>
              <a:srgbClr val="7F7F7F"/>
            </a:solidFill>
            <a:prstDash val="solid"/>
          </a:ln>
        </p:spPr>
      </p:sp>
      <p:sp>
        <p:nvSpPr>
          <p:cNvPr id="144" name="Shape 142"/>
          <p:cNvSpPr/>
          <p:nvPr/>
        </p:nvSpPr>
        <p:spPr>
          <a:xfrm>
            <a:off x="11243022" y="1873301"/>
            <a:ext cx="0" cy="2135608"/>
          </a:xfrm>
          <a:prstGeom prst="line">
            <a:avLst/>
          </a:prstGeom>
          <a:noFill/>
          <a:ln w="12929">
            <a:solidFill>
              <a:srgbClr val="7F7F7F"/>
            </a:solidFill>
            <a:prstDash val="solid"/>
          </a:ln>
        </p:spPr>
      </p:sp>
      <p:sp>
        <p:nvSpPr>
          <p:cNvPr id="145" name="Shape 143"/>
          <p:cNvSpPr/>
          <p:nvPr/>
        </p:nvSpPr>
        <p:spPr>
          <a:xfrm flipH="1">
            <a:off x="11041005" y="4008909"/>
            <a:ext cx="202017" cy="0"/>
          </a:xfrm>
          <a:prstGeom prst="line">
            <a:avLst/>
          </a:prstGeom>
          <a:noFill/>
          <a:ln w="12929">
            <a:solidFill>
              <a:srgbClr val="7F7F7F"/>
            </a:solidFill>
            <a:prstDash val="solid"/>
            <a:tailEnd type="triangle"/>
          </a:ln>
        </p:spPr>
      </p:sp>
      <p:sp>
        <p:nvSpPr>
          <p:cNvPr id="146" name="Shape 144"/>
          <p:cNvSpPr/>
          <p:nvPr/>
        </p:nvSpPr>
        <p:spPr>
          <a:xfrm>
            <a:off x="10296429" y="3933874"/>
            <a:ext cx="715717" cy="150070"/>
          </a:xfrm>
          <a:prstGeom prst="roundRect">
            <a:avLst>
              <a:gd name="adj" fmla="val 15385"/>
            </a:avLst>
          </a:prstGeom>
          <a:solidFill>
            <a:srgbClr val="F2F2F2"/>
          </a:solidFill>
          <a:ln w="9235">
            <a:solidFill>
              <a:srgbClr val="7F7F7F"/>
            </a:solidFill>
            <a:prstDash val="solid"/>
          </a:ln>
        </p:spPr>
      </p:sp>
      <p:sp>
        <p:nvSpPr>
          <p:cNvPr id="147" name="Text 145"/>
          <p:cNvSpPr txBox="1"/>
          <p:nvPr/>
        </p:nvSpPr>
        <p:spPr>
          <a:xfrm>
            <a:off x="10291940" y="3950757"/>
            <a:ext cx="724695" cy="116304"/>
          </a:xfrm>
          <a:prstGeom prst="rect">
            <a:avLst/>
          </a:prstGeom>
          <a:noFill/>
          <a:ln/>
        </p:spPr>
        <p:txBody>
          <a:bodyPr wrap="none" lIns="0" tIns="0" rIns="0" bIns="0" rtlCol="0" anchor="ctr"/>
          <a:lstStyle/>
          <a:p>
            <a:pPr marL="0" indent="0" algn="ctr">
              <a:buNone/>
            </a:pPr>
            <a:r>
              <a:rPr lang="en-US" sz="590" dirty="0">
                <a:solidFill>
                  <a:srgbClr val="404040"/>
                </a:solidFill>
                <a:latin typeface="Malgun Gothic" pitchFamily="34" charset="0"/>
                <a:ea typeface="Malgun Gothic" pitchFamily="34" charset="-122"/>
                <a:cs typeface="Malgun Gothic" pitchFamily="34" charset="-120"/>
              </a:rPr>
              <a:t>질의·피드백 로그</a:t>
            </a:r>
            <a:endParaRPr lang="en-US" sz="590" dirty="0"/>
          </a:p>
        </p:txBody>
      </p:sp>
      <p:sp>
        <p:nvSpPr>
          <p:cNvPr id="148" name="Shape 146"/>
          <p:cNvSpPr/>
          <p:nvPr/>
        </p:nvSpPr>
        <p:spPr>
          <a:xfrm>
            <a:off x="502920" y="4700016"/>
            <a:ext cx="137160" cy="137160"/>
          </a:xfrm>
          <a:prstGeom prst="rect">
            <a:avLst/>
          </a:prstGeom>
          <a:solidFill>
            <a:srgbClr val="D9D9D9"/>
          </a:solidFill>
          <a:ln w="9525">
            <a:solidFill>
              <a:srgbClr val="7F7F7F"/>
            </a:solidFill>
            <a:prstDash val="solid"/>
          </a:ln>
        </p:spPr>
      </p:sp>
      <p:sp>
        <p:nvSpPr>
          <p:cNvPr id="149" name="Text 147"/>
          <p:cNvSpPr txBox="1"/>
          <p:nvPr/>
        </p:nvSpPr>
        <p:spPr>
          <a:xfrm>
            <a:off x="795528" y="4663440"/>
            <a:ext cx="795528" cy="201168"/>
          </a:xfrm>
          <a:prstGeom prst="rect">
            <a:avLst/>
          </a:prstGeom>
          <a:noFill/>
          <a:ln/>
        </p:spPr>
        <p:txBody>
          <a:bodyPr wrap="square" lIns="0" tIns="0" rIns="0" bIns="0" rtlCol="0" anchor="ctr"/>
          <a:lstStyle/>
          <a:p>
            <a:pPr marL="0" indent="0">
              <a:buNone/>
            </a:pPr>
            <a:r>
              <a:rPr lang="en-US" sz="1000" dirty="0">
                <a:solidFill>
                  <a:srgbClr val="5F5F5F"/>
                </a:solidFill>
                <a:latin typeface="Malgun Gothic" pitchFamily="34" charset="0"/>
                <a:ea typeface="Malgun Gothic" pitchFamily="34" charset="-122"/>
                <a:cs typeface="Malgun Gothic" pitchFamily="34" charset="-120"/>
              </a:rPr>
              <a:t>사용자 작업</a:t>
            </a:r>
            <a:endParaRPr lang="en-US" sz="1000" dirty="0"/>
          </a:p>
        </p:txBody>
      </p:sp>
      <p:sp>
        <p:nvSpPr>
          <p:cNvPr id="150" name="Shape 148"/>
          <p:cNvSpPr/>
          <p:nvPr/>
        </p:nvSpPr>
        <p:spPr>
          <a:xfrm>
            <a:off x="1755648" y="4700016"/>
            <a:ext cx="137160" cy="137160"/>
          </a:xfrm>
          <a:prstGeom prst="rect">
            <a:avLst/>
          </a:prstGeom>
          <a:solidFill>
            <a:srgbClr val="FFFFFF"/>
          </a:solidFill>
          <a:ln w="9525">
            <a:solidFill>
              <a:srgbClr val="3A3A3A"/>
            </a:solidFill>
            <a:prstDash val="solid"/>
          </a:ln>
        </p:spPr>
      </p:sp>
      <p:sp>
        <p:nvSpPr>
          <p:cNvPr id="151" name="Text 149"/>
          <p:cNvSpPr txBox="1"/>
          <p:nvPr/>
        </p:nvSpPr>
        <p:spPr>
          <a:xfrm>
            <a:off x="2048256" y="4663440"/>
            <a:ext cx="1014984" cy="201168"/>
          </a:xfrm>
          <a:prstGeom prst="rect">
            <a:avLst/>
          </a:prstGeom>
          <a:noFill/>
          <a:ln/>
        </p:spPr>
        <p:txBody>
          <a:bodyPr wrap="square" lIns="0" tIns="0" rIns="0" bIns="0" rtlCol="0" anchor="ctr"/>
          <a:lstStyle/>
          <a:p>
            <a:pPr marL="0" indent="0">
              <a:buNone/>
            </a:pPr>
            <a:r>
              <a:rPr lang="en-US" sz="1000" dirty="0">
                <a:solidFill>
                  <a:srgbClr val="5F5F5F"/>
                </a:solidFill>
                <a:latin typeface="Malgun Gothic" pitchFamily="34" charset="0"/>
                <a:ea typeface="Malgun Gothic" pitchFamily="34" charset="-122"/>
                <a:cs typeface="Malgun Gothic" pitchFamily="34" charset="-120"/>
              </a:rPr>
              <a:t>엔진 처리 단계</a:t>
            </a:r>
            <a:endParaRPr lang="en-US" sz="1000" dirty="0"/>
          </a:p>
        </p:txBody>
      </p:sp>
      <p:sp>
        <p:nvSpPr>
          <p:cNvPr id="152" name="Shape 150"/>
          <p:cNvSpPr/>
          <p:nvPr/>
        </p:nvSpPr>
        <p:spPr>
          <a:xfrm>
            <a:off x="3227832" y="4700016"/>
            <a:ext cx="137160" cy="137160"/>
          </a:xfrm>
          <a:prstGeom prst="rect">
            <a:avLst/>
          </a:prstGeom>
          <a:solidFill>
            <a:srgbClr val="FCE9E1"/>
          </a:solidFill>
          <a:ln w="9525">
            <a:solidFill>
              <a:srgbClr val="D9480F"/>
            </a:solidFill>
            <a:prstDash val="solid"/>
          </a:ln>
        </p:spPr>
      </p:sp>
      <p:sp>
        <p:nvSpPr>
          <p:cNvPr id="153" name="Text 151"/>
          <p:cNvSpPr txBox="1"/>
          <p:nvPr/>
        </p:nvSpPr>
        <p:spPr>
          <a:xfrm>
            <a:off x="3520440" y="4663440"/>
            <a:ext cx="1783080" cy="201168"/>
          </a:xfrm>
          <a:prstGeom prst="rect">
            <a:avLst/>
          </a:prstGeom>
          <a:noFill/>
          <a:ln/>
        </p:spPr>
        <p:txBody>
          <a:bodyPr wrap="square" lIns="0" tIns="0" rIns="0" bIns="0" rtlCol="0" anchor="ctr"/>
          <a:lstStyle/>
          <a:p>
            <a:pPr marL="0" indent="0">
              <a:buNone/>
            </a:pPr>
            <a:r>
              <a:rPr lang="en-US" sz="1000" dirty="0">
                <a:solidFill>
                  <a:srgbClr val="5F5F5F"/>
                </a:solidFill>
                <a:latin typeface="Malgun Gothic" pitchFamily="34" charset="0"/>
                <a:ea typeface="Malgun Gothic" pitchFamily="34" charset="-122"/>
                <a:cs typeface="Malgun Gothic" pitchFamily="34" charset="-120"/>
              </a:rPr>
              <a:t>신규 단계 · 도메인 라우팅</a:t>
            </a:r>
            <a:endParaRPr lang="en-US" sz="1000" dirty="0"/>
          </a:p>
        </p:txBody>
      </p:sp>
      <p:sp>
        <p:nvSpPr>
          <p:cNvPr id="154" name="Shape 152"/>
          <p:cNvSpPr/>
          <p:nvPr/>
        </p:nvSpPr>
        <p:spPr>
          <a:xfrm>
            <a:off x="5468112" y="4700016"/>
            <a:ext cx="137160" cy="137160"/>
          </a:xfrm>
          <a:prstGeom prst="rect">
            <a:avLst/>
          </a:prstGeom>
          <a:solidFill>
            <a:srgbClr val="EDEDED"/>
          </a:solidFill>
          <a:ln w="9525">
            <a:solidFill>
              <a:srgbClr val="A6A6A6"/>
            </a:solidFill>
            <a:prstDash val="solid"/>
          </a:ln>
        </p:spPr>
      </p:sp>
      <p:sp>
        <p:nvSpPr>
          <p:cNvPr id="155" name="Text 153"/>
          <p:cNvSpPr txBox="1"/>
          <p:nvPr/>
        </p:nvSpPr>
        <p:spPr>
          <a:xfrm>
            <a:off x="5760720" y="4663440"/>
            <a:ext cx="1014984" cy="201168"/>
          </a:xfrm>
          <a:prstGeom prst="rect">
            <a:avLst/>
          </a:prstGeom>
          <a:noFill/>
          <a:ln/>
        </p:spPr>
        <p:txBody>
          <a:bodyPr wrap="square" lIns="0" tIns="0" rIns="0" bIns="0" rtlCol="0" anchor="ctr"/>
          <a:lstStyle/>
          <a:p>
            <a:pPr marL="0" indent="0">
              <a:buNone/>
            </a:pPr>
            <a:r>
              <a:rPr lang="en-US" sz="1000" dirty="0">
                <a:solidFill>
                  <a:srgbClr val="5F5F5F"/>
                </a:solidFill>
                <a:latin typeface="Malgun Gothic" pitchFamily="34" charset="0"/>
                <a:ea typeface="Malgun Gothic" pitchFamily="34" charset="-122"/>
                <a:cs typeface="Malgun Gothic" pitchFamily="34" charset="-120"/>
              </a:rPr>
              <a:t>참조 메타데이터</a:t>
            </a:r>
            <a:endParaRPr lang="en-US" sz="1000" dirty="0"/>
          </a:p>
        </p:txBody>
      </p:sp>
      <p:sp>
        <p:nvSpPr>
          <p:cNvPr id="156" name="Shape 154"/>
          <p:cNvSpPr/>
          <p:nvPr/>
        </p:nvSpPr>
        <p:spPr>
          <a:xfrm>
            <a:off x="6940296" y="4700016"/>
            <a:ext cx="137160" cy="137160"/>
          </a:xfrm>
          <a:prstGeom prst="rect">
            <a:avLst/>
          </a:prstGeom>
          <a:solidFill>
            <a:srgbClr val="F2F2F2"/>
          </a:solidFill>
          <a:ln w="9525">
            <a:solidFill>
              <a:srgbClr val="7F7F7F"/>
            </a:solidFill>
            <a:prstDash val="solid"/>
          </a:ln>
        </p:spPr>
      </p:sp>
      <p:sp>
        <p:nvSpPr>
          <p:cNvPr id="157" name="Text 155"/>
          <p:cNvSpPr txBox="1"/>
          <p:nvPr/>
        </p:nvSpPr>
        <p:spPr>
          <a:xfrm>
            <a:off x="7232904" y="4663440"/>
            <a:ext cx="795528" cy="201168"/>
          </a:xfrm>
          <a:prstGeom prst="rect">
            <a:avLst/>
          </a:prstGeom>
          <a:noFill/>
          <a:ln/>
        </p:spPr>
        <p:txBody>
          <a:bodyPr wrap="square" lIns="0" tIns="0" rIns="0" bIns="0" rtlCol="0" anchor="ctr"/>
          <a:lstStyle/>
          <a:p>
            <a:pPr marL="0" indent="0">
              <a:buNone/>
            </a:pPr>
            <a:r>
              <a:rPr lang="en-US" sz="1000" dirty="0">
                <a:solidFill>
                  <a:srgbClr val="5F5F5F"/>
                </a:solidFill>
                <a:latin typeface="Malgun Gothic" pitchFamily="34" charset="0"/>
                <a:ea typeface="Malgun Gothic" pitchFamily="34" charset="-122"/>
                <a:cs typeface="Malgun Gothic" pitchFamily="34" charset="-120"/>
              </a:rPr>
              <a:t>기록 저장소</a:t>
            </a:r>
            <a:endParaRPr lang="en-US" sz="1000" dirty="0"/>
          </a:p>
        </p:txBody>
      </p:sp>
      <p:sp>
        <p:nvSpPr>
          <p:cNvPr id="158" name="Shape 156"/>
          <p:cNvSpPr/>
          <p:nvPr/>
        </p:nvSpPr>
        <p:spPr>
          <a:xfrm>
            <a:off x="8193024" y="4764024"/>
            <a:ext cx="228600" cy="0"/>
          </a:xfrm>
          <a:prstGeom prst="line">
            <a:avLst/>
          </a:prstGeom>
          <a:noFill/>
          <a:ln w="12700">
            <a:solidFill>
              <a:srgbClr val="5F5F5F"/>
            </a:solidFill>
            <a:prstDash val="dash"/>
          </a:ln>
        </p:spPr>
      </p:sp>
      <p:sp>
        <p:nvSpPr>
          <p:cNvPr id="159" name="Text 157"/>
          <p:cNvSpPr txBox="1"/>
          <p:nvPr/>
        </p:nvSpPr>
        <p:spPr>
          <a:xfrm>
            <a:off x="8485632" y="4663440"/>
            <a:ext cx="795528" cy="201168"/>
          </a:xfrm>
          <a:prstGeom prst="rect">
            <a:avLst/>
          </a:prstGeom>
          <a:noFill/>
          <a:ln/>
        </p:spPr>
        <p:txBody>
          <a:bodyPr wrap="square" lIns="0" tIns="0" rIns="0" bIns="0" rtlCol="0" anchor="ctr"/>
          <a:lstStyle/>
          <a:p>
            <a:pPr marL="0" indent="0">
              <a:buNone/>
            </a:pPr>
            <a:r>
              <a:rPr lang="en-US" sz="1000" dirty="0">
                <a:solidFill>
                  <a:srgbClr val="5F5F5F"/>
                </a:solidFill>
                <a:latin typeface="Malgun Gothic" pitchFamily="34" charset="0"/>
                <a:ea typeface="Malgun Gothic" pitchFamily="34" charset="-122"/>
                <a:cs typeface="Malgun Gothic" pitchFamily="34" charset="-120"/>
              </a:rPr>
              <a:t>데이터 연결</a:t>
            </a:r>
            <a:endParaRPr lang="en-US" sz="1000" dirty="0"/>
          </a:p>
        </p:txBody>
      </p:sp>
      <p:sp>
        <p:nvSpPr>
          <p:cNvPr id="160" name="Shape 158"/>
          <p:cNvSpPr/>
          <p:nvPr/>
        </p:nvSpPr>
        <p:spPr>
          <a:xfrm>
            <a:off x="457200" y="5029200"/>
            <a:ext cx="3605784" cy="1234440"/>
          </a:xfrm>
          <a:prstGeom prst="roundRect">
            <a:avLst>
              <a:gd name="adj" fmla="val 5926"/>
            </a:avLst>
          </a:prstGeom>
          <a:solidFill>
            <a:srgbClr val="F2F2F2"/>
          </a:solidFill>
          <a:ln/>
        </p:spPr>
      </p:sp>
      <p:sp>
        <p:nvSpPr>
          <p:cNvPr id="161" name="Text 159"/>
          <p:cNvSpPr txBox="1"/>
          <p:nvPr/>
        </p:nvSpPr>
        <p:spPr>
          <a:xfrm>
            <a:off x="640080" y="5166360"/>
            <a:ext cx="3240024" cy="274320"/>
          </a:xfrm>
          <a:prstGeom prst="rect">
            <a:avLst/>
          </a:prstGeom>
          <a:noFill/>
          <a:ln/>
        </p:spPr>
        <p:txBody>
          <a:bodyPr wrap="square" lIns="0" tIns="0" rIns="0" bIns="0" rtlCol="0" anchor="t"/>
          <a:lstStyle/>
          <a:p>
            <a:pPr marL="0" indent="0">
              <a:buNone/>
            </a:pPr>
            <a:r>
              <a:rPr lang="en-US" sz="1300" b="1" dirty="0">
                <a:solidFill>
                  <a:srgbClr val="1A1A1A"/>
                </a:solidFill>
                <a:latin typeface="Malgun Gothic" pitchFamily="34" charset="0"/>
                <a:ea typeface="Malgun Gothic" pitchFamily="34" charset="-122"/>
                <a:cs typeface="Malgun Gothic" pitchFamily="34" charset="-120"/>
              </a:rPr>
              <a:t>규모 격차</a:t>
            </a:r>
            <a:endParaRPr lang="en-US" sz="1300" dirty="0"/>
          </a:p>
        </p:txBody>
      </p:sp>
      <p:sp>
        <p:nvSpPr>
          <p:cNvPr id="162" name="Text 160"/>
          <p:cNvSpPr txBox="1"/>
          <p:nvPr/>
        </p:nvSpPr>
        <p:spPr>
          <a:xfrm>
            <a:off x="640080" y="5400675"/>
            <a:ext cx="3240024" cy="685800"/>
          </a:xfrm>
          <a:prstGeom prst="rect">
            <a:avLst/>
          </a:prstGeom>
          <a:noFill/>
          <a:ln/>
        </p:spPr>
        <p:txBody>
          <a:bodyPr wrap="square" lIns="0" tIns="0" rIns="0" bIns="0" rtlCol="0" anchor="t"/>
          <a:lstStyle/>
          <a:p>
            <a:pPr marL="0" indent="0">
              <a:buNone/>
            </a:pPr>
            <a:r>
              <a:rPr lang="en-US" sz="1050" dirty="0">
                <a:solidFill>
                  <a:srgbClr val="5F5F5F"/>
                </a:solidFill>
                <a:latin typeface="Malgun Gothic" pitchFamily="34" charset="0"/>
                <a:ea typeface="Malgun Gothic" pitchFamily="34" charset="-122"/>
                <a:cs typeface="Malgun Gothic" pitchFamily="34" charset="-120"/>
              </a:rPr>
              <a:t>논문 DB 27개 테이블 vs Data Hub 약 9,000개. 단일 지식그래프로 전체를 다루기 어렵다</a:t>
            </a:r>
            <a:endParaRPr lang="en-US" sz="1050" dirty="0"/>
          </a:p>
        </p:txBody>
      </p:sp>
      <p:sp>
        <p:nvSpPr>
          <p:cNvPr id="163" name="Shape 161"/>
          <p:cNvSpPr/>
          <p:nvPr/>
        </p:nvSpPr>
        <p:spPr>
          <a:xfrm>
            <a:off x="8125968" y="5029200"/>
            <a:ext cx="3605784" cy="1234440"/>
          </a:xfrm>
          <a:prstGeom prst="roundRect">
            <a:avLst>
              <a:gd name="adj" fmla="val 5926"/>
            </a:avLst>
          </a:prstGeom>
          <a:solidFill>
            <a:srgbClr val="FCE9E1"/>
          </a:solidFill>
          <a:ln/>
        </p:spPr>
      </p:sp>
      <p:sp>
        <p:nvSpPr>
          <p:cNvPr id="164" name="Text 162"/>
          <p:cNvSpPr txBox="1"/>
          <p:nvPr/>
        </p:nvSpPr>
        <p:spPr>
          <a:xfrm>
            <a:off x="8308848" y="5166360"/>
            <a:ext cx="3240024" cy="274320"/>
          </a:xfrm>
          <a:prstGeom prst="rect">
            <a:avLst/>
          </a:prstGeom>
          <a:noFill/>
          <a:ln/>
        </p:spPr>
        <p:txBody>
          <a:bodyPr wrap="square" lIns="0" tIns="0" rIns="0" bIns="0" rtlCol="0" anchor="t"/>
          <a:lstStyle/>
          <a:p>
            <a:pPr marL="0" indent="0">
              <a:buNone/>
            </a:pPr>
            <a:r>
              <a:rPr lang="en-US" sz="1300" b="1" dirty="0">
                <a:solidFill>
                  <a:srgbClr val="9A3412"/>
                </a:solidFill>
                <a:latin typeface="Malgun Gothic" pitchFamily="34" charset="0"/>
                <a:ea typeface="Malgun Gothic" pitchFamily="34" charset="-122"/>
                <a:cs typeface="Malgun Gothic" pitchFamily="34" charset="-120"/>
              </a:rPr>
              <a:t>도메인 라우팅</a:t>
            </a:r>
            <a:endParaRPr lang="en-US" sz="1300" dirty="0"/>
          </a:p>
        </p:txBody>
      </p:sp>
      <p:sp>
        <p:nvSpPr>
          <p:cNvPr id="165" name="Text 163"/>
          <p:cNvSpPr txBox="1"/>
          <p:nvPr/>
        </p:nvSpPr>
        <p:spPr>
          <a:xfrm>
            <a:off x="8308848" y="5400675"/>
            <a:ext cx="3240024" cy="685800"/>
          </a:xfrm>
          <a:prstGeom prst="rect">
            <a:avLst/>
          </a:prstGeom>
          <a:noFill/>
          <a:ln/>
        </p:spPr>
        <p:txBody>
          <a:bodyPr wrap="square" lIns="0" tIns="0" rIns="0" bIns="0" rtlCol="0" anchor="t"/>
          <a:lstStyle/>
          <a:p>
            <a:pPr marL="0" indent="0">
              <a:buNone/>
            </a:pPr>
            <a:r>
              <a:rPr lang="en-US" sz="1050" dirty="0">
                <a:solidFill>
                  <a:srgbClr val="5F5F5F"/>
                </a:solidFill>
                <a:latin typeface="Malgun Gothic" pitchFamily="34" charset="0"/>
                <a:ea typeface="Malgun Gothic" pitchFamily="34" charset="-122"/>
                <a:cs typeface="Malgun Gothic" pitchFamily="34" charset="-120"/>
              </a:rPr>
              <a:t>질문마다 원천 시스템과 업무 도메인을 먼저 골라, 수십~수백 테이블 범위로 좁힌다</a:t>
            </a:r>
            <a:endParaRPr lang="en-US" sz="1050" dirty="0"/>
          </a:p>
        </p:txBody>
      </p:sp>
      <p:sp>
        <p:nvSpPr>
          <p:cNvPr id="166" name="Shape 164"/>
          <p:cNvSpPr/>
          <p:nvPr/>
        </p:nvSpPr>
        <p:spPr>
          <a:xfrm>
            <a:off x="4267510" y="5029200"/>
            <a:ext cx="3605784" cy="1234440"/>
          </a:xfrm>
          <a:prstGeom prst="roundRect">
            <a:avLst>
              <a:gd name="adj" fmla="val 5926"/>
            </a:avLst>
          </a:prstGeom>
          <a:solidFill>
            <a:srgbClr val="FCE9E1"/>
          </a:solidFill>
          <a:ln/>
        </p:spPr>
      </p:sp>
      <p:sp>
        <p:nvSpPr>
          <p:cNvPr id="167" name="Text 165"/>
          <p:cNvSpPr txBox="1"/>
          <p:nvPr/>
        </p:nvSpPr>
        <p:spPr>
          <a:xfrm>
            <a:off x="4450390" y="5166360"/>
            <a:ext cx="3240024" cy="274320"/>
          </a:xfrm>
          <a:prstGeom prst="rect">
            <a:avLst/>
          </a:prstGeom>
          <a:noFill/>
          <a:ln/>
        </p:spPr>
        <p:txBody>
          <a:bodyPr wrap="square" lIns="0" tIns="0" rIns="0" bIns="0" rtlCol="0" anchor="t"/>
          <a:lstStyle>
            <a:lvl1pPr indent="0">
              <a:buNone/>
              <a:defRPr sz="1300" b="1">
                <a:solidFill>
                  <a:srgbClr val="9A3412"/>
                </a:solidFill>
                <a:latin typeface="Malgun Gothic" pitchFamily="34" charset="0"/>
                <a:ea typeface="Malgun Gothic" pitchFamily="34" charset="-122"/>
                <a:cs typeface="Malgun Gothic" pitchFamily="34" charset="-120"/>
              </a:defRPr>
            </a:lvl1pPr>
          </a:lstStyle>
          <a:p>
            <a:r>
              <a:rPr lang="en-US" dirty="0"/>
              <a:t>도메인 카탈로그</a:t>
            </a:r>
          </a:p>
        </p:txBody>
      </p:sp>
      <p:sp>
        <p:nvSpPr>
          <p:cNvPr id="168" name="Text 166"/>
          <p:cNvSpPr txBox="1"/>
          <p:nvPr/>
        </p:nvSpPr>
        <p:spPr>
          <a:xfrm>
            <a:off x="4450390" y="5400675"/>
            <a:ext cx="3240024" cy="685800"/>
          </a:xfrm>
          <a:prstGeom prst="rect">
            <a:avLst/>
          </a:prstGeom>
          <a:noFill/>
          <a:ln/>
        </p:spPr>
        <p:txBody>
          <a:bodyPr wrap="square" lIns="0" tIns="0" rIns="0" bIns="0" rtlCol="0" anchor="t"/>
          <a:lstStyle/>
          <a:p>
            <a:pPr marL="0" indent="0">
              <a:buNone/>
            </a:pPr>
            <a:r>
              <a:rPr lang="en-US" sz="1050" dirty="0">
                <a:solidFill>
                  <a:srgbClr val="5F5F5F"/>
                </a:solidFill>
                <a:latin typeface="Malgun Gothic" pitchFamily="34" charset="0"/>
                <a:ea typeface="Malgun Gothic" pitchFamily="34" charset="-122"/>
                <a:cs typeface="Malgun Gothic" pitchFamily="34" charset="-120"/>
              </a:rPr>
              <a:t>도메인 설명·대표 테이블·주요 엔티티, 원천 시스템 분류, 공유 허브 테이블 </a:t>
            </a:r>
            <a:r>
              <a:rPr lang="en-US" sz="1050">
                <a:solidFill>
                  <a:srgbClr val="5F5F5F"/>
                </a:solidFill>
                <a:latin typeface="Malgun Gothic" pitchFamily="34" charset="0"/>
                <a:ea typeface="Malgun Gothic" pitchFamily="34" charset="-122"/>
                <a:cs typeface="Malgun Gothic" pitchFamily="34" charset="-120"/>
              </a:rPr>
              <a:t>목록을 </a:t>
            </a:r>
            <a:r>
              <a:rPr lang="en-US" sz="1050" smtClean="0">
                <a:solidFill>
                  <a:srgbClr val="5F5F5F"/>
                </a:solidFill>
                <a:latin typeface="Malgun Gothic" pitchFamily="34" charset="0"/>
                <a:ea typeface="Malgun Gothic" pitchFamily="34" charset="-122"/>
                <a:cs typeface="Malgun Gothic" pitchFamily="34" charset="-120"/>
              </a:rPr>
              <a:t>참조한다</a:t>
            </a:r>
          </a:p>
          <a:p>
            <a:pPr marL="0" indent="0">
              <a:buNone/>
            </a:pPr>
            <a:endParaRPr lang="en-US" sz="1050">
              <a:solidFill>
                <a:srgbClr val="5F5F5F"/>
              </a:solidFill>
              <a:latin typeface="Malgun Gothic" pitchFamily="34" charset="0"/>
              <a:ea typeface="Malgun Gothic" pitchFamily="34" charset="-122"/>
            </a:endParaRPr>
          </a:p>
        </p:txBody>
      </p:sp>
      <p:sp>
        <p:nvSpPr>
          <p:cNvPr id="171" name="Text 163"/>
          <p:cNvSpPr txBox="1"/>
          <p:nvPr/>
        </p:nvSpPr>
        <p:spPr>
          <a:xfrm>
            <a:off x="8351147" y="5812155"/>
            <a:ext cx="3240024" cy="685800"/>
          </a:xfrm>
          <a:prstGeom prst="rect">
            <a:avLst/>
          </a:prstGeom>
          <a:noFill/>
          <a:ln/>
        </p:spPr>
        <p:txBody>
          <a:bodyPr wrap="square" lIns="0" tIns="0" rIns="0" bIns="0" rtlCol="0" anchor="t"/>
          <a:lstStyle/>
          <a:p>
            <a:r>
              <a:rPr lang="en-US" sz="1000" b="1">
                <a:latin typeface="Malgun Gothic" pitchFamily="34" charset="0"/>
                <a:ea typeface="Malgun Gothic" pitchFamily="34" charset="-122"/>
                <a:cs typeface="Malgun Gothic" pitchFamily="34" charset="-120"/>
              </a:rPr>
              <a:t>LinkAlign: Scalable Schema Linking for Real-World Large-Scale Multi-Database </a:t>
            </a:r>
            <a:r>
              <a:rPr lang="en-US" sz="1000" b="1" smtClean="0">
                <a:latin typeface="Malgun Gothic" pitchFamily="34" charset="0"/>
                <a:ea typeface="Malgun Gothic" pitchFamily="34" charset="-122"/>
                <a:cs typeface="Malgun Gothic" pitchFamily="34" charset="-120"/>
              </a:rPr>
              <a:t>Text-to-SQL</a:t>
            </a:r>
          </a:p>
          <a:p>
            <a:r>
              <a:rPr lang="en-US" sz="1000">
                <a:solidFill>
                  <a:schemeClr val="tx1">
                    <a:lumMod val="75000"/>
                    <a:lumOff val="25000"/>
                  </a:schemeClr>
                </a:solidFill>
              </a:rPr>
              <a:t>(</a:t>
            </a:r>
            <a:r>
              <a:rPr lang="en-US" sz="1000" smtClean="0">
                <a:solidFill>
                  <a:schemeClr val="tx1">
                    <a:lumMod val="75000"/>
                    <a:lumOff val="25000"/>
                  </a:schemeClr>
                </a:solidFill>
              </a:rPr>
              <a:t>Proceedings </a:t>
            </a:r>
            <a:r>
              <a:rPr lang="en-US" sz="1000">
                <a:solidFill>
                  <a:schemeClr val="tx1">
                    <a:lumMod val="75000"/>
                    <a:lumOff val="25000"/>
                  </a:schemeClr>
                </a:solidFill>
              </a:rPr>
              <a:t>of EMNLP 2025, pp. </a:t>
            </a:r>
            <a:r>
              <a:rPr lang="en-US" sz="1000" smtClean="0">
                <a:solidFill>
                  <a:schemeClr val="tx1">
                    <a:lumMod val="75000"/>
                    <a:lumOff val="25000"/>
                  </a:schemeClr>
                </a:solidFill>
              </a:rPr>
              <a:t>977–991)</a:t>
            </a:r>
            <a:endParaRPr lang="en-US" sz="1000" dirty="0">
              <a:solidFill>
                <a:schemeClr val="tx1">
                  <a:lumMod val="75000"/>
                  <a:lumOff val="25000"/>
                </a:schemeClr>
              </a:solidFill>
            </a:endParaRPr>
          </a:p>
        </p:txBody>
      </p:sp>
      <p:sp>
        <p:nvSpPr>
          <p:cNvPr id="172" name="Text 166"/>
          <p:cNvSpPr txBox="1"/>
          <p:nvPr/>
        </p:nvSpPr>
        <p:spPr>
          <a:xfrm>
            <a:off x="4461629" y="5812155"/>
            <a:ext cx="3422905" cy="685800"/>
          </a:xfrm>
          <a:prstGeom prst="rect">
            <a:avLst/>
          </a:prstGeom>
          <a:noFill/>
          <a:ln/>
        </p:spPr>
        <p:txBody>
          <a:bodyPr wrap="square" lIns="0" tIns="0" rIns="0" bIns="0" rtlCol="0" anchor="t"/>
          <a:lstStyle/>
          <a:p>
            <a:r>
              <a:rPr lang="en-US" altLang="ko-KR" sz="1000" b="1"/>
              <a:t>Text-to-SQL for Enterprise Data Analytics</a:t>
            </a:r>
          </a:p>
          <a:p>
            <a:r>
              <a:rPr lang="en-US" altLang="ko-KR" sz="1000">
                <a:solidFill>
                  <a:schemeClr val="tx1">
                    <a:lumMod val="75000"/>
                    <a:lumOff val="25000"/>
                  </a:schemeClr>
                </a:solidFill>
              </a:rPr>
              <a:t>(</a:t>
            </a:r>
            <a:r>
              <a:rPr lang="en-US" altLang="ko-KR" sz="1000" smtClean="0">
                <a:solidFill>
                  <a:schemeClr val="tx1">
                    <a:lumMod val="75000"/>
                    <a:lumOff val="25000"/>
                  </a:schemeClr>
                </a:solidFill>
              </a:rPr>
              <a:t>KDD </a:t>
            </a:r>
            <a:r>
              <a:rPr lang="en-US" altLang="ko-KR" sz="1000">
                <a:solidFill>
                  <a:schemeClr val="tx1">
                    <a:lumMod val="75000"/>
                    <a:lumOff val="25000"/>
                  </a:schemeClr>
                </a:solidFill>
              </a:rPr>
              <a:t>2025 Workshop on Agentic AI for </a:t>
            </a:r>
            <a:r>
              <a:rPr lang="en-US" altLang="ko-KR" sz="1000" smtClean="0">
                <a:solidFill>
                  <a:schemeClr val="tx1">
                    <a:lumMod val="75000"/>
                    <a:lumOff val="25000"/>
                  </a:schemeClr>
                </a:solidFill>
              </a:rPr>
              <a:t>Enterprise; arXiv:2507.14372)</a:t>
            </a:r>
            <a:endParaRPr lang="en-US" altLang="ko-KR" sz="1000">
              <a:solidFill>
                <a:schemeClr val="tx1">
                  <a:lumMod val="75000"/>
                  <a:lumOff val="25000"/>
                </a:schemeClr>
              </a:solidFill>
            </a:endParaRPr>
          </a:p>
          <a:p>
            <a:pPr marL="0" indent="0">
              <a:buNone/>
            </a:pPr>
            <a:endParaRPr lang="en-US" sz="1000">
              <a:latin typeface="Malgun Gothic" pitchFamily="34" charset="0"/>
              <a:ea typeface="Malgun Gothic" pitchFamily="34" charset="-122"/>
            </a:endParaRPr>
          </a:p>
        </p:txBody>
      </p:sp>
      <p:sp>
        <p:nvSpPr>
          <p:cNvPr id="173" name="Slide Number Placeholder 0"/>
          <p:cNvSpPr>
            <a:spLocks noGrp="1"/>
          </p:cNvSpPr>
          <p:nvPr>
            <p:ph type="sldNum" sz="quarter" idx="4294967295"/>
          </p:nvPr>
        </p:nvSpPr>
        <p:spPr>
          <a:xfrm>
            <a:off x="11183112" y="6419088"/>
            <a:ext cx="54864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6B6B6B"/>
                </a:solidFill>
                <a:latin typeface="Malgun Gothic"/>
                <a:ea typeface="Malgun Gothic"/>
                <a:cs typeface="Malgun Gothic"/>
              </a:defRPr>
            </a:lvl1pPr>
          </a:lstStyle>
          <a:p>
            <a:pPr algn="r"/>
            <a:fld id="{F7021451-1387-4CA6-816F-3879F97B5CBC}" type="slidenum">
              <a:rPr lang="en-US" b="0"/>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11274552" cy="292608"/>
          </a:xfrm>
          <a:prstGeom prst="rect">
            <a:avLst/>
          </a:prstGeom>
          <a:noFill/>
          <a:ln/>
        </p:spPr>
        <p:txBody>
          <a:bodyPr wrap="square" lIns="0" tIns="0" rIns="0" bIns="0" rtlCol="0" anchor="ctr"/>
          <a:lstStyle/>
          <a:p>
            <a:pPr marL="0" indent="0">
              <a:buNone/>
            </a:pPr>
            <a:r>
              <a:rPr lang="en-US" sz="1100" b="1" smtClean="0">
                <a:solidFill>
                  <a:srgbClr val="6B6B6B"/>
                </a:solidFill>
                <a:latin typeface="Malgun Gothic" pitchFamily="34" charset="0"/>
                <a:ea typeface="Malgun Gothic" pitchFamily="34" charset="-122"/>
                <a:cs typeface="Malgun Gothic" pitchFamily="34" charset="-120"/>
              </a:rPr>
              <a:t>도메인 </a:t>
            </a:r>
            <a:r>
              <a:rPr lang="en-US" sz="1100" b="1" dirty="0">
                <a:solidFill>
                  <a:srgbClr val="6B6B6B"/>
                </a:solidFill>
                <a:latin typeface="Malgun Gothic" pitchFamily="34" charset="0"/>
                <a:ea typeface="Malgun Gothic" pitchFamily="34" charset="-122"/>
                <a:cs typeface="Malgun Gothic" pitchFamily="34" charset="-120"/>
              </a:rPr>
              <a:t>라우팅 1/2 · 도메인 구성</a:t>
            </a:r>
            <a:endParaRPr lang="en-US" sz="1100" dirty="0"/>
          </a:p>
        </p:txBody>
      </p:sp>
      <p:sp>
        <p:nvSpPr>
          <p:cNvPr id="3" name="Text 0"/>
          <p:cNvSpPr>
            <a:spLocks noGrp="1"/>
          </p:cNvSpPr>
          <p:nvPr>
            <p:ph type="title" idx="101" hasCustomPrompt="1"/>
          </p:nvPr>
        </p:nvSpPr>
        <p:spPr>
          <a:xfrm>
            <a:off x="457200" y="512064"/>
            <a:ext cx="11274552" cy="768096"/>
          </a:xfrm>
          <a:prstGeom prst="rect">
            <a:avLst/>
          </a:prstGeom>
          <a:noFill/>
          <a:ln/>
        </p:spPr>
        <p:txBody>
          <a:bodyPr wrap="square" lIns="0" tIns="0" rIns="0" bIns="0" rtlCol="0" anchor="ctr"/>
          <a:lstStyle/>
          <a:p>
            <a:pPr marL="0" indent="0" algn="l">
              <a:buNone/>
            </a:pPr>
            <a:r>
              <a:rPr lang="en-US" sz="2100" b="1" dirty="0">
                <a:solidFill>
                  <a:schemeClr val="tx1"/>
                </a:solidFill>
                <a:latin typeface="Malgun Gothic" pitchFamily="34" charset="0"/>
                <a:ea typeface="Malgun Gothic" pitchFamily="34" charset="-122"/>
                <a:cs typeface="Malgun Gothic" pitchFamily="34" charset="-120"/>
              </a:rPr>
              <a:t>쿼리 로그로 테이블을 업무 도메인으로 묶고, 도메인마다 검색용 설명을 만든다</a:t>
            </a:r>
            <a:endParaRPr lang="en-US" sz="2100" dirty="0"/>
          </a:p>
        </p:txBody>
      </p:sp>
      <p:sp>
        <p:nvSpPr>
          <p:cNvPr id="4" name="Text 0"/>
          <p:cNvSpPr>
            <a:spLocks noGrp="1"/>
          </p:cNvSpPr>
          <p:nvPr>
            <p:ph type="body" idx="102" hasCustomPrompt="1"/>
          </p:nvPr>
        </p:nvSpPr>
        <p:spPr>
          <a:xfrm>
            <a:off x="457200" y="6419088"/>
            <a:ext cx="10241280" cy="256032"/>
          </a:xfrm>
          <a:prstGeom prst="rect">
            <a:avLst/>
          </a:prstGeom>
          <a:noFill/>
          <a:ln/>
        </p:spPr>
        <p:txBody>
          <a:bodyPr wrap="square" lIns="0" tIns="0" rIns="0" bIns="0" rtlCol="0" anchor="ctr"/>
          <a:lstStyle/>
          <a:p>
            <a:pPr marL="0" indent="0">
              <a:buNone/>
            </a:pPr>
            <a:r>
              <a:rPr lang="en-US" sz="900" smtClean="0">
                <a:solidFill>
                  <a:schemeClr val="tx2"/>
                </a:solidFill>
                <a:latin typeface="Malgun Gothic" pitchFamily="34" charset="0"/>
                <a:ea typeface="Malgun Gothic" pitchFamily="34" charset="-122"/>
                <a:cs typeface="Malgun Gothic" pitchFamily="34" charset="-120"/>
              </a:rPr>
              <a:t>Text-to-SQL </a:t>
            </a:r>
            <a:r>
              <a:rPr lang="en-US" sz="900" dirty="0">
                <a:solidFill>
                  <a:schemeClr val="tx2"/>
                </a:solidFill>
                <a:latin typeface="Malgun Gothic" pitchFamily="34" charset="0"/>
                <a:ea typeface="Malgun Gothic" pitchFamily="34" charset="-122"/>
                <a:cs typeface="Malgun Gothic" pitchFamily="34" charset="-120"/>
              </a:rPr>
              <a:t>for Enterprise Data Analytics, KDD 2025 Workshop on Agentic AI for Enterprise · arXiv 2507.14372</a:t>
            </a:r>
            <a:endParaRPr lang="en-US" sz="900" dirty="0"/>
          </a:p>
        </p:txBody>
      </p:sp>
      <p:sp>
        <p:nvSpPr>
          <p:cNvPr id="5" name="Shape 3"/>
          <p:cNvSpPr/>
          <p:nvPr/>
        </p:nvSpPr>
        <p:spPr>
          <a:xfrm>
            <a:off x="457200" y="1325880"/>
            <a:ext cx="5513832" cy="4937760"/>
          </a:xfrm>
          <a:prstGeom prst="roundRect">
            <a:avLst>
              <a:gd name="adj" fmla="val 1481"/>
            </a:avLst>
          </a:prstGeom>
          <a:solidFill>
            <a:srgbClr val="FFFFFF"/>
          </a:solidFill>
          <a:ln w="9525">
            <a:solidFill>
              <a:srgbClr val="D0D0D0"/>
            </a:solidFill>
            <a:prstDash val="solid"/>
          </a:ln>
        </p:spPr>
      </p:sp>
      <p:sp>
        <p:nvSpPr>
          <p:cNvPr id="6" name="Shape 4"/>
          <p:cNvSpPr/>
          <p:nvPr/>
        </p:nvSpPr>
        <p:spPr>
          <a:xfrm>
            <a:off x="640080" y="1481328"/>
            <a:ext cx="749808" cy="246888"/>
          </a:xfrm>
          <a:prstGeom prst="roundRect">
            <a:avLst>
              <a:gd name="adj" fmla="val 14815"/>
            </a:avLst>
          </a:prstGeom>
          <a:solidFill>
            <a:srgbClr val="8C8C8C"/>
          </a:solidFill>
          <a:ln/>
        </p:spPr>
      </p:sp>
      <p:sp>
        <p:nvSpPr>
          <p:cNvPr id="7" name="Text 5"/>
          <p:cNvSpPr txBox="1"/>
          <p:nvPr/>
        </p:nvSpPr>
        <p:spPr>
          <a:xfrm>
            <a:off x="640080" y="1481328"/>
            <a:ext cx="749808" cy="246888"/>
          </a:xfrm>
          <a:prstGeom prst="rect">
            <a:avLst/>
          </a:prstGeom>
          <a:noFill/>
          <a:ln/>
        </p:spPr>
        <p:txBody>
          <a:bodyPr wrap="square" lIns="0" tIns="0" rIns="0" bIns="0" rtlCol="0" anchor="ctr"/>
          <a:lstStyle/>
          <a:p>
            <a:pPr marL="0" indent="0" algn="ctr">
              <a:buNone/>
            </a:pPr>
            <a:r>
              <a:rPr lang="en-US" sz="950" b="1" dirty="0">
                <a:solidFill>
                  <a:srgbClr val="FFFFFF"/>
                </a:solidFill>
                <a:latin typeface="Malgun Gothic" pitchFamily="34" charset="0"/>
                <a:ea typeface="Malgun Gothic" pitchFamily="34" charset="-122"/>
                <a:cs typeface="Malgun Gothic" pitchFamily="34" charset="-120"/>
              </a:rPr>
              <a:t>논문</a:t>
            </a:r>
            <a:endParaRPr lang="en-US" sz="950" dirty="0"/>
          </a:p>
        </p:txBody>
      </p:sp>
      <p:sp>
        <p:nvSpPr>
          <p:cNvPr id="8" name="Text 6"/>
          <p:cNvSpPr txBox="1"/>
          <p:nvPr/>
        </p:nvSpPr>
        <p:spPr>
          <a:xfrm>
            <a:off x="1481328" y="1444752"/>
            <a:ext cx="4325112" cy="329184"/>
          </a:xfrm>
          <a:prstGeom prst="rect">
            <a:avLst/>
          </a:prstGeom>
          <a:noFill/>
          <a:ln/>
        </p:spPr>
        <p:txBody>
          <a:bodyPr wrap="square" lIns="0" tIns="0" rIns="0" bIns="0" rtlCol="0" anchor="ctr"/>
          <a:lstStyle/>
          <a:p>
            <a:pPr marL="0" indent="0">
              <a:buNone/>
            </a:pPr>
            <a:r>
              <a:rPr lang="en-US" sz="1350" b="1" dirty="0">
                <a:solidFill>
                  <a:srgbClr val="1A1A1A"/>
                </a:solidFill>
                <a:latin typeface="Malgun Gothic" pitchFamily="34" charset="0"/>
                <a:ea typeface="Malgun Gothic" pitchFamily="34" charset="-122"/>
                <a:cs typeface="Malgun Gothic" pitchFamily="34" charset="-120"/>
              </a:rPr>
              <a:t>LinkedIn · 지식그래프 기반 테이블 클러스터링</a:t>
            </a:r>
            <a:endParaRPr lang="en-US" sz="1350" dirty="0"/>
          </a:p>
        </p:txBody>
      </p:sp>
      <p:sp>
        <p:nvSpPr>
          <p:cNvPr id="9" name="Shape 7"/>
          <p:cNvSpPr/>
          <p:nvPr/>
        </p:nvSpPr>
        <p:spPr>
          <a:xfrm>
            <a:off x="640080" y="1988143"/>
            <a:ext cx="1144016" cy="305071"/>
          </a:xfrm>
          <a:prstGeom prst="roundRect">
            <a:avLst>
              <a:gd name="adj" fmla="val 12500"/>
            </a:avLst>
          </a:prstGeom>
          <a:solidFill>
            <a:srgbClr val="D9D9D9"/>
          </a:solidFill>
          <a:ln w="15254">
            <a:solidFill>
              <a:srgbClr val="7F7F7F"/>
            </a:solidFill>
            <a:prstDash val="solid"/>
          </a:ln>
        </p:spPr>
      </p:sp>
      <p:sp>
        <p:nvSpPr>
          <p:cNvPr id="10" name="Text 8"/>
          <p:cNvSpPr txBox="1"/>
          <p:nvPr/>
        </p:nvSpPr>
        <p:spPr>
          <a:xfrm>
            <a:off x="605312" y="2044628"/>
            <a:ext cx="1213553" cy="192099"/>
          </a:xfrm>
          <a:prstGeom prst="rect">
            <a:avLst/>
          </a:prstGeom>
          <a:noFill/>
          <a:ln/>
        </p:spPr>
        <p:txBody>
          <a:bodyPr wrap="none" lIns="0" tIns="0" rIns="0" bIns="0" rtlCol="0" anchor="ctr"/>
          <a:lstStyle/>
          <a:p>
            <a:pPr marL="0" indent="0" algn="ctr">
              <a:buNone/>
            </a:pPr>
            <a:r>
              <a:rPr lang="en-US" sz="980" dirty="0">
                <a:solidFill>
                  <a:srgbClr val="262626"/>
                </a:solidFill>
                <a:latin typeface="Malgun Gothic" pitchFamily="34" charset="0"/>
                <a:ea typeface="Malgun Gothic" pitchFamily="34" charset="-122"/>
                <a:cs typeface="Malgun Gothic" pitchFamily="34" charset="-120"/>
              </a:rPr>
              <a:t>테이블 메타데이터</a:t>
            </a:r>
            <a:endParaRPr lang="en-US" sz="980" dirty="0"/>
          </a:p>
        </p:txBody>
      </p:sp>
      <p:sp>
        <p:nvSpPr>
          <p:cNvPr id="11" name="Shape 9"/>
          <p:cNvSpPr/>
          <p:nvPr/>
        </p:nvSpPr>
        <p:spPr>
          <a:xfrm>
            <a:off x="640080" y="2388548"/>
            <a:ext cx="1144016" cy="305071"/>
          </a:xfrm>
          <a:prstGeom prst="roundRect">
            <a:avLst>
              <a:gd name="adj" fmla="val 12500"/>
            </a:avLst>
          </a:prstGeom>
          <a:solidFill>
            <a:srgbClr val="D9D9D9"/>
          </a:solidFill>
          <a:ln w="27456">
            <a:solidFill>
              <a:srgbClr val="7F7F7F"/>
            </a:solidFill>
            <a:prstDash val="solid"/>
          </a:ln>
        </p:spPr>
      </p:sp>
      <p:sp>
        <p:nvSpPr>
          <p:cNvPr id="12" name="Text 10"/>
          <p:cNvSpPr txBox="1"/>
          <p:nvPr/>
        </p:nvSpPr>
        <p:spPr>
          <a:xfrm>
            <a:off x="873011" y="2445034"/>
            <a:ext cx="678153" cy="192099"/>
          </a:xfrm>
          <a:prstGeom prst="rect">
            <a:avLst/>
          </a:prstGeom>
          <a:noFill/>
          <a:ln/>
        </p:spPr>
        <p:txBody>
          <a:bodyPr wrap="none" lIns="0" tIns="0" rIns="0" bIns="0" rtlCol="0" anchor="ctr"/>
          <a:lstStyle/>
          <a:p>
            <a:pPr marL="0" indent="0" algn="ctr">
              <a:buNone/>
            </a:pPr>
            <a:r>
              <a:rPr lang="en-US" sz="980" b="1" dirty="0">
                <a:solidFill>
                  <a:srgbClr val="262626"/>
                </a:solidFill>
                <a:latin typeface="Malgun Gothic" pitchFamily="34" charset="0"/>
                <a:ea typeface="Malgun Gothic" pitchFamily="34" charset="-122"/>
                <a:cs typeface="Malgun Gothic" pitchFamily="34" charset="-120"/>
              </a:rPr>
              <a:t>쿼리 로그</a:t>
            </a:r>
            <a:endParaRPr lang="en-US" sz="980" dirty="0"/>
          </a:p>
        </p:txBody>
      </p:sp>
      <p:sp>
        <p:nvSpPr>
          <p:cNvPr id="13" name="Shape 11"/>
          <p:cNvSpPr/>
          <p:nvPr/>
        </p:nvSpPr>
        <p:spPr>
          <a:xfrm>
            <a:off x="640080" y="2788954"/>
            <a:ext cx="1144016" cy="305071"/>
          </a:xfrm>
          <a:prstGeom prst="roundRect">
            <a:avLst>
              <a:gd name="adj" fmla="val 12500"/>
            </a:avLst>
          </a:prstGeom>
          <a:solidFill>
            <a:srgbClr val="D9D9D9"/>
          </a:solidFill>
          <a:ln w="15254">
            <a:solidFill>
              <a:srgbClr val="7F7F7F"/>
            </a:solidFill>
            <a:prstDash val="solid"/>
          </a:ln>
        </p:spPr>
      </p:sp>
      <p:sp>
        <p:nvSpPr>
          <p:cNvPr id="14" name="Text 12"/>
          <p:cNvSpPr txBox="1"/>
          <p:nvPr/>
        </p:nvSpPr>
        <p:spPr>
          <a:xfrm>
            <a:off x="873011" y="2845440"/>
            <a:ext cx="678153" cy="192099"/>
          </a:xfrm>
          <a:prstGeom prst="rect">
            <a:avLst/>
          </a:prstGeom>
          <a:noFill/>
          <a:ln/>
        </p:spPr>
        <p:txBody>
          <a:bodyPr wrap="none" lIns="0" tIns="0" rIns="0" bIns="0" rtlCol="0" anchor="ctr"/>
          <a:lstStyle/>
          <a:p>
            <a:pPr marL="0" indent="0" algn="ctr">
              <a:buNone/>
            </a:pPr>
            <a:r>
              <a:rPr lang="en-US" sz="980" dirty="0">
                <a:solidFill>
                  <a:srgbClr val="262626"/>
                </a:solidFill>
                <a:latin typeface="Malgun Gothic" pitchFamily="34" charset="0"/>
                <a:ea typeface="Malgun Gothic" pitchFamily="34" charset="-122"/>
                <a:cs typeface="Malgun Gothic" pitchFamily="34" charset="-120"/>
              </a:rPr>
              <a:t>사내 위키</a:t>
            </a:r>
            <a:endParaRPr lang="en-US" sz="980" dirty="0"/>
          </a:p>
        </p:txBody>
      </p:sp>
      <p:sp>
        <p:nvSpPr>
          <p:cNvPr id="15" name="Shape 13"/>
          <p:cNvSpPr/>
          <p:nvPr/>
        </p:nvSpPr>
        <p:spPr>
          <a:xfrm>
            <a:off x="640080" y="3189359"/>
            <a:ext cx="1144016" cy="305071"/>
          </a:xfrm>
          <a:prstGeom prst="roundRect">
            <a:avLst>
              <a:gd name="adj" fmla="val 12500"/>
            </a:avLst>
          </a:prstGeom>
          <a:solidFill>
            <a:srgbClr val="D9D9D9"/>
          </a:solidFill>
          <a:ln w="15254">
            <a:solidFill>
              <a:srgbClr val="7F7F7F"/>
            </a:solidFill>
            <a:prstDash val="solid"/>
          </a:ln>
        </p:spPr>
      </p:sp>
      <p:sp>
        <p:nvSpPr>
          <p:cNvPr id="16" name="Text 14"/>
          <p:cNvSpPr txBox="1"/>
          <p:nvPr/>
        </p:nvSpPr>
        <p:spPr>
          <a:xfrm>
            <a:off x="1041662" y="3245845"/>
            <a:ext cx="340852" cy="192099"/>
          </a:xfrm>
          <a:prstGeom prst="rect">
            <a:avLst/>
          </a:prstGeom>
          <a:noFill/>
          <a:ln/>
        </p:spPr>
        <p:txBody>
          <a:bodyPr wrap="none" lIns="0" tIns="0" rIns="0" bIns="0" rtlCol="0" anchor="ctr"/>
          <a:lstStyle/>
          <a:p>
            <a:pPr marL="0" indent="0" algn="ctr">
              <a:buNone/>
            </a:pPr>
            <a:r>
              <a:rPr lang="en-US" sz="980" dirty="0">
                <a:solidFill>
                  <a:srgbClr val="262626"/>
                </a:solidFill>
                <a:latin typeface="Malgun Gothic" pitchFamily="34" charset="0"/>
                <a:ea typeface="Malgun Gothic" pitchFamily="34" charset="-122"/>
                <a:cs typeface="Malgun Gothic" pitchFamily="34" charset="-120"/>
              </a:rPr>
              <a:t>코드</a:t>
            </a:r>
            <a:endParaRPr lang="en-US" sz="980" dirty="0"/>
          </a:p>
        </p:txBody>
      </p:sp>
      <p:sp>
        <p:nvSpPr>
          <p:cNvPr id="17" name="Shape 15"/>
          <p:cNvSpPr/>
          <p:nvPr/>
        </p:nvSpPr>
        <p:spPr>
          <a:xfrm>
            <a:off x="1784096" y="2140678"/>
            <a:ext cx="343205" cy="0"/>
          </a:xfrm>
          <a:prstGeom prst="line">
            <a:avLst/>
          </a:prstGeom>
          <a:noFill/>
          <a:ln w="19830">
            <a:solidFill>
              <a:srgbClr val="4D4D4D"/>
            </a:solidFill>
            <a:prstDash val="solid"/>
            <a:tailEnd type="triangle"/>
          </a:ln>
        </p:spPr>
      </p:sp>
      <p:sp>
        <p:nvSpPr>
          <p:cNvPr id="18" name="Shape 16"/>
          <p:cNvSpPr/>
          <p:nvPr/>
        </p:nvSpPr>
        <p:spPr>
          <a:xfrm>
            <a:off x="1784096" y="2541084"/>
            <a:ext cx="343205" cy="0"/>
          </a:xfrm>
          <a:prstGeom prst="line">
            <a:avLst/>
          </a:prstGeom>
          <a:noFill/>
          <a:ln w="19830">
            <a:solidFill>
              <a:srgbClr val="4D4D4D"/>
            </a:solidFill>
            <a:prstDash val="solid"/>
            <a:tailEnd type="triangle"/>
          </a:ln>
        </p:spPr>
      </p:sp>
      <p:sp>
        <p:nvSpPr>
          <p:cNvPr id="19" name="Shape 17"/>
          <p:cNvSpPr/>
          <p:nvPr/>
        </p:nvSpPr>
        <p:spPr>
          <a:xfrm>
            <a:off x="1784096" y="2941489"/>
            <a:ext cx="343205" cy="0"/>
          </a:xfrm>
          <a:prstGeom prst="line">
            <a:avLst/>
          </a:prstGeom>
          <a:noFill/>
          <a:ln w="19830">
            <a:solidFill>
              <a:srgbClr val="4D4D4D"/>
            </a:solidFill>
            <a:prstDash val="solid"/>
            <a:tailEnd type="triangle"/>
          </a:ln>
        </p:spPr>
      </p:sp>
      <p:sp>
        <p:nvSpPr>
          <p:cNvPr id="20" name="Shape 18"/>
          <p:cNvSpPr/>
          <p:nvPr/>
        </p:nvSpPr>
        <p:spPr>
          <a:xfrm>
            <a:off x="1784096" y="3341895"/>
            <a:ext cx="343205" cy="0"/>
          </a:xfrm>
          <a:prstGeom prst="line">
            <a:avLst/>
          </a:prstGeom>
          <a:noFill/>
          <a:ln w="19830">
            <a:solidFill>
              <a:srgbClr val="4D4D4D"/>
            </a:solidFill>
            <a:prstDash val="solid"/>
            <a:tailEnd type="triangle"/>
          </a:ln>
        </p:spPr>
      </p:sp>
      <p:sp>
        <p:nvSpPr>
          <p:cNvPr id="21" name="Shape 19"/>
          <p:cNvSpPr/>
          <p:nvPr/>
        </p:nvSpPr>
        <p:spPr>
          <a:xfrm>
            <a:off x="2165435" y="1930942"/>
            <a:ext cx="1620689" cy="1620689"/>
          </a:xfrm>
          <a:prstGeom prst="roundRect">
            <a:avLst>
              <a:gd name="adj" fmla="val 3529"/>
            </a:avLst>
          </a:prstGeom>
          <a:solidFill>
            <a:srgbClr val="EDEDED"/>
          </a:solidFill>
          <a:ln w="15254">
            <a:solidFill>
              <a:srgbClr val="A6A6A6"/>
            </a:solidFill>
            <a:prstDash val="solid"/>
          </a:ln>
        </p:spPr>
      </p:sp>
      <p:sp>
        <p:nvSpPr>
          <p:cNvPr id="22" name="Text 20"/>
          <p:cNvSpPr txBox="1"/>
          <p:nvPr/>
        </p:nvSpPr>
        <p:spPr>
          <a:xfrm>
            <a:off x="2565968" y="2014479"/>
            <a:ext cx="819622" cy="214265"/>
          </a:xfrm>
          <a:prstGeom prst="rect">
            <a:avLst/>
          </a:prstGeom>
          <a:noFill/>
          <a:ln/>
        </p:spPr>
        <p:txBody>
          <a:bodyPr wrap="none" lIns="0" tIns="0" rIns="0" bIns="0" rtlCol="0" anchor="ctr"/>
          <a:lstStyle/>
          <a:p>
            <a:pPr marL="0" indent="0" algn="ctr">
              <a:buNone/>
            </a:pPr>
            <a:r>
              <a:rPr lang="en-US" sz="1090" b="1" dirty="0">
                <a:solidFill>
                  <a:srgbClr val="333333"/>
                </a:solidFill>
                <a:latin typeface="Malgun Gothic" pitchFamily="34" charset="0"/>
                <a:ea typeface="Malgun Gothic" pitchFamily="34" charset="-122"/>
                <a:cs typeface="Malgun Gothic" pitchFamily="34" charset="-120"/>
              </a:rPr>
              <a:t>지식그래프</a:t>
            </a:r>
            <a:endParaRPr lang="en-US" sz="1090" dirty="0"/>
          </a:p>
        </p:txBody>
      </p:sp>
      <p:sp>
        <p:nvSpPr>
          <p:cNvPr id="23" name="Text 21"/>
          <p:cNvSpPr txBox="1"/>
          <p:nvPr/>
        </p:nvSpPr>
        <p:spPr>
          <a:xfrm>
            <a:off x="2314021" y="2217780"/>
            <a:ext cx="1323516" cy="169934"/>
          </a:xfrm>
          <a:prstGeom prst="rect">
            <a:avLst/>
          </a:prstGeom>
          <a:noFill/>
          <a:ln/>
        </p:spPr>
        <p:txBody>
          <a:bodyPr wrap="none" lIns="0" tIns="0" rIns="0" bIns="0" rtlCol="0" anchor="ctr"/>
          <a:lstStyle/>
          <a:p>
            <a:pPr marL="0" indent="0" algn="ctr">
              <a:buNone/>
            </a:pPr>
            <a:r>
              <a:rPr lang="en-US" sz="860" dirty="0">
                <a:solidFill>
                  <a:srgbClr val="333333"/>
                </a:solidFill>
                <a:latin typeface="Malgun Gothic" pitchFamily="34" charset="0"/>
                <a:ea typeface="Malgun Gothic" pitchFamily="34" charset="-122"/>
                <a:cs typeface="Malgun Gothic" pitchFamily="34" charset="-120"/>
              </a:rPr>
              <a:t>현재 의미 정보를 색인</a:t>
            </a:r>
            <a:endParaRPr lang="en-US" sz="860" dirty="0"/>
          </a:p>
        </p:txBody>
      </p:sp>
      <p:sp>
        <p:nvSpPr>
          <p:cNvPr id="24" name="Shape 22"/>
          <p:cNvSpPr/>
          <p:nvPr/>
        </p:nvSpPr>
        <p:spPr>
          <a:xfrm>
            <a:off x="2298903" y="2445749"/>
            <a:ext cx="1353752" cy="286004"/>
          </a:xfrm>
          <a:prstGeom prst="roundRect">
            <a:avLst>
              <a:gd name="adj" fmla="val 50000"/>
            </a:avLst>
          </a:prstGeom>
          <a:solidFill>
            <a:srgbClr val="FFFFFF"/>
          </a:solidFill>
          <a:ln w="15254">
            <a:solidFill>
              <a:srgbClr val="8C8C8C"/>
            </a:solidFill>
            <a:prstDash val="dash"/>
          </a:ln>
        </p:spPr>
      </p:sp>
      <p:sp>
        <p:nvSpPr>
          <p:cNvPr id="25" name="Text 23"/>
          <p:cNvSpPr txBox="1"/>
          <p:nvPr/>
        </p:nvSpPr>
        <p:spPr>
          <a:xfrm>
            <a:off x="2412813" y="2496396"/>
            <a:ext cx="1125933" cy="184711"/>
          </a:xfrm>
          <a:prstGeom prst="rect">
            <a:avLst/>
          </a:prstGeom>
          <a:noFill/>
          <a:ln/>
        </p:spPr>
        <p:txBody>
          <a:bodyPr wrap="none" lIns="0" tIns="0" rIns="0" bIns="0" rtlCol="0" anchor="ctr"/>
          <a:lstStyle/>
          <a:p>
            <a:pPr marL="0" indent="0" algn="ctr">
              <a:buNone/>
            </a:pPr>
            <a:r>
              <a:rPr lang="en-US" sz="940" dirty="0">
                <a:solidFill>
                  <a:srgbClr val="333333"/>
                </a:solidFill>
                <a:latin typeface="Malgun Gothic" pitchFamily="34" charset="0"/>
                <a:ea typeface="Malgun Gothic" pitchFamily="34" charset="-122"/>
                <a:cs typeface="Malgun Gothic" pitchFamily="34" charset="-120"/>
              </a:rPr>
              <a:t>팀 A 영역 테이블</a:t>
            </a:r>
            <a:endParaRPr lang="en-US" sz="940" dirty="0"/>
          </a:p>
        </p:txBody>
      </p:sp>
      <p:sp>
        <p:nvSpPr>
          <p:cNvPr id="26" name="Shape 24"/>
          <p:cNvSpPr/>
          <p:nvPr/>
        </p:nvSpPr>
        <p:spPr>
          <a:xfrm>
            <a:off x="2298903" y="2808021"/>
            <a:ext cx="1353752" cy="286004"/>
          </a:xfrm>
          <a:prstGeom prst="roundRect">
            <a:avLst>
              <a:gd name="adj" fmla="val 50000"/>
            </a:avLst>
          </a:prstGeom>
          <a:solidFill>
            <a:srgbClr val="FFFFFF"/>
          </a:solidFill>
          <a:ln w="15254">
            <a:solidFill>
              <a:srgbClr val="8C8C8C"/>
            </a:solidFill>
            <a:prstDash val="dash"/>
          </a:ln>
        </p:spPr>
      </p:sp>
      <p:sp>
        <p:nvSpPr>
          <p:cNvPr id="27" name="Text 25"/>
          <p:cNvSpPr txBox="1"/>
          <p:nvPr/>
        </p:nvSpPr>
        <p:spPr>
          <a:xfrm>
            <a:off x="2348462" y="2858667"/>
            <a:ext cx="1254635" cy="184711"/>
          </a:xfrm>
          <a:prstGeom prst="rect">
            <a:avLst/>
          </a:prstGeom>
          <a:noFill/>
          <a:ln/>
        </p:spPr>
        <p:txBody>
          <a:bodyPr wrap="none" lIns="0" tIns="0" rIns="0" bIns="0" rtlCol="0" anchor="ctr"/>
          <a:lstStyle/>
          <a:p>
            <a:pPr marL="0" indent="0" algn="ctr">
              <a:buNone/>
            </a:pPr>
            <a:r>
              <a:rPr lang="en-US" sz="940" dirty="0">
                <a:solidFill>
                  <a:srgbClr val="333333"/>
                </a:solidFill>
                <a:latin typeface="Malgun Gothic" pitchFamily="34" charset="0"/>
                <a:ea typeface="Malgun Gothic" pitchFamily="34" charset="-122"/>
                <a:cs typeface="Malgun Gothic" pitchFamily="34" charset="-120"/>
              </a:rPr>
              <a:t>제품 B 영역 테이블</a:t>
            </a:r>
            <a:endParaRPr lang="en-US" sz="940" dirty="0"/>
          </a:p>
        </p:txBody>
      </p:sp>
      <p:sp>
        <p:nvSpPr>
          <p:cNvPr id="28" name="Text 26"/>
          <p:cNvSpPr txBox="1"/>
          <p:nvPr/>
        </p:nvSpPr>
        <p:spPr>
          <a:xfrm>
            <a:off x="2874852" y="3135138"/>
            <a:ext cx="201854" cy="184711"/>
          </a:xfrm>
          <a:prstGeom prst="rect">
            <a:avLst/>
          </a:prstGeom>
          <a:noFill/>
          <a:ln/>
        </p:spPr>
        <p:txBody>
          <a:bodyPr wrap="none" lIns="0" tIns="0" rIns="0" bIns="0" rtlCol="0" anchor="ctr"/>
          <a:lstStyle/>
          <a:p>
            <a:pPr marL="0" indent="0" algn="ctr">
              <a:buNone/>
            </a:pPr>
            <a:r>
              <a:rPr lang="en-US" sz="940" dirty="0">
                <a:solidFill>
                  <a:srgbClr val="333333"/>
                </a:solidFill>
                <a:latin typeface="Malgun Gothic" pitchFamily="34" charset="0"/>
                <a:ea typeface="Malgun Gothic" pitchFamily="34" charset="-122"/>
                <a:cs typeface="Malgun Gothic" pitchFamily="34" charset="-120"/>
              </a:rPr>
              <a:t>…</a:t>
            </a:r>
            <a:endParaRPr lang="en-US" sz="940" dirty="0"/>
          </a:p>
        </p:txBody>
      </p:sp>
      <p:sp>
        <p:nvSpPr>
          <p:cNvPr id="29" name="Text 27"/>
          <p:cNvSpPr txBox="1"/>
          <p:nvPr/>
        </p:nvSpPr>
        <p:spPr>
          <a:xfrm>
            <a:off x="2226401" y="3333196"/>
            <a:ext cx="1498756" cy="169934"/>
          </a:xfrm>
          <a:prstGeom prst="rect">
            <a:avLst/>
          </a:prstGeom>
          <a:noFill/>
          <a:ln/>
        </p:spPr>
        <p:txBody>
          <a:bodyPr wrap="none" lIns="0" tIns="0" rIns="0" bIns="0" rtlCol="0" anchor="ctr"/>
          <a:lstStyle/>
          <a:p>
            <a:pPr marL="0" indent="0" algn="ctr">
              <a:buNone/>
            </a:pPr>
            <a:r>
              <a:rPr lang="en-US" sz="860" b="1" dirty="0">
                <a:solidFill>
                  <a:srgbClr val="D9480F"/>
                </a:solidFill>
                <a:latin typeface="Malgun Gothic" pitchFamily="34" charset="0"/>
                <a:ea typeface="Malgun Gothic" pitchFamily="34" charset="-122"/>
                <a:cs typeface="Malgun Gothic" pitchFamily="34" charset="-120"/>
              </a:rPr>
              <a:t>클러스터링으로 영역 구분</a:t>
            </a:r>
            <a:endParaRPr lang="en-US" sz="860" dirty="0"/>
          </a:p>
        </p:txBody>
      </p:sp>
      <p:sp>
        <p:nvSpPr>
          <p:cNvPr id="30" name="Shape 28"/>
          <p:cNvSpPr/>
          <p:nvPr/>
        </p:nvSpPr>
        <p:spPr>
          <a:xfrm>
            <a:off x="3786124" y="2741287"/>
            <a:ext cx="247870" cy="0"/>
          </a:xfrm>
          <a:prstGeom prst="line">
            <a:avLst/>
          </a:prstGeom>
          <a:noFill/>
          <a:ln w="19830">
            <a:solidFill>
              <a:srgbClr val="4D4D4D"/>
            </a:solidFill>
            <a:prstDash val="solid"/>
            <a:tailEnd type="triangle"/>
          </a:ln>
        </p:spPr>
      </p:sp>
      <p:sp>
        <p:nvSpPr>
          <p:cNvPr id="31" name="Shape 29"/>
          <p:cNvSpPr/>
          <p:nvPr/>
        </p:nvSpPr>
        <p:spPr>
          <a:xfrm>
            <a:off x="4072128" y="1930942"/>
            <a:ext cx="1696957" cy="1620689"/>
          </a:xfrm>
          <a:prstGeom prst="roundRect">
            <a:avLst>
              <a:gd name="adj" fmla="val 3529"/>
            </a:avLst>
          </a:prstGeom>
          <a:solidFill>
            <a:srgbClr val="FFFFFF"/>
          </a:solidFill>
          <a:ln w="15254">
            <a:solidFill>
              <a:srgbClr val="3A3A3A"/>
            </a:solidFill>
            <a:prstDash val="solid"/>
          </a:ln>
        </p:spPr>
      </p:sp>
      <p:sp>
        <p:nvSpPr>
          <p:cNvPr id="32" name="Text 30"/>
          <p:cNvSpPr txBox="1"/>
          <p:nvPr/>
        </p:nvSpPr>
        <p:spPr>
          <a:xfrm>
            <a:off x="4198771" y="2014479"/>
            <a:ext cx="1443672" cy="214265"/>
          </a:xfrm>
          <a:prstGeom prst="rect">
            <a:avLst/>
          </a:prstGeom>
          <a:noFill/>
          <a:ln/>
        </p:spPr>
        <p:txBody>
          <a:bodyPr wrap="none" lIns="0" tIns="0" rIns="0" bIns="0" rtlCol="0" anchor="ctr"/>
          <a:lstStyle/>
          <a:p>
            <a:pPr marL="0" indent="0" algn="ctr">
              <a:buNone/>
            </a:pPr>
            <a:r>
              <a:rPr lang="en-US" sz="1090" b="1" dirty="0">
                <a:solidFill>
                  <a:srgbClr val="1A1A1A"/>
                </a:solidFill>
                <a:latin typeface="Malgun Gothic" pitchFamily="34" charset="0"/>
                <a:ea typeface="Malgun Gothic" pitchFamily="34" charset="-122"/>
                <a:cs typeface="Malgun Gothic" pitchFamily="34" charset="-120"/>
              </a:rPr>
              <a:t>Text2SQL 에이전트</a:t>
            </a:r>
            <a:endParaRPr lang="en-US" sz="1090" dirty="0"/>
          </a:p>
        </p:txBody>
      </p:sp>
      <p:sp>
        <p:nvSpPr>
          <p:cNvPr id="33" name="Text 31"/>
          <p:cNvSpPr txBox="1"/>
          <p:nvPr/>
        </p:nvSpPr>
        <p:spPr>
          <a:xfrm>
            <a:off x="4205597" y="2410594"/>
            <a:ext cx="1499168" cy="184711"/>
          </a:xfrm>
          <a:prstGeom prst="rect">
            <a:avLst/>
          </a:prstGeom>
          <a:noFill/>
          <a:ln/>
        </p:spPr>
        <p:txBody>
          <a:bodyPr wrap="none" lIns="0" tIns="0" rIns="0" bIns="0" rtlCol="0" anchor="ctr"/>
          <a:lstStyle/>
          <a:p>
            <a:pPr marL="0" indent="0" algn="l">
              <a:buNone/>
            </a:pPr>
            <a:r>
              <a:rPr lang="en-US" sz="940" dirty="0">
                <a:solidFill>
                  <a:srgbClr val="1A1A1A"/>
                </a:solidFill>
                <a:latin typeface="Malgun Gothic" pitchFamily="34" charset="0"/>
                <a:ea typeface="Malgun Gothic" pitchFamily="34" charset="-122"/>
                <a:cs typeface="Malgun Gothic" pitchFamily="34" charset="-120"/>
              </a:rPr>
              <a:t>· 컨텍스트 검색·순위화</a:t>
            </a:r>
            <a:endParaRPr lang="en-US" sz="940" dirty="0"/>
          </a:p>
        </p:txBody>
      </p:sp>
      <p:sp>
        <p:nvSpPr>
          <p:cNvPr id="34" name="Text 32"/>
          <p:cNvSpPr txBox="1"/>
          <p:nvPr/>
        </p:nvSpPr>
        <p:spPr>
          <a:xfrm>
            <a:off x="4205597" y="2677531"/>
            <a:ext cx="770716" cy="184711"/>
          </a:xfrm>
          <a:prstGeom prst="rect">
            <a:avLst/>
          </a:prstGeom>
          <a:noFill/>
          <a:ln/>
        </p:spPr>
        <p:txBody>
          <a:bodyPr wrap="none" lIns="0" tIns="0" rIns="0" bIns="0" rtlCol="0" anchor="ctr"/>
          <a:lstStyle/>
          <a:p>
            <a:pPr marL="0" indent="0" algn="l">
              <a:buNone/>
            </a:pPr>
            <a:r>
              <a:rPr lang="en-US" sz="940" dirty="0">
                <a:solidFill>
                  <a:srgbClr val="1A1A1A"/>
                </a:solidFill>
                <a:latin typeface="Malgun Gothic" pitchFamily="34" charset="0"/>
                <a:ea typeface="Malgun Gothic" pitchFamily="34" charset="-122"/>
                <a:cs typeface="Malgun Gothic" pitchFamily="34" charset="-120"/>
              </a:rPr>
              <a:t>· SQL 작성</a:t>
            </a:r>
            <a:endParaRPr lang="en-US" sz="940" dirty="0"/>
          </a:p>
        </p:txBody>
      </p:sp>
      <p:sp>
        <p:nvSpPr>
          <p:cNvPr id="35" name="Text 33"/>
          <p:cNvSpPr txBox="1"/>
          <p:nvPr/>
        </p:nvSpPr>
        <p:spPr>
          <a:xfrm>
            <a:off x="4205597" y="2944469"/>
            <a:ext cx="1113063" cy="184711"/>
          </a:xfrm>
          <a:prstGeom prst="rect">
            <a:avLst/>
          </a:prstGeom>
          <a:noFill/>
          <a:ln/>
        </p:spPr>
        <p:txBody>
          <a:bodyPr wrap="none" lIns="0" tIns="0" rIns="0" bIns="0" rtlCol="0" anchor="ctr"/>
          <a:lstStyle/>
          <a:p>
            <a:pPr marL="0" indent="0" algn="l">
              <a:buNone/>
            </a:pPr>
            <a:r>
              <a:rPr lang="en-US" sz="940" dirty="0">
                <a:solidFill>
                  <a:srgbClr val="1A1A1A"/>
                </a:solidFill>
                <a:latin typeface="Malgun Gothic" pitchFamily="34" charset="0"/>
                <a:ea typeface="Malgun Gothic" pitchFamily="34" charset="-122"/>
                <a:cs typeface="Malgun Gothic" pitchFamily="34" charset="-120"/>
              </a:rPr>
              <a:t>· 환각·문법 오류</a:t>
            </a:r>
            <a:endParaRPr lang="en-US" sz="940" dirty="0"/>
          </a:p>
        </p:txBody>
      </p:sp>
      <p:sp>
        <p:nvSpPr>
          <p:cNvPr id="36" name="Text 34"/>
          <p:cNvSpPr txBox="1"/>
          <p:nvPr/>
        </p:nvSpPr>
        <p:spPr>
          <a:xfrm>
            <a:off x="4300931" y="3135138"/>
            <a:ext cx="654884" cy="184711"/>
          </a:xfrm>
          <a:prstGeom prst="rect">
            <a:avLst/>
          </a:prstGeom>
          <a:noFill/>
          <a:ln/>
        </p:spPr>
        <p:txBody>
          <a:bodyPr wrap="none" lIns="0" tIns="0" rIns="0" bIns="0" rtlCol="0" anchor="ctr"/>
          <a:lstStyle/>
          <a:p>
            <a:pPr marL="0" indent="0" algn="l">
              <a:buNone/>
            </a:pPr>
            <a:r>
              <a:rPr lang="en-US" sz="940" dirty="0">
                <a:solidFill>
                  <a:srgbClr val="1A1A1A"/>
                </a:solidFill>
                <a:latin typeface="Malgun Gothic" pitchFamily="34" charset="0"/>
                <a:ea typeface="Malgun Gothic" pitchFamily="34" charset="-122"/>
                <a:cs typeface="Malgun Gothic" pitchFamily="34" charset="-120"/>
              </a:rPr>
              <a:t>자동 수정</a:t>
            </a:r>
            <a:endParaRPr lang="en-US" sz="940" dirty="0"/>
          </a:p>
        </p:txBody>
      </p:sp>
      <p:sp>
        <p:nvSpPr>
          <p:cNvPr id="37" name="Shape 35"/>
          <p:cNvSpPr/>
          <p:nvPr/>
        </p:nvSpPr>
        <p:spPr>
          <a:xfrm>
            <a:off x="4920607" y="3551631"/>
            <a:ext cx="0" cy="209736"/>
          </a:xfrm>
          <a:prstGeom prst="line">
            <a:avLst/>
          </a:prstGeom>
          <a:noFill/>
          <a:ln w="19830">
            <a:solidFill>
              <a:srgbClr val="4D4D4D"/>
            </a:solidFill>
            <a:prstDash val="solid"/>
            <a:tailEnd type="triangle"/>
          </a:ln>
        </p:spPr>
      </p:sp>
      <p:sp>
        <p:nvSpPr>
          <p:cNvPr id="38" name="Shape 36"/>
          <p:cNvSpPr/>
          <p:nvPr/>
        </p:nvSpPr>
        <p:spPr>
          <a:xfrm>
            <a:off x="2165435" y="3799501"/>
            <a:ext cx="3603650" cy="362272"/>
          </a:xfrm>
          <a:prstGeom prst="roundRect">
            <a:avLst>
              <a:gd name="adj" fmla="val 15789"/>
            </a:avLst>
          </a:prstGeom>
          <a:solidFill>
            <a:srgbClr val="FFFFFF"/>
          </a:solidFill>
          <a:ln w="24406">
            <a:solidFill>
              <a:srgbClr val="1A1A1A"/>
            </a:solidFill>
            <a:prstDash val="solid"/>
          </a:ln>
        </p:spPr>
      </p:sp>
      <p:sp>
        <p:nvSpPr>
          <p:cNvPr id="39" name="Text 37"/>
          <p:cNvSpPr txBox="1"/>
          <p:nvPr/>
        </p:nvSpPr>
        <p:spPr>
          <a:xfrm>
            <a:off x="2375348" y="3884588"/>
            <a:ext cx="3183823" cy="192099"/>
          </a:xfrm>
          <a:prstGeom prst="rect">
            <a:avLst/>
          </a:prstGeom>
          <a:noFill/>
          <a:ln/>
        </p:spPr>
        <p:txBody>
          <a:bodyPr wrap="none" lIns="0" tIns="0" rIns="0" bIns="0" rtlCol="0" anchor="ctr"/>
          <a:lstStyle/>
          <a:p>
            <a:pPr marL="0" indent="0" algn="ctr">
              <a:buNone/>
            </a:pPr>
            <a:r>
              <a:rPr lang="en-US" sz="980" dirty="0">
                <a:solidFill>
                  <a:srgbClr val="1A1A1A"/>
                </a:solidFill>
                <a:latin typeface="Malgun Gothic" pitchFamily="34" charset="0"/>
                <a:ea typeface="Malgun Gothic" pitchFamily="34" charset="-122"/>
                <a:cs typeface="Malgun Gothic" pitchFamily="34" charset="-120"/>
              </a:rPr>
              <a:t>대화형 챗봇 · 데이터 탐색 · 쿼리 작성 · 디버깅</a:t>
            </a:r>
            <a:endParaRPr lang="en-US" sz="980" dirty="0"/>
          </a:p>
        </p:txBody>
      </p:sp>
      <p:sp>
        <p:nvSpPr>
          <p:cNvPr id="40" name="Text 38"/>
          <p:cNvSpPr txBox="1"/>
          <p:nvPr/>
        </p:nvSpPr>
        <p:spPr>
          <a:xfrm>
            <a:off x="658368" y="4383566"/>
            <a:ext cx="5111496" cy="1788634"/>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200" dirty="0">
                <a:solidFill>
                  <a:srgbClr val="1A1A1A"/>
                </a:solidFill>
                <a:latin typeface="Malgun Gothic" pitchFamily="34" charset="0"/>
                <a:ea typeface="Malgun Gothic" pitchFamily="34" charset="-122"/>
                <a:cs typeface="Malgun Gothic" pitchFamily="34" charset="-120"/>
              </a:rPr>
              <a:t>테이블 메타데이터·쿼리 로그·위키·코드를 지식그래프로 색인</a:t>
            </a:r>
            <a:endParaRPr lang="en-US" sz="1200" dirty="0"/>
          </a:p>
          <a:p>
            <a:pPr marL="152400" indent="-152400">
              <a:lnSpc>
                <a:spcPct val="110000"/>
              </a:lnSpc>
              <a:spcAft>
                <a:spcPts val="400"/>
              </a:spcAft>
              <a:buSzPct val="100000"/>
              <a:buChar char="•"/>
            </a:pPr>
            <a:r>
              <a:rPr lang="en-US" sz="1200" b="1" dirty="0">
                <a:solidFill>
                  <a:srgbClr val="1A1A1A"/>
                </a:solidFill>
                <a:latin typeface="Malgun Gothic" pitchFamily="34" charset="0"/>
                <a:ea typeface="Malgun Gothic" pitchFamily="34" charset="-122"/>
                <a:cs typeface="Malgun Gothic" pitchFamily="34" charset="-120"/>
              </a:rPr>
              <a:t>클러스터링으로  </a:t>
            </a:r>
            <a:r>
              <a:rPr lang="en-US" sz="1200" dirty="0">
                <a:solidFill>
                  <a:srgbClr val="5F5F5F"/>
                </a:solidFill>
                <a:latin typeface="Malgun Gothic" pitchFamily="34" charset="0"/>
                <a:ea typeface="Malgun Gothic" pitchFamily="34" charset="-122"/>
                <a:cs typeface="Malgun Gothic" pitchFamily="34" charset="-120"/>
              </a:rPr>
              <a:t>팀·제품 영역별 테이블 묶음을 만들어 검색 범위를 좁힘</a:t>
            </a:r>
            <a:endParaRPr lang="en-US" sz="1200" dirty="0"/>
          </a:p>
          <a:p>
            <a:pPr marL="152400" indent="-152400">
              <a:lnSpc>
                <a:spcPct val="110000"/>
              </a:lnSpc>
              <a:spcAft>
                <a:spcPts val="400"/>
              </a:spcAft>
              <a:buSzPct val="100000"/>
              <a:buChar char="•"/>
            </a:pPr>
            <a:r>
              <a:rPr lang="en-US" sz="1200" dirty="0">
                <a:solidFill>
                  <a:srgbClr val="1A1A1A"/>
                </a:solidFill>
                <a:latin typeface="Malgun Gothic" pitchFamily="34" charset="0"/>
                <a:ea typeface="Malgun Gothic" pitchFamily="34" charset="-122"/>
                <a:cs typeface="Malgun Gothic" pitchFamily="34" charset="-120"/>
              </a:rPr>
              <a:t>실운영: 주간 사용자 300명+, 정답·근접 답변 53% (전문가 평가)</a:t>
            </a:r>
            <a:endParaRPr lang="en-US" sz="1200" dirty="0"/>
          </a:p>
        </p:txBody>
      </p:sp>
      <p:sp>
        <p:nvSpPr>
          <p:cNvPr id="41" name="Shape 39"/>
          <p:cNvSpPr/>
          <p:nvPr/>
        </p:nvSpPr>
        <p:spPr>
          <a:xfrm>
            <a:off x="6217920" y="1325880"/>
            <a:ext cx="5513832" cy="4937760"/>
          </a:xfrm>
          <a:prstGeom prst="roundRect">
            <a:avLst>
              <a:gd name="adj" fmla="val 1481"/>
            </a:avLst>
          </a:prstGeom>
          <a:solidFill>
            <a:srgbClr val="F4F4F4"/>
          </a:solidFill>
          <a:ln w="9525">
            <a:solidFill>
              <a:srgbClr val="BFBFBF"/>
            </a:solidFill>
            <a:prstDash val="solid"/>
          </a:ln>
        </p:spPr>
      </p:sp>
      <p:sp>
        <p:nvSpPr>
          <p:cNvPr id="42" name="Shape 40"/>
          <p:cNvSpPr/>
          <p:nvPr/>
        </p:nvSpPr>
        <p:spPr>
          <a:xfrm>
            <a:off x="6400800" y="1481328"/>
            <a:ext cx="749808" cy="246888"/>
          </a:xfrm>
          <a:prstGeom prst="roundRect">
            <a:avLst>
              <a:gd name="adj" fmla="val 14815"/>
            </a:avLst>
          </a:prstGeom>
          <a:solidFill>
            <a:srgbClr val="1A1A1A"/>
          </a:solidFill>
          <a:ln/>
        </p:spPr>
      </p:sp>
      <p:sp>
        <p:nvSpPr>
          <p:cNvPr id="43" name="Text 41"/>
          <p:cNvSpPr txBox="1"/>
          <p:nvPr/>
        </p:nvSpPr>
        <p:spPr>
          <a:xfrm>
            <a:off x="6400800" y="1481328"/>
            <a:ext cx="749808" cy="246888"/>
          </a:xfrm>
          <a:prstGeom prst="rect">
            <a:avLst/>
          </a:prstGeom>
          <a:noFill/>
          <a:ln/>
        </p:spPr>
        <p:txBody>
          <a:bodyPr wrap="square" lIns="0" tIns="0" rIns="0" bIns="0" rtlCol="0" anchor="ctr"/>
          <a:lstStyle/>
          <a:p>
            <a:pPr marL="0" indent="0" algn="ctr">
              <a:buNone/>
            </a:pPr>
            <a:r>
              <a:rPr lang="en-US" sz="950" b="1" dirty="0">
                <a:solidFill>
                  <a:srgbClr val="FFFFFF"/>
                </a:solidFill>
                <a:latin typeface="Malgun Gothic" pitchFamily="34" charset="0"/>
                <a:ea typeface="Malgun Gothic" pitchFamily="34" charset="-122"/>
                <a:cs typeface="Malgun Gothic" pitchFamily="34" charset="-120"/>
              </a:rPr>
              <a:t>과제 적용</a:t>
            </a:r>
            <a:endParaRPr lang="en-US" sz="950" dirty="0"/>
          </a:p>
        </p:txBody>
      </p:sp>
      <p:sp>
        <p:nvSpPr>
          <p:cNvPr id="44" name="Text 42"/>
          <p:cNvSpPr txBox="1"/>
          <p:nvPr/>
        </p:nvSpPr>
        <p:spPr>
          <a:xfrm>
            <a:off x="7242048" y="1444752"/>
            <a:ext cx="4325112" cy="329184"/>
          </a:xfrm>
          <a:prstGeom prst="rect">
            <a:avLst/>
          </a:prstGeom>
          <a:noFill/>
          <a:ln/>
        </p:spPr>
        <p:txBody>
          <a:bodyPr wrap="square" lIns="0" tIns="0" rIns="0" bIns="0" rtlCol="0" anchor="ctr"/>
          <a:lstStyle/>
          <a:p>
            <a:pPr marL="0" indent="0">
              <a:buNone/>
            </a:pPr>
            <a:r>
              <a:rPr lang="en-US" sz="1350" b="1" dirty="0">
                <a:solidFill>
                  <a:srgbClr val="1A1A1A"/>
                </a:solidFill>
                <a:latin typeface="Malgun Gothic" pitchFamily="34" charset="0"/>
                <a:ea typeface="Malgun Gothic" pitchFamily="34" charset="-122"/>
                <a:cs typeface="Malgun Gothic" pitchFamily="34" charset="-120"/>
              </a:rPr>
              <a:t>오프라인 도메인 구성 (4단계)</a:t>
            </a:r>
            <a:endParaRPr lang="en-US" sz="1350" dirty="0"/>
          </a:p>
        </p:txBody>
      </p:sp>
      <p:sp>
        <p:nvSpPr>
          <p:cNvPr id="45" name="Shape 43"/>
          <p:cNvSpPr/>
          <p:nvPr/>
        </p:nvSpPr>
        <p:spPr>
          <a:xfrm>
            <a:off x="6400800" y="1892808"/>
            <a:ext cx="5148072" cy="343205"/>
          </a:xfrm>
          <a:prstGeom prst="roundRect">
            <a:avLst>
              <a:gd name="adj" fmla="val 13889"/>
            </a:avLst>
          </a:prstGeom>
          <a:solidFill>
            <a:srgbClr val="D9D9D9"/>
          </a:solidFill>
          <a:ln w="15254">
            <a:solidFill>
              <a:srgbClr val="7F7F7F"/>
            </a:solidFill>
            <a:prstDash val="solid"/>
          </a:ln>
        </p:spPr>
      </p:sp>
      <p:sp>
        <p:nvSpPr>
          <p:cNvPr id="46" name="Text 44"/>
          <p:cNvSpPr txBox="1"/>
          <p:nvPr/>
        </p:nvSpPr>
        <p:spPr>
          <a:xfrm>
            <a:off x="6534269" y="1964667"/>
            <a:ext cx="1029458" cy="199488"/>
          </a:xfrm>
          <a:prstGeom prst="rect">
            <a:avLst/>
          </a:prstGeom>
          <a:noFill/>
          <a:ln/>
        </p:spPr>
        <p:txBody>
          <a:bodyPr wrap="none" lIns="0" tIns="0" rIns="0" bIns="0" rtlCol="0" anchor="ctr"/>
          <a:lstStyle/>
          <a:p>
            <a:pPr marL="0" indent="0" algn="l">
              <a:buNone/>
            </a:pPr>
            <a:r>
              <a:rPr lang="en-US" sz="1010" b="1" dirty="0">
                <a:solidFill>
                  <a:srgbClr val="262626"/>
                </a:solidFill>
                <a:latin typeface="Malgun Gothic" pitchFamily="34" charset="0"/>
                <a:ea typeface="Malgun Gothic" pitchFamily="34" charset="-122"/>
                <a:cs typeface="Malgun Gothic" pitchFamily="34" charset="-120"/>
              </a:rPr>
              <a:t>Data Hub 입력</a:t>
            </a:r>
            <a:endParaRPr lang="en-US" sz="1010" dirty="0"/>
          </a:p>
        </p:txBody>
      </p:sp>
      <p:sp>
        <p:nvSpPr>
          <p:cNvPr id="47" name="Text 45"/>
          <p:cNvSpPr txBox="1"/>
          <p:nvPr/>
        </p:nvSpPr>
        <p:spPr>
          <a:xfrm>
            <a:off x="9538367" y="1975749"/>
            <a:ext cx="1877036" cy="177322"/>
          </a:xfrm>
          <a:prstGeom prst="rect">
            <a:avLst/>
          </a:prstGeom>
          <a:noFill/>
          <a:ln/>
        </p:spPr>
        <p:txBody>
          <a:bodyPr wrap="none" lIns="0" tIns="0" rIns="0" bIns="0" rtlCol="0" anchor="ctr"/>
          <a:lstStyle/>
          <a:p>
            <a:pPr marL="0" indent="0" algn="r">
              <a:buNone/>
            </a:pPr>
            <a:r>
              <a:rPr lang="en-US" sz="900" dirty="0">
                <a:solidFill>
                  <a:srgbClr val="262626"/>
                </a:solidFill>
                <a:latin typeface="Malgun Gothic" pitchFamily="34" charset="0"/>
                <a:ea typeface="Malgun Gothic" pitchFamily="34" charset="-122"/>
                <a:cs typeface="Malgun Gothic" pitchFamily="34" charset="-120"/>
              </a:rPr>
              <a:t>테이블 메타데이터 + 쿼리 로그</a:t>
            </a:r>
            <a:endParaRPr lang="en-US" sz="900" dirty="0"/>
          </a:p>
        </p:txBody>
      </p:sp>
      <p:sp>
        <p:nvSpPr>
          <p:cNvPr id="48" name="Shape 46"/>
          <p:cNvSpPr/>
          <p:nvPr/>
        </p:nvSpPr>
        <p:spPr>
          <a:xfrm>
            <a:off x="8974836" y="2236013"/>
            <a:ext cx="0" cy="95335"/>
          </a:xfrm>
          <a:prstGeom prst="line">
            <a:avLst/>
          </a:prstGeom>
          <a:noFill/>
          <a:ln w="19830">
            <a:solidFill>
              <a:srgbClr val="4D4D4D"/>
            </a:solidFill>
            <a:prstDash val="solid"/>
            <a:tailEnd type="triangle"/>
          </a:ln>
        </p:spPr>
      </p:sp>
      <p:sp>
        <p:nvSpPr>
          <p:cNvPr id="49" name="Shape 47"/>
          <p:cNvSpPr/>
          <p:nvPr/>
        </p:nvSpPr>
        <p:spPr>
          <a:xfrm>
            <a:off x="6400800" y="2350414"/>
            <a:ext cx="5148072" cy="343205"/>
          </a:xfrm>
          <a:prstGeom prst="roundRect">
            <a:avLst>
              <a:gd name="adj" fmla="val 13889"/>
            </a:avLst>
          </a:prstGeom>
          <a:solidFill>
            <a:srgbClr val="EDEDED"/>
          </a:solidFill>
          <a:ln w="15254">
            <a:solidFill>
              <a:srgbClr val="A6A6A6"/>
            </a:solidFill>
            <a:prstDash val="solid"/>
          </a:ln>
        </p:spPr>
      </p:sp>
      <p:sp>
        <p:nvSpPr>
          <p:cNvPr id="50" name="Text 48"/>
          <p:cNvSpPr txBox="1"/>
          <p:nvPr/>
        </p:nvSpPr>
        <p:spPr>
          <a:xfrm>
            <a:off x="6534269" y="2422273"/>
            <a:ext cx="1401972" cy="199488"/>
          </a:xfrm>
          <a:prstGeom prst="rect">
            <a:avLst/>
          </a:prstGeom>
          <a:noFill/>
          <a:ln/>
        </p:spPr>
        <p:txBody>
          <a:bodyPr wrap="none" lIns="0" tIns="0" rIns="0" bIns="0" rtlCol="0" anchor="ctr"/>
          <a:lstStyle/>
          <a:p>
            <a:pPr marL="0" indent="0" algn="l">
              <a:buNone/>
            </a:pPr>
            <a:r>
              <a:rPr lang="en-US" sz="1010" b="1" dirty="0">
                <a:solidFill>
                  <a:srgbClr val="333333"/>
                </a:solidFill>
                <a:latin typeface="Malgun Gothic" pitchFamily="34" charset="0"/>
                <a:ea typeface="Malgun Gothic" pitchFamily="34" charset="-122"/>
                <a:cs typeface="Malgun Gothic" pitchFamily="34" charset="-120"/>
              </a:rPr>
              <a:t>① 원천 시스템 분할</a:t>
            </a:r>
            <a:endParaRPr lang="en-US" sz="1010" dirty="0"/>
          </a:p>
        </p:txBody>
      </p:sp>
      <p:sp>
        <p:nvSpPr>
          <p:cNvPr id="51" name="Text 49"/>
          <p:cNvSpPr txBox="1"/>
          <p:nvPr/>
        </p:nvSpPr>
        <p:spPr>
          <a:xfrm>
            <a:off x="8480747" y="2433356"/>
            <a:ext cx="2934656" cy="177322"/>
          </a:xfrm>
          <a:prstGeom prst="rect">
            <a:avLst/>
          </a:prstGeom>
          <a:noFill/>
          <a:ln/>
        </p:spPr>
        <p:txBody>
          <a:bodyPr wrap="none" lIns="0" tIns="0" rIns="0" bIns="0" rtlCol="0" anchor="ctr"/>
          <a:lstStyle/>
          <a:p>
            <a:pPr marL="0" indent="0" algn="r">
              <a:buNone/>
            </a:pPr>
            <a:r>
              <a:rPr lang="en-US" sz="900" dirty="0">
                <a:solidFill>
                  <a:srgbClr val="333333"/>
                </a:solidFill>
                <a:latin typeface="Malgun Gothic" pitchFamily="34" charset="0"/>
                <a:ea typeface="Malgun Gothic" pitchFamily="34" charset="-122"/>
                <a:cs typeface="Malgun Gothic" pitchFamily="34" charset="-120"/>
              </a:rPr>
              <a:t>CDC 출처로 1차 구분 · 로그 없는 테이블도 분류</a:t>
            </a:r>
            <a:endParaRPr lang="en-US" sz="900" dirty="0"/>
          </a:p>
        </p:txBody>
      </p:sp>
      <p:sp>
        <p:nvSpPr>
          <p:cNvPr id="52" name="Shape 50"/>
          <p:cNvSpPr/>
          <p:nvPr/>
        </p:nvSpPr>
        <p:spPr>
          <a:xfrm>
            <a:off x="8974836" y="2693619"/>
            <a:ext cx="0" cy="95335"/>
          </a:xfrm>
          <a:prstGeom prst="line">
            <a:avLst/>
          </a:prstGeom>
          <a:noFill/>
          <a:ln w="19830">
            <a:solidFill>
              <a:srgbClr val="4D4D4D"/>
            </a:solidFill>
            <a:prstDash val="solid"/>
            <a:tailEnd type="triangle"/>
          </a:ln>
        </p:spPr>
      </p:sp>
      <p:sp>
        <p:nvSpPr>
          <p:cNvPr id="53" name="Shape 51"/>
          <p:cNvSpPr/>
          <p:nvPr/>
        </p:nvSpPr>
        <p:spPr>
          <a:xfrm>
            <a:off x="6400800" y="2808021"/>
            <a:ext cx="5148072" cy="343205"/>
          </a:xfrm>
          <a:prstGeom prst="roundRect">
            <a:avLst>
              <a:gd name="adj" fmla="val 13889"/>
            </a:avLst>
          </a:prstGeom>
          <a:solidFill>
            <a:srgbClr val="EDEDED"/>
          </a:solidFill>
          <a:ln w="15254">
            <a:solidFill>
              <a:srgbClr val="A6A6A6"/>
            </a:solidFill>
            <a:prstDash val="solid"/>
          </a:ln>
        </p:spPr>
      </p:sp>
      <p:sp>
        <p:nvSpPr>
          <p:cNvPr id="54" name="Text 52"/>
          <p:cNvSpPr txBox="1"/>
          <p:nvPr/>
        </p:nvSpPr>
        <p:spPr>
          <a:xfrm>
            <a:off x="6534269" y="2879879"/>
            <a:ext cx="1401972" cy="199488"/>
          </a:xfrm>
          <a:prstGeom prst="rect">
            <a:avLst/>
          </a:prstGeom>
          <a:noFill/>
          <a:ln/>
        </p:spPr>
        <p:txBody>
          <a:bodyPr wrap="none" lIns="0" tIns="0" rIns="0" bIns="0" rtlCol="0" anchor="ctr"/>
          <a:lstStyle/>
          <a:p>
            <a:pPr marL="0" indent="0" algn="l">
              <a:buNone/>
            </a:pPr>
            <a:r>
              <a:rPr lang="en-US" sz="1010" b="1" dirty="0">
                <a:solidFill>
                  <a:srgbClr val="333333"/>
                </a:solidFill>
                <a:latin typeface="Malgun Gothic" pitchFamily="34" charset="0"/>
                <a:ea typeface="Malgun Gothic" pitchFamily="34" charset="-122"/>
                <a:cs typeface="Malgun Gothic" pitchFamily="34" charset="-120"/>
              </a:rPr>
              <a:t>② 허브 테이블 분리</a:t>
            </a:r>
            <a:endParaRPr lang="en-US" sz="1010" dirty="0"/>
          </a:p>
        </p:txBody>
      </p:sp>
      <p:sp>
        <p:nvSpPr>
          <p:cNvPr id="55" name="Text 53"/>
          <p:cNvSpPr txBox="1"/>
          <p:nvPr/>
        </p:nvSpPr>
        <p:spPr>
          <a:xfrm>
            <a:off x="9086160" y="2890962"/>
            <a:ext cx="2329243" cy="177322"/>
          </a:xfrm>
          <a:prstGeom prst="rect">
            <a:avLst/>
          </a:prstGeom>
          <a:noFill/>
          <a:ln/>
        </p:spPr>
        <p:txBody>
          <a:bodyPr wrap="none" lIns="0" tIns="0" rIns="0" bIns="0" rtlCol="0" anchor="ctr"/>
          <a:lstStyle/>
          <a:p>
            <a:pPr marL="0" indent="0" algn="r">
              <a:buNone/>
            </a:pPr>
            <a:r>
              <a:rPr lang="en-US" sz="900" dirty="0">
                <a:solidFill>
                  <a:srgbClr val="333333"/>
                </a:solidFill>
                <a:latin typeface="Malgun Gothic" pitchFamily="34" charset="0"/>
                <a:ea typeface="Malgun Gothic" pitchFamily="34" charset="-122"/>
                <a:cs typeface="Malgun Gothic" pitchFamily="34" charset="-120"/>
              </a:rPr>
              <a:t>Lot·설비 마스터는 공유 테이블로 지정</a:t>
            </a:r>
            <a:endParaRPr lang="en-US" sz="900" dirty="0"/>
          </a:p>
        </p:txBody>
      </p:sp>
      <p:sp>
        <p:nvSpPr>
          <p:cNvPr id="56" name="Shape 54"/>
          <p:cNvSpPr/>
          <p:nvPr/>
        </p:nvSpPr>
        <p:spPr>
          <a:xfrm>
            <a:off x="8974836" y="3151226"/>
            <a:ext cx="0" cy="95335"/>
          </a:xfrm>
          <a:prstGeom prst="line">
            <a:avLst/>
          </a:prstGeom>
          <a:noFill/>
          <a:ln w="19830">
            <a:solidFill>
              <a:srgbClr val="4D4D4D"/>
            </a:solidFill>
            <a:prstDash val="solid"/>
            <a:tailEnd type="triangle"/>
          </a:ln>
        </p:spPr>
      </p:sp>
      <p:sp>
        <p:nvSpPr>
          <p:cNvPr id="57" name="Shape 55"/>
          <p:cNvSpPr/>
          <p:nvPr/>
        </p:nvSpPr>
        <p:spPr>
          <a:xfrm>
            <a:off x="6400800" y="3265627"/>
            <a:ext cx="5148072" cy="343205"/>
          </a:xfrm>
          <a:prstGeom prst="roundRect">
            <a:avLst>
              <a:gd name="adj" fmla="val 13889"/>
            </a:avLst>
          </a:prstGeom>
          <a:solidFill>
            <a:srgbClr val="EDEDED"/>
          </a:solidFill>
          <a:ln w="15254">
            <a:solidFill>
              <a:srgbClr val="A6A6A6"/>
            </a:solidFill>
            <a:prstDash val="solid"/>
          </a:ln>
        </p:spPr>
      </p:sp>
      <p:sp>
        <p:nvSpPr>
          <p:cNvPr id="58" name="Text 56"/>
          <p:cNvSpPr txBox="1"/>
          <p:nvPr/>
        </p:nvSpPr>
        <p:spPr>
          <a:xfrm>
            <a:off x="6534269" y="3337486"/>
            <a:ext cx="1679968" cy="199488"/>
          </a:xfrm>
          <a:prstGeom prst="rect">
            <a:avLst/>
          </a:prstGeom>
          <a:noFill/>
          <a:ln/>
        </p:spPr>
        <p:txBody>
          <a:bodyPr wrap="none" lIns="0" tIns="0" rIns="0" bIns="0" rtlCol="0" anchor="ctr"/>
          <a:lstStyle/>
          <a:p>
            <a:pPr marL="0" indent="0" algn="l">
              <a:buNone/>
            </a:pPr>
            <a:r>
              <a:rPr lang="en-US" sz="1010" b="1" dirty="0">
                <a:solidFill>
                  <a:srgbClr val="333333"/>
                </a:solidFill>
                <a:latin typeface="Malgun Gothic" pitchFamily="34" charset="0"/>
                <a:ea typeface="Malgun Gothic" pitchFamily="34" charset="-122"/>
                <a:cs typeface="Malgun Gothic" pitchFamily="34" charset="-120"/>
              </a:rPr>
              <a:t>③ 공동 사용 클러스터링</a:t>
            </a:r>
            <a:endParaRPr lang="en-US" sz="1010" dirty="0"/>
          </a:p>
        </p:txBody>
      </p:sp>
      <p:sp>
        <p:nvSpPr>
          <p:cNvPr id="59" name="Text 57"/>
          <p:cNvSpPr txBox="1"/>
          <p:nvPr/>
        </p:nvSpPr>
        <p:spPr>
          <a:xfrm>
            <a:off x="8458507" y="3348568"/>
            <a:ext cx="2956896" cy="177322"/>
          </a:xfrm>
          <a:prstGeom prst="rect">
            <a:avLst/>
          </a:prstGeom>
          <a:noFill/>
          <a:ln/>
        </p:spPr>
        <p:txBody>
          <a:bodyPr wrap="none" lIns="0" tIns="0" rIns="0" bIns="0" rtlCol="0" anchor="ctr"/>
          <a:lstStyle/>
          <a:p>
            <a:pPr marL="0" indent="0" algn="r">
              <a:buNone/>
            </a:pPr>
            <a:r>
              <a:rPr lang="en-US" sz="900" dirty="0">
                <a:solidFill>
                  <a:srgbClr val="333333"/>
                </a:solidFill>
                <a:latin typeface="Malgun Gothic" pitchFamily="34" charset="0"/>
                <a:ea typeface="Malgun Gothic" pitchFamily="34" charset="-122"/>
                <a:cs typeface="Malgun Gothic" pitchFamily="34" charset="-120"/>
              </a:rPr>
              <a:t>함께 Join된 테이블끼리 · 도메인당 수십~수백 개</a:t>
            </a:r>
            <a:endParaRPr lang="en-US" sz="900" dirty="0"/>
          </a:p>
        </p:txBody>
      </p:sp>
      <p:sp>
        <p:nvSpPr>
          <p:cNvPr id="60" name="Shape 58"/>
          <p:cNvSpPr/>
          <p:nvPr/>
        </p:nvSpPr>
        <p:spPr>
          <a:xfrm>
            <a:off x="8974836" y="3608832"/>
            <a:ext cx="0" cy="95335"/>
          </a:xfrm>
          <a:prstGeom prst="line">
            <a:avLst/>
          </a:prstGeom>
          <a:noFill/>
          <a:ln w="19830">
            <a:solidFill>
              <a:srgbClr val="4D4D4D"/>
            </a:solidFill>
            <a:prstDash val="solid"/>
            <a:tailEnd type="triangle"/>
          </a:ln>
        </p:spPr>
      </p:sp>
      <p:sp>
        <p:nvSpPr>
          <p:cNvPr id="61" name="Shape 59"/>
          <p:cNvSpPr/>
          <p:nvPr/>
        </p:nvSpPr>
        <p:spPr>
          <a:xfrm>
            <a:off x="6400800" y="3723234"/>
            <a:ext cx="5148072" cy="343205"/>
          </a:xfrm>
          <a:prstGeom prst="roundRect">
            <a:avLst>
              <a:gd name="adj" fmla="val 13889"/>
            </a:avLst>
          </a:prstGeom>
          <a:solidFill>
            <a:srgbClr val="FCE9E1"/>
          </a:solidFill>
          <a:ln w="30507">
            <a:solidFill>
              <a:srgbClr val="D9480F"/>
            </a:solidFill>
            <a:prstDash val="solid"/>
          </a:ln>
        </p:spPr>
      </p:sp>
      <p:sp>
        <p:nvSpPr>
          <p:cNvPr id="62" name="Text 60"/>
          <p:cNvSpPr txBox="1"/>
          <p:nvPr/>
        </p:nvSpPr>
        <p:spPr>
          <a:xfrm>
            <a:off x="6534269" y="3795092"/>
            <a:ext cx="1679968" cy="199488"/>
          </a:xfrm>
          <a:prstGeom prst="rect">
            <a:avLst/>
          </a:prstGeom>
          <a:noFill/>
          <a:ln/>
        </p:spPr>
        <p:txBody>
          <a:bodyPr wrap="none" lIns="0" tIns="0" rIns="0" bIns="0" rtlCol="0" anchor="ctr"/>
          <a:lstStyle/>
          <a:p>
            <a:pPr marL="0" indent="0" algn="l">
              <a:buNone/>
            </a:pPr>
            <a:r>
              <a:rPr lang="en-US" sz="1010" b="1" dirty="0">
                <a:solidFill>
                  <a:srgbClr val="333333"/>
                </a:solidFill>
                <a:latin typeface="Malgun Gothic" pitchFamily="34" charset="0"/>
                <a:ea typeface="Malgun Gothic" pitchFamily="34" charset="-122"/>
                <a:cs typeface="Malgun Gothic" pitchFamily="34" charset="-120"/>
              </a:rPr>
              <a:t>④ 도메인 카탈로그 작성</a:t>
            </a:r>
            <a:endParaRPr lang="en-US" sz="1010" dirty="0"/>
          </a:p>
        </p:txBody>
      </p:sp>
      <p:sp>
        <p:nvSpPr>
          <p:cNvPr id="63" name="Text 61"/>
          <p:cNvSpPr txBox="1"/>
          <p:nvPr/>
        </p:nvSpPr>
        <p:spPr>
          <a:xfrm>
            <a:off x="8438739" y="3806175"/>
            <a:ext cx="2976665" cy="177322"/>
          </a:xfrm>
          <a:prstGeom prst="rect">
            <a:avLst/>
          </a:prstGeom>
          <a:noFill/>
          <a:ln/>
        </p:spPr>
        <p:txBody>
          <a:bodyPr wrap="none" lIns="0" tIns="0" rIns="0" bIns="0" rtlCol="0" anchor="ctr"/>
          <a:lstStyle/>
          <a:p>
            <a:pPr marL="0" indent="0" algn="r">
              <a:buNone/>
            </a:pPr>
            <a:r>
              <a:rPr lang="en-US" sz="900" dirty="0">
                <a:solidFill>
                  <a:srgbClr val="333333"/>
                </a:solidFill>
                <a:latin typeface="Malgun Gothic" pitchFamily="34" charset="0"/>
                <a:ea typeface="Malgun Gothic" pitchFamily="34" charset="-122"/>
                <a:cs typeface="Malgun Gothic" pitchFamily="34" charset="-120"/>
              </a:rPr>
              <a:t>LLM이 도메인 설명·대표 테이블·주요 엔티티 작성</a:t>
            </a:r>
            <a:endParaRPr lang="en-US" sz="900" dirty="0"/>
          </a:p>
        </p:txBody>
      </p:sp>
      <p:sp>
        <p:nvSpPr>
          <p:cNvPr id="64" name="Shape 62"/>
          <p:cNvSpPr/>
          <p:nvPr/>
        </p:nvSpPr>
        <p:spPr>
          <a:xfrm>
            <a:off x="8974836" y="4066438"/>
            <a:ext cx="0" cy="114402"/>
          </a:xfrm>
          <a:prstGeom prst="line">
            <a:avLst/>
          </a:prstGeom>
          <a:noFill/>
          <a:ln w="19830">
            <a:solidFill>
              <a:srgbClr val="4D4D4D"/>
            </a:solidFill>
            <a:prstDash val="solid"/>
            <a:tailEnd type="triangle"/>
          </a:ln>
        </p:spPr>
      </p:sp>
      <p:sp>
        <p:nvSpPr>
          <p:cNvPr id="65" name="Shape 63"/>
          <p:cNvSpPr/>
          <p:nvPr/>
        </p:nvSpPr>
        <p:spPr>
          <a:xfrm>
            <a:off x="6400800" y="4199907"/>
            <a:ext cx="5148072" cy="381339"/>
          </a:xfrm>
          <a:prstGeom prst="roundRect">
            <a:avLst>
              <a:gd name="adj" fmla="val 12500"/>
            </a:avLst>
          </a:prstGeom>
          <a:solidFill>
            <a:srgbClr val="F2F2F2"/>
          </a:solidFill>
          <a:ln w="15254">
            <a:solidFill>
              <a:srgbClr val="D0D0D0"/>
            </a:solidFill>
            <a:prstDash val="solid"/>
          </a:ln>
        </p:spPr>
      </p:sp>
      <p:sp>
        <p:nvSpPr>
          <p:cNvPr id="66" name="Text 64"/>
          <p:cNvSpPr txBox="1"/>
          <p:nvPr/>
        </p:nvSpPr>
        <p:spPr>
          <a:xfrm>
            <a:off x="7472346" y="4298221"/>
            <a:ext cx="3004979" cy="184711"/>
          </a:xfrm>
          <a:prstGeom prst="rect">
            <a:avLst/>
          </a:prstGeom>
          <a:noFill/>
          <a:ln/>
        </p:spPr>
        <p:txBody>
          <a:bodyPr wrap="none" lIns="0" tIns="0" rIns="0" bIns="0" rtlCol="0" anchor="ctr"/>
          <a:lstStyle/>
          <a:p>
            <a:pPr marL="0" indent="0" algn="ctr">
              <a:buNone/>
            </a:pPr>
            <a:r>
              <a:rPr lang="en-US" sz="940" b="1" dirty="0">
                <a:solidFill>
                  <a:srgbClr val="1A1A1A"/>
                </a:solidFill>
                <a:latin typeface="Malgun Gothic" pitchFamily="34" charset="0"/>
                <a:ea typeface="Malgun Gothic" pitchFamily="34" charset="-122"/>
                <a:cs typeface="Malgun Gothic" pitchFamily="34" charset="-120"/>
              </a:rPr>
              <a:t>도메인 카탈로그</a:t>
            </a:r>
            <a:r>
              <a:rPr lang="en-US" sz="940" dirty="0">
                <a:solidFill>
                  <a:srgbClr val="1A1A1A"/>
                </a:solidFill>
                <a:latin typeface="Malgun Gothic" pitchFamily="34" charset="0"/>
                <a:ea typeface="Malgun Gothic" pitchFamily="34" charset="-122"/>
                <a:cs typeface="Malgun Gothic" pitchFamily="34" charset="-120"/>
              </a:rPr>
              <a:t> · 9장 도메인 선택의 검색 대상</a:t>
            </a:r>
            <a:endParaRPr lang="en-US" sz="940" dirty="0"/>
          </a:p>
        </p:txBody>
      </p:sp>
      <p:sp>
        <p:nvSpPr>
          <p:cNvPr id="67" name="Text 65"/>
          <p:cNvSpPr txBox="1"/>
          <p:nvPr/>
        </p:nvSpPr>
        <p:spPr>
          <a:xfrm>
            <a:off x="6419088" y="4802259"/>
            <a:ext cx="5111496" cy="1463040"/>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200" b="1" dirty="0">
                <a:solidFill>
                  <a:srgbClr val="1A1A1A"/>
                </a:solidFill>
                <a:latin typeface="Malgun Gothic" pitchFamily="34" charset="0"/>
                <a:ea typeface="Malgun Gothic" pitchFamily="34" charset="-122"/>
                <a:cs typeface="Malgun Gothic" pitchFamily="34" charset="-120"/>
              </a:rPr>
              <a:t>LinkedIn 대비 차이  </a:t>
            </a:r>
            <a:r>
              <a:rPr lang="en-US" sz="1200" dirty="0">
                <a:solidFill>
                  <a:srgbClr val="5F5F5F"/>
                </a:solidFill>
                <a:latin typeface="Malgun Gothic" pitchFamily="34" charset="0"/>
                <a:ea typeface="Malgun Gothic" pitchFamily="34" charset="-122"/>
                <a:cs typeface="Malgun Gothic" pitchFamily="34" charset="-120"/>
              </a:rPr>
              <a:t>팀·제품 대신 원천 시스템 → 업무 도메인의 2계층으로 구성</a:t>
            </a:r>
            <a:endParaRPr lang="en-US" sz="1200" dirty="0"/>
          </a:p>
          <a:p>
            <a:pPr marL="152400" indent="-152400">
              <a:lnSpc>
                <a:spcPct val="110000"/>
              </a:lnSpc>
              <a:spcAft>
                <a:spcPts val="400"/>
              </a:spcAft>
              <a:buSzPct val="100000"/>
              <a:buChar char="•"/>
            </a:pPr>
            <a:r>
              <a:rPr lang="en-US" sz="1200" b="1" dirty="0">
                <a:solidFill>
                  <a:srgbClr val="1A1A1A"/>
                </a:solidFill>
                <a:latin typeface="Malgun Gothic" pitchFamily="34" charset="0"/>
                <a:ea typeface="Malgun Gothic" pitchFamily="34" charset="-122"/>
                <a:cs typeface="Malgun Gothic" pitchFamily="34" charset="-120"/>
              </a:rPr>
              <a:t>허브 테이블  </a:t>
            </a:r>
            <a:r>
              <a:rPr lang="en-US" sz="1200" dirty="0">
                <a:solidFill>
                  <a:srgbClr val="5F5F5F"/>
                </a:solidFill>
                <a:latin typeface="Malgun Gothic" pitchFamily="34" charset="0"/>
                <a:ea typeface="Malgun Gothic" pitchFamily="34" charset="-122"/>
                <a:cs typeface="Malgun Gothic" pitchFamily="34" charset="-120"/>
              </a:rPr>
              <a:t>클러스터링 전에 분리하지 않으면 전체가 한 덩어리로 뭉침</a:t>
            </a:r>
            <a:endParaRPr lang="en-US" sz="1200" dirty="0"/>
          </a:p>
          <a:p>
            <a:pPr marL="152400" indent="-152400">
              <a:lnSpc>
                <a:spcPct val="110000"/>
              </a:lnSpc>
              <a:spcAft>
                <a:spcPts val="400"/>
              </a:spcAft>
              <a:buSzPct val="100000"/>
              <a:buChar char="•"/>
            </a:pPr>
            <a:r>
              <a:rPr lang="en-US" sz="1200" b="1" dirty="0">
                <a:solidFill>
                  <a:srgbClr val="1A1A1A"/>
                </a:solidFill>
                <a:latin typeface="Malgun Gothic" pitchFamily="34" charset="0"/>
                <a:ea typeface="Malgun Gothic" pitchFamily="34" charset="-122"/>
                <a:cs typeface="Malgun Gothic" pitchFamily="34" charset="-120"/>
              </a:rPr>
              <a:t>로그 없는 테이블  </a:t>
            </a:r>
            <a:r>
              <a:rPr lang="en-US" sz="1200" dirty="0">
                <a:solidFill>
                  <a:srgbClr val="5F5F5F"/>
                </a:solidFill>
                <a:latin typeface="Malgun Gothic" pitchFamily="34" charset="0"/>
                <a:ea typeface="Malgun Gothic" pitchFamily="34" charset="-122"/>
                <a:cs typeface="Malgun Gothic" pitchFamily="34" charset="-120"/>
              </a:rPr>
              <a:t>원천 시스템 정보로 1계층에만 우선 분류</a:t>
            </a:r>
            <a:endParaRPr lang="en-US" sz="1200" dirty="0"/>
          </a:p>
        </p:txBody>
      </p:sp>
      <p:sp>
        <p:nvSpPr>
          <p:cNvPr id="68" name="Slide Number Placeholder 0"/>
          <p:cNvSpPr>
            <a:spLocks noGrp="1"/>
          </p:cNvSpPr>
          <p:nvPr>
            <p:ph type="sldNum" sz="quarter" idx="4294967295"/>
          </p:nvPr>
        </p:nvSpPr>
        <p:spPr>
          <a:xfrm>
            <a:off x="11183112" y="6419088"/>
            <a:ext cx="54864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6B6B6B"/>
                </a:solidFill>
                <a:latin typeface="Malgun Gothic"/>
                <a:ea typeface="Malgun Gothic"/>
                <a:cs typeface="Malgun Gothic"/>
              </a:defRPr>
            </a:lvl1pPr>
          </a:lstStyle>
          <a:p>
            <a:pPr algn="r"/>
            <a:fld id="{F7021451-1387-4CA6-816F-3879F97B5CBC}" type="slidenum">
              <a:rPr lang="en-US" b="0"/>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11274552" cy="292608"/>
          </a:xfrm>
          <a:prstGeom prst="rect">
            <a:avLst/>
          </a:prstGeom>
          <a:noFill/>
          <a:ln/>
        </p:spPr>
        <p:txBody>
          <a:bodyPr wrap="square" lIns="0" tIns="0" rIns="0" bIns="0" rtlCol="0" anchor="ctr"/>
          <a:lstStyle/>
          <a:p>
            <a:pPr marL="0" indent="0">
              <a:buNone/>
            </a:pPr>
            <a:r>
              <a:rPr lang="en-US" sz="1100" b="1" smtClean="0">
                <a:solidFill>
                  <a:srgbClr val="6B6B6B"/>
                </a:solidFill>
                <a:latin typeface="Malgun Gothic" pitchFamily="34" charset="0"/>
                <a:ea typeface="Malgun Gothic" pitchFamily="34" charset="-122"/>
                <a:cs typeface="Malgun Gothic" pitchFamily="34" charset="-120"/>
              </a:rPr>
              <a:t>도메인 </a:t>
            </a:r>
            <a:r>
              <a:rPr lang="en-US" sz="1100" b="1" dirty="0">
                <a:solidFill>
                  <a:srgbClr val="6B6B6B"/>
                </a:solidFill>
                <a:latin typeface="Malgun Gothic" pitchFamily="34" charset="0"/>
                <a:ea typeface="Malgun Gothic" pitchFamily="34" charset="-122"/>
                <a:cs typeface="Malgun Gothic" pitchFamily="34" charset="-120"/>
              </a:rPr>
              <a:t>라우팅 2/2 · 도메인 선택</a:t>
            </a:r>
            <a:endParaRPr lang="en-US" sz="1100" dirty="0"/>
          </a:p>
        </p:txBody>
      </p:sp>
      <p:sp>
        <p:nvSpPr>
          <p:cNvPr id="3" name="Text 0"/>
          <p:cNvSpPr>
            <a:spLocks noGrp="1"/>
          </p:cNvSpPr>
          <p:nvPr>
            <p:ph type="title" idx="101" hasCustomPrompt="1"/>
          </p:nvPr>
        </p:nvSpPr>
        <p:spPr>
          <a:xfrm>
            <a:off x="457200" y="512064"/>
            <a:ext cx="11274552" cy="768096"/>
          </a:xfrm>
          <a:prstGeom prst="rect">
            <a:avLst/>
          </a:prstGeom>
          <a:noFill/>
          <a:ln/>
        </p:spPr>
        <p:txBody>
          <a:bodyPr wrap="square" lIns="0" tIns="0" rIns="0" bIns="0" rtlCol="0" anchor="ctr"/>
          <a:lstStyle/>
          <a:p>
            <a:pPr marL="0" indent="0" algn="l">
              <a:buNone/>
            </a:pPr>
            <a:r>
              <a:rPr lang="en-US" sz="2100" b="1" dirty="0">
                <a:solidFill>
                  <a:schemeClr val="tx1"/>
                </a:solidFill>
                <a:latin typeface="Malgun Gothic" pitchFamily="34" charset="0"/>
                <a:ea typeface="Malgun Gothic" pitchFamily="34" charset="-122"/>
                <a:cs typeface="Malgun Gothic" pitchFamily="34" charset="-120"/>
              </a:rPr>
              <a:t>질문이 들어오면 도메인 후보를 단계적으로 좁혀 고르고, 엔티티 추출 단계로 넘긴다</a:t>
            </a:r>
            <a:endParaRPr lang="en-US" sz="2100" dirty="0"/>
          </a:p>
        </p:txBody>
      </p:sp>
      <p:sp>
        <p:nvSpPr>
          <p:cNvPr id="4" name="Text 0"/>
          <p:cNvSpPr>
            <a:spLocks noGrp="1"/>
          </p:cNvSpPr>
          <p:nvPr>
            <p:ph type="body" idx="102" hasCustomPrompt="1"/>
          </p:nvPr>
        </p:nvSpPr>
        <p:spPr>
          <a:xfrm>
            <a:off x="457200" y="6419088"/>
            <a:ext cx="10241280" cy="256032"/>
          </a:xfrm>
          <a:prstGeom prst="rect">
            <a:avLst/>
          </a:prstGeom>
          <a:noFill/>
          <a:ln/>
        </p:spPr>
        <p:txBody>
          <a:bodyPr wrap="square" lIns="0" tIns="0" rIns="0" bIns="0" rtlCol="0" anchor="ctr"/>
          <a:lstStyle/>
          <a:p>
            <a:pPr marL="0" indent="0">
              <a:buNone/>
            </a:pPr>
            <a:r>
              <a:rPr lang="en-US" sz="900" smtClean="0">
                <a:solidFill>
                  <a:schemeClr val="tx2"/>
                </a:solidFill>
                <a:latin typeface="Malgun Gothic" pitchFamily="34" charset="0"/>
                <a:ea typeface="Malgun Gothic" pitchFamily="34" charset="-122"/>
                <a:cs typeface="Malgun Gothic" pitchFamily="34" charset="-120"/>
              </a:rPr>
              <a:t>LinkAlign</a:t>
            </a:r>
            <a:r>
              <a:rPr lang="en-US" sz="900" dirty="0">
                <a:solidFill>
                  <a:schemeClr val="tx2"/>
                </a:solidFill>
                <a:latin typeface="Malgun Gothic" pitchFamily="34" charset="0"/>
                <a:ea typeface="Malgun Gothic" pitchFamily="34" charset="-122"/>
                <a:cs typeface="Malgun Gothic" pitchFamily="34" charset="-120"/>
              </a:rPr>
              <a:t>: Scalable Schema Linking for Real-World Large-Scale Multi-Database Text-to-SQL, EMNLP 2025, pp. 977–991</a:t>
            </a:r>
            <a:endParaRPr lang="en-US" sz="900" dirty="0"/>
          </a:p>
        </p:txBody>
      </p:sp>
      <p:sp>
        <p:nvSpPr>
          <p:cNvPr id="5" name="Shape 3"/>
          <p:cNvSpPr/>
          <p:nvPr/>
        </p:nvSpPr>
        <p:spPr>
          <a:xfrm>
            <a:off x="457200" y="1325880"/>
            <a:ext cx="5513832" cy="4937760"/>
          </a:xfrm>
          <a:prstGeom prst="roundRect">
            <a:avLst>
              <a:gd name="adj" fmla="val 1481"/>
            </a:avLst>
          </a:prstGeom>
          <a:solidFill>
            <a:srgbClr val="FFFFFF"/>
          </a:solidFill>
          <a:ln w="9525">
            <a:solidFill>
              <a:srgbClr val="D0D0D0"/>
            </a:solidFill>
            <a:prstDash val="solid"/>
          </a:ln>
        </p:spPr>
      </p:sp>
      <p:sp>
        <p:nvSpPr>
          <p:cNvPr id="6" name="Shape 4"/>
          <p:cNvSpPr/>
          <p:nvPr/>
        </p:nvSpPr>
        <p:spPr>
          <a:xfrm>
            <a:off x="640080" y="1481328"/>
            <a:ext cx="749808" cy="246888"/>
          </a:xfrm>
          <a:prstGeom prst="roundRect">
            <a:avLst>
              <a:gd name="adj" fmla="val 14815"/>
            </a:avLst>
          </a:prstGeom>
          <a:solidFill>
            <a:srgbClr val="8C8C8C"/>
          </a:solidFill>
          <a:ln/>
        </p:spPr>
      </p:sp>
      <p:sp>
        <p:nvSpPr>
          <p:cNvPr id="7" name="Text 5"/>
          <p:cNvSpPr txBox="1"/>
          <p:nvPr/>
        </p:nvSpPr>
        <p:spPr>
          <a:xfrm>
            <a:off x="640080" y="1481328"/>
            <a:ext cx="749808" cy="246888"/>
          </a:xfrm>
          <a:prstGeom prst="rect">
            <a:avLst/>
          </a:prstGeom>
          <a:noFill/>
          <a:ln/>
        </p:spPr>
        <p:txBody>
          <a:bodyPr wrap="square" lIns="0" tIns="0" rIns="0" bIns="0" rtlCol="0" anchor="ctr"/>
          <a:lstStyle/>
          <a:p>
            <a:pPr marL="0" indent="0" algn="ctr">
              <a:buNone/>
            </a:pPr>
            <a:r>
              <a:rPr lang="en-US" sz="950" b="1" dirty="0">
                <a:solidFill>
                  <a:srgbClr val="FFFFFF"/>
                </a:solidFill>
                <a:latin typeface="Malgun Gothic" pitchFamily="34" charset="0"/>
                <a:ea typeface="Malgun Gothic" pitchFamily="34" charset="-122"/>
                <a:cs typeface="Malgun Gothic" pitchFamily="34" charset="-120"/>
              </a:rPr>
              <a:t>논문</a:t>
            </a:r>
            <a:endParaRPr lang="en-US" sz="950" dirty="0"/>
          </a:p>
        </p:txBody>
      </p:sp>
      <p:sp>
        <p:nvSpPr>
          <p:cNvPr id="8" name="Text 6"/>
          <p:cNvSpPr txBox="1"/>
          <p:nvPr/>
        </p:nvSpPr>
        <p:spPr>
          <a:xfrm>
            <a:off x="1481328" y="1444752"/>
            <a:ext cx="4325112" cy="329184"/>
          </a:xfrm>
          <a:prstGeom prst="rect">
            <a:avLst/>
          </a:prstGeom>
          <a:noFill/>
          <a:ln/>
        </p:spPr>
        <p:txBody>
          <a:bodyPr wrap="square" lIns="0" tIns="0" rIns="0" bIns="0" rtlCol="0" anchor="ctr"/>
          <a:lstStyle/>
          <a:p>
            <a:pPr marL="0" indent="0">
              <a:buNone/>
            </a:pPr>
            <a:r>
              <a:rPr lang="en-US" sz="1350" b="1" dirty="0">
                <a:solidFill>
                  <a:srgbClr val="1A1A1A"/>
                </a:solidFill>
                <a:latin typeface="Malgun Gothic" pitchFamily="34" charset="0"/>
                <a:ea typeface="Malgun Gothic" pitchFamily="34" charset="-122"/>
                <a:cs typeface="Malgun Gothic" pitchFamily="34" charset="-120"/>
              </a:rPr>
              <a:t>LinkAlign · DB 검색 + 스키마 그라운딩</a:t>
            </a:r>
            <a:endParaRPr lang="en-US" sz="1350" dirty="0"/>
          </a:p>
        </p:txBody>
      </p:sp>
      <p:sp>
        <p:nvSpPr>
          <p:cNvPr id="9" name="Shape 7"/>
          <p:cNvSpPr/>
          <p:nvPr/>
        </p:nvSpPr>
        <p:spPr>
          <a:xfrm>
            <a:off x="640080" y="2274147"/>
            <a:ext cx="991481" cy="381339"/>
          </a:xfrm>
          <a:prstGeom prst="roundRect">
            <a:avLst>
              <a:gd name="adj" fmla="val 15000"/>
            </a:avLst>
          </a:prstGeom>
          <a:solidFill>
            <a:srgbClr val="FFFFFF"/>
          </a:solidFill>
          <a:ln w="24406">
            <a:solidFill>
              <a:srgbClr val="1A1A1A"/>
            </a:solidFill>
            <a:prstDash val="solid"/>
          </a:ln>
        </p:spPr>
      </p:sp>
      <p:sp>
        <p:nvSpPr>
          <p:cNvPr id="10" name="Text 8"/>
          <p:cNvSpPr txBox="1"/>
          <p:nvPr/>
        </p:nvSpPr>
        <p:spPr>
          <a:xfrm>
            <a:off x="955098" y="2361378"/>
            <a:ext cx="361444" cy="206876"/>
          </a:xfrm>
          <a:prstGeom prst="rect">
            <a:avLst/>
          </a:prstGeom>
          <a:noFill/>
          <a:ln/>
        </p:spPr>
        <p:txBody>
          <a:bodyPr wrap="none" lIns="0" tIns="0" rIns="0" bIns="0" rtlCol="0" anchor="ctr"/>
          <a:lstStyle/>
          <a:p>
            <a:pPr marL="0" indent="0" algn="ctr">
              <a:buNone/>
            </a:pPr>
            <a:r>
              <a:rPr lang="en-US" sz="1050" b="1" dirty="0">
                <a:solidFill>
                  <a:srgbClr val="1A1A1A"/>
                </a:solidFill>
                <a:latin typeface="Malgun Gothic" pitchFamily="34" charset="0"/>
                <a:ea typeface="Malgun Gothic" pitchFamily="34" charset="-122"/>
                <a:cs typeface="Malgun Gothic" pitchFamily="34" charset="-120"/>
              </a:rPr>
              <a:t>질문</a:t>
            </a:r>
            <a:endParaRPr lang="en-US" sz="1050" dirty="0"/>
          </a:p>
        </p:txBody>
      </p:sp>
      <p:sp>
        <p:nvSpPr>
          <p:cNvPr id="11" name="Shape 9"/>
          <p:cNvSpPr/>
          <p:nvPr/>
        </p:nvSpPr>
        <p:spPr>
          <a:xfrm>
            <a:off x="678214" y="2998690"/>
            <a:ext cx="915213" cy="419473"/>
          </a:xfrm>
          <a:prstGeom prst="roundRect">
            <a:avLst>
              <a:gd name="adj" fmla="val 9091"/>
            </a:avLst>
          </a:prstGeom>
          <a:solidFill>
            <a:srgbClr val="D9D9D9"/>
          </a:solidFill>
          <a:ln w="15254">
            <a:solidFill>
              <a:srgbClr val="7F7F7F"/>
            </a:solidFill>
            <a:prstDash val="solid"/>
          </a:ln>
        </p:spPr>
      </p:sp>
      <p:sp>
        <p:nvSpPr>
          <p:cNvPr id="12" name="Text 10"/>
          <p:cNvSpPr txBox="1"/>
          <p:nvPr/>
        </p:nvSpPr>
        <p:spPr>
          <a:xfrm>
            <a:off x="711286" y="3053031"/>
            <a:ext cx="849069" cy="177322"/>
          </a:xfrm>
          <a:prstGeom prst="rect">
            <a:avLst/>
          </a:prstGeom>
          <a:noFill/>
          <a:ln/>
        </p:spPr>
        <p:txBody>
          <a:bodyPr wrap="none" lIns="0" tIns="0" rIns="0" bIns="0" rtlCol="0" anchor="ctr"/>
          <a:lstStyle/>
          <a:p>
            <a:pPr marL="0" indent="0" algn="ctr">
              <a:buNone/>
            </a:pPr>
            <a:r>
              <a:rPr lang="en-US" sz="900" b="1" dirty="0">
                <a:solidFill>
                  <a:srgbClr val="262626"/>
                </a:solidFill>
                <a:latin typeface="Malgun Gothic" pitchFamily="34" charset="0"/>
                <a:ea typeface="Malgun Gothic" pitchFamily="34" charset="-122"/>
                <a:cs typeface="Malgun Gothic" pitchFamily="34" charset="-120"/>
              </a:rPr>
              <a:t>DB 후보 다수</a:t>
            </a:r>
            <a:endParaRPr lang="en-US" sz="900" dirty="0"/>
          </a:p>
        </p:txBody>
      </p:sp>
      <p:sp>
        <p:nvSpPr>
          <p:cNvPr id="13" name="Text 11"/>
          <p:cNvSpPr txBox="1"/>
          <p:nvPr/>
        </p:nvSpPr>
        <p:spPr>
          <a:xfrm>
            <a:off x="813835" y="3222488"/>
            <a:ext cx="643970" cy="162546"/>
          </a:xfrm>
          <a:prstGeom prst="rect">
            <a:avLst/>
          </a:prstGeom>
          <a:noFill/>
          <a:ln/>
        </p:spPr>
        <p:txBody>
          <a:bodyPr wrap="none" lIns="0" tIns="0" rIns="0" bIns="0" rtlCol="0" anchor="ctr"/>
          <a:lstStyle/>
          <a:p>
            <a:pPr marL="0" indent="0" algn="ctr">
              <a:buNone/>
            </a:pPr>
            <a:r>
              <a:rPr lang="en-US" sz="830" dirty="0">
                <a:solidFill>
                  <a:srgbClr val="262626"/>
                </a:solidFill>
                <a:latin typeface="Consolas" pitchFamily="34" charset="0"/>
                <a:ea typeface="Consolas" pitchFamily="34" charset="-122"/>
                <a:cs typeface="Consolas" pitchFamily="34" charset="-120"/>
              </a:rPr>
              <a:t>DB 1 … N</a:t>
            </a:r>
            <a:endParaRPr lang="en-US" sz="830" dirty="0"/>
          </a:p>
        </p:txBody>
      </p:sp>
      <p:sp>
        <p:nvSpPr>
          <p:cNvPr id="14" name="Shape 12"/>
          <p:cNvSpPr/>
          <p:nvPr/>
        </p:nvSpPr>
        <p:spPr>
          <a:xfrm>
            <a:off x="1631561" y="2464816"/>
            <a:ext cx="305071" cy="0"/>
          </a:xfrm>
          <a:prstGeom prst="line">
            <a:avLst/>
          </a:prstGeom>
          <a:noFill/>
          <a:ln w="19830">
            <a:solidFill>
              <a:srgbClr val="4D4D4D"/>
            </a:solidFill>
            <a:prstDash val="solid"/>
            <a:tailEnd type="triangle"/>
          </a:ln>
        </p:spPr>
      </p:sp>
      <p:sp>
        <p:nvSpPr>
          <p:cNvPr id="15" name="Shape 13"/>
          <p:cNvSpPr/>
          <p:nvPr/>
        </p:nvSpPr>
        <p:spPr>
          <a:xfrm>
            <a:off x="1631561" y="3189359"/>
            <a:ext cx="152535" cy="0"/>
          </a:xfrm>
          <a:prstGeom prst="line">
            <a:avLst/>
          </a:prstGeom>
          <a:noFill/>
          <a:ln w="19830">
            <a:solidFill>
              <a:srgbClr val="8C8C8C"/>
            </a:solidFill>
            <a:prstDash val="dash"/>
          </a:ln>
        </p:spPr>
      </p:sp>
      <p:sp>
        <p:nvSpPr>
          <p:cNvPr id="16" name="Shape 14"/>
          <p:cNvSpPr/>
          <p:nvPr/>
        </p:nvSpPr>
        <p:spPr>
          <a:xfrm flipV="1">
            <a:off x="1784096" y="2846155"/>
            <a:ext cx="0" cy="343205"/>
          </a:xfrm>
          <a:prstGeom prst="line">
            <a:avLst/>
          </a:prstGeom>
          <a:noFill/>
          <a:ln w="19830">
            <a:solidFill>
              <a:srgbClr val="8C8C8C"/>
            </a:solidFill>
            <a:prstDash val="dash"/>
          </a:ln>
        </p:spPr>
      </p:sp>
      <p:sp>
        <p:nvSpPr>
          <p:cNvPr id="17" name="Shape 15"/>
          <p:cNvSpPr/>
          <p:nvPr/>
        </p:nvSpPr>
        <p:spPr>
          <a:xfrm>
            <a:off x="1784096" y="2846155"/>
            <a:ext cx="152535" cy="0"/>
          </a:xfrm>
          <a:prstGeom prst="line">
            <a:avLst/>
          </a:prstGeom>
          <a:noFill/>
          <a:ln w="19830">
            <a:solidFill>
              <a:srgbClr val="8C8C8C"/>
            </a:solidFill>
            <a:prstDash val="dash"/>
          </a:ln>
        </p:spPr>
      </p:sp>
      <p:sp>
        <p:nvSpPr>
          <p:cNvPr id="18" name="Shape 16"/>
          <p:cNvSpPr/>
          <p:nvPr/>
        </p:nvSpPr>
        <p:spPr>
          <a:xfrm>
            <a:off x="1974765" y="1930942"/>
            <a:ext cx="1735091" cy="1620689"/>
          </a:xfrm>
          <a:prstGeom prst="roundRect">
            <a:avLst>
              <a:gd name="adj" fmla="val 3529"/>
            </a:avLst>
          </a:prstGeom>
          <a:solidFill>
            <a:srgbClr val="FCE9E1"/>
          </a:solidFill>
          <a:ln w="30507">
            <a:solidFill>
              <a:srgbClr val="D9480F"/>
            </a:solidFill>
            <a:prstDash val="solid"/>
          </a:ln>
        </p:spPr>
      </p:sp>
      <p:sp>
        <p:nvSpPr>
          <p:cNvPr id="19" name="Text 17"/>
          <p:cNvSpPr txBox="1"/>
          <p:nvPr/>
        </p:nvSpPr>
        <p:spPr>
          <a:xfrm>
            <a:off x="2089167" y="2017577"/>
            <a:ext cx="444946" cy="169934"/>
          </a:xfrm>
          <a:prstGeom prst="rect">
            <a:avLst/>
          </a:prstGeom>
          <a:noFill/>
          <a:ln/>
        </p:spPr>
        <p:txBody>
          <a:bodyPr wrap="none" lIns="0" tIns="0" rIns="0" bIns="0" rtlCol="0" anchor="ctr"/>
          <a:lstStyle/>
          <a:p>
            <a:pPr marL="0" indent="0" algn="l">
              <a:buNone/>
            </a:pPr>
            <a:r>
              <a:rPr lang="en-US" sz="860" dirty="0">
                <a:solidFill>
                  <a:srgbClr val="1A1A1A"/>
                </a:solidFill>
                <a:latin typeface="Consolas" pitchFamily="34" charset="0"/>
                <a:ea typeface="Consolas" pitchFamily="34" charset="-122"/>
                <a:cs typeface="Consolas" pitchFamily="34" charset="-120"/>
              </a:rPr>
              <a:t>과제 1</a:t>
            </a:r>
            <a:endParaRPr lang="en-US" sz="860" dirty="0"/>
          </a:p>
        </p:txBody>
      </p:sp>
      <p:sp>
        <p:nvSpPr>
          <p:cNvPr id="20" name="Text 18"/>
          <p:cNvSpPr txBox="1"/>
          <p:nvPr/>
        </p:nvSpPr>
        <p:spPr>
          <a:xfrm>
            <a:off x="2525062" y="2186081"/>
            <a:ext cx="634498" cy="214265"/>
          </a:xfrm>
          <a:prstGeom prst="rect">
            <a:avLst/>
          </a:prstGeom>
          <a:noFill/>
          <a:ln/>
        </p:spPr>
        <p:txBody>
          <a:bodyPr wrap="none" lIns="0" tIns="0" rIns="0" bIns="0" rtlCol="0" anchor="ctr"/>
          <a:lstStyle/>
          <a:p>
            <a:pPr marL="0" indent="0" algn="ctr">
              <a:buNone/>
            </a:pPr>
            <a:r>
              <a:rPr lang="en-US" sz="1090" b="1" dirty="0">
                <a:solidFill>
                  <a:srgbClr val="1A1A1A"/>
                </a:solidFill>
                <a:latin typeface="Malgun Gothic" pitchFamily="34" charset="0"/>
                <a:ea typeface="Malgun Gothic" pitchFamily="34" charset="-122"/>
                <a:cs typeface="Malgun Gothic" pitchFamily="34" charset="-120"/>
              </a:rPr>
              <a:t>DB 검색</a:t>
            </a:r>
            <a:endParaRPr lang="en-US" sz="1090" dirty="0"/>
          </a:p>
        </p:txBody>
      </p:sp>
      <p:sp>
        <p:nvSpPr>
          <p:cNvPr id="21" name="Shape 19"/>
          <p:cNvSpPr/>
          <p:nvPr/>
        </p:nvSpPr>
        <p:spPr>
          <a:xfrm>
            <a:off x="2089167" y="2483883"/>
            <a:ext cx="1506288" cy="419473"/>
          </a:xfrm>
          <a:prstGeom prst="roundRect">
            <a:avLst>
              <a:gd name="adj" fmla="val 9091"/>
            </a:avLst>
          </a:prstGeom>
          <a:solidFill>
            <a:srgbClr val="FFFFFF"/>
          </a:solidFill>
          <a:ln w="15254">
            <a:solidFill>
              <a:srgbClr val="3A3A3A"/>
            </a:solidFill>
            <a:prstDash val="solid"/>
          </a:ln>
        </p:spPr>
      </p:sp>
      <p:sp>
        <p:nvSpPr>
          <p:cNvPr id="22" name="Text 20"/>
          <p:cNvSpPr txBox="1"/>
          <p:nvPr/>
        </p:nvSpPr>
        <p:spPr>
          <a:xfrm>
            <a:off x="2190540" y="2534529"/>
            <a:ext cx="1303541" cy="184711"/>
          </a:xfrm>
          <a:prstGeom prst="rect">
            <a:avLst/>
          </a:prstGeom>
          <a:noFill/>
          <a:ln/>
        </p:spPr>
        <p:txBody>
          <a:bodyPr wrap="none" lIns="0" tIns="0" rIns="0" bIns="0" rtlCol="0" anchor="ctr"/>
          <a:lstStyle/>
          <a:p>
            <a:pPr marL="0" indent="0" algn="ctr">
              <a:buNone/>
            </a:pPr>
            <a:r>
              <a:rPr lang="en-US" sz="940" dirty="0">
                <a:solidFill>
                  <a:srgbClr val="1A1A1A"/>
                </a:solidFill>
                <a:latin typeface="Malgun Gothic" pitchFamily="34" charset="0"/>
                <a:ea typeface="Malgun Gothic" pitchFamily="34" charset="-122"/>
                <a:cs typeface="Malgun Gothic" pitchFamily="34" charset="-120"/>
              </a:rPr>
              <a:t>다회 의미 보강 검색</a:t>
            </a:r>
            <a:endParaRPr lang="en-US" sz="940" dirty="0"/>
          </a:p>
        </p:txBody>
      </p:sp>
      <p:sp>
        <p:nvSpPr>
          <p:cNvPr id="23" name="Text 21"/>
          <p:cNvSpPr txBox="1"/>
          <p:nvPr/>
        </p:nvSpPr>
        <p:spPr>
          <a:xfrm>
            <a:off x="2094477" y="2707681"/>
            <a:ext cx="1495667" cy="162546"/>
          </a:xfrm>
          <a:prstGeom prst="rect">
            <a:avLst/>
          </a:prstGeom>
          <a:noFill/>
          <a:ln/>
        </p:spPr>
        <p:txBody>
          <a:bodyPr wrap="none" lIns="0" tIns="0" rIns="0" bIns="0" rtlCol="0" anchor="ctr"/>
          <a:lstStyle/>
          <a:p>
            <a:pPr marL="0" indent="0" algn="ctr">
              <a:buNone/>
            </a:pPr>
            <a:r>
              <a:rPr lang="en-US" sz="830" dirty="0">
                <a:solidFill>
                  <a:srgbClr val="1A1A1A"/>
                </a:solidFill>
                <a:latin typeface="Malgun Gothic" pitchFamily="34" charset="0"/>
                <a:ea typeface="Malgun Gothic" pitchFamily="34" charset="-122"/>
                <a:cs typeface="Malgun Gothic" pitchFamily="34" charset="-120"/>
              </a:rPr>
              <a:t>질문을 보강하며 반복 검색</a:t>
            </a:r>
            <a:endParaRPr lang="en-US" sz="830" dirty="0"/>
          </a:p>
        </p:txBody>
      </p:sp>
      <p:sp>
        <p:nvSpPr>
          <p:cNvPr id="24" name="Shape 22"/>
          <p:cNvSpPr/>
          <p:nvPr/>
        </p:nvSpPr>
        <p:spPr>
          <a:xfrm>
            <a:off x="2842311" y="2903355"/>
            <a:ext cx="0" cy="114402"/>
          </a:xfrm>
          <a:prstGeom prst="line">
            <a:avLst/>
          </a:prstGeom>
          <a:noFill/>
          <a:ln w="19830">
            <a:solidFill>
              <a:srgbClr val="4D4D4D"/>
            </a:solidFill>
            <a:prstDash val="solid"/>
            <a:tailEnd type="triangle"/>
          </a:ln>
        </p:spPr>
      </p:sp>
      <p:sp>
        <p:nvSpPr>
          <p:cNvPr id="25" name="Shape 23"/>
          <p:cNvSpPr/>
          <p:nvPr/>
        </p:nvSpPr>
        <p:spPr>
          <a:xfrm>
            <a:off x="2089167" y="3036824"/>
            <a:ext cx="1506288" cy="419473"/>
          </a:xfrm>
          <a:prstGeom prst="roundRect">
            <a:avLst>
              <a:gd name="adj" fmla="val 9091"/>
            </a:avLst>
          </a:prstGeom>
          <a:solidFill>
            <a:srgbClr val="FFFFFF"/>
          </a:solidFill>
          <a:ln w="15254">
            <a:solidFill>
              <a:srgbClr val="3A3A3A"/>
            </a:solidFill>
            <a:prstDash val="solid"/>
          </a:ln>
        </p:spPr>
      </p:sp>
      <p:sp>
        <p:nvSpPr>
          <p:cNvPr id="26" name="Text 24"/>
          <p:cNvSpPr txBox="1"/>
          <p:nvPr/>
        </p:nvSpPr>
        <p:spPr>
          <a:xfrm>
            <a:off x="2352704" y="3087471"/>
            <a:ext cx="979213" cy="184711"/>
          </a:xfrm>
          <a:prstGeom prst="rect">
            <a:avLst/>
          </a:prstGeom>
          <a:noFill/>
          <a:ln/>
        </p:spPr>
        <p:txBody>
          <a:bodyPr wrap="none" lIns="0" tIns="0" rIns="0" bIns="0" rtlCol="0" anchor="ctr"/>
          <a:lstStyle/>
          <a:p>
            <a:pPr marL="0" indent="0" algn="ctr">
              <a:buNone/>
            </a:pPr>
            <a:r>
              <a:rPr lang="en-US" sz="940" dirty="0">
                <a:solidFill>
                  <a:srgbClr val="1A1A1A"/>
                </a:solidFill>
                <a:latin typeface="Malgun Gothic" pitchFamily="34" charset="0"/>
                <a:ea typeface="Malgun Gothic" pitchFamily="34" charset="-122"/>
                <a:cs typeface="Malgun Gothic" pitchFamily="34" charset="-120"/>
              </a:rPr>
              <a:t>무관 정보 분리</a:t>
            </a:r>
            <a:endParaRPr lang="en-US" sz="940" dirty="0"/>
          </a:p>
        </p:txBody>
      </p:sp>
      <p:sp>
        <p:nvSpPr>
          <p:cNvPr id="27" name="Text 25"/>
          <p:cNvSpPr txBox="1"/>
          <p:nvPr/>
        </p:nvSpPr>
        <p:spPr>
          <a:xfrm>
            <a:off x="2194144" y="3260622"/>
            <a:ext cx="1296334" cy="162546"/>
          </a:xfrm>
          <a:prstGeom prst="rect">
            <a:avLst/>
          </a:prstGeom>
          <a:noFill/>
          <a:ln/>
        </p:spPr>
        <p:txBody>
          <a:bodyPr wrap="none" lIns="0" tIns="0" rIns="0" bIns="0" rtlCol="0" anchor="ctr"/>
          <a:lstStyle/>
          <a:p>
            <a:pPr marL="0" indent="0" algn="ctr">
              <a:buNone/>
            </a:pPr>
            <a:r>
              <a:rPr lang="en-US" sz="830" dirty="0">
                <a:solidFill>
                  <a:srgbClr val="1A1A1A"/>
                </a:solidFill>
                <a:latin typeface="Malgun Gothic" pitchFamily="34" charset="0"/>
                <a:ea typeface="Malgun Gothic" pitchFamily="34" charset="-122"/>
                <a:cs typeface="Malgun Gothic" pitchFamily="34" charset="-120"/>
              </a:rPr>
              <a:t>관련 없는 DB 걸러내기</a:t>
            </a:r>
            <a:endParaRPr lang="en-US" sz="830" dirty="0"/>
          </a:p>
        </p:txBody>
      </p:sp>
      <p:sp>
        <p:nvSpPr>
          <p:cNvPr id="28" name="Shape 26"/>
          <p:cNvSpPr/>
          <p:nvPr/>
        </p:nvSpPr>
        <p:spPr>
          <a:xfrm>
            <a:off x="3709856" y="2741287"/>
            <a:ext cx="286004" cy="0"/>
          </a:xfrm>
          <a:prstGeom prst="line">
            <a:avLst/>
          </a:prstGeom>
          <a:noFill/>
          <a:ln w="19830">
            <a:solidFill>
              <a:srgbClr val="4D4D4D"/>
            </a:solidFill>
            <a:prstDash val="solid"/>
            <a:tailEnd type="triangle"/>
          </a:ln>
        </p:spPr>
      </p:sp>
      <p:sp>
        <p:nvSpPr>
          <p:cNvPr id="29" name="Shape 27"/>
          <p:cNvSpPr/>
          <p:nvPr/>
        </p:nvSpPr>
        <p:spPr>
          <a:xfrm>
            <a:off x="4033994" y="1930942"/>
            <a:ext cx="1735091" cy="1620689"/>
          </a:xfrm>
          <a:prstGeom prst="roundRect">
            <a:avLst>
              <a:gd name="adj" fmla="val 3529"/>
            </a:avLst>
          </a:prstGeom>
          <a:solidFill>
            <a:srgbClr val="FFFFFF"/>
          </a:solidFill>
          <a:ln w="15254">
            <a:solidFill>
              <a:srgbClr val="3A3A3A"/>
            </a:solidFill>
            <a:prstDash val="solid"/>
          </a:ln>
        </p:spPr>
      </p:sp>
      <p:sp>
        <p:nvSpPr>
          <p:cNvPr id="30" name="Text 28"/>
          <p:cNvSpPr txBox="1"/>
          <p:nvPr/>
        </p:nvSpPr>
        <p:spPr>
          <a:xfrm>
            <a:off x="4148396" y="2017577"/>
            <a:ext cx="444946" cy="169934"/>
          </a:xfrm>
          <a:prstGeom prst="rect">
            <a:avLst/>
          </a:prstGeom>
          <a:noFill/>
          <a:ln/>
        </p:spPr>
        <p:txBody>
          <a:bodyPr wrap="none" lIns="0" tIns="0" rIns="0" bIns="0" rtlCol="0" anchor="ctr"/>
          <a:lstStyle/>
          <a:p>
            <a:pPr marL="0" indent="0" algn="l">
              <a:buNone/>
            </a:pPr>
            <a:r>
              <a:rPr lang="en-US" sz="860" dirty="0">
                <a:solidFill>
                  <a:srgbClr val="1A1A1A"/>
                </a:solidFill>
                <a:latin typeface="Consolas" pitchFamily="34" charset="0"/>
                <a:ea typeface="Consolas" pitchFamily="34" charset="-122"/>
                <a:cs typeface="Consolas" pitchFamily="34" charset="-120"/>
              </a:rPr>
              <a:t>과제 2</a:t>
            </a:r>
            <a:endParaRPr lang="en-US" sz="860" dirty="0"/>
          </a:p>
        </p:txBody>
      </p:sp>
      <p:sp>
        <p:nvSpPr>
          <p:cNvPr id="31" name="Text 29"/>
          <p:cNvSpPr txBox="1"/>
          <p:nvPr/>
        </p:nvSpPr>
        <p:spPr>
          <a:xfrm>
            <a:off x="4303618" y="2186081"/>
            <a:ext cx="1195844" cy="214265"/>
          </a:xfrm>
          <a:prstGeom prst="rect">
            <a:avLst/>
          </a:prstGeom>
          <a:noFill/>
          <a:ln/>
        </p:spPr>
        <p:txBody>
          <a:bodyPr wrap="none" lIns="0" tIns="0" rIns="0" bIns="0" rtlCol="0" anchor="ctr"/>
          <a:lstStyle/>
          <a:p>
            <a:pPr marL="0" indent="0" algn="ctr">
              <a:buNone/>
            </a:pPr>
            <a:r>
              <a:rPr lang="en-US" sz="1090" b="1" dirty="0">
                <a:solidFill>
                  <a:srgbClr val="1A1A1A"/>
                </a:solidFill>
                <a:latin typeface="Malgun Gothic" pitchFamily="34" charset="0"/>
                <a:ea typeface="Malgun Gothic" pitchFamily="34" charset="-122"/>
                <a:cs typeface="Malgun Gothic" pitchFamily="34" charset="-120"/>
              </a:rPr>
              <a:t>스키마 그라운딩</a:t>
            </a:r>
            <a:endParaRPr lang="en-US" sz="1090" dirty="0"/>
          </a:p>
        </p:txBody>
      </p:sp>
      <p:sp>
        <p:nvSpPr>
          <p:cNvPr id="32" name="Shape 30"/>
          <p:cNvSpPr/>
          <p:nvPr/>
        </p:nvSpPr>
        <p:spPr>
          <a:xfrm>
            <a:off x="4148396" y="2483883"/>
            <a:ext cx="1506288" cy="419473"/>
          </a:xfrm>
          <a:prstGeom prst="roundRect">
            <a:avLst>
              <a:gd name="adj" fmla="val 9091"/>
            </a:avLst>
          </a:prstGeom>
          <a:solidFill>
            <a:srgbClr val="FFFFFF"/>
          </a:solidFill>
          <a:ln w="15254">
            <a:solidFill>
              <a:srgbClr val="3A3A3A"/>
            </a:solidFill>
            <a:prstDash val="solid"/>
          </a:ln>
        </p:spPr>
      </p:sp>
      <p:sp>
        <p:nvSpPr>
          <p:cNvPr id="33" name="Text 31"/>
          <p:cNvSpPr txBox="1"/>
          <p:nvPr/>
        </p:nvSpPr>
        <p:spPr>
          <a:xfrm>
            <a:off x="4347582" y="2534529"/>
            <a:ext cx="1107914" cy="184711"/>
          </a:xfrm>
          <a:prstGeom prst="rect">
            <a:avLst/>
          </a:prstGeom>
          <a:noFill/>
          <a:ln/>
        </p:spPr>
        <p:txBody>
          <a:bodyPr wrap="none" lIns="0" tIns="0" rIns="0" bIns="0" rtlCol="0" anchor="ctr"/>
          <a:lstStyle/>
          <a:p>
            <a:pPr marL="0" indent="0" algn="ctr">
              <a:buNone/>
            </a:pPr>
            <a:r>
              <a:rPr lang="en-US" sz="940" dirty="0">
                <a:solidFill>
                  <a:srgbClr val="1A1A1A"/>
                </a:solidFill>
                <a:latin typeface="Malgun Gothic" pitchFamily="34" charset="0"/>
                <a:ea typeface="Malgun Gothic" pitchFamily="34" charset="-122"/>
                <a:cs typeface="Malgun Gothic" pitchFamily="34" charset="-120"/>
              </a:rPr>
              <a:t>스키마 추출 강화</a:t>
            </a:r>
            <a:endParaRPr lang="en-US" sz="940" dirty="0"/>
          </a:p>
        </p:txBody>
      </p:sp>
      <p:sp>
        <p:nvSpPr>
          <p:cNvPr id="34" name="Text 32"/>
          <p:cNvSpPr txBox="1"/>
          <p:nvPr/>
        </p:nvSpPr>
        <p:spPr>
          <a:xfrm>
            <a:off x="4210335" y="2707681"/>
            <a:ext cx="1382410" cy="162546"/>
          </a:xfrm>
          <a:prstGeom prst="rect">
            <a:avLst/>
          </a:prstGeom>
          <a:noFill/>
          <a:ln/>
        </p:spPr>
        <p:txBody>
          <a:bodyPr wrap="none" lIns="0" tIns="0" rIns="0" bIns="0" rtlCol="0" anchor="ctr"/>
          <a:lstStyle/>
          <a:p>
            <a:pPr marL="0" indent="0" algn="ctr">
              <a:buNone/>
            </a:pPr>
            <a:r>
              <a:rPr lang="en-US" sz="830" dirty="0">
                <a:solidFill>
                  <a:srgbClr val="1A1A1A"/>
                </a:solidFill>
                <a:latin typeface="Malgun Gothic" pitchFamily="34" charset="0"/>
                <a:ea typeface="Malgun Gothic" pitchFamily="34" charset="-122"/>
                <a:cs typeface="Malgun Gothic" pitchFamily="34" charset="-120"/>
              </a:rPr>
              <a:t>중복·복잡한 스키마 대응</a:t>
            </a:r>
            <a:endParaRPr lang="en-US" sz="830" dirty="0"/>
          </a:p>
        </p:txBody>
      </p:sp>
      <p:sp>
        <p:nvSpPr>
          <p:cNvPr id="35" name="Text 33"/>
          <p:cNvSpPr txBox="1"/>
          <p:nvPr/>
        </p:nvSpPr>
        <p:spPr>
          <a:xfrm>
            <a:off x="4249769" y="3058870"/>
            <a:ext cx="1303541" cy="184711"/>
          </a:xfrm>
          <a:prstGeom prst="rect">
            <a:avLst/>
          </a:prstGeom>
          <a:noFill/>
          <a:ln/>
        </p:spPr>
        <p:txBody>
          <a:bodyPr wrap="none" lIns="0" tIns="0" rIns="0" bIns="0" rtlCol="0" anchor="ctr"/>
          <a:lstStyle/>
          <a:p>
            <a:pPr marL="0" indent="0" algn="ctr">
              <a:buNone/>
            </a:pPr>
            <a:r>
              <a:rPr lang="en-US" sz="940" dirty="0">
                <a:solidFill>
                  <a:srgbClr val="1A1A1A"/>
                </a:solidFill>
                <a:latin typeface="Malgun Gothic" pitchFamily="34" charset="0"/>
                <a:ea typeface="Malgun Gothic" pitchFamily="34" charset="-122"/>
                <a:cs typeface="Malgun Gothic" pitchFamily="34" charset="-120"/>
              </a:rPr>
              <a:t>→ 관련 테이블·컬럼</a:t>
            </a:r>
            <a:endParaRPr lang="en-US" sz="940" dirty="0"/>
          </a:p>
        </p:txBody>
      </p:sp>
      <p:sp>
        <p:nvSpPr>
          <p:cNvPr id="36" name="Shape 34"/>
          <p:cNvSpPr/>
          <p:nvPr/>
        </p:nvSpPr>
        <p:spPr>
          <a:xfrm>
            <a:off x="1974765" y="3799501"/>
            <a:ext cx="3794320" cy="362272"/>
          </a:xfrm>
          <a:prstGeom prst="roundRect">
            <a:avLst>
              <a:gd name="adj" fmla="val 15789"/>
            </a:avLst>
          </a:prstGeom>
          <a:solidFill>
            <a:srgbClr val="EDEDED"/>
          </a:solidFill>
          <a:ln w="15254">
            <a:solidFill>
              <a:srgbClr val="A6A6A6"/>
            </a:solidFill>
            <a:prstDash val="solid"/>
          </a:ln>
        </p:spPr>
      </p:sp>
      <p:sp>
        <p:nvSpPr>
          <p:cNvPr id="37" name="Text 35"/>
          <p:cNvSpPr txBox="1"/>
          <p:nvPr/>
        </p:nvSpPr>
        <p:spPr>
          <a:xfrm>
            <a:off x="2049792" y="3884588"/>
            <a:ext cx="3644267" cy="192099"/>
          </a:xfrm>
          <a:prstGeom prst="rect">
            <a:avLst/>
          </a:prstGeom>
          <a:noFill/>
          <a:ln/>
        </p:spPr>
        <p:txBody>
          <a:bodyPr wrap="none" lIns="0" tIns="0" rIns="0" bIns="0" rtlCol="0" anchor="ctr"/>
          <a:lstStyle/>
          <a:p>
            <a:pPr marL="0" indent="0" algn="ctr">
              <a:buNone/>
            </a:pPr>
            <a:r>
              <a:rPr lang="en-US" sz="980" dirty="0">
                <a:solidFill>
                  <a:srgbClr val="333333"/>
                </a:solidFill>
                <a:latin typeface="Malgun Gothic" pitchFamily="34" charset="0"/>
                <a:ea typeface="Malgun Gothic" pitchFamily="34" charset="-122"/>
                <a:cs typeface="Malgun Gothic" pitchFamily="34" charset="-120"/>
              </a:rPr>
              <a:t>단계마다 Agent 모드(성능) / Pipeline 모드(효율) 선택</a:t>
            </a:r>
            <a:endParaRPr lang="en-US" sz="980" dirty="0"/>
          </a:p>
        </p:txBody>
      </p:sp>
      <p:sp>
        <p:nvSpPr>
          <p:cNvPr id="38" name="Text 36"/>
          <p:cNvSpPr txBox="1"/>
          <p:nvPr/>
        </p:nvSpPr>
        <p:spPr>
          <a:xfrm>
            <a:off x="658368" y="4383566"/>
            <a:ext cx="5111496" cy="1788634"/>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200" dirty="0">
                <a:solidFill>
                  <a:srgbClr val="1A1A1A"/>
                </a:solidFill>
                <a:latin typeface="Malgun Gothic" pitchFamily="34" charset="0"/>
                <a:ea typeface="Malgun Gothic" pitchFamily="34" charset="-122"/>
                <a:cs typeface="Malgun Gothic" pitchFamily="34" charset="-120"/>
              </a:rPr>
              <a:t>대규모 다중 DB 환경에서 DB 검색과 스키마 그라운딩을 두 과제로 분리</a:t>
            </a:r>
            <a:endParaRPr lang="en-US" sz="1200" dirty="0"/>
          </a:p>
          <a:p>
            <a:pPr marL="152400" indent="-152400">
              <a:lnSpc>
                <a:spcPct val="110000"/>
              </a:lnSpc>
              <a:spcAft>
                <a:spcPts val="400"/>
              </a:spcAft>
              <a:buSzPct val="100000"/>
              <a:buChar char="•"/>
            </a:pPr>
            <a:r>
              <a:rPr lang="en-US" sz="1200" b="1" dirty="0">
                <a:solidFill>
                  <a:srgbClr val="1A1A1A"/>
                </a:solidFill>
                <a:latin typeface="Malgun Gothic" pitchFamily="34" charset="0"/>
                <a:ea typeface="Malgun Gothic" pitchFamily="34" charset="-122"/>
                <a:cs typeface="Malgun Gothic" pitchFamily="34" charset="-120"/>
              </a:rPr>
              <a:t>다회 의미 보강 검색 + 무관 정보 분리로  </a:t>
            </a:r>
            <a:r>
              <a:rPr lang="en-US" sz="1200" dirty="0">
                <a:solidFill>
                  <a:srgbClr val="5F5F5F"/>
                </a:solidFill>
                <a:latin typeface="Malgun Gothic" pitchFamily="34" charset="0"/>
                <a:ea typeface="Malgun Gothic" pitchFamily="34" charset="-122"/>
                <a:cs typeface="Malgun Gothic" pitchFamily="34" charset="-120"/>
              </a:rPr>
              <a:t>대상 DB를 좁힘</a:t>
            </a:r>
            <a:endParaRPr lang="en-US" sz="1200" dirty="0"/>
          </a:p>
          <a:p>
            <a:pPr marL="152400" indent="-152400">
              <a:lnSpc>
                <a:spcPct val="110000"/>
              </a:lnSpc>
              <a:spcAft>
                <a:spcPts val="400"/>
              </a:spcAft>
              <a:buSzPct val="100000"/>
              <a:buChar char="•"/>
            </a:pPr>
            <a:r>
              <a:rPr lang="en-US" sz="1200" dirty="0">
                <a:solidFill>
                  <a:srgbClr val="1A1A1A"/>
                </a:solidFill>
                <a:latin typeface="Malgun Gothic" pitchFamily="34" charset="0"/>
                <a:ea typeface="Malgun Gothic" pitchFamily="34" charset="-122"/>
                <a:cs typeface="Malgun Gothic" pitchFamily="34" charset="-120"/>
              </a:rPr>
              <a:t>Spider 2.0-Lite 33.09% (오픈소스 LLM만 사용, 제출 당시 1위)</a:t>
            </a:r>
            <a:endParaRPr lang="en-US" sz="1200" dirty="0"/>
          </a:p>
        </p:txBody>
      </p:sp>
      <p:sp>
        <p:nvSpPr>
          <p:cNvPr id="39" name="Shape 37"/>
          <p:cNvSpPr/>
          <p:nvPr/>
        </p:nvSpPr>
        <p:spPr>
          <a:xfrm>
            <a:off x="6217920" y="1325880"/>
            <a:ext cx="5513832" cy="4937760"/>
          </a:xfrm>
          <a:prstGeom prst="roundRect">
            <a:avLst>
              <a:gd name="adj" fmla="val 1481"/>
            </a:avLst>
          </a:prstGeom>
          <a:solidFill>
            <a:srgbClr val="F4F4F4"/>
          </a:solidFill>
          <a:ln w="9525">
            <a:solidFill>
              <a:srgbClr val="BFBFBF"/>
            </a:solidFill>
            <a:prstDash val="solid"/>
          </a:ln>
        </p:spPr>
      </p:sp>
      <p:sp>
        <p:nvSpPr>
          <p:cNvPr id="40" name="Shape 38"/>
          <p:cNvSpPr/>
          <p:nvPr/>
        </p:nvSpPr>
        <p:spPr>
          <a:xfrm>
            <a:off x="6400800" y="1481328"/>
            <a:ext cx="749808" cy="246888"/>
          </a:xfrm>
          <a:prstGeom prst="roundRect">
            <a:avLst>
              <a:gd name="adj" fmla="val 14815"/>
            </a:avLst>
          </a:prstGeom>
          <a:solidFill>
            <a:srgbClr val="1A1A1A"/>
          </a:solidFill>
          <a:ln/>
        </p:spPr>
      </p:sp>
      <p:sp>
        <p:nvSpPr>
          <p:cNvPr id="41" name="Text 39"/>
          <p:cNvSpPr txBox="1"/>
          <p:nvPr/>
        </p:nvSpPr>
        <p:spPr>
          <a:xfrm>
            <a:off x="6400800" y="1481328"/>
            <a:ext cx="749808" cy="246888"/>
          </a:xfrm>
          <a:prstGeom prst="rect">
            <a:avLst/>
          </a:prstGeom>
          <a:noFill/>
          <a:ln/>
        </p:spPr>
        <p:txBody>
          <a:bodyPr wrap="square" lIns="0" tIns="0" rIns="0" bIns="0" rtlCol="0" anchor="ctr"/>
          <a:lstStyle/>
          <a:p>
            <a:pPr marL="0" indent="0" algn="ctr">
              <a:buNone/>
            </a:pPr>
            <a:r>
              <a:rPr lang="en-US" sz="950" b="1" dirty="0">
                <a:solidFill>
                  <a:srgbClr val="FFFFFF"/>
                </a:solidFill>
                <a:latin typeface="Malgun Gothic" pitchFamily="34" charset="0"/>
                <a:ea typeface="Malgun Gothic" pitchFamily="34" charset="-122"/>
                <a:cs typeface="Malgun Gothic" pitchFamily="34" charset="-120"/>
              </a:rPr>
              <a:t>과제 적용</a:t>
            </a:r>
            <a:endParaRPr lang="en-US" sz="950" dirty="0"/>
          </a:p>
        </p:txBody>
      </p:sp>
      <p:sp>
        <p:nvSpPr>
          <p:cNvPr id="42" name="Text 40"/>
          <p:cNvSpPr txBox="1"/>
          <p:nvPr/>
        </p:nvSpPr>
        <p:spPr>
          <a:xfrm>
            <a:off x="7242048" y="1444752"/>
            <a:ext cx="4325112" cy="329184"/>
          </a:xfrm>
          <a:prstGeom prst="rect">
            <a:avLst/>
          </a:prstGeom>
          <a:noFill/>
          <a:ln/>
        </p:spPr>
        <p:txBody>
          <a:bodyPr wrap="square" lIns="0" tIns="0" rIns="0" bIns="0" rtlCol="0" anchor="ctr"/>
          <a:lstStyle/>
          <a:p>
            <a:pPr marL="0" indent="0">
              <a:buNone/>
            </a:pPr>
            <a:r>
              <a:rPr lang="en-US" sz="1350" b="1" dirty="0">
                <a:solidFill>
                  <a:srgbClr val="1A1A1A"/>
                </a:solidFill>
                <a:latin typeface="Malgun Gothic" pitchFamily="34" charset="0"/>
                <a:ea typeface="Malgun Gothic" pitchFamily="34" charset="-122"/>
                <a:cs typeface="Malgun Gothic" pitchFamily="34" charset="-120"/>
              </a:rPr>
              <a:t>온라인 도메인 선택 + 검증 지표</a:t>
            </a:r>
            <a:endParaRPr lang="en-US" sz="1350" dirty="0"/>
          </a:p>
        </p:txBody>
      </p:sp>
      <p:sp>
        <p:nvSpPr>
          <p:cNvPr id="43" name="Shape 41"/>
          <p:cNvSpPr/>
          <p:nvPr/>
        </p:nvSpPr>
        <p:spPr>
          <a:xfrm>
            <a:off x="6400800" y="1892808"/>
            <a:ext cx="3432048" cy="305071"/>
          </a:xfrm>
          <a:prstGeom prst="roundRect">
            <a:avLst>
              <a:gd name="adj" fmla="val 15625"/>
            </a:avLst>
          </a:prstGeom>
          <a:solidFill>
            <a:srgbClr val="FFFFFF"/>
          </a:solidFill>
          <a:ln w="24406">
            <a:solidFill>
              <a:srgbClr val="1A1A1A"/>
            </a:solidFill>
            <a:prstDash val="solid"/>
          </a:ln>
        </p:spPr>
      </p:sp>
      <p:sp>
        <p:nvSpPr>
          <p:cNvPr id="44" name="Text 42"/>
          <p:cNvSpPr txBox="1"/>
          <p:nvPr/>
        </p:nvSpPr>
        <p:spPr>
          <a:xfrm>
            <a:off x="7946398" y="1949294"/>
            <a:ext cx="340852" cy="192099"/>
          </a:xfrm>
          <a:prstGeom prst="rect">
            <a:avLst/>
          </a:prstGeom>
          <a:noFill/>
          <a:ln/>
        </p:spPr>
        <p:txBody>
          <a:bodyPr wrap="none" lIns="0" tIns="0" rIns="0" bIns="0" rtlCol="0" anchor="ctr"/>
          <a:lstStyle/>
          <a:p>
            <a:pPr marL="0" indent="0" algn="ctr">
              <a:buNone/>
            </a:pPr>
            <a:r>
              <a:rPr lang="en-US" sz="980" b="1" dirty="0">
                <a:solidFill>
                  <a:srgbClr val="1A1A1A"/>
                </a:solidFill>
                <a:latin typeface="Malgun Gothic" pitchFamily="34" charset="0"/>
                <a:ea typeface="Malgun Gothic" pitchFamily="34" charset="-122"/>
                <a:cs typeface="Malgun Gothic" pitchFamily="34" charset="-120"/>
              </a:rPr>
              <a:t>질문</a:t>
            </a:r>
            <a:endParaRPr lang="en-US" sz="980" dirty="0"/>
          </a:p>
        </p:txBody>
      </p:sp>
      <p:sp>
        <p:nvSpPr>
          <p:cNvPr id="45" name="Shape 43"/>
          <p:cNvSpPr/>
          <p:nvPr/>
        </p:nvSpPr>
        <p:spPr>
          <a:xfrm>
            <a:off x="8116824" y="2197879"/>
            <a:ext cx="0" cy="95335"/>
          </a:xfrm>
          <a:prstGeom prst="line">
            <a:avLst/>
          </a:prstGeom>
          <a:noFill/>
          <a:ln w="19830">
            <a:solidFill>
              <a:srgbClr val="4D4D4D"/>
            </a:solidFill>
            <a:prstDash val="solid"/>
            <a:tailEnd type="triangle"/>
          </a:ln>
        </p:spPr>
      </p:sp>
      <p:sp>
        <p:nvSpPr>
          <p:cNvPr id="46" name="Shape 44"/>
          <p:cNvSpPr/>
          <p:nvPr/>
        </p:nvSpPr>
        <p:spPr>
          <a:xfrm>
            <a:off x="6400800" y="2312281"/>
            <a:ext cx="3432048" cy="343205"/>
          </a:xfrm>
          <a:prstGeom prst="roundRect">
            <a:avLst>
              <a:gd name="adj" fmla="val 13889"/>
            </a:avLst>
          </a:prstGeom>
          <a:solidFill>
            <a:srgbClr val="FFFFFF"/>
          </a:solidFill>
          <a:ln w="15254">
            <a:solidFill>
              <a:srgbClr val="3A3A3A"/>
            </a:solidFill>
            <a:prstDash val="solid"/>
          </a:ln>
        </p:spPr>
      </p:sp>
      <p:sp>
        <p:nvSpPr>
          <p:cNvPr id="47" name="Text 45"/>
          <p:cNvSpPr txBox="1"/>
          <p:nvPr/>
        </p:nvSpPr>
        <p:spPr>
          <a:xfrm>
            <a:off x="6534269" y="2384139"/>
            <a:ext cx="1401972" cy="199488"/>
          </a:xfrm>
          <a:prstGeom prst="rect">
            <a:avLst/>
          </a:prstGeom>
          <a:noFill/>
          <a:ln/>
        </p:spPr>
        <p:txBody>
          <a:bodyPr wrap="none" lIns="0" tIns="0" rIns="0" bIns="0" rtlCol="0" anchor="ctr"/>
          <a:lstStyle/>
          <a:p>
            <a:pPr marL="0" indent="0" algn="l">
              <a:buNone/>
            </a:pPr>
            <a:r>
              <a:rPr lang="en-US" sz="1010" b="1" dirty="0">
                <a:solidFill>
                  <a:srgbClr val="1A1A1A"/>
                </a:solidFill>
                <a:latin typeface="Malgun Gothic" pitchFamily="34" charset="0"/>
                <a:ea typeface="Malgun Gothic" pitchFamily="34" charset="-122"/>
                <a:cs typeface="Malgun Gothic" pitchFamily="34" charset="-120"/>
              </a:rPr>
              <a:t>① 원천 시스템 후보</a:t>
            </a:r>
            <a:endParaRPr lang="en-US" sz="1010" dirty="0"/>
          </a:p>
        </p:txBody>
      </p:sp>
      <p:sp>
        <p:nvSpPr>
          <p:cNvPr id="48" name="Text 46"/>
          <p:cNvSpPr txBox="1"/>
          <p:nvPr/>
        </p:nvSpPr>
        <p:spPr>
          <a:xfrm>
            <a:off x="8867608" y="2395222"/>
            <a:ext cx="831772" cy="177322"/>
          </a:xfrm>
          <a:prstGeom prst="rect">
            <a:avLst/>
          </a:prstGeom>
          <a:noFill/>
          <a:ln/>
        </p:spPr>
        <p:txBody>
          <a:bodyPr wrap="none" lIns="0" tIns="0" rIns="0" bIns="0" rtlCol="0" anchor="ctr"/>
          <a:lstStyle/>
          <a:p>
            <a:pPr marL="0" indent="0" algn="r">
              <a:buNone/>
            </a:pPr>
            <a:r>
              <a:rPr lang="en-US" sz="900" dirty="0">
                <a:solidFill>
                  <a:srgbClr val="1A1A1A"/>
                </a:solidFill>
                <a:latin typeface="Malgun Gothic" pitchFamily="34" charset="0"/>
                <a:ea typeface="Malgun Gothic" pitchFamily="34" charset="-122"/>
                <a:cs typeface="Malgun Gothic" pitchFamily="34" charset="-120"/>
              </a:rPr>
              <a:t>1라운드 검색</a:t>
            </a:r>
            <a:endParaRPr lang="en-US" sz="900" dirty="0"/>
          </a:p>
        </p:txBody>
      </p:sp>
      <p:sp>
        <p:nvSpPr>
          <p:cNvPr id="49" name="Shape 47"/>
          <p:cNvSpPr/>
          <p:nvPr/>
        </p:nvSpPr>
        <p:spPr>
          <a:xfrm>
            <a:off x="8116824" y="2655485"/>
            <a:ext cx="0" cy="95335"/>
          </a:xfrm>
          <a:prstGeom prst="line">
            <a:avLst/>
          </a:prstGeom>
          <a:noFill/>
          <a:ln w="19830">
            <a:solidFill>
              <a:srgbClr val="4D4D4D"/>
            </a:solidFill>
            <a:prstDash val="solid"/>
            <a:tailEnd type="triangle"/>
          </a:ln>
        </p:spPr>
      </p:sp>
      <p:sp>
        <p:nvSpPr>
          <p:cNvPr id="50" name="Shape 48"/>
          <p:cNvSpPr/>
          <p:nvPr/>
        </p:nvSpPr>
        <p:spPr>
          <a:xfrm>
            <a:off x="6400800" y="2769887"/>
            <a:ext cx="3432048" cy="343205"/>
          </a:xfrm>
          <a:prstGeom prst="roundRect">
            <a:avLst>
              <a:gd name="adj" fmla="val 13889"/>
            </a:avLst>
          </a:prstGeom>
          <a:solidFill>
            <a:srgbClr val="FFFFFF"/>
          </a:solidFill>
          <a:ln w="15254">
            <a:solidFill>
              <a:srgbClr val="3A3A3A"/>
            </a:solidFill>
            <a:prstDash val="solid"/>
          </a:ln>
        </p:spPr>
      </p:sp>
      <p:sp>
        <p:nvSpPr>
          <p:cNvPr id="51" name="Text 49"/>
          <p:cNvSpPr txBox="1"/>
          <p:nvPr/>
        </p:nvSpPr>
        <p:spPr>
          <a:xfrm>
            <a:off x="6534269" y="2841745"/>
            <a:ext cx="1135096" cy="199488"/>
          </a:xfrm>
          <a:prstGeom prst="rect">
            <a:avLst/>
          </a:prstGeom>
          <a:noFill/>
          <a:ln/>
        </p:spPr>
        <p:txBody>
          <a:bodyPr wrap="none" lIns="0" tIns="0" rIns="0" bIns="0" rtlCol="0" anchor="ctr"/>
          <a:lstStyle/>
          <a:p>
            <a:pPr marL="0" indent="0" algn="l">
              <a:buNone/>
            </a:pPr>
            <a:r>
              <a:rPr lang="en-US" sz="1010" b="1" dirty="0">
                <a:solidFill>
                  <a:srgbClr val="1A1A1A"/>
                </a:solidFill>
                <a:latin typeface="Malgun Gothic" pitchFamily="34" charset="0"/>
                <a:ea typeface="Malgun Gothic" pitchFamily="34" charset="-122"/>
                <a:cs typeface="Malgun Gothic" pitchFamily="34" charset="-120"/>
              </a:rPr>
              <a:t>② 도메인 top-k</a:t>
            </a:r>
            <a:endParaRPr lang="en-US" sz="1010" dirty="0"/>
          </a:p>
        </p:txBody>
      </p:sp>
      <p:sp>
        <p:nvSpPr>
          <p:cNvPr id="52" name="Text 50"/>
          <p:cNvSpPr txBox="1"/>
          <p:nvPr/>
        </p:nvSpPr>
        <p:spPr>
          <a:xfrm>
            <a:off x="8445054" y="2852828"/>
            <a:ext cx="1254326" cy="177322"/>
          </a:xfrm>
          <a:prstGeom prst="rect">
            <a:avLst/>
          </a:prstGeom>
          <a:noFill/>
          <a:ln/>
        </p:spPr>
        <p:txBody>
          <a:bodyPr wrap="none" lIns="0" tIns="0" rIns="0" bIns="0" rtlCol="0" anchor="ctr"/>
          <a:lstStyle/>
          <a:p>
            <a:pPr marL="0" indent="0" algn="r">
              <a:buNone/>
            </a:pPr>
            <a:r>
              <a:rPr lang="en-US" sz="900" dirty="0">
                <a:solidFill>
                  <a:srgbClr val="1A1A1A"/>
                </a:solidFill>
                <a:latin typeface="Malgun Gothic" pitchFamily="34" charset="0"/>
                <a:ea typeface="Malgun Gothic" pitchFamily="34" charset="-122"/>
                <a:cs typeface="Malgun Gothic" pitchFamily="34" charset="-120"/>
              </a:rPr>
              <a:t>질문 보강 후 재검색</a:t>
            </a:r>
            <a:endParaRPr lang="en-US" sz="900" dirty="0"/>
          </a:p>
        </p:txBody>
      </p:sp>
      <p:sp>
        <p:nvSpPr>
          <p:cNvPr id="53" name="Shape 51"/>
          <p:cNvSpPr/>
          <p:nvPr/>
        </p:nvSpPr>
        <p:spPr>
          <a:xfrm>
            <a:off x="8116824" y="3113092"/>
            <a:ext cx="0" cy="95335"/>
          </a:xfrm>
          <a:prstGeom prst="line">
            <a:avLst/>
          </a:prstGeom>
          <a:noFill/>
          <a:ln w="19830">
            <a:solidFill>
              <a:srgbClr val="4D4D4D"/>
            </a:solidFill>
            <a:prstDash val="solid"/>
            <a:tailEnd type="triangle"/>
          </a:ln>
        </p:spPr>
      </p:sp>
      <p:sp>
        <p:nvSpPr>
          <p:cNvPr id="54" name="Shape 52"/>
          <p:cNvSpPr/>
          <p:nvPr/>
        </p:nvSpPr>
        <p:spPr>
          <a:xfrm>
            <a:off x="6400800" y="3227493"/>
            <a:ext cx="3432048" cy="343205"/>
          </a:xfrm>
          <a:prstGeom prst="roundRect">
            <a:avLst>
              <a:gd name="adj" fmla="val 13889"/>
            </a:avLst>
          </a:prstGeom>
          <a:solidFill>
            <a:srgbClr val="FFFFFF"/>
          </a:solidFill>
          <a:ln w="15254">
            <a:solidFill>
              <a:srgbClr val="3A3A3A"/>
            </a:solidFill>
            <a:prstDash val="solid"/>
          </a:ln>
        </p:spPr>
      </p:sp>
      <p:sp>
        <p:nvSpPr>
          <p:cNvPr id="55" name="Text 53"/>
          <p:cNvSpPr txBox="1"/>
          <p:nvPr/>
        </p:nvSpPr>
        <p:spPr>
          <a:xfrm>
            <a:off x="6534269" y="3299352"/>
            <a:ext cx="1401972" cy="199488"/>
          </a:xfrm>
          <a:prstGeom prst="rect">
            <a:avLst/>
          </a:prstGeom>
          <a:noFill/>
          <a:ln/>
        </p:spPr>
        <p:txBody>
          <a:bodyPr wrap="none" lIns="0" tIns="0" rIns="0" bIns="0" rtlCol="0" anchor="ctr"/>
          <a:lstStyle/>
          <a:p>
            <a:pPr marL="0" indent="0" algn="l">
              <a:buNone/>
            </a:pPr>
            <a:r>
              <a:rPr lang="en-US" sz="1010" b="1" dirty="0">
                <a:solidFill>
                  <a:srgbClr val="1A1A1A"/>
                </a:solidFill>
                <a:latin typeface="Malgun Gothic" pitchFamily="34" charset="0"/>
                <a:ea typeface="Malgun Gothic" pitchFamily="34" charset="-122"/>
                <a:cs typeface="Malgun Gothic" pitchFamily="34" charset="-120"/>
              </a:rPr>
              <a:t>③ 무관 도메인 제외</a:t>
            </a:r>
            <a:endParaRPr lang="en-US" sz="1010" dirty="0"/>
          </a:p>
        </p:txBody>
      </p:sp>
      <p:sp>
        <p:nvSpPr>
          <p:cNvPr id="56" name="Text 54"/>
          <p:cNvSpPr txBox="1"/>
          <p:nvPr/>
        </p:nvSpPr>
        <p:spPr>
          <a:xfrm>
            <a:off x="8445054" y="3310434"/>
            <a:ext cx="1254326" cy="177322"/>
          </a:xfrm>
          <a:prstGeom prst="rect">
            <a:avLst/>
          </a:prstGeom>
          <a:noFill/>
          <a:ln/>
        </p:spPr>
        <p:txBody>
          <a:bodyPr wrap="none" lIns="0" tIns="0" rIns="0" bIns="0" rtlCol="0" anchor="ctr"/>
          <a:lstStyle/>
          <a:p>
            <a:pPr marL="0" indent="0" algn="r">
              <a:buNone/>
            </a:pPr>
            <a:r>
              <a:rPr lang="en-US" sz="900" dirty="0">
                <a:solidFill>
                  <a:srgbClr val="1A1A1A"/>
                </a:solidFill>
                <a:latin typeface="Malgun Gothic" pitchFamily="34" charset="0"/>
                <a:ea typeface="Malgun Gothic" pitchFamily="34" charset="-122"/>
                <a:cs typeface="Malgun Gothic" pitchFamily="34" charset="-120"/>
              </a:rPr>
              <a:t>관련 없는 후보 제거</a:t>
            </a:r>
            <a:endParaRPr lang="en-US" sz="900" dirty="0"/>
          </a:p>
        </p:txBody>
      </p:sp>
      <p:sp>
        <p:nvSpPr>
          <p:cNvPr id="57" name="Shape 55"/>
          <p:cNvSpPr/>
          <p:nvPr/>
        </p:nvSpPr>
        <p:spPr>
          <a:xfrm>
            <a:off x="10061651" y="2312281"/>
            <a:ext cx="1487221" cy="800811"/>
          </a:xfrm>
          <a:prstGeom prst="roundRect">
            <a:avLst>
              <a:gd name="adj" fmla="val 5952"/>
            </a:avLst>
          </a:prstGeom>
          <a:solidFill>
            <a:srgbClr val="EDEDED"/>
          </a:solidFill>
          <a:ln w="15254">
            <a:solidFill>
              <a:srgbClr val="A6A6A6"/>
            </a:solidFill>
            <a:prstDash val="solid"/>
          </a:ln>
        </p:spPr>
      </p:sp>
      <p:sp>
        <p:nvSpPr>
          <p:cNvPr id="58" name="Text 56"/>
          <p:cNvSpPr txBox="1"/>
          <p:nvPr/>
        </p:nvSpPr>
        <p:spPr>
          <a:xfrm>
            <a:off x="10265410" y="2521302"/>
            <a:ext cx="1079703" cy="192099"/>
          </a:xfrm>
          <a:prstGeom prst="rect">
            <a:avLst/>
          </a:prstGeom>
          <a:noFill/>
          <a:ln/>
        </p:spPr>
        <p:txBody>
          <a:bodyPr wrap="none" lIns="0" tIns="0" rIns="0" bIns="0" rtlCol="0" anchor="ctr"/>
          <a:lstStyle/>
          <a:p>
            <a:pPr marL="0" indent="0" algn="ctr">
              <a:buNone/>
            </a:pPr>
            <a:r>
              <a:rPr lang="en-US" sz="980" b="1" dirty="0">
                <a:solidFill>
                  <a:srgbClr val="333333"/>
                </a:solidFill>
                <a:latin typeface="Malgun Gothic" pitchFamily="34" charset="0"/>
                <a:ea typeface="Malgun Gothic" pitchFamily="34" charset="-122"/>
                <a:cs typeface="Malgun Gothic" pitchFamily="34" charset="-120"/>
              </a:rPr>
              <a:t>도메인 카탈로그</a:t>
            </a:r>
            <a:endParaRPr lang="en-US" sz="980" dirty="0"/>
          </a:p>
        </p:txBody>
      </p:sp>
      <p:sp>
        <p:nvSpPr>
          <p:cNvPr id="59" name="Text 57"/>
          <p:cNvSpPr txBox="1"/>
          <p:nvPr/>
        </p:nvSpPr>
        <p:spPr>
          <a:xfrm>
            <a:off x="10405180" y="2742121"/>
            <a:ext cx="800163" cy="169934"/>
          </a:xfrm>
          <a:prstGeom prst="rect">
            <a:avLst/>
          </a:prstGeom>
          <a:noFill/>
          <a:ln/>
        </p:spPr>
        <p:txBody>
          <a:bodyPr wrap="none" lIns="0" tIns="0" rIns="0" bIns="0" rtlCol="0" anchor="ctr"/>
          <a:lstStyle/>
          <a:p>
            <a:pPr marL="0" indent="0" algn="ctr">
              <a:buNone/>
            </a:pPr>
            <a:r>
              <a:rPr lang="en-US" sz="860" dirty="0">
                <a:solidFill>
                  <a:srgbClr val="333333"/>
                </a:solidFill>
                <a:latin typeface="Malgun Gothic" pitchFamily="34" charset="0"/>
                <a:ea typeface="Malgun Gothic" pitchFamily="34" charset="-122"/>
                <a:cs typeface="Malgun Gothic" pitchFamily="34" charset="-120"/>
              </a:rPr>
              <a:t>8장에서 구성</a:t>
            </a:r>
            <a:endParaRPr lang="en-US" sz="860" dirty="0"/>
          </a:p>
        </p:txBody>
      </p:sp>
      <p:sp>
        <p:nvSpPr>
          <p:cNvPr id="60" name="Shape 58"/>
          <p:cNvSpPr/>
          <p:nvPr/>
        </p:nvSpPr>
        <p:spPr>
          <a:xfrm flipH="1">
            <a:off x="9851915" y="2483883"/>
            <a:ext cx="209736" cy="0"/>
          </a:xfrm>
          <a:prstGeom prst="line">
            <a:avLst/>
          </a:prstGeom>
          <a:noFill/>
          <a:ln w="19830">
            <a:solidFill>
              <a:srgbClr val="8C8C8C"/>
            </a:solidFill>
            <a:prstDash val="dash"/>
          </a:ln>
        </p:spPr>
      </p:sp>
      <p:sp>
        <p:nvSpPr>
          <p:cNvPr id="61" name="Shape 59"/>
          <p:cNvSpPr/>
          <p:nvPr/>
        </p:nvSpPr>
        <p:spPr>
          <a:xfrm flipH="1">
            <a:off x="9851915" y="2941489"/>
            <a:ext cx="209736" cy="0"/>
          </a:xfrm>
          <a:prstGeom prst="line">
            <a:avLst/>
          </a:prstGeom>
          <a:noFill/>
          <a:ln w="19830">
            <a:solidFill>
              <a:srgbClr val="8C8C8C"/>
            </a:solidFill>
            <a:prstDash val="dash"/>
          </a:ln>
        </p:spPr>
      </p:sp>
      <p:sp>
        <p:nvSpPr>
          <p:cNvPr id="62" name="Shape 60"/>
          <p:cNvSpPr/>
          <p:nvPr/>
        </p:nvSpPr>
        <p:spPr>
          <a:xfrm>
            <a:off x="10061651" y="3227493"/>
            <a:ext cx="1487221" cy="419473"/>
          </a:xfrm>
          <a:prstGeom prst="roundRect">
            <a:avLst>
              <a:gd name="adj" fmla="val 11364"/>
            </a:avLst>
          </a:prstGeom>
          <a:solidFill>
            <a:srgbClr val="F2F2F2"/>
          </a:solidFill>
          <a:ln w="15254">
            <a:solidFill>
              <a:srgbClr val="8C8C8C"/>
            </a:solidFill>
            <a:prstDash val="dash"/>
          </a:ln>
        </p:spPr>
      </p:sp>
      <p:sp>
        <p:nvSpPr>
          <p:cNvPr id="63" name="Text 61"/>
          <p:cNvSpPr txBox="1"/>
          <p:nvPr/>
        </p:nvSpPr>
        <p:spPr>
          <a:xfrm>
            <a:off x="10351898" y="3285528"/>
            <a:ext cx="906728" cy="169934"/>
          </a:xfrm>
          <a:prstGeom prst="rect">
            <a:avLst/>
          </a:prstGeom>
          <a:noFill/>
          <a:ln/>
        </p:spPr>
        <p:txBody>
          <a:bodyPr wrap="none" lIns="0" tIns="0" rIns="0" bIns="0" rtlCol="0" anchor="ctr"/>
          <a:lstStyle/>
          <a:p>
            <a:pPr marL="0" indent="0" algn="ctr">
              <a:buNone/>
            </a:pPr>
            <a:r>
              <a:rPr lang="en-US" sz="860" dirty="0">
                <a:solidFill>
                  <a:srgbClr val="404040"/>
                </a:solidFill>
                <a:latin typeface="Malgun Gothic" pitchFamily="34" charset="0"/>
                <a:ea typeface="Malgun Gothic" pitchFamily="34" charset="-122"/>
                <a:cs typeface="Malgun Gothic" pitchFamily="34" charset="-120"/>
              </a:rPr>
              <a:t>확신도 낮음 →</a:t>
            </a:r>
            <a:endParaRPr lang="en-US" sz="860" dirty="0"/>
          </a:p>
        </p:txBody>
      </p:sp>
      <p:sp>
        <p:nvSpPr>
          <p:cNvPr id="64" name="Text 62"/>
          <p:cNvSpPr txBox="1"/>
          <p:nvPr/>
        </p:nvSpPr>
        <p:spPr>
          <a:xfrm>
            <a:off x="10292695" y="3447597"/>
            <a:ext cx="1025133" cy="169934"/>
          </a:xfrm>
          <a:prstGeom prst="rect">
            <a:avLst/>
          </a:prstGeom>
          <a:noFill/>
          <a:ln/>
        </p:spPr>
        <p:txBody>
          <a:bodyPr wrap="none" lIns="0" tIns="0" rIns="0" bIns="0" rtlCol="0" anchor="ctr"/>
          <a:lstStyle/>
          <a:p>
            <a:pPr marL="0" indent="0" algn="ctr">
              <a:buNone/>
            </a:pPr>
            <a:r>
              <a:rPr lang="en-US" sz="860" dirty="0">
                <a:solidFill>
                  <a:srgbClr val="404040"/>
                </a:solidFill>
                <a:latin typeface="Malgun Gothic" pitchFamily="34" charset="0"/>
                <a:ea typeface="Malgun Gothic" pitchFamily="34" charset="-122"/>
                <a:cs typeface="Malgun Gothic" pitchFamily="34" charset="-120"/>
              </a:rPr>
              <a:t>인접 도메인 확장</a:t>
            </a:r>
            <a:endParaRPr lang="en-US" sz="860" dirty="0"/>
          </a:p>
        </p:txBody>
      </p:sp>
      <p:sp>
        <p:nvSpPr>
          <p:cNvPr id="65" name="Shape 63"/>
          <p:cNvSpPr/>
          <p:nvPr/>
        </p:nvSpPr>
        <p:spPr>
          <a:xfrm>
            <a:off x="9832848" y="3437230"/>
            <a:ext cx="209736" cy="0"/>
          </a:xfrm>
          <a:prstGeom prst="line">
            <a:avLst/>
          </a:prstGeom>
          <a:noFill/>
          <a:ln w="19830">
            <a:solidFill>
              <a:srgbClr val="4D4D4D"/>
            </a:solidFill>
            <a:prstDash val="solid"/>
            <a:tailEnd type="triangle"/>
          </a:ln>
        </p:spPr>
      </p:sp>
      <p:sp>
        <p:nvSpPr>
          <p:cNvPr id="66" name="Shape 64"/>
          <p:cNvSpPr/>
          <p:nvPr/>
        </p:nvSpPr>
        <p:spPr>
          <a:xfrm>
            <a:off x="8116824" y="3570698"/>
            <a:ext cx="0" cy="209736"/>
          </a:xfrm>
          <a:prstGeom prst="line">
            <a:avLst/>
          </a:prstGeom>
          <a:noFill/>
          <a:ln w="19830">
            <a:solidFill>
              <a:srgbClr val="4D4D4D"/>
            </a:solidFill>
            <a:prstDash val="solid"/>
            <a:tailEnd type="triangle"/>
          </a:ln>
        </p:spPr>
      </p:sp>
      <p:sp>
        <p:nvSpPr>
          <p:cNvPr id="67" name="Shape 65"/>
          <p:cNvSpPr/>
          <p:nvPr/>
        </p:nvSpPr>
        <p:spPr>
          <a:xfrm>
            <a:off x="10805262" y="3646966"/>
            <a:ext cx="0" cy="133469"/>
          </a:xfrm>
          <a:prstGeom prst="line">
            <a:avLst/>
          </a:prstGeom>
          <a:noFill/>
          <a:ln w="19830">
            <a:solidFill>
              <a:srgbClr val="4D4D4D"/>
            </a:solidFill>
            <a:prstDash val="solid"/>
            <a:tailEnd type="triangle"/>
          </a:ln>
        </p:spPr>
      </p:sp>
      <p:sp>
        <p:nvSpPr>
          <p:cNvPr id="68" name="Shape 66"/>
          <p:cNvSpPr/>
          <p:nvPr/>
        </p:nvSpPr>
        <p:spPr>
          <a:xfrm>
            <a:off x="6400800" y="3799501"/>
            <a:ext cx="5148072" cy="400406"/>
          </a:xfrm>
          <a:prstGeom prst="roundRect">
            <a:avLst>
              <a:gd name="adj" fmla="val 11905"/>
            </a:avLst>
          </a:prstGeom>
          <a:solidFill>
            <a:srgbClr val="FCE9E1"/>
          </a:solidFill>
          <a:ln w="30507">
            <a:solidFill>
              <a:srgbClr val="D9480F"/>
            </a:solidFill>
            <a:prstDash val="solid"/>
          </a:ln>
        </p:spPr>
      </p:sp>
      <p:sp>
        <p:nvSpPr>
          <p:cNvPr id="69" name="Text 67"/>
          <p:cNvSpPr txBox="1"/>
          <p:nvPr/>
        </p:nvSpPr>
        <p:spPr>
          <a:xfrm>
            <a:off x="6711513" y="3899960"/>
            <a:ext cx="4526646" cy="199488"/>
          </a:xfrm>
          <a:prstGeom prst="rect">
            <a:avLst/>
          </a:prstGeom>
          <a:noFill/>
          <a:ln/>
        </p:spPr>
        <p:txBody>
          <a:bodyPr wrap="none" lIns="0" tIns="0" rIns="0" bIns="0" rtlCol="0" anchor="ctr"/>
          <a:lstStyle/>
          <a:p>
            <a:pPr marL="0" indent="0" algn="ctr">
              <a:buNone/>
            </a:pPr>
            <a:r>
              <a:rPr lang="en-US" sz="1010" b="1" dirty="0">
                <a:solidFill>
                  <a:srgbClr val="1A1A1A"/>
                </a:solidFill>
                <a:latin typeface="Malgun Gothic" pitchFamily="34" charset="0"/>
                <a:ea typeface="Malgun Gothic" pitchFamily="34" charset="-122"/>
                <a:cs typeface="Malgun Gothic" pitchFamily="34" charset="-120"/>
              </a:rPr>
              <a:t>선택 도메인 + 공유 허브 테이블 → 엔티티 추출 이후 단계 (3~6장)</a:t>
            </a:r>
            <a:endParaRPr lang="en-US" sz="1010" dirty="0"/>
          </a:p>
        </p:txBody>
      </p:sp>
      <p:sp>
        <p:nvSpPr>
          <p:cNvPr id="70" name="Text 68"/>
          <p:cNvSpPr txBox="1"/>
          <p:nvPr/>
        </p:nvSpPr>
        <p:spPr>
          <a:xfrm>
            <a:off x="6419088" y="4402633"/>
            <a:ext cx="5111496" cy="1005840"/>
          </a:xfrm>
          <a:prstGeom prst="rect">
            <a:avLst/>
          </a:prstGeom>
          <a:noFill/>
          <a:ln/>
        </p:spPr>
        <p:txBody>
          <a:bodyPr wrap="square" lIns="0" tIns="0" rIns="0" bIns="0" rtlCol="0" anchor="t"/>
          <a:lstStyle/>
          <a:p>
            <a:pPr marL="152400" indent="-152400">
              <a:lnSpc>
                <a:spcPct val="110000"/>
              </a:lnSpc>
              <a:spcAft>
                <a:spcPts val="400"/>
              </a:spcAft>
              <a:buSzPct val="100000"/>
              <a:buChar char="•"/>
            </a:pPr>
            <a:r>
              <a:rPr lang="en-US" sz="1200" b="1" dirty="0">
                <a:solidFill>
                  <a:srgbClr val="1A1A1A"/>
                </a:solidFill>
                <a:latin typeface="Malgun Gothic" pitchFamily="34" charset="0"/>
                <a:ea typeface="Malgun Gothic" pitchFamily="34" charset="-122"/>
                <a:cs typeface="Malgun Gothic" pitchFamily="34" charset="-120"/>
              </a:rPr>
              <a:t>교차 질문  </a:t>
            </a:r>
            <a:r>
              <a:rPr lang="en-US" sz="1200" dirty="0">
                <a:solidFill>
                  <a:srgbClr val="5F5F5F"/>
                </a:solidFill>
                <a:latin typeface="Malgun Gothic" pitchFamily="34" charset="0"/>
                <a:ea typeface="Malgun Gothic" pitchFamily="34" charset="-122"/>
                <a:cs typeface="Malgun Gothic" pitchFamily="34" charset="-120"/>
              </a:rPr>
              <a:t>설비 이벤트 + Lot 이력처럼 도메인을 넘는 질문은 상위 2~3개 함께 선택</a:t>
            </a:r>
            <a:endParaRPr lang="en-US" sz="1200" dirty="0"/>
          </a:p>
          <a:p>
            <a:pPr marL="152400" indent="-152400">
              <a:lnSpc>
                <a:spcPct val="110000"/>
              </a:lnSpc>
              <a:spcAft>
                <a:spcPts val="400"/>
              </a:spcAft>
              <a:buSzPct val="100000"/>
              <a:buChar char="•"/>
            </a:pPr>
            <a:r>
              <a:rPr lang="en-US" sz="1200" b="1" dirty="0">
                <a:solidFill>
                  <a:srgbClr val="1A1A1A"/>
                </a:solidFill>
                <a:latin typeface="Malgun Gothic" pitchFamily="34" charset="0"/>
                <a:ea typeface="Malgun Gothic" pitchFamily="34" charset="-122"/>
                <a:cs typeface="Malgun Gothic" pitchFamily="34" charset="-120"/>
              </a:rPr>
              <a:t>LinkAlign 대비 차이  </a:t>
            </a:r>
            <a:r>
              <a:rPr lang="en-US" sz="1200" dirty="0">
                <a:solidFill>
                  <a:srgbClr val="5F5F5F"/>
                </a:solidFill>
                <a:latin typeface="Malgun Gothic" pitchFamily="34" charset="0"/>
                <a:ea typeface="Malgun Gothic" pitchFamily="34" charset="-122"/>
                <a:cs typeface="Malgun Gothic" pitchFamily="34" charset="-120"/>
              </a:rPr>
              <a:t>독립 DB가 아니라 Exadata 안에서 만든 도메인을 고르므로 PoC로 성능 확인</a:t>
            </a:r>
            <a:endParaRPr lang="en-US" sz="1200" dirty="0"/>
          </a:p>
        </p:txBody>
      </p:sp>
      <p:sp>
        <p:nvSpPr>
          <p:cNvPr id="71" name="Shape 69"/>
          <p:cNvSpPr/>
          <p:nvPr/>
        </p:nvSpPr>
        <p:spPr>
          <a:xfrm>
            <a:off x="6400800" y="5454193"/>
            <a:ext cx="5148072" cy="749808"/>
          </a:xfrm>
          <a:prstGeom prst="roundRect">
            <a:avLst>
              <a:gd name="adj" fmla="val 9756"/>
            </a:avLst>
          </a:prstGeom>
          <a:solidFill>
            <a:srgbClr val="FFFFFF"/>
          </a:solidFill>
          <a:ln/>
        </p:spPr>
      </p:sp>
      <p:sp>
        <p:nvSpPr>
          <p:cNvPr id="72" name="Text 70"/>
          <p:cNvSpPr txBox="1"/>
          <p:nvPr/>
        </p:nvSpPr>
        <p:spPr>
          <a:xfrm>
            <a:off x="6565392" y="5545633"/>
            <a:ext cx="1097280" cy="237744"/>
          </a:xfrm>
          <a:prstGeom prst="rect">
            <a:avLst/>
          </a:prstGeom>
          <a:noFill/>
          <a:ln/>
        </p:spPr>
        <p:txBody>
          <a:bodyPr wrap="square" lIns="0" tIns="0" rIns="0" bIns="0" rtlCol="0" anchor="t"/>
          <a:lstStyle/>
          <a:p>
            <a:pPr marL="0" indent="0">
              <a:buNone/>
            </a:pPr>
            <a:r>
              <a:rPr lang="en-US" sz="1050" b="1" dirty="0">
                <a:solidFill>
                  <a:srgbClr val="5F5F5F"/>
                </a:solidFill>
                <a:latin typeface="Malgun Gothic" pitchFamily="34" charset="0"/>
                <a:ea typeface="Malgun Gothic" pitchFamily="34" charset="-122"/>
                <a:cs typeface="Malgun Gothic" pitchFamily="34" charset="-120"/>
              </a:rPr>
              <a:t>검증 지표</a:t>
            </a:r>
            <a:endParaRPr lang="en-US" sz="1050" dirty="0"/>
          </a:p>
        </p:txBody>
      </p:sp>
      <p:sp>
        <p:nvSpPr>
          <p:cNvPr id="73" name="Text 71"/>
          <p:cNvSpPr txBox="1"/>
          <p:nvPr/>
        </p:nvSpPr>
        <p:spPr>
          <a:xfrm>
            <a:off x="6565392" y="5783377"/>
            <a:ext cx="2560320" cy="329184"/>
          </a:xfrm>
          <a:prstGeom prst="rect">
            <a:avLst/>
          </a:prstGeom>
          <a:noFill/>
          <a:ln/>
        </p:spPr>
        <p:txBody>
          <a:bodyPr wrap="square" lIns="0" tIns="0" rIns="0" bIns="0" rtlCol="0" anchor="ctr"/>
          <a:lstStyle/>
          <a:p>
            <a:pPr marL="0" indent="0">
              <a:buNone/>
            </a:pPr>
            <a:r>
              <a:rPr lang="en-US" sz="1600" b="1" dirty="0">
                <a:solidFill>
                  <a:srgbClr val="D9480F"/>
                </a:solidFill>
                <a:latin typeface="Malgun Gothic" pitchFamily="34" charset="0"/>
                <a:ea typeface="Malgun Gothic" pitchFamily="34" charset="-122"/>
                <a:cs typeface="Malgun Gothic" pitchFamily="34" charset="-120"/>
              </a:rPr>
              <a:t>Routing recall@k ≥ 95%</a:t>
            </a:r>
            <a:endParaRPr lang="en-US" sz="1600" dirty="0"/>
          </a:p>
        </p:txBody>
      </p:sp>
      <p:sp>
        <p:nvSpPr>
          <p:cNvPr id="74" name="Text 72"/>
          <p:cNvSpPr txBox="1"/>
          <p:nvPr/>
        </p:nvSpPr>
        <p:spPr>
          <a:xfrm>
            <a:off x="9144000" y="5563921"/>
            <a:ext cx="2267712" cy="566928"/>
          </a:xfrm>
          <a:prstGeom prst="rect">
            <a:avLst/>
          </a:prstGeom>
          <a:noFill/>
          <a:ln/>
        </p:spPr>
        <p:txBody>
          <a:bodyPr wrap="square" lIns="0" tIns="0" rIns="0" bIns="0" rtlCol="0" anchor="ctr"/>
          <a:lstStyle/>
          <a:p>
            <a:pPr marL="0" indent="0">
              <a:buNone/>
            </a:pPr>
            <a:r>
              <a:rPr lang="en-US" sz="1000" dirty="0">
                <a:solidFill>
                  <a:srgbClr val="5F5F5F"/>
                </a:solidFill>
                <a:latin typeface="Malgun Gothic" pitchFamily="34" charset="0"/>
                <a:ea typeface="Malgun Gothic" pitchFamily="34" charset="-122"/>
                <a:cs typeface="Malgun Gothic" pitchFamily="34" charset="-120"/>
              </a:rPr>
              <a:t>정답 질의 100문항에서 정답 테이블이 모두 상위 k개(2~3) 도메인 안에 들어간 비율</a:t>
            </a:r>
            <a:endParaRPr lang="en-US" sz="1000" dirty="0"/>
          </a:p>
        </p:txBody>
      </p:sp>
      <p:sp>
        <p:nvSpPr>
          <p:cNvPr id="75" name="Slide Number Placeholder 0"/>
          <p:cNvSpPr>
            <a:spLocks noGrp="1"/>
          </p:cNvSpPr>
          <p:nvPr>
            <p:ph type="sldNum" sz="quarter" idx="4294967295"/>
          </p:nvPr>
        </p:nvSpPr>
        <p:spPr>
          <a:xfrm>
            <a:off x="11183112" y="6419088"/>
            <a:ext cx="54864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6B6B6B"/>
                </a:solidFill>
                <a:latin typeface="Malgun Gothic"/>
                <a:ea typeface="Malgun Gothic"/>
                <a:cs typeface="Malgun Gothic"/>
              </a:defRPr>
            </a:lvl1pPr>
          </a:lstStyle>
          <a:p>
            <a:pPr algn="r"/>
            <a:fld id="{F7021451-1387-4CA6-816F-3879F97B5CBC}" type="slidenum">
              <a:rPr lang="en-US" b="0"/>
              <a:t>12</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ata Hub Text2SQL">
  <a:themeElements>
    <a:clrScheme name="Data Hub Text2SQL">
      <a:dk1>
        <a:srgbClr val="1A1A1A"/>
      </a:dk1>
      <a:lt1>
        <a:srgbClr val="FFFFFF"/>
      </a:lt1>
      <a:dk2>
        <a:srgbClr val="5F5F5F"/>
      </a:dk2>
      <a:lt2>
        <a:srgbClr val="F2F2F2"/>
      </a:lt2>
      <a:accent1>
        <a:srgbClr val="D9480F"/>
      </a:accent1>
      <a:accent2>
        <a:srgbClr val="595959"/>
      </a:accent2>
      <a:accent3>
        <a:srgbClr val="8C8C8C"/>
      </a:accent3>
      <a:accent4>
        <a:srgbClr val="BFBFBF"/>
      </a:accent4>
      <a:accent5>
        <a:srgbClr val="3A3A3A"/>
      </a:accent5>
      <a:accent6>
        <a:srgbClr val="D9D9D9"/>
      </a:accent6>
      <a:hlink>
        <a:srgbClr val="D9480F"/>
      </a:hlink>
      <a:folHlink>
        <a:srgbClr val="9A3412"/>
      </a:folHlink>
    </a:clrScheme>
    <a:fontScheme name="Data Hub Text2SQL">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TotalTime>
  <Words>2529</Words>
  <Application>Microsoft Office PowerPoint</Application>
  <PresentationFormat>와이드스크린</PresentationFormat>
  <Paragraphs>561</Paragraphs>
  <Slides>12</Slides>
  <Notes>12</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12</vt:i4>
      </vt:variant>
    </vt:vector>
  </HeadingPairs>
  <TitlesOfParts>
    <vt:vector size="17" baseType="lpstr">
      <vt:lpstr>Malgun Gothic</vt:lpstr>
      <vt:lpstr>Malgun Gothic</vt:lpstr>
      <vt:lpstr>Arial</vt:lpstr>
      <vt:lpstr>Consolas</vt:lpstr>
      <vt:lpstr>Data Hub Text2SQL</vt:lpstr>
      <vt:lpstr>Table Retrieval Engineering for Text2SQL 지식그래프와 도메인 라우팅으로 9000개 테이블에서 정답찾기</vt:lpstr>
      <vt:lpstr>SK하이닉스 Data Platform</vt:lpstr>
      <vt:lpstr>Data Hub는 전사 데이터 Interface 단일 Hub 역할을 수행하는 실시간 데이터 연계 플랫폼</vt:lpstr>
      <vt:lpstr>질문부터 결과 확인까지 단계를 나누고, 단계마다 참조할 메타데이터를 정의한다</vt:lpstr>
      <vt:lpstr>지식그래프와 View 합성으로 실제 산업 DB에서 정확도 약 93%를 달성</vt:lpstr>
      <vt:lpstr>질문 속 단어를 메타데이터 사전과 값 색인에 대조해 데이터 개념을 찾는다</vt:lpstr>
      <vt:lpstr>현업 용어로 지은 클래스를 두고, 실제 테이블·컬럼과는 별도 매핑으로 잇는다</vt:lpstr>
      <vt:lpstr>고른 클래스를 Steiner tree로 이어 Join이 담긴 View를 만들고, LLM은 그 위에서만 SQL을 쓴다</vt:lpstr>
      <vt:lpstr>복합 질문은 나눠서 예시를 붙이고, LLM이 쓴 View 기준 SQL은 규칙으로 실제 테이블에 옮긴다</vt:lpstr>
      <vt:lpstr>논문보다 테이블이 약 330배 많으므로, 엔티티 추출 앞에서 대상 도메인부터 좁힌다</vt:lpstr>
      <vt:lpstr>쿼리 로그로 테이블을 업무 도메인으로 묶고, 도메인마다 검색용 설명을 만든다</vt:lpstr>
      <vt:lpstr>질문이 들어오면 도메인 후보를 단계적으로 좁혀 고르고, 엔티티 추출 단계로 넘긴다</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Hub Text2SQL 설계 검토</dc:title>
  <dc:subject>PptxGenJS Presentation</dc:subject>
  <dc:creator>PptxGenJS</dc:creator>
  <cp:lastModifiedBy>박재승(PARK JAESEUNG) Data Engineering/Solution</cp:lastModifiedBy>
  <cp:revision>46</cp:revision>
  <dcterms:created xsi:type="dcterms:W3CDTF">2026-10-11T09:46:26Z</dcterms:created>
  <dcterms:modified xsi:type="dcterms:W3CDTF">2026-10-13T11:36:19Z</dcterms:modified>
</cp:coreProperties>
</file>