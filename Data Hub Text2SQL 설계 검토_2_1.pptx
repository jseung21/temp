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프로세스" id="{f38ebd09-607e-1a76-35da-8aff6dc30b1a}">
          <p14:sldIdLst>
            <p14:sldId id="256"/>
          </p14:sldIdLst>
        </p14:section>
        <p14:section name="참고 논문" id="{bf4a86a6-8a11-1621-49fe-21c4be857e12}">
          <p14:sldIdLst>
            <p14:sldId id="257"/>
          </p14:sldIdLst>
        </p14:section>
        <p14:section name="단계별 적용" id="{a3b3942d-fdbd-2101-d417-d97318c8c202}">
          <p14:sldIdLst>
            <p14:sldId id="258"/>
            <p14:sldId id="259"/>
            <p14:sldId id="260"/>
            <p14:sldId id="261"/>
          </p14:sldIdLst>
        </p14:section>
        <p14:section name="도메인 라우팅" id="{492be075-d4a6-e4b0-0452-1ef514d8eb85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기존 (LLM 단독 · 비교 최고)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Schema linking F1</c:v>
                  </c:pt>
                  <c:pt idx="1">
                    <c:v>전체 정확도 (사내 DB)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0.851</c:v>
                </c:pt>
                <c:pt idx="1">
                  <c:v>0.84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제안 방법</c:v>
                </c:pt>
              </c:strCache>
            </c:strRef>
          </c:tx>
          <c:spPr>
            <a:solidFill>
              <a:srgbClr val="D9480F"/>
            </a:solidFill>
            <a:effectLst/>
          </c:spPr>
          <c:invertIfNegative val="0"/>
          <c:dLbls>
            <c:numFmt formatCode="0.00#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Schema linking F1</c:v>
                  </c:pt>
                  <c:pt idx="1">
                    <c:v>전체 정확도 (사내 DB)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0.996</c:v>
                </c:pt>
                <c:pt idx="1">
                  <c:v>0.93</c:v>
                </c:pt>
              </c:numCache>
            </c:numRef>
          </c:val>
        </c:ser>
        <c:dLbls>
          <c:numFmt formatCode="0.00#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5F5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2F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F5F5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출발점 · Text2SQL 처리 흐름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질문부터 결과 확인까지 단계를 나누고, 단계마다 참조할 메타데이터를 정의한다</a:t>
            </a: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· 자연어 데이터 조회 과제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5529" y="1396777"/>
            <a:ext cx="11077894" cy="3021244"/>
          </a:xfrm>
          <a:prstGeom prst="roundRect">
            <a:avLst>
              <a:gd name="adj" fmla="val 1250"/>
            </a:avLst>
          </a:prstGeom>
          <a:solidFill>
            <a:srgbClr val="FFFFFF">
              <a:alpha val="0"/>
            </a:srgbClr>
          </a:solidFill>
          <a:ln w="10071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5529" y="2152088"/>
            <a:ext cx="11077894" cy="0"/>
          </a:xfrm>
          <a:prstGeom prst="line">
            <a:avLst/>
          </a:prstGeom>
          <a:noFill/>
          <a:ln w="10071">
            <a:solidFill>
              <a:srgbClr val="D0D0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5529" y="3159169"/>
            <a:ext cx="11077894" cy="0"/>
          </a:xfrm>
          <a:prstGeom prst="line">
            <a:avLst/>
          </a:prstGeom>
          <a:noFill/>
          <a:ln w="10071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4247" y="1396777"/>
            <a:ext cx="0" cy="3021244"/>
          </a:xfrm>
          <a:prstGeom prst="line">
            <a:avLst/>
          </a:prstGeom>
          <a:noFill/>
          <a:ln w="10071">
            <a:solidFill>
              <a:srgbClr val="D0D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5529" y="1396777"/>
            <a:ext cx="528718" cy="3021244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558" y="1706140"/>
            <a:ext cx="358660" cy="13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690" dirty="0"/>
          </a:p>
        </p:txBody>
      </p:sp>
      <p:sp>
        <p:nvSpPr>
          <p:cNvPr id="12" name="Text 10"/>
          <p:cNvSpPr txBox="1"/>
          <p:nvPr/>
        </p:nvSpPr>
        <p:spPr>
          <a:xfrm>
            <a:off x="561568" y="2530688"/>
            <a:ext cx="516640" cy="13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Text2SQL</a:t>
            </a:r>
            <a:endParaRPr lang="en-US" sz="690" dirty="0"/>
          </a:p>
        </p:txBody>
      </p:sp>
      <p:sp>
        <p:nvSpPr>
          <p:cNvPr id="13" name="Text 11"/>
          <p:cNvSpPr txBox="1"/>
          <p:nvPr/>
        </p:nvSpPr>
        <p:spPr>
          <a:xfrm>
            <a:off x="688143" y="2643984"/>
            <a:ext cx="263490" cy="13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690" dirty="0"/>
          </a:p>
        </p:txBody>
      </p:sp>
      <p:sp>
        <p:nvSpPr>
          <p:cNvPr id="14" name="Text 12"/>
          <p:cNvSpPr txBox="1"/>
          <p:nvPr/>
        </p:nvSpPr>
        <p:spPr>
          <a:xfrm>
            <a:off x="545389" y="3663654"/>
            <a:ext cx="548998" cy="13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</a:t>
            </a:r>
            <a:endParaRPr lang="en-US" sz="690" dirty="0"/>
          </a:p>
        </p:txBody>
      </p:sp>
      <p:sp>
        <p:nvSpPr>
          <p:cNvPr id="15" name="Text 13"/>
          <p:cNvSpPr txBox="1"/>
          <p:nvPr/>
        </p:nvSpPr>
        <p:spPr>
          <a:xfrm>
            <a:off x="640558" y="3776951"/>
            <a:ext cx="358660" cy="136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3274648" y="2429035"/>
            <a:ext cx="2996067" cy="453187"/>
          </a:xfrm>
          <a:prstGeom prst="roundRect">
            <a:avLst>
              <a:gd name="adj" fmla="val 13889"/>
            </a:avLst>
          </a:prstGeom>
          <a:solidFill>
            <a:srgbClr val="FFFFFF">
              <a:alpha val="0"/>
            </a:srgbClr>
          </a:solidFill>
          <a:ln w="22156">
            <a:solidFill>
              <a:srgbClr val="D9480F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135180" y="2214558"/>
            <a:ext cx="1275003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D94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병목: 대상 테이블 식별</a:t>
            </a:r>
            <a:endParaRPr lang="en-US" sz="640" dirty="0"/>
          </a:p>
        </p:txBody>
      </p:sp>
      <p:sp>
        <p:nvSpPr>
          <p:cNvPr id="18" name="Shape 16"/>
          <p:cNvSpPr/>
          <p:nvPr/>
        </p:nvSpPr>
        <p:spPr>
          <a:xfrm>
            <a:off x="1222720" y="1686313"/>
            <a:ext cx="176239" cy="176239"/>
          </a:xfrm>
          <a:prstGeom prst="ellipse">
            <a:avLst/>
          </a:prstGeom>
          <a:solidFill>
            <a:srgbClr val="FFFFFF"/>
          </a:solidFill>
          <a:ln w="14099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82226" y="1927462"/>
            <a:ext cx="457228" cy="121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입력</a:t>
            </a:r>
            <a:endParaRPr lang="en-US" sz="620" dirty="0"/>
          </a:p>
        </p:txBody>
      </p:sp>
      <p:sp>
        <p:nvSpPr>
          <p:cNvPr id="20" name="Shape 18"/>
          <p:cNvSpPr/>
          <p:nvPr/>
        </p:nvSpPr>
        <p:spPr>
          <a:xfrm>
            <a:off x="1310840" y="1862552"/>
            <a:ext cx="0" cy="793076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10840" y="2655629"/>
            <a:ext cx="226593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562610" y="2498272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71">
            <a:solidFill>
              <a:srgbClr val="3A3A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36187" y="2582458"/>
            <a:ext cx="534043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분석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2443806" y="2655629"/>
            <a:ext cx="302124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758519" y="2529743"/>
            <a:ext cx="251770" cy="251770"/>
          </a:xfrm>
          <a:prstGeom prst="diamond">
            <a:avLst/>
          </a:prstGeom>
          <a:solidFill>
            <a:srgbClr val="FFFFFF"/>
          </a:solidFill>
          <a:ln w="12085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40345" y="2611569"/>
            <a:ext cx="88120" cy="88120"/>
          </a:xfrm>
          <a:prstGeom prst="line">
            <a:avLst/>
          </a:prstGeom>
          <a:noFill/>
          <a:ln w="14099">
            <a:solidFill>
              <a:srgbClr val="1A1A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2840345" y="2611569"/>
            <a:ext cx="88120" cy="88120"/>
          </a:xfrm>
          <a:prstGeom prst="line">
            <a:avLst/>
          </a:prstGeom>
          <a:noFill/>
          <a:ln w="14099">
            <a:solidFill>
              <a:srgbClr val="1A1A1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884404" y="1944377"/>
            <a:ext cx="0" cy="585366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2934759" y="2214558"/>
            <a:ext cx="249895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</a:t>
            </a:r>
            <a:endParaRPr lang="en-US" sz="640" dirty="0"/>
          </a:p>
        </p:txBody>
      </p:sp>
      <p:sp>
        <p:nvSpPr>
          <p:cNvPr id="30" name="Shape 28"/>
          <p:cNvSpPr/>
          <p:nvPr/>
        </p:nvSpPr>
        <p:spPr>
          <a:xfrm>
            <a:off x="2443806" y="1617076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10071">
            <a:solidFill>
              <a:srgbClr val="7F7F7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66400" y="1701262"/>
            <a:ext cx="636010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 답변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 flipH="1">
            <a:off x="2003208" y="1774433"/>
            <a:ext cx="440598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3208" y="1774433"/>
            <a:ext cx="0" cy="698663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010290" y="2655629"/>
            <a:ext cx="289536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048055" y="2529271"/>
            <a:ext cx="249895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3325003" y="2498272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71">
            <a:solidFill>
              <a:srgbClr val="3A3A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47596" y="2582458"/>
            <a:ext cx="636010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엔티티 추출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4206199" y="2655629"/>
            <a:ext cx="100708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332084" y="2498272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71">
            <a:solidFill>
              <a:srgbClr val="3A3A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03693" y="2582458"/>
            <a:ext cx="737977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 매핑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5213280" y="2655629"/>
            <a:ext cx="100708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339165" y="2498272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71">
            <a:solidFill>
              <a:srgbClr val="3A3A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333280" y="2582458"/>
            <a:ext cx="892967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테이블·컬럼 선정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220361" y="2655629"/>
            <a:ext cx="100708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346246" y="2498272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71">
            <a:solidFill>
              <a:srgbClr val="3A3A3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26961" y="2582458"/>
            <a:ext cx="519767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생성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7227442" y="2655629"/>
            <a:ext cx="100708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53328" y="2498272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71">
            <a:solidFill>
              <a:srgbClr val="3A3A3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34042" y="2582458"/>
            <a:ext cx="519767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검증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8234524" y="2655629"/>
            <a:ext cx="302124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8549237" y="2529743"/>
            <a:ext cx="251770" cy="251770"/>
          </a:xfrm>
          <a:prstGeom prst="diamond">
            <a:avLst/>
          </a:prstGeom>
          <a:solidFill>
            <a:srgbClr val="FFFFFF"/>
          </a:solidFill>
          <a:ln w="12085">
            <a:solidFill>
              <a:srgbClr val="1A1A1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31062" y="2611569"/>
            <a:ext cx="88120" cy="88120"/>
          </a:xfrm>
          <a:prstGeom prst="line">
            <a:avLst/>
          </a:prstGeom>
          <a:noFill/>
          <a:ln w="14099">
            <a:solidFill>
              <a:srgbClr val="1A1A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>
            <a:off x="8631062" y="2611569"/>
            <a:ext cx="88120" cy="88120"/>
          </a:xfrm>
          <a:prstGeom prst="line">
            <a:avLst/>
          </a:prstGeom>
          <a:noFill/>
          <a:ln w="14099">
            <a:solidFill>
              <a:srgbClr val="1A1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8675122" y="2340916"/>
            <a:ext cx="0" cy="188828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6786844" y="2340916"/>
            <a:ext cx="1888277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86844" y="2340916"/>
            <a:ext cx="0" cy="132179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7" name="Text 55"/>
          <p:cNvSpPr txBox="1"/>
          <p:nvPr/>
        </p:nvSpPr>
        <p:spPr>
          <a:xfrm>
            <a:off x="8725476" y="2378209"/>
            <a:ext cx="652868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재생성</a:t>
            </a:r>
            <a:endParaRPr lang="en-US" sz="640" dirty="0"/>
          </a:p>
        </p:txBody>
      </p:sp>
      <p:sp>
        <p:nvSpPr>
          <p:cNvPr id="58" name="Shape 56"/>
          <p:cNvSpPr/>
          <p:nvPr/>
        </p:nvSpPr>
        <p:spPr>
          <a:xfrm>
            <a:off x="8801007" y="2655629"/>
            <a:ext cx="289536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8838772" y="2529271"/>
            <a:ext cx="249895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4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9115720" y="2498272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71">
            <a:solidFill>
              <a:srgbClr val="3A3A3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289296" y="2532104"/>
            <a:ext cx="534043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실행</a:t>
            </a:r>
            <a:endParaRPr lang="en-US" sz="740" dirty="0"/>
          </a:p>
        </p:txBody>
      </p:sp>
      <p:sp>
        <p:nvSpPr>
          <p:cNvPr id="62" name="Text 60"/>
          <p:cNvSpPr txBox="1"/>
          <p:nvPr/>
        </p:nvSpPr>
        <p:spPr>
          <a:xfrm>
            <a:off x="9120371" y="2663890"/>
            <a:ext cx="871893" cy="121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조회 전용</a:t>
            </a:r>
            <a:endParaRPr lang="en-US" sz="620" dirty="0"/>
          </a:p>
        </p:txBody>
      </p:sp>
      <p:sp>
        <p:nvSpPr>
          <p:cNvPr id="63" name="Shape 61"/>
          <p:cNvSpPr/>
          <p:nvPr/>
        </p:nvSpPr>
        <p:spPr>
          <a:xfrm>
            <a:off x="9996916" y="2655629"/>
            <a:ext cx="100708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10122801" y="2498272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071">
            <a:solidFill>
              <a:srgbClr val="3A3A3A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167899" y="2582458"/>
            <a:ext cx="791000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해석·요약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 flipV="1">
            <a:off x="10563399" y="1944377"/>
            <a:ext cx="0" cy="553895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122801" y="1617076"/>
            <a:ext cx="881196" cy="314713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10071">
            <a:solidFill>
              <a:srgbClr val="7F7F7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296378" y="1701262"/>
            <a:ext cx="534043" cy="1463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11003997" y="1711490"/>
            <a:ext cx="276947" cy="0"/>
          </a:xfrm>
          <a:prstGeom prst="line">
            <a:avLst/>
          </a:prstGeom>
          <a:noFill/>
          <a:ln w="1409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1293533" y="1623370"/>
            <a:ext cx="176239" cy="176239"/>
          </a:xfrm>
          <a:prstGeom prst="ellipse">
            <a:avLst/>
          </a:prstGeom>
          <a:solidFill>
            <a:srgbClr val="FFFFFF"/>
          </a:solidFill>
          <a:ln w="35248">
            <a:solidFill>
              <a:srgbClr val="1A1A1A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1260104" y="1864519"/>
            <a:ext cx="243097" cy="1219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</a:t>
            </a:r>
            <a:endParaRPr lang="en-US" sz="620" dirty="0"/>
          </a:p>
        </p:txBody>
      </p:sp>
      <p:sp>
        <p:nvSpPr>
          <p:cNvPr id="72" name="Shape 70"/>
          <p:cNvSpPr/>
          <p:nvPr/>
        </p:nvSpPr>
        <p:spPr>
          <a:xfrm>
            <a:off x="2003208" y="2812985"/>
            <a:ext cx="0" cy="459481"/>
          </a:xfrm>
          <a:prstGeom prst="line">
            <a:avLst/>
          </a:prstGeom>
          <a:noFill/>
          <a:ln w="10071">
            <a:solidFill>
              <a:srgbClr val="9E9E9E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1587787" y="3272466"/>
            <a:ext cx="830842" cy="717545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0071">
            <a:solidFill>
              <a:srgbClr val="C8C8C8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1612964" y="333540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634356" y="3353819"/>
            <a:ext cx="737705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용어집</a:t>
            </a:r>
            <a:endParaRPr lang="en-US" sz="640" dirty="0"/>
          </a:p>
        </p:txBody>
      </p:sp>
      <p:sp>
        <p:nvSpPr>
          <p:cNvPr id="76" name="Shape 74"/>
          <p:cNvSpPr/>
          <p:nvPr/>
        </p:nvSpPr>
        <p:spPr>
          <a:xfrm>
            <a:off x="1612964" y="3549413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638775" y="3567824"/>
            <a:ext cx="728868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지표(KPI) 정의</a:t>
            </a:r>
            <a:endParaRPr lang="en-US" sz="640" dirty="0"/>
          </a:p>
        </p:txBody>
      </p:sp>
      <p:sp>
        <p:nvSpPr>
          <p:cNvPr id="78" name="Shape 76"/>
          <p:cNvSpPr/>
          <p:nvPr/>
        </p:nvSpPr>
        <p:spPr>
          <a:xfrm>
            <a:off x="1612964" y="376341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667053" y="3781829"/>
            <a:ext cx="672310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 예시</a:t>
            </a:r>
            <a:endParaRPr lang="en-US" sz="640" dirty="0"/>
          </a:p>
        </p:txBody>
      </p:sp>
      <p:sp>
        <p:nvSpPr>
          <p:cNvPr id="80" name="Shape 78"/>
          <p:cNvSpPr/>
          <p:nvPr/>
        </p:nvSpPr>
        <p:spPr>
          <a:xfrm>
            <a:off x="2884404" y="2781514"/>
            <a:ext cx="0" cy="490952"/>
          </a:xfrm>
          <a:prstGeom prst="line">
            <a:avLst/>
          </a:prstGeom>
          <a:noFill/>
          <a:ln w="10071">
            <a:solidFill>
              <a:srgbClr val="9E9E9E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2468983" y="3272466"/>
            <a:ext cx="830842" cy="717545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0071">
            <a:solidFill>
              <a:srgbClr val="C8C8C8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2494160" y="333540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2536761" y="3353819"/>
            <a:ext cx="695287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조건 규칙</a:t>
            </a:r>
            <a:endParaRPr lang="en-US" sz="640" dirty="0"/>
          </a:p>
        </p:txBody>
      </p:sp>
      <p:sp>
        <p:nvSpPr>
          <p:cNvPr id="84" name="Shape 82"/>
          <p:cNvSpPr/>
          <p:nvPr/>
        </p:nvSpPr>
        <p:spPr>
          <a:xfrm>
            <a:off x="2494160" y="3549413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2559738" y="3567824"/>
            <a:ext cx="649333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프로필</a:t>
            </a:r>
            <a:endParaRPr lang="en-US" sz="640" dirty="0"/>
          </a:p>
        </p:txBody>
      </p:sp>
      <p:sp>
        <p:nvSpPr>
          <p:cNvPr id="86" name="Shape 84"/>
          <p:cNvSpPr/>
          <p:nvPr/>
        </p:nvSpPr>
        <p:spPr>
          <a:xfrm>
            <a:off x="3765601" y="2812985"/>
            <a:ext cx="0" cy="459481"/>
          </a:xfrm>
          <a:prstGeom prst="line">
            <a:avLst/>
          </a:prstGeom>
          <a:noFill/>
          <a:ln w="10071">
            <a:solidFill>
              <a:srgbClr val="9E9E9E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3350180" y="3272466"/>
            <a:ext cx="830842" cy="717545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0071">
            <a:solidFill>
              <a:srgbClr val="C8C8C8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3375357" y="333540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373772" y="3353819"/>
            <a:ext cx="783658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 코드 사전</a:t>
            </a:r>
            <a:endParaRPr lang="en-US" sz="640" dirty="0"/>
          </a:p>
        </p:txBody>
      </p:sp>
      <p:sp>
        <p:nvSpPr>
          <p:cNvPr id="90" name="Shape 88"/>
          <p:cNvSpPr/>
          <p:nvPr/>
        </p:nvSpPr>
        <p:spPr>
          <a:xfrm>
            <a:off x="3375357" y="3549413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3373772" y="3567824"/>
            <a:ext cx="783658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동의어·약어 사전</a:t>
            </a:r>
            <a:endParaRPr lang="en-US" sz="640" dirty="0"/>
          </a:p>
        </p:txBody>
      </p:sp>
      <p:sp>
        <p:nvSpPr>
          <p:cNvPr id="92" name="Shape 90"/>
          <p:cNvSpPr/>
          <p:nvPr/>
        </p:nvSpPr>
        <p:spPr>
          <a:xfrm>
            <a:off x="4772682" y="2812985"/>
            <a:ext cx="0" cy="459481"/>
          </a:xfrm>
          <a:prstGeom prst="line">
            <a:avLst/>
          </a:prstGeom>
          <a:noFill/>
          <a:ln w="10071">
            <a:solidFill>
              <a:srgbClr val="9E9E9E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4357261" y="3272466"/>
            <a:ext cx="830842" cy="717545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0071">
            <a:solidFill>
              <a:srgbClr val="C8C8C8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4382438" y="333540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559363" y="3353819"/>
            <a:ext cx="426638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</a:t>
            </a:r>
            <a:endParaRPr lang="en-US" sz="640" dirty="0"/>
          </a:p>
        </p:txBody>
      </p:sp>
      <p:sp>
        <p:nvSpPr>
          <p:cNvPr id="96" name="Shape 94"/>
          <p:cNvSpPr/>
          <p:nvPr/>
        </p:nvSpPr>
        <p:spPr>
          <a:xfrm>
            <a:off x="4382438" y="3549413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4380853" y="3567824"/>
            <a:ext cx="783658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개념-테이블 매핑</a:t>
            </a:r>
            <a:endParaRPr lang="en-US" sz="640" dirty="0"/>
          </a:p>
        </p:txBody>
      </p:sp>
      <p:sp>
        <p:nvSpPr>
          <p:cNvPr id="98" name="Shape 96"/>
          <p:cNvSpPr/>
          <p:nvPr/>
        </p:nvSpPr>
        <p:spPr>
          <a:xfrm>
            <a:off x="5779763" y="2812985"/>
            <a:ext cx="0" cy="459481"/>
          </a:xfrm>
          <a:prstGeom prst="line">
            <a:avLst/>
          </a:prstGeom>
          <a:noFill/>
          <a:ln w="10071">
            <a:solidFill>
              <a:srgbClr val="9E9E9E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>
            <a:off x="5364342" y="3272466"/>
            <a:ext cx="830842" cy="717545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0071">
            <a:solidFill>
              <a:srgbClr val="C8C8C8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>
            <a:off x="5389519" y="333540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5410911" y="3353819"/>
            <a:ext cx="737705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카탈로그</a:t>
            </a:r>
            <a:endParaRPr lang="en-US" sz="640" dirty="0"/>
          </a:p>
        </p:txBody>
      </p:sp>
      <p:sp>
        <p:nvSpPr>
          <p:cNvPr id="102" name="Shape 100"/>
          <p:cNvSpPr/>
          <p:nvPr/>
        </p:nvSpPr>
        <p:spPr>
          <a:xfrm>
            <a:off x="5389519" y="3549413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5379981" y="3567824"/>
            <a:ext cx="799565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경로 그래프</a:t>
            </a:r>
            <a:endParaRPr lang="en-US" sz="640" dirty="0"/>
          </a:p>
        </p:txBody>
      </p:sp>
      <p:sp>
        <p:nvSpPr>
          <p:cNvPr id="104" name="Shape 102"/>
          <p:cNvSpPr/>
          <p:nvPr/>
        </p:nvSpPr>
        <p:spPr>
          <a:xfrm>
            <a:off x="5389519" y="376341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5432120" y="3781829"/>
            <a:ext cx="695287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사용 이력</a:t>
            </a:r>
            <a:endParaRPr lang="en-US" sz="640" dirty="0"/>
          </a:p>
        </p:txBody>
      </p:sp>
      <p:sp>
        <p:nvSpPr>
          <p:cNvPr id="106" name="Shape 104"/>
          <p:cNvSpPr/>
          <p:nvPr/>
        </p:nvSpPr>
        <p:spPr>
          <a:xfrm>
            <a:off x="6786844" y="2812985"/>
            <a:ext cx="0" cy="459481"/>
          </a:xfrm>
          <a:prstGeom prst="line">
            <a:avLst/>
          </a:prstGeom>
          <a:noFill/>
          <a:ln w="10071">
            <a:solidFill>
              <a:srgbClr val="9E9E9E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6371423" y="3272466"/>
            <a:ext cx="830842" cy="717545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0071">
            <a:solidFill>
              <a:srgbClr val="C8C8C8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6396600" y="333540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6550549" y="3353819"/>
            <a:ext cx="472591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 쿼리</a:t>
            </a:r>
            <a:endParaRPr lang="en-US" sz="640" dirty="0"/>
          </a:p>
        </p:txBody>
      </p:sp>
      <p:sp>
        <p:nvSpPr>
          <p:cNvPr id="110" name="Shape 108"/>
          <p:cNvSpPr/>
          <p:nvPr/>
        </p:nvSpPr>
        <p:spPr>
          <a:xfrm>
            <a:off x="6396600" y="3549413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6445387" y="3567824"/>
            <a:ext cx="682915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작성 규칙</a:t>
            </a:r>
            <a:endParaRPr lang="en-US" sz="640" dirty="0"/>
          </a:p>
        </p:txBody>
      </p:sp>
      <p:sp>
        <p:nvSpPr>
          <p:cNvPr id="112" name="Shape 110"/>
          <p:cNvSpPr/>
          <p:nvPr/>
        </p:nvSpPr>
        <p:spPr>
          <a:xfrm>
            <a:off x="6396600" y="376341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6472782" y="3781829"/>
            <a:ext cx="628124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방언 정보</a:t>
            </a:r>
            <a:endParaRPr lang="en-US" sz="640" dirty="0"/>
          </a:p>
        </p:txBody>
      </p:sp>
      <p:sp>
        <p:nvSpPr>
          <p:cNvPr id="114" name="Shape 112"/>
          <p:cNvSpPr/>
          <p:nvPr/>
        </p:nvSpPr>
        <p:spPr>
          <a:xfrm>
            <a:off x="7793926" y="2812985"/>
            <a:ext cx="0" cy="459481"/>
          </a:xfrm>
          <a:prstGeom prst="line">
            <a:avLst/>
          </a:prstGeom>
          <a:noFill/>
          <a:ln w="10071">
            <a:solidFill>
              <a:srgbClr val="9E9E9E"/>
            </a:solidFill>
            <a:prstDash val="dash"/>
          </a:ln>
        </p:spPr>
      </p:sp>
      <p:sp>
        <p:nvSpPr>
          <p:cNvPr id="115" name="Shape 113"/>
          <p:cNvSpPr/>
          <p:nvPr/>
        </p:nvSpPr>
        <p:spPr>
          <a:xfrm>
            <a:off x="7378505" y="3272466"/>
            <a:ext cx="830842" cy="717545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0071">
            <a:solidFill>
              <a:srgbClr val="C8C8C8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7403682" y="333540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7446282" y="3353819"/>
            <a:ext cx="695287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 정책</a:t>
            </a:r>
            <a:endParaRPr lang="en-US" sz="640" dirty="0"/>
          </a:p>
        </p:txBody>
      </p:sp>
      <p:sp>
        <p:nvSpPr>
          <p:cNvPr id="118" name="Shape 116"/>
          <p:cNvSpPr/>
          <p:nvPr/>
        </p:nvSpPr>
        <p:spPr>
          <a:xfrm>
            <a:off x="7403682" y="3549413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513445" y="3567824"/>
            <a:ext cx="560962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통계</a:t>
            </a:r>
            <a:endParaRPr lang="en-US" sz="640" dirty="0"/>
          </a:p>
        </p:txBody>
      </p:sp>
      <p:sp>
        <p:nvSpPr>
          <p:cNvPr id="120" name="Shape 118"/>
          <p:cNvSpPr/>
          <p:nvPr/>
        </p:nvSpPr>
        <p:spPr>
          <a:xfrm>
            <a:off x="7403682" y="376341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7513445" y="3781829"/>
            <a:ext cx="560962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정보</a:t>
            </a:r>
            <a:endParaRPr lang="en-US" sz="640" dirty="0"/>
          </a:p>
        </p:txBody>
      </p:sp>
      <p:sp>
        <p:nvSpPr>
          <p:cNvPr id="122" name="Shape 120"/>
          <p:cNvSpPr/>
          <p:nvPr/>
        </p:nvSpPr>
        <p:spPr>
          <a:xfrm>
            <a:off x="9556318" y="2812985"/>
            <a:ext cx="0" cy="459481"/>
          </a:xfrm>
          <a:prstGeom prst="line">
            <a:avLst/>
          </a:prstGeom>
          <a:noFill/>
          <a:ln w="10071">
            <a:solidFill>
              <a:srgbClr val="9E9E9E"/>
            </a:solidFill>
            <a:prstDash val="dash"/>
          </a:ln>
        </p:spPr>
      </p:sp>
      <p:sp>
        <p:nvSpPr>
          <p:cNvPr id="123" name="Shape 121"/>
          <p:cNvSpPr/>
          <p:nvPr/>
        </p:nvSpPr>
        <p:spPr>
          <a:xfrm>
            <a:off x="9140897" y="3272466"/>
            <a:ext cx="830842" cy="717545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0071">
            <a:solidFill>
              <a:srgbClr val="C8C8C8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>
            <a:off x="9166074" y="333540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9231651" y="3353819"/>
            <a:ext cx="649333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보관기간 정보</a:t>
            </a:r>
            <a:endParaRPr lang="en-US" sz="640" dirty="0"/>
          </a:p>
        </p:txBody>
      </p:sp>
      <p:sp>
        <p:nvSpPr>
          <p:cNvPr id="126" name="Shape 124"/>
          <p:cNvSpPr/>
          <p:nvPr/>
        </p:nvSpPr>
        <p:spPr>
          <a:xfrm>
            <a:off x="9166074" y="3549413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9208675" y="3567824"/>
            <a:ext cx="695287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지연 현황</a:t>
            </a:r>
            <a:endParaRPr lang="en-US" sz="640" dirty="0"/>
          </a:p>
        </p:txBody>
      </p:sp>
      <p:sp>
        <p:nvSpPr>
          <p:cNvPr id="128" name="Shape 126"/>
          <p:cNvSpPr/>
          <p:nvPr/>
        </p:nvSpPr>
        <p:spPr>
          <a:xfrm>
            <a:off x="10563399" y="2812985"/>
            <a:ext cx="0" cy="459481"/>
          </a:xfrm>
          <a:prstGeom prst="line">
            <a:avLst/>
          </a:prstGeom>
          <a:noFill/>
          <a:ln w="10071">
            <a:solidFill>
              <a:srgbClr val="9E9E9E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>
            <a:off x="10147978" y="3272466"/>
            <a:ext cx="830842" cy="717545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0071">
            <a:solidFill>
              <a:srgbClr val="C8C8C8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>
            <a:off x="10173155" y="3335408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31" name="Text 129"/>
          <p:cNvSpPr txBox="1"/>
          <p:nvPr/>
        </p:nvSpPr>
        <p:spPr>
          <a:xfrm>
            <a:off x="10238732" y="3353819"/>
            <a:ext cx="649333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코드값 해석표</a:t>
            </a:r>
            <a:endParaRPr lang="en-US" sz="640" dirty="0"/>
          </a:p>
        </p:txBody>
      </p:sp>
      <p:sp>
        <p:nvSpPr>
          <p:cNvPr id="132" name="Shape 130"/>
          <p:cNvSpPr/>
          <p:nvPr/>
        </p:nvSpPr>
        <p:spPr>
          <a:xfrm>
            <a:off x="10173155" y="3549413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10215756" y="3567824"/>
            <a:ext cx="695287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단위·지표 정의</a:t>
            </a:r>
            <a:endParaRPr lang="en-US" sz="640" dirty="0"/>
          </a:p>
        </p:txBody>
      </p:sp>
      <p:sp>
        <p:nvSpPr>
          <p:cNvPr id="134" name="Shape 132"/>
          <p:cNvSpPr/>
          <p:nvPr/>
        </p:nvSpPr>
        <p:spPr>
          <a:xfrm>
            <a:off x="11003997" y="1868846"/>
            <a:ext cx="201416" cy="0"/>
          </a:xfrm>
          <a:prstGeom prst="line">
            <a:avLst/>
          </a:prstGeom>
          <a:noFill/>
          <a:ln w="14099">
            <a:solidFill>
              <a:srgbClr val="7F7F7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1205413" y="1868846"/>
            <a:ext cx="0" cy="2328875"/>
          </a:xfrm>
          <a:prstGeom prst="line">
            <a:avLst/>
          </a:prstGeom>
          <a:noFill/>
          <a:ln w="14099">
            <a:solidFill>
              <a:srgbClr val="7F7F7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H="1">
            <a:off x="10985114" y="4197722"/>
            <a:ext cx="220299" cy="0"/>
          </a:xfrm>
          <a:prstGeom prst="line">
            <a:avLst/>
          </a:prstGeom>
          <a:noFill/>
          <a:ln w="14099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>
            <a:off x="10173155" y="4115896"/>
            <a:ext cx="780488" cy="163651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0071">
            <a:solidFill>
              <a:srgbClr val="7F7F7F"/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10171570" y="4134307"/>
            <a:ext cx="783658" cy="1268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질의·피드백 로그</a:t>
            </a:r>
            <a:endParaRPr lang="en-US" sz="640" dirty="0"/>
          </a:p>
        </p:txBody>
      </p:sp>
      <p:sp>
        <p:nvSpPr>
          <p:cNvPr id="139" name="Shape 137"/>
          <p:cNvSpPr/>
          <p:nvPr/>
        </p:nvSpPr>
        <p:spPr>
          <a:xfrm>
            <a:off x="502920" y="4700016"/>
            <a:ext cx="137160" cy="137160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795528" y="466344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작업</a:t>
            </a:r>
            <a:endParaRPr lang="en-US" sz="1000" dirty="0"/>
          </a:p>
        </p:txBody>
      </p:sp>
      <p:sp>
        <p:nvSpPr>
          <p:cNvPr id="141" name="Shape 139"/>
          <p:cNvSpPr/>
          <p:nvPr/>
        </p:nvSpPr>
        <p:spPr>
          <a:xfrm>
            <a:off x="1755648" y="4700016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2048256" y="4663440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처리 단계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3227832" y="4700016"/>
            <a:ext cx="137160" cy="137160"/>
          </a:xfrm>
          <a:prstGeom prst="rect">
            <a:avLst/>
          </a:prstGeom>
          <a:solidFill>
            <a:srgbClr val="EDEDED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3520440" y="4663440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메타데이터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4700016" y="4700016"/>
            <a:ext cx="137160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46" name="Text 144"/>
          <p:cNvSpPr txBox="1"/>
          <p:nvPr/>
        </p:nvSpPr>
        <p:spPr>
          <a:xfrm>
            <a:off x="4992624" y="466344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저장소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5952744" y="4764024"/>
            <a:ext cx="228600" cy="0"/>
          </a:xfrm>
          <a:prstGeom prst="line">
            <a:avLst/>
          </a:prstGeom>
          <a:noFill/>
          <a:ln w="12700">
            <a:solidFill>
              <a:srgbClr val="5F5F5F"/>
            </a:solidFill>
            <a:prstDash val="dash"/>
          </a:ln>
        </p:spPr>
      </p:sp>
      <p:sp>
        <p:nvSpPr>
          <p:cNvPr id="148" name="Text 146"/>
          <p:cNvSpPr txBox="1"/>
          <p:nvPr/>
        </p:nvSpPr>
        <p:spPr>
          <a:xfrm>
            <a:off x="6245352" y="466344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연결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7205472" y="4700016"/>
            <a:ext cx="137160" cy="137160"/>
          </a:xfrm>
          <a:prstGeom prst="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D9480F"/>
            </a:solidFill>
            <a:prstDash val="dash"/>
          </a:ln>
        </p:spPr>
      </p:sp>
      <p:sp>
        <p:nvSpPr>
          <p:cNvPr id="150" name="Text 148"/>
          <p:cNvSpPr txBox="1"/>
          <p:nvPr/>
        </p:nvSpPr>
        <p:spPr>
          <a:xfrm>
            <a:off x="7498080" y="4663440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병목 구간</a:t>
            </a:r>
            <a:endParaRPr lang="en-US" sz="1000" dirty="0"/>
          </a:p>
        </p:txBody>
      </p:sp>
      <p:sp>
        <p:nvSpPr>
          <p:cNvPr id="151" name="Shape 149"/>
          <p:cNvSpPr/>
          <p:nvPr/>
        </p:nvSpPr>
        <p:spPr>
          <a:xfrm>
            <a:off x="457200" y="5029200"/>
            <a:ext cx="3605784" cy="1234440"/>
          </a:xfrm>
          <a:prstGeom prst="roundRect">
            <a:avLst>
              <a:gd name="adj" fmla="val 5926"/>
            </a:avLst>
          </a:prstGeom>
          <a:solidFill>
            <a:srgbClr val="FCE9E1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640080" y="516636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병목은 테이블 식별</a:t>
            </a:r>
            <a:endParaRPr lang="en-US" sz="1300" dirty="0"/>
          </a:p>
        </p:txBody>
      </p:sp>
      <p:sp>
        <p:nvSpPr>
          <p:cNvPr id="153" name="Text 151"/>
          <p:cNvSpPr txBox="1"/>
          <p:nvPr/>
        </p:nvSpPr>
        <p:spPr>
          <a:xfrm>
            <a:off x="640080" y="54864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Hub에는 테이블이 약 9,000개라, 질문에 맞는 테이블을 정확히 고르기 어렵다</a:t>
            </a:r>
            <a:endParaRPr lang="en-US" sz="1200" dirty="0"/>
          </a:p>
        </p:txBody>
      </p:sp>
      <p:sp>
        <p:nvSpPr>
          <p:cNvPr id="154" name="Shape 152"/>
          <p:cNvSpPr/>
          <p:nvPr/>
        </p:nvSpPr>
        <p:spPr>
          <a:xfrm>
            <a:off x="4291584" y="5029200"/>
            <a:ext cx="3605784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4474464" y="516636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 방향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4474464" y="54864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용어와 테이블을 잇는 온톨로지(지식그래프)를 엔티티 추출~테이블 선정 구간에 적용</a:t>
            </a:r>
            <a:endParaRPr lang="en-US" sz="1200" dirty="0"/>
          </a:p>
        </p:txBody>
      </p:sp>
      <p:sp>
        <p:nvSpPr>
          <p:cNvPr id="157" name="Shape 155"/>
          <p:cNvSpPr/>
          <p:nvPr/>
        </p:nvSpPr>
        <p:spPr>
          <a:xfrm>
            <a:off x="8125968" y="5029200"/>
            <a:ext cx="3605784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8308848" y="516636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장</a:t>
            </a:r>
            <a:endParaRPr lang="en-US" sz="1300" dirty="0"/>
          </a:p>
        </p:txBody>
      </p:sp>
      <p:sp>
        <p:nvSpPr>
          <p:cNvPr id="159" name="Text 157"/>
          <p:cNvSpPr txBox="1"/>
          <p:nvPr/>
        </p:nvSpPr>
        <p:spPr>
          <a:xfrm>
            <a:off x="8308848" y="54864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구간을 지식그래프로 푼 Nascimento et al. (DKE 2026)을 검토하고 단계별 적용 방안을 정리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참고 논문 · Nascimento et al. (DKE 2026)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지식그래프와 View 합성으로 실제 산업 DB에서 정확도 약 93%를 달성</a:t>
            </a: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의견: 대상 DB가 27~46개 테이블로 작고 지식그래프 구축에 수작업이 든다 → 3~6장 단계별 적용, 7~9장 도메인 라우팅으로 보완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8872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Nascimento, Casanova 외 7인 · “A Text-to-SQL Strategy Based on LLMs and Knowledge Graphs for Real-World Databases” · DKE 164, 102580 (2026)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908362"/>
            <a:ext cx="788124" cy="481631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28022">
            <a:solidFill>
              <a:srgbClr val="1A1A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180" y="2030411"/>
            <a:ext cx="404164" cy="2375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210" dirty="0"/>
          </a:p>
        </p:txBody>
      </p:sp>
      <p:sp>
        <p:nvSpPr>
          <p:cNvPr id="8" name="Shape 6"/>
          <p:cNvSpPr/>
          <p:nvPr/>
        </p:nvSpPr>
        <p:spPr>
          <a:xfrm>
            <a:off x="1245324" y="2149177"/>
            <a:ext cx="197031" cy="0"/>
          </a:xfrm>
          <a:prstGeom prst="line">
            <a:avLst/>
          </a:prstGeom>
          <a:noFill/>
          <a:ln w="22768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486140" y="1601869"/>
            <a:ext cx="2298695" cy="1138401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7514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39386" y="1693543"/>
            <a:ext cx="1651370" cy="254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Schema linking</a:t>
            </a:r>
            <a:endParaRPr lang="en-US" sz="1290" dirty="0"/>
          </a:p>
        </p:txBody>
      </p:sp>
      <p:sp>
        <p:nvSpPr>
          <p:cNvPr id="11" name="Text 9"/>
          <p:cNvSpPr txBox="1"/>
          <p:nvPr/>
        </p:nvSpPr>
        <p:spPr>
          <a:xfrm>
            <a:off x="1639386" y="1999352"/>
            <a:ext cx="1394245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LLM 키워드 추출</a:t>
            </a:r>
            <a:endParaRPr lang="en-US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639386" y="2218275"/>
            <a:ext cx="1935095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메타데이터·값 사전 매칭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1639386" y="2437198"/>
            <a:ext cx="1787322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최소 클래스 집합 선택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784835" y="2171070"/>
            <a:ext cx="240816" cy="0"/>
          </a:xfrm>
          <a:prstGeom prst="line">
            <a:avLst/>
          </a:prstGeom>
          <a:noFill/>
          <a:ln w="22768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69435" y="1601869"/>
            <a:ext cx="2298695" cy="1138401"/>
          </a:xfrm>
          <a:prstGeom prst="roundRect">
            <a:avLst>
              <a:gd name="adj" fmla="val 5769"/>
            </a:avLst>
          </a:prstGeom>
          <a:solidFill>
            <a:srgbClr val="FCE9E1"/>
          </a:solidFill>
          <a:ln w="31525">
            <a:solidFill>
              <a:srgbClr val="D9480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22681" y="1693543"/>
            <a:ext cx="1176132" cy="254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View 합성</a:t>
            </a:r>
            <a:endParaRPr lang="en-US" sz="1290" dirty="0"/>
          </a:p>
        </p:txBody>
      </p:sp>
      <p:sp>
        <p:nvSpPr>
          <p:cNvPr id="17" name="Text 15"/>
          <p:cNvSpPr txBox="1"/>
          <p:nvPr/>
        </p:nvSpPr>
        <p:spPr>
          <a:xfrm>
            <a:off x="4222681" y="1999352"/>
            <a:ext cx="2204042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지식그래프 위 Steiner tree</a:t>
            </a:r>
            <a:endParaRPr lang="en-US" sz="1080" dirty="0"/>
          </a:p>
        </p:txBody>
      </p:sp>
      <p:sp>
        <p:nvSpPr>
          <p:cNvPr id="18" name="Text 16"/>
          <p:cNvSpPr txBox="1"/>
          <p:nvPr/>
        </p:nvSpPr>
        <p:spPr>
          <a:xfrm>
            <a:off x="4222681" y="2218275"/>
            <a:ext cx="2159710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중간 연결 클래스 자동 포함</a:t>
            </a:r>
            <a:endParaRPr lang="en-US" sz="1080" dirty="0"/>
          </a:p>
        </p:txBody>
      </p:sp>
      <p:sp>
        <p:nvSpPr>
          <p:cNvPr id="19" name="Text 17"/>
          <p:cNvSpPr txBox="1"/>
          <p:nvPr/>
        </p:nvSpPr>
        <p:spPr>
          <a:xfrm>
            <a:off x="4222681" y="2437198"/>
            <a:ext cx="1840520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Join이 담긴 단일 View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368130" y="2171070"/>
            <a:ext cx="240816" cy="0"/>
          </a:xfrm>
          <a:prstGeom prst="line">
            <a:avLst/>
          </a:prstGeom>
          <a:noFill/>
          <a:ln w="22768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52731" y="1601869"/>
            <a:ext cx="2298695" cy="1138401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7514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05977" y="1693543"/>
            <a:ext cx="1144213" cy="254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질문 분해</a:t>
            </a:r>
            <a:endParaRPr lang="en-US" sz="1290" dirty="0"/>
          </a:p>
        </p:txBody>
      </p:sp>
      <p:sp>
        <p:nvSpPr>
          <p:cNvPr id="23" name="Text 21"/>
          <p:cNvSpPr txBox="1"/>
          <p:nvPr/>
        </p:nvSpPr>
        <p:spPr>
          <a:xfrm>
            <a:off x="6805977" y="1999352"/>
            <a:ext cx="2082868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복합 질문을 하위 질문으로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6805977" y="2218275"/>
            <a:ext cx="2106512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하위 질문별 few-shot 검색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8951426" y="2171070"/>
            <a:ext cx="240816" cy="0"/>
          </a:xfrm>
          <a:prstGeom prst="line">
            <a:avLst/>
          </a:prstGeom>
          <a:noFill/>
          <a:ln w="22768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36026" y="1601869"/>
            <a:ext cx="2473834" cy="1138401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7514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89272" y="1693543"/>
            <a:ext cx="1296715" cy="254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9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SQL 컴파일</a:t>
            </a:r>
            <a:endParaRPr lang="en-US" sz="1290" dirty="0"/>
          </a:p>
        </p:txBody>
      </p:sp>
      <p:sp>
        <p:nvSpPr>
          <p:cNvPr id="28" name="Text 26"/>
          <p:cNvSpPr txBox="1"/>
          <p:nvPr/>
        </p:nvSpPr>
        <p:spPr>
          <a:xfrm>
            <a:off x="9389272" y="1999352"/>
            <a:ext cx="1793233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View 위에서 SQL 작성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9389272" y="2218275"/>
            <a:ext cx="1858253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WITH 절로 원 스키마에</a:t>
            </a:r>
            <a:endParaRPr lang="en-US" sz="1080" dirty="0"/>
          </a:p>
        </p:txBody>
      </p:sp>
      <p:sp>
        <p:nvSpPr>
          <p:cNvPr id="30" name="Text 28"/>
          <p:cNvSpPr txBox="1"/>
          <p:nvPr/>
        </p:nvSpPr>
        <p:spPr>
          <a:xfrm>
            <a:off x="9498734" y="2437198"/>
            <a:ext cx="1036634" cy="2120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재매핑해 실행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2635487" y="2740270"/>
            <a:ext cx="0" cy="328385"/>
          </a:xfrm>
          <a:prstGeom prst="line">
            <a:avLst/>
          </a:prstGeom>
          <a:noFill/>
          <a:ln w="22768">
            <a:solidFill>
              <a:srgbClr val="8C8C8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218783" y="2740270"/>
            <a:ext cx="0" cy="328385"/>
          </a:xfrm>
          <a:prstGeom prst="line">
            <a:avLst/>
          </a:prstGeom>
          <a:noFill/>
          <a:ln w="22768">
            <a:solidFill>
              <a:srgbClr val="8C8C8C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486140" y="3090548"/>
            <a:ext cx="4881990" cy="54730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 w="17514">
            <a:solidFill>
              <a:srgbClr val="A6A6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356850" y="3173054"/>
            <a:ext cx="3140570" cy="22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지식그래프 (DANKE 키워드 검색 플랫폼)</a:t>
            </a:r>
            <a:endParaRPr lang="en-US" sz="1160" dirty="0"/>
          </a:p>
        </p:txBody>
      </p:sp>
      <p:sp>
        <p:nvSpPr>
          <p:cNvPr id="35" name="Text 33"/>
          <p:cNvSpPr txBox="1"/>
          <p:nvPr/>
        </p:nvSpPr>
        <p:spPr>
          <a:xfrm>
            <a:off x="1737089" y="3393757"/>
            <a:ext cx="4380092" cy="203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· 속성 · 동의어 · 관련도 순위 · 값 색인 · 스키마 매핑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7802078" y="2740270"/>
            <a:ext cx="0" cy="328385"/>
          </a:xfrm>
          <a:prstGeom prst="line">
            <a:avLst/>
          </a:prstGeom>
          <a:noFill/>
          <a:ln w="22768">
            <a:solidFill>
              <a:srgbClr val="8C8C8C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652731" y="3090548"/>
            <a:ext cx="5057129" cy="547308"/>
          </a:xfrm>
          <a:prstGeom prst="roundRect">
            <a:avLst>
              <a:gd name="adj" fmla="val 12000"/>
            </a:avLst>
          </a:prstGeom>
          <a:solidFill>
            <a:srgbClr val="EDEDED"/>
          </a:solidFill>
          <a:ln w="17514">
            <a:solidFill>
              <a:srgbClr val="A6A6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50948" y="3173054"/>
            <a:ext cx="2460695" cy="22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 예시 저장소 (FAISS)</a:t>
            </a:r>
            <a:endParaRPr lang="en-US" sz="1160" dirty="0"/>
          </a:p>
        </p:txBody>
      </p:sp>
      <p:sp>
        <p:nvSpPr>
          <p:cNvPr id="39" name="Text 37"/>
          <p:cNvSpPr txBox="1"/>
          <p:nvPr/>
        </p:nvSpPr>
        <p:spPr>
          <a:xfrm>
            <a:off x="6860736" y="3393757"/>
            <a:ext cx="4641119" cy="2035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지식그래프·DB 문서로 LLM이 합성한 질문-SQL 쌍 · ①·③에서 검색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457200" y="3794760"/>
            <a:ext cx="2697480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21792" y="39044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접근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" y="4206240"/>
            <a:ext cx="236829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벤치마크(Spider·BIRD)와 달리 실제 DB는 스키마가 크고 이름이 사용자 용어와 다르다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간극이  </a:t>
            </a:r>
            <a:r>
              <a:rPr lang="en-US" sz="11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DB에서 성능이 떨어지는 주원인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해법: 현업 용어로 지은 지식그래프 + 동적 few-shot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37560" y="379476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502152" y="39044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지식그래프 구성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3502152" y="4206240"/>
            <a:ext cx="22768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클래스·데이터 속성·관계 속성, 각각 동의어와 관련도 순위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테이블명이 아니라 사용자 용어로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속성의 실제 값 색인 (약 110만 건)</a:t>
            </a:r>
            <a:endParaRPr lang="en-US" sz="11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스키마와는 별도 매핑으로 연결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26480" y="3794760"/>
            <a:ext cx="2377440" cy="2468880"/>
          </a:xfrm>
          <a:prstGeom prst="roundRect">
            <a:avLst>
              <a:gd name="adj" fmla="val 3077"/>
            </a:avLst>
          </a:prstGeom>
          <a:solidFill>
            <a:srgbClr val="F2F2F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291072" y="3904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대상 (각 100문항)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6291072" y="417880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DB: 에너지 기업 설비 무결성 관리 (Oracle)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DB: Mondial (지리)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4727448"/>
          <a:ext cx="2048256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58368"/>
                <a:gridCol w="6583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F5F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사내 DB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F5F5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Mondial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컬럼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외래키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Shape 47"/>
          <p:cNvSpPr/>
          <p:nvPr/>
        </p:nvSpPr>
        <p:spPr>
          <a:xfrm>
            <a:off x="8686800" y="3794760"/>
            <a:ext cx="3044952" cy="2468880"/>
          </a:xfrm>
          <a:prstGeom prst="roundRect">
            <a:avLst>
              <a:gd name="adj" fmla="val 2963"/>
            </a:avLst>
          </a:prstGeom>
          <a:solidFill>
            <a:srgbClr val="F2F2F2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8851392" y="390448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50" dirty="0"/>
          </a:p>
        </p:txBody>
      </p:sp>
      <p:graphicFrame>
        <p:nvGraphicFramePr>
          <p:cNvPr id="52" name="Chart 0" descr=""/>
          <p:cNvGraphicFramePr/>
          <p:nvPr/>
        </p:nvGraphicFramePr>
        <p:xfrm>
          <a:off x="8778240" y="4087368"/>
          <a:ext cx="2862072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3" name="Text 49"/>
          <p:cNvSpPr txBox="1"/>
          <p:nvPr/>
        </p:nvSpPr>
        <p:spPr>
          <a:xfrm>
            <a:off x="8851392" y="5486400"/>
            <a:ext cx="2715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DIN-SQL, C3, SQLCoder, LangChain보다 우수 · Mondial도 약 93%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LLM(GPT-4o·GPT-5 등)은 비슷하거나 낮음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단계별 적용 1/4 · 엔티티 추출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속 단어를 메타데이터 사전과 값 색인에 대조해 데이터 개념을 찾는다</a:t>
            </a: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Nascimento et al., Data &amp; Knowledge Engineering 164, 102580 (2026)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추출 + 사전 매칭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1969076"/>
            <a:ext cx="5148072" cy="38133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4406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10673" y="2056307"/>
            <a:ext cx="3206886" cy="206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“3번 </a:t>
            </a: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</a:t>
            </a: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압력용기</a:t>
            </a: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최근 </a:t>
            </a: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r>
              <a:rPr lang="en-US" sz="10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결과는?”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14116" y="2350414"/>
            <a:ext cx="0" cy="171602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60769" y="2541084"/>
            <a:ext cx="1906693" cy="34320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28498" y="2612942"/>
            <a:ext cx="1171236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키워드 추출</a:t>
            </a:r>
            <a:endParaRPr lang="en-US" sz="1010" dirty="0"/>
          </a:p>
        </p:txBody>
      </p:sp>
      <p:sp>
        <p:nvSpPr>
          <p:cNvPr id="14" name="Shape 12"/>
          <p:cNvSpPr/>
          <p:nvPr/>
        </p:nvSpPr>
        <p:spPr>
          <a:xfrm flipH="1">
            <a:off x="1879431" y="2884289"/>
            <a:ext cx="858012" cy="266937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90789" y="2884289"/>
            <a:ext cx="858012" cy="266937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" y="3170293"/>
            <a:ext cx="2431034" cy="591075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1622" y="3261218"/>
            <a:ext cx="1118417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사전</a:t>
            </a:r>
            <a:endParaRPr lang="en-US" sz="1010" dirty="0"/>
          </a:p>
        </p:txBody>
      </p:sp>
      <p:sp>
        <p:nvSpPr>
          <p:cNvPr id="18" name="Text 16"/>
          <p:cNvSpPr txBox="1"/>
          <p:nvPr/>
        </p:nvSpPr>
        <p:spPr>
          <a:xfrm>
            <a:off x="1035866" y="3501104"/>
            <a:ext cx="1629929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클래스·속성 이름 + 동의어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57118" y="3170293"/>
            <a:ext cx="2431034" cy="591075"/>
          </a:xfrm>
          <a:prstGeom prst="roundRect">
            <a:avLst>
              <a:gd name="adj" fmla="val 9677"/>
            </a:avLst>
          </a:prstGeom>
          <a:solidFill>
            <a:srgbClr val="FCE9E1"/>
          </a:solidFill>
          <a:ln w="30507">
            <a:solidFill>
              <a:srgbClr val="D9480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68194" y="3261218"/>
            <a:ext cx="1599349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색인 (약 110만 건)</a:t>
            </a:r>
            <a:endParaRPr lang="en-US" sz="1010" dirty="0"/>
          </a:p>
        </p:txBody>
      </p:sp>
      <p:sp>
        <p:nvSpPr>
          <p:cNvPr id="21" name="Text 19"/>
          <p:cNvSpPr txBox="1"/>
          <p:nvPr/>
        </p:nvSpPr>
        <p:spPr>
          <a:xfrm>
            <a:off x="3629350" y="3501104"/>
            <a:ext cx="1877036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설비명·열거형 코드 등 실제 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850830" y="3761367"/>
            <a:ext cx="981947" cy="209736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3595455" y="3761367"/>
            <a:ext cx="972414" cy="209736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070100" y="3932970"/>
            <a:ext cx="2288032" cy="305071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4406">
            <a:solidFill>
              <a:srgbClr val="3A3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61232" y="3989456"/>
            <a:ext cx="2305768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매칭된 클래스: 시설 · 설비 · 검사</a:t>
            </a:r>
            <a:endParaRPr lang="en-US" sz="98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4440767"/>
            <a:ext cx="5111496" cy="173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질문에서 키워드를 뽑고, 검색 플랫폼(DANKE)이 사전에 대조한다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값까지 색인해,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볼 수 없는 DB 값에도 질문을 연결한다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결과는 다음 단계에서 고를 클래스 후보가 된다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4F4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1A1A1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적용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24204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사전 2종 구축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400800" y="1892808"/>
            <a:ext cx="5148072" cy="1892808"/>
          </a:xfrm>
          <a:prstGeom prst="roundRect">
            <a:avLst>
              <a:gd name="adj" fmla="val 3865"/>
            </a:avLst>
          </a:prstGeom>
          <a:solidFill>
            <a:srgbClr val="FFFFF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47672"/>
          <a:ext cx="496519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097280"/>
                <a:gridCol w="2633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단어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찾는 곳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A라인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색인 · 라인 마스터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Etch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색인 · Step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설비 이벤트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메타데이터 사전 · 동의어(예방정비)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규칙 · 보관기간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LOT_ID 형식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 규칙 (색인 대신)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 txBox="1"/>
          <p:nvPr/>
        </p:nvSpPr>
        <p:spPr>
          <a:xfrm>
            <a:off x="6419088" y="3968496"/>
            <a:ext cx="51114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사전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 클래스명 + 현업 동의어·약어 (설비 = 장비 = EQP = Tool)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색인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ID, Step, Recipe, 제품 코드처럼 종류가 한정된 값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규칙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Lot·Wafer ID처럼 수가 너무 많은 값은 형식으로 인식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최신성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 테이블 변경이 이미 CDC로 들어오므로 색인을 증분 갱신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단계별 적용 2/4 · 온톨로지 매핑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용어로 지은 클래스를 두고, 실제 테이블·컬럼과는 별도 매핑으로 잇는다</a:t>
            </a: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Nascimento et al., Data &amp; Knowledge Engineering 164, 102580 (2026)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Knowledge schema + 매핑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899481"/>
            <a:ext cx="1911631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지식그래프 (knowledge schema)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121611"/>
            <a:ext cx="2383367" cy="1220284"/>
          </a:xfrm>
          <a:prstGeom prst="roundRect">
            <a:avLst>
              <a:gd name="adj" fmla="val 4687"/>
            </a:avLst>
          </a:prstGeom>
          <a:solidFill>
            <a:srgbClr val="FCE9E1"/>
          </a:solidFill>
          <a:ln w="24406">
            <a:solidFill>
              <a:srgbClr val="D9480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3549" y="2208842"/>
            <a:ext cx="943794" cy="206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클래스: 설비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3549" y="2452422"/>
            <a:ext cx="2257582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데이터 속성: 설비명, 유형, 설치일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73549" y="2662159"/>
            <a:ext cx="2005532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관계 속성: 시설 —보유→ 설비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73549" y="2871895"/>
            <a:ext cx="1323516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동의어: 장비, 자산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73549" y="3081631"/>
            <a:ext cx="1817731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관련도 순위: 검색 우선순위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23447" y="2731753"/>
            <a:ext cx="476673" cy="0"/>
          </a:xfrm>
          <a:prstGeom prst="line">
            <a:avLst/>
          </a:prstGeom>
          <a:noFill/>
          <a:ln w="19830">
            <a:solidFill>
              <a:srgbClr val="8C8C8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3111950" y="2536079"/>
            <a:ext cx="299667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</a:t>
            </a:r>
            <a:endParaRPr lang="en-US" sz="830" dirty="0"/>
          </a:p>
        </p:txBody>
      </p:sp>
      <p:sp>
        <p:nvSpPr>
          <p:cNvPr id="18" name="Text 16"/>
          <p:cNvSpPr txBox="1"/>
          <p:nvPr/>
        </p:nvSpPr>
        <p:spPr>
          <a:xfrm>
            <a:off x="3500120" y="1899481"/>
            <a:ext cx="878722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스키마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00120" y="2121611"/>
            <a:ext cx="2288032" cy="1220284"/>
          </a:xfrm>
          <a:prstGeom prst="roundRect">
            <a:avLst>
              <a:gd name="adj" fmla="val 4687"/>
            </a:avLst>
          </a:prstGeom>
          <a:solidFill>
            <a:srgbClr val="D9D9D9"/>
          </a:solidFill>
          <a:ln w="15254">
            <a:solidFill>
              <a:srgbClr val="7F7F7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33589" y="2238992"/>
            <a:ext cx="845363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TB_ASSET_M</a:t>
            </a:r>
            <a:endParaRPr lang="en-US" sz="940" dirty="0"/>
          </a:p>
        </p:txBody>
      </p:sp>
      <p:sp>
        <p:nvSpPr>
          <p:cNvPr id="21" name="Text 19"/>
          <p:cNvSpPr txBox="1"/>
          <p:nvPr/>
        </p:nvSpPr>
        <p:spPr>
          <a:xfrm>
            <a:off x="3633589" y="2471489"/>
            <a:ext cx="1360582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ASSET_NM → 설비명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633589" y="2681226"/>
            <a:ext cx="1454483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ASSET_TP_CD → 유형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633589" y="2890962"/>
            <a:ext cx="1283979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INST_DT → 설치일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633589" y="3100698"/>
            <a:ext cx="1471780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FCLT_ID → 시설 관계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532564"/>
            <a:ext cx="5148072" cy="68641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3549" y="3627184"/>
            <a:ext cx="1939019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최소 클래스 집합 선택</a:t>
            </a:r>
            <a:endParaRPr lang="en-US" sz="980" dirty="0"/>
          </a:p>
        </p:txBody>
      </p:sp>
      <p:sp>
        <p:nvSpPr>
          <p:cNvPr id="27" name="Text 25"/>
          <p:cNvSpPr txBox="1"/>
          <p:nvPr/>
        </p:nvSpPr>
        <p:spPr>
          <a:xfrm>
            <a:off x="773549" y="3844309"/>
            <a:ext cx="3236127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1단계 매칭 결과 + few-shot 예시(FAISS 검색)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73549" y="4034978"/>
            <a:ext cx="3690805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few-shot은 지식그래프·DB 문서로 LLM이 합성한 질문-SQL 쌍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4440767"/>
            <a:ext cx="5111496" cy="173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클래스·속성 이름은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테이블명이 아니라 사용자가 쓰는 말로 짓는다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지식그래프와 스키마는 분리하고, 매핑으로만 연결한다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Schema linking F1: LLM 단독 0.851 → 제안 방법 0.996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4F4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1A1A1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0080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적용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24204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반도체 제조 온톨로지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400800" y="1892808"/>
            <a:ext cx="5148072" cy="190669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591469" y="2102544"/>
            <a:ext cx="1048681" cy="362272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91587" y="2183936"/>
            <a:ext cx="448446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</a:t>
            </a:r>
            <a:endParaRPr lang="en-US" sz="1010" dirty="0"/>
          </a:p>
        </p:txBody>
      </p:sp>
      <p:sp>
        <p:nvSpPr>
          <p:cNvPr id="37" name="Shape 35"/>
          <p:cNvSpPr/>
          <p:nvPr/>
        </p:nvSpPr>
        <p:spPr>
          <a:xfrm>
            <a:off x="6591469" y="3151226"/>
            <a:ext cx="1048681" cy="362272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5099" y="3232618"/>
            <a:ext cx="701423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계측 결과</a:t>
            </a:r>
            <a:endParaRPr lang="en-US" sz="1010" dirty="0"/>
          </a:p>
        </p:txBody>
      </p:sp>
      <p:sp>
        <p:nvSpPr>
          <p:cNvPr id="39" name="Shape 37"/>
          <p:cNvSpPr/>
          <p:nvPr/>
        </p:nvSpPr>
        <p:spPr>
          <a:xfrm>
            <a:off x="8307493" y="2102544"/>
            <a:ext cx="1048681" cy="362272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79890" y="2183936"/>
            <a:ext cx="303889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</a:t>
            </a:r>
            <a:endParaRPr lang="en-US" sz="1010" dirty="0"/>
          </a:p>
        </p:txBody>
      </p:sp>
      <p:sp>
        <p:nvSpPr>
          <p:cNvPr id="41" name="Shape 39"/>
          <p:cNvSpPr/>
          <p:nvPr/>
        </p:nvSpPr>
        <p:spPr>
          <a:xfrm>
            <a:off x="8307493" y="3151226"/>
            <a:ext cx="1048681" cy="362272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468613" y="3232618"/>
            <a:ext cx="726442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Step</a:t>
            </a:r>
            <a:endParaRPr lang="en-US" sz="1010" dirty="0"/>
          </a:p>
        </p:txBody>
      </p:sp>
      <p:sp>
        <p:nvSpPr>
          <p:cNvPr id="43" name="Shape 41"/>
          <p:cNvSpPr/>
          <p:nvPr/>
        </p:nvSpPr>
        <p:spPr>
          <a:xfrm>
            <a:off x="10214187" y="2102544"/>
            <a:ext cx="1144016" cy="362272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610621" y="2183936"/>
            <a:ext cx="351148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10214187" y="3151226"/>
            <a:ext cx="1144016" cy="362272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365984" y="3232618"/>
            <a:ext cx="840421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이벤트</a:t>
            </a:r>
            <a:endParaRPr lang="en-US" sz="1010" dirty="0"/>
          </a:p>
        </p:txBody>
      </p:sp>
      <p:sp>
        <p:nvSpPr>
          <p:cNvPr id="47" name="Shape 45"/>
          <p:cNvSpPr/>
          <p:nvPr/>
        </p:nvSpPr>
        <p:spPr>
          <a:xfrm>
            <a:off x="7640151" y="2283680"/>
            <a:ext cx="629209" cy="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7804921" y="2107073"/>
            <a:ext cx="299667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</a:t>
            </a:r>
            <a:endParaRPr lang="en-US" sz="830" dirty="0"/>
          </a:p>
        </p:txBody>
      </p:sp>
      <p:sp>
        <p:nvSpPr>
          <p:cNvPr id="49" name="Shape 47"/>
          <p:cNvSpPr/>
          <p:nvPr/>
        </p:nvSpPr>
        <p:spPr>
          <a:xfrm flipV="1">
            <a:off x="7115810" y="2502950"/>
            <a:ext cx="0" cy="648276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7201611" y="2745815"/>
            <a:ext cx="299667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830" dirty="0"/>
          </a:p>
        </p:txBody>
      </p:sp>
      <p:sp>
        <p:nvSpPr>
          <p:cNvPr id="51" name="Shape 49"/>
          <p:cNvSpPr/>
          <p:nvPr/>
        </p:nvSpPr>
        <p:spPr>
          <a:xfrm>
            <a:off x="8831834" y="2464816"/>
            <a:ext cx="0" cy="648276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8917635" y="2707681"/>
            <a:ext cx="299667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830" dirty="0"/>
          </a:p>
        </p:txBody>
      </p:sp>
      <p:sp>
        <p:nvSpPr>
          <p:cNvPr id="53" name="Shape 51"/>
          <p:cNvSpPr/>
          <p:nvPr/>
        </p:nvSpPr>
        <p:spPr>
          <a:xfrm flipV="1">
            <a:off x="9356175" y="2369481"/>
            <a:ext cx="838945" cy="96288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4" name="Text 52"/>
          <p:cNvSpPr txBox="1"/>
          <p:nvPr/>
        </p:nvSpPr>
        <p:spPr>
          <a:xfrm>
            <a:off x="9947250" y="2879283"/>
            <a:ext cx="299667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</a:t>
            </a:r>
            <a:endParaRPr lang="en-US" sz="830" dirty="0"/>
          </a:p>
        </p:txBody>
      </p:sp>
      <p:sp>
        <p:nvSpPr>
          <p:cNvPr id="55" name="Shape 53"/>
          <p:cNvSpPr/>
          <p:nvPr/>
        </p:nvSpPr>
        <p:spPr>
          <a:xfrm>
            <a:off x="10786195" y="2464816"/>
            <a:ext cx="0" cy="648276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10871996" y="2707681"/>
            <a:ext cx="299667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endParaRPr lang="en-US" sz="830" dirty="0"/>
          </a:p>
        </p:txBody>
      </p:sp>
      <p:sp>
        <p:nvSpPr>
          <p:cNvPr id="57" name="Text 55"/>
          <p:cNvSpPr txBox="1"/>
          <p:nvPr/>
        </p:nvSpPr>
        <p:spPr>
          <a:xfrm>
            <a:off x="7532733" y="3622894"/>
            <a:ext cx="2884205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 구성은 예시이며 Lot 추적 영역 조사 후 확정</a:t>
            </a:r>
            <a:endParaRPr lang="en-US" sz="830" dirty="0"/>
          </a:p>
        </p:txBody>
      </p:sp>
      <p:sp>
        <p:nvSpPr>
          <p:cNvPr id="58" name="Text 56"/>
          <p:cNvSpPr txBox="1"/>
          <p:nvPr/>
        </p:nvSpPr>
        <p:spPr>
          <a:xfrm>
            <a:off x="6419088" y="3982381"/>
            <a:ext cx="51114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동의어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= 장비 = EQP = Tool, 설비 이벤트 ⊃ PM·Down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 후보 자동 추출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정의서·컬럼 주석·쿼리 로그로 초안을 만들고 현업이 검수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관련도 순위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사용 빈도로 같은 개념의 테이블 중 우선순위 결정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 확보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 쿼리가 부족한 초기에 온톨로지로 질문-SQL 쌍 합성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단계별 적용 3/4 · 테이블·컬럼 선정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고른 클래스를 Steiner tree로 이어 Join이 담긴 View를 만들고, LLM은 그 위에서만 SQL을 쓴다</a:t>
            </a: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Nascimento et al., Data &amp; Knowledge Engineering 164, 102580 (2026)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Steiner tree View 합성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402757" y="2274147"/>
            <a:ext cx="953347" cy="0"/>
          </a:xfrm>
          <a:prstGeom prst="line">
            <a:avLst/>
          </a:prstGeom>
          <a:noFill/>
          <a:ln w="15254">
            <a:solidFill>
              <a:srgbClr val="D0D0D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07423" y="2445749"/>
            <a:ext cx="190669" cy="514807"/>
          </a:xfrm>
          <a:prstGeom prst="line">
            <a:avLst/>
          </a:prstGeom>
          <a:noFill/>
          <a:ln w="15254">
            <a:solidFill>
              <a:srgbClr val="D0D0D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786124" y="2464816"/>
            <a:ext cx="0" cy="495740"/>
          </a:xfrm>
          <a:prstGeom prst="line">
            <a:avLst/>
          </a:prstGeom>
          <a:noFill/>
          <a:ln w="15254">
            <a:solidFill>
              <a:srgbClr val="D0D0D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928112" y="2274147"/>
            <a:ext cx="667343" cy="0"/>
          </a:xfrm>
          <a:prstGeom prst="line">
            <a:avLst/>
          </a:prstGeom>
          <a:noFill/>
          <a:ln w="15254">
            <a:solidFill>
              <a:srgbClr val="D0D0D0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784096" y="3132159"/>
            <a:ext cx="572008" cy="0"/>
          </a:xfrm>
          <a:prstGeom prst="line">
            <a:avLst/>
          </a:prstGeom>
          <a:noFill/>
          <a:ln w="38100">
            <a:solidFill>
              <a:srgbClr val="D948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8112" y="3132159"/>
            <a:ext cx="572008" cy="0"/>
          </a:xfrm>
          <a:prstGeom prst="line">
            <a:avLst/>
          </a:prstGeom>
          <a:noFill/>
          <a:ln w="38100">
            <a:solidFill>
              <a:srgbClr val="D948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642108" y="2445749"/>
            <a:ext cx="0" cy="514807"/>
          </a:xfrm>
          <a:prstGeom prst="line">
            <a:avLst/>
          </a:prstGeom>
          <a:noFill/>
          <a:ln w="38100">
            <a:solidFill>
              <a:srgbClr val="D948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72128" y="3132159"/>
            <a:ext cx="572008" cy="0"/>
          </a:xfrm>
          <a:prstGeom prst="line">
            <a:avLst/>
          </a:prstGeom>
          <a:noFill/>
          <a:ln w="38100">
            <a:solidFill>
              <a:srgbClr val="D948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1419" y="2083477"/>
            <a:ext cx="381339" cy="381339"/>
          </a:xfrm>
          <a:prstGeom prst="ellipse">
            <a:avLst/>
          </a:prstGeom>
          <a:solidFill>
            <a:srgbClr val="FFFFFF"/>
          </a:solidFill>
          <a:ln w="15254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7106" y="2189180"/>
            <a:ext cx="309963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3595455" y="2083477"/>
            <a:ext cx="381339" cy="381339"/>
          </a:xfrm>
          <a:prstGeom prst="ellipse">
            <a:avLst/>
          </a:prstGeom>
          <a:solidFill>
            <a:srgbClr val="FFFFFF"/>
          </a:solidFill>
          <a:ln w="15254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31142" y="2189180"/>
            <a:ext cx="309963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정비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1345557" y="2960556"/>
            <a:ext cx="438539" cy="3432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7456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04697" y="3043497"/>
            <a:ext cx="320259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356104" y="2960556"/>
            <a:ext cx="572008" cy="343205"/>
          </a:xfrm>
          <a:prstGeom prst="roundRect">
            <a:avLst>
              <a:gd name="adj" fmla="val 50000"/>
            </a:avLst>
          </a:prstGeom>
          <a:solidFill>
            <a:srgbClr val="FCE9E1"/>
          </a:solidFill>
          <a:ln w="24406">
            <a:solidFill>
              <a:srgbClr val="D9480F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2481978" y="3043497"/>
            <a:ext cx="320259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56104" y="2102544"/>
            <a:ext cx="572008" cy="3432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7456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481978" y="2185485"/>
            <a:ext cx="320259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00120" y="2960556"/>
            <a:ext cx="572008" cy="343205"/>
          </a:xfrm>
          <a:prstGeom prst="roundRect">
            <a:avLst>
              <a:gd name="adj" fmla="val 50000"/>
            </a:avLst>
          </a:prstGeom>
          <a:solidFill>
            <a:srgbClr val="FCE9E1"/>
          </a:solidFill>
          <a:ln w="24406">
            <a:solidFill>
              <a:srgbClr val="D9480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3625994" y="3043497"/>
            <a:ext cx="320259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44136" y="2960556"/>
            <a:ext cx="667343" cy="34320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7456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2000" y="3043497"/>
            <a:ext cx="631615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결과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67463" y="2083477"/>
            <a:ext cx="1582555" cy="53387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254">
            <a:solidFill>
              <a:srgbClr val="D0D0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2797" y="2188345"/>
            <a:ext cx="152535" cy="953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4406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72534" y="2154740"/>
            <a:ext cx="1081144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고른 클래스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4262797" y="2398082"/>
            <a:ext cx="152535" cy="95335"/>
          </a:xfrm>
          <a:prstGeom prst="roundRect">
            <a:avLst>
              <a:gd name="adj" fmla="val 50000"/>
            </a:avLst>
          </a:prstGeom>
          <a:solidFill>
            <a:srgbClr val="FCE9E1"/>
          </a:solidFill>
          <a:ln w="15254">
            <a:solidFill>
              <a:srgbClr val="D9480F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4472534" y="2364476"/>
            <a:ext cx="1495667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트리가 추가한 연결 클래스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3214116" y="3418163"/>
            <a:ext cx="0" cy="209736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0080" y="3666033"/>
            <a:ext cx="5148072" cy="552941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3549" y="3751119"/>
            <a:ext cx="5073783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SQL View → 질문 분해 → View 위 SQL → WITH 절로 원 스키마 재매핑</a:t>
            </a:r>
            <a:endParaRPr lang="en-US" sz="980" dirty="0"/>
          </a:p>
        </p:txBody>
      </p:sp>
      <p:sp>
        <p:nvSpPr>
          <p:cNvPr id="39" name="Text 37"/>
          <p:cNvSpPr txBox="1"/>
          <p:nvPr/>
        </p:nvSpPr>
        <p:spPr>
          <a:xfrm>
            <a:off x="773549" y="3977777"/>
            <a:ext cx="4432128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 컬럼 이름은 클래스명 규칙을 따르므로 LLM이 Join 없이 SQL을 쓴다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4440767"/>
            <a:ext cx="5111496" cy="1731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고른 클래스만 잇되,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연결 클래스는 트리가 자동으로 넣는다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Join은 그래프가, SQL 작성은 LLM이 나눠 맡는다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정확도 약 93% (비교 대상 중 최고 0.84)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4F4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1A1A1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적용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4204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Join 그래프 + View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400800" y="1892808"/>
            <a:ext cx="5148072" cy="2350008"/>
          </a:xfrm>
          <a:prstGeom prst="roundRect">
            <a:avLst>
              <a:gd name="adj" fmla="val 3113"/>
            </a:avLst>
          </a:prstGeom>
          <a:solidFill>
            <a:srgbClr val="FFFFFF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947672"/>
          <a:ext cx="4965192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828800"/>
                <a:gridCol w="1810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논문 전제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 Hub 현실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 30개로 간선 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CDC 복제 테이블엔 FK가 없을 가능성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쿼리 로그의 Join 패턴으로 간선 추출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키로만 Join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PM 시각 ~ Lot 진행 시각 같은 시간 Join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관계에 Join 조건 템플릿 정의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경로가 대체로 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Lot↔설비 경로가 여러 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관련도로 경로 가중 (Graph-Link)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27개 테이블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9,000개 테이블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라우팅 후 도메인 안에서만 트리 (7장)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7" name="Text 44"/>
          <p:cNvSpPr txBox="1"/>
          <p:nvPr/>
        </p:nvSpPr>
        <p:spPr>
          <a:xfrm>
            <a:off x="6419088" y="4425696"/>
            <a:ext cx="511149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 경량화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클래스의 전체 컬럼이 아니라 질문 관련 컬럼만 View에 노출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위치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절로 바뀐 SQL은 Data Hub(Exadata)에서만 실행, 생산 DB 접근 없음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PoC 측정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경로가 여러 개인 질문 20~30개로 Join 경로 정확도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단계별 적용 4/4 · SQL 생성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 질문은 나눠서 예시를 붙이고, LLM이 쓴 View 기준 SQL은 규칙으로 실제 테이블에 옮긴다</a:t>
            </a: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Nascimento et al., Data &amp; Knowledge Engineering 164, 102580 (2026)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분해 → View 위 SQL → WITH 재매핑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1930942"/>
            <a:ext cx="5148072" cy="32413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24406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87016" y="1996961"/>
            <a:ext cx="3454200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“시설별로 최근 1년 압력용기 검사 불합격 건수는?”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214116" y="2255080"/>
            <a:ext cx="0" cy="133469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407615"/>
            <a:ext cx="3241379" cy="629209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54482" y="2467795"/>
            <a:ext cx="850511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질문 분해</a:t>
            </a:r>
            <a:endParaRPr lang="en-US" sz="940" dirty="0"/>
          </a:p>
        </p:txBody>
      </p:sp>
      <p:sp>
        <p:nvSpPr>
          <p:cNvPr id="14" name="Text 12"/>
          <p:cNvSpPr txBox="1"/>
          <p:nvPr/>
        </p:nvSpPr>
        <p:spPr>
          <a:xfrm>
            <a:off x="754482" y="2671692"/>
            <a:ext cx="1983293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최근 1년 압력용기 검사 결과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54482" y="2843295"/>
            <a:ext cx="1718888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시설별 불합격 건수 집계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72128" y="2407615"/>
            <a:ext cx="1716024" cy="629209"/>
          </a:xfrm>
          <a:prstGeom prst="roundRect">
            <a:avLst>
              <a:gd name="adj" fmla="val 9091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19554" y="2486862"/>
            <a:ext cx="1221172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 (FAISS)</a:t>
            </a:r>
            <a:endParaRPr lang="en-US" sz="940" dirty="0"/>
          </a:p>
        </p:txBody>
      </p:sp>
      <p:sp>
        <p:nvSpPr>
          <p:cNvPr id="18" name="Text 16"/>
          <p:cNvSpPr txBox="1"/>
          <p:nvPr/>
        </p:nvSpPr>
        <p:spPr>
          <a:xfrm>
            <a:off x="4507562" y="2684920"/>
            <a:ext cx="845157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질문마다</a:t>
            </a:r>
            <a:endParaRPr lang="en-US" sz="860" dirty="0"/>
          </a:p>
        </p:txBody>
      </p:sp>
      <p:sp>
        <p:nvSpPr>
          <p:cNvPr id="19" name="Text 17"/>
          <p:cNvSpPr txBox="1"/>
          <p:nvPr/>
        </p:nvSpPr>
        <p:spPr>
          <a:xfrm>
            <a:off x="4417573" y="2837455"/>
            <a:ext cx="1025133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예시 검색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 flipH="1">
            <a:off x="3919593" y="2722220"/>
            <a:ext cx="152535" cy="0"/>
          </a:xfrm>
          <a:prstGeom prst="line">
            <a:avLst/>
          </a:prstGeom>
          <a:noFill/>
          <a:ln w="19830">
            <a:solidFill>
              <a:srgbClr val="8C8C8C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260769" y="3036824"/>
            <a:ext cx="0" cy="133469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0080" y="3189359"/>
            <a:ext cx="5148072" cy="572008"/>
          </a:xfrm>
          <a:prstGeom prst="roundRect">
            <a:avLst>
              <a:gd name="adj" fmla="val 10000"/>
            </a:avLst>
          </a:prstGeom>
          <a:solidFill>
            <a:srgbClr val="FCE9E1"/>
          </a:solidFill>
          <a:ln w="30507">
            <a:solidFill>
              <a:srgbClr val="D948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482" y="3249539"/>
            <a:ext cx="2745001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LLM이 View 기준 SQL 작성 (Join 없음)</a:t>
            </a:r>
            <a:endParaRPr lang="en-US" sz="940" dirty="0"/>
          </a:p>
        </p:txBody>
      </p:sp>
      <p:sp>
        <p:nvSpPr>
          <p:cNvPr id="24" name="Text 22"/>
          <p:cNvSpPr txBox="1"/>
          <p:nvPr/>
        </p:nvSpPr>
        <p:spPr>
          <a:xfrm>
            <a:off x="754482" y="3447597"/>
            <a:ext cx="2990667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시설명, COUNT(*) FROM V_시설_설비_검사</a:t>
            </a:r>
            <a:endParaRPr lang="en-US" sz="860" dirty="0"/>
          </a:p>
        </p:txBody>
      </p:sp>
      <p:sp>
        <p:nvSpPr>
          <p:cNvPr id="25" name="Text 23"/>
          <p:cNvSpPr txBox="1"/>
          <p:nvPr/>
        </p:nvSpPr>
        <p:spPr>
          <a:xfrm>
            <a:off x="754482" y="3600133"/>
            <a:ext cx="4049214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설비유형='압력용기' AND 판정='불합격' … GROUP BY 시설명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2260769" y="3761367"/>
            <a:ext cx="0" cy="133469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080" y="3913903"/>
            <a:ext cx="5148072" cy="495740"/>
          </a:xfrm>
          <a:prstGeom prst="roundRect">
            <a:avLst>
              <a:gd name="adj" fmla="val 11538"/>
            </a:avLst>
          </a:prstGeom>
          <a:solidFill>
            <a:srgbClr val="D9D9D9"/>
          </a:solidFill>
          <a:ln w="15254">
            <a:solidFill>
              <a:srgbClr val="7F7F7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4482" y="3974083"/>
            <a:ext cx="1934180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기반 재매핑 → 실행 SQL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754482" y="4172141"/>
            <a:ext cx="5126705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V_시설_설비_검사 AS (SELECT … FROM TB_FCLT_M JOIN TB_ASSET_M JOIN …)</a:t>
            </a:r>
            <a:endParaRPr lang="en-US" sz="86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4612369"/>
            <a:ext cx="5111496" cy="1559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질문마다 예시를 따로 붙여, 복합 질문에서도 맞는 패턴을 참고하게 한다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Join 없는 단순 SQL만 쓰고,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테이블로 바꾸는 일은 규칙이 맡는다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SQL은 설명용 단순화 · 전체 정확도 약 93%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4F4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1A1A1A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적용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24204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반도체 복합 질의 + Exadata 실행 규칙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0" y="1892808"/>
            <a:ext cx="5148072" cy="1296551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6135" y="1988143"/>
            <a:ext cx="4957403" cy="305071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24406">
            <a:solidFill>
              <a:srgbClr val="1A1A1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11719" y="2048323"/>
            <a:ext cx="4526234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“어제 A라인 Etch 설비 PM 이후 진행한 Lot 중 수율이 떨어진 Lot은?”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7735485" y="2293214"/>
            <a:ext cx="0" cy="133469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214187" y="2293214"/>
            <a:ext cx="0" cy="133469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496135" y="2445749"/>
            <a:ext cx="2431034" cy="648276"/>
          </a:xfrm>
          <a:prstGeom prst="roundRect">
            <a:avLst>
              <a:gd name="adj" fmla="val 8824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10536" y="2524996"/>
            <a:ext cx="1388484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 PM 이후 진행 Lot</a:t>
            </a:r>
            <a:endParaRPr lang="en-US" sz="940" dirty="0"/>
          </a:p>
        </p:txBody>
      </p:sp>
      <p:sp>
        <p:nvSpPr>
          <p:cNvPr id="42" name="Text 40"/>
          <p:cNvSpPr txBox="1"/>
          <p:nvPr/>
        </p:nvSpPr>
        <p:spPr>
          <a:xfrm>
            <a:off x="6610536" y="2723054"/>
            <a:ext cx="1463234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이벤트 ↔ Lot 이력</a:t>
            </a:r>
            <a:endParaRPr lang="en-US" sz="860" dirty="0"/>
          </a:p>
        </p:txBody>
      </p:sp>
      <p:sp>
        <p:nvSpPr>
          <p:cNvPr id="43" name="Text 41"/>
          <p:cNvSpPr txBox="1"/>
          <p:nvPr/>
        </p:nvSpPr>
        <p:spPr>
          <a:xfrm>
            <a:off x="6610536" y="2894656"/>
            <a:ext cx="1344829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Join 템플릿 사용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9022503" y="2445749"/>
            <a:ext cx="2431034" cy="648276"/>
          </a:xfrm>
          <a:prstGeom prst="roundRect">
            <a:avLst>
              <a:gd name="adj" fmla="val 8824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136905" y="2524996"/>
            <a:ext cx="1205728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 수율 하락 판정</a:t>
            </a:r>
            <a:endParaRPr lang="en-US" sz="940" dirty="0"/>
          </a:p>
        </p:txBody>
      </p:sp>
      <p:sp>
        <p:nvSpPr>
          <p:cNvPr id="46" name="Text 44"/>
          <p:cNvSpPr txBox="1"/>
          <p:nvPr/>
        </p:nvSpPr>
        <p:spPr>
          <a:xfrm>
            <a:off x="9136905" y="2723054"/>
            <a:ext cx="1503492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수율 지표 정의(용어집)로</a:t>
            </a:r>
            <a:endParaRPr lang="en-US" sz="860" dirty="0"/>
          </a:p>
        </p:txBody>
      </p:sp>
      <p:sp>
        <p:nvSpPr>
          <p:cNvPr id="47" name="Text 45"/>
          <p:cNvSpPr txBox="1"/>
          <p:nvPr/>
        </p:nvSpPr>
        <p:spPr>
          <a:xfrm>
            <a:off x="9136905" y="2894656"/>
            <a:ext cx="1323516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기준값·비교 기간 결정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6400800" y="3372239"/>
            <a:ext cx="5148072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427103"/>
          <a:ext cx="49651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547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Data Hub 적용 방안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Few-shot 저장소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초기엔 온톨로지로 합성, 운영 중엔 검증된 질의를 피드백 로그에서 승격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 작성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Oracle 문법, 기간 조건 필수, 행 수 제한(FETCH FIRST)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WITH 재매핑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 조건을 안쪽 이력 테이블까지 내려 넣어 파티션 범위 한정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연계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View 밖 컬럼 참조 차단, 실행 계획 확인은 검증 단계로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36576" marB="36576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· 프로세스 보완 · 도메인 라우팅 추가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논문보다 테이블이 약 330배 많으므로, 엔티티 추출 앞에서 대상 도메인부터 좁힌다</a:t>
            </a: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· 자연어 데이터 조회 과제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1274552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3440" y="1440408"/>
            <a:ext cx="11082073" cy="2770518"/>
          </a:xfrm>
          <a:prstGeom prst="roundRect">
            <a:avLst>
              <a:gd name="adj" fmla="val 1250"/>
            </a:avLst>
          </a:prstGeom>
          <a:solidFill>
            <a:srgbClr val="FFFFFF">
              <a:alpha val="0"/>
            </a:srgbClr>
          </a:solidFill>
          <a:ln w="9235">
            <a:solidFill>
              <a:srgbClr val="D0D0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3440" y="2133037"/>
            <a:ext cx="11082073" cy="0"/>
          </a:xfrm>
          <a:prstGeom prst="line">
            <a:avLst/>
          </a:prstGeom>
          <a:noFill/>
          <a:ln w="9235">
            <a:solidFill>
              <a:srgbClr val="D0D0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3440" y="3056543"/>
            <a:ext cx="11082073" cy="0"/>
          </a:xfrm>
          <a:prstGeom prst="line">
            <a:avLst/>
          </a:prstGeom>
          <a:noFill/>
          <a:ln w="9235">
            <a:solidFill>
              <a:srgbClr val="D0D0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280" y="1440408"/>
            <a:ext cx="0" cy="2770518"/>
          </a:xfrm>
          <a:prstGeom prst="line">
            <a:avLst/>
          </a:prstGeom>
          <a:noFill/>
          <a:ln w="9235">
            <a:solidFill>
              <a:srgbClr val="D0D0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440" y="1440408"/>
            <a:ext cx="484841" cy="2770518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8377" y="1724097"/>
            <a:ext cx="334966" cy="125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640" dirty="0"/>
          </a:p>
        </p:txBody>
      </p:sp>
      <p:sp>
        <p:nvSpPr>
          <p:cNvPr id="12" name="Text 10"/>
          <p:cNvSpPr txBox="1"/>
          <p:nvPr/>
        </p:nvSpPr>
        <p:spPr>
          <a:xfrm>
            <a:off x="555942" y="2480218"/>
            <a:ext cx="479836" cy="125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Text2SQL</a:t>
            </a:r>
            <a:endParaRPr lang="en-US" sz="640" dirty="0"/>
          </a:p>
        </p:txBody>
      </p:sp>
      <p:sp>
        <p:nvSpPr>
          <p:cNvPr id="13" name="Text 11"/>
          <p:cNvSpPr txBox="1"/>
          <p:nvPr/>
        </p:nvSpPr>
        <p:spPr>
          <a:xfrm>
            <a:off x="672013" y="2584112"/>
            <a:ext cx="247695" cy="125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</a:t>
            </a:r>
            <a:endParaRPr lang="en-US" sz="640" dirty="0"/>
          </a:p>
        </p:txBody>
      </p:sp>
      <p:sp>
        <p:nvSpPr>
          <p:cNvPr id="14" name="Text 12"/>
          <p:cNvSpPr txBox="1"/>
          <p:nvPr/>
        </p:nvSpPr>
        <p:spPr>
          <a:xfrm>
            <a:off x="541106" y="3519162"/>
            <a:ext cx="509509" cy="125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</a:t>
            </a:r>
            <a:endParaRPr lang="en-US" sz="640" dirty="0"/>
          </a:p>
        </p:txBody>
      </p:sp>
      <p:sp>
        <p:nvSpPr>
          <p:cNvPr id="15" name="Text 13"/>
          <p:cNvSpPr txBox="1"/>
          <p:nvPr/>
        </p:nvSpPr>
        <p:spPr>
          <a:xfrm>
            <a:off x="628377" y="3623057"/>
            <a:ext cx="334966" cy="125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640" dirty="0"/>
          </a:p>
        </p:txBody>
      </p:sp>
      <p:sp>
        <p:nvSpPr>
          <p:cNvPr id="16" name="Shape 14"/>
          <p:cNvSpPr/>
          <p:nvPr/>
        </p:nvSpPr>
        <p:spPr>
          <a:xfrm>
            <a:off x="1165262" y="1705916"/>
            <a:ext cx="161614" cy="161614"/>
          </a:xfrm>
          <a:prstGeom prst="ellipse">
            <a:avLst/>
          </a:prstGeom>
          <a:solidFill>
            <a:srgbClr val="FFFFFF"/>
          </a:solidFill>
          <a:ln w="12929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3392" y="1927052"/>
            <a:ext cx="425354" cy="111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입력</a:t>
            </a:r>
            <a:endParaRPr lang="en-US" sz="570" dirty="0"/>
          </a:p>
        </p:txBody>
      </p:sp>
      <p:sp>
        <p:nvSpPr>
          <p:cNvPr id="18" name="Shape 16"/>
          <p:cNvSpPr/>
          <p:nvPr/>
        </p:nvSpPr>
        <p:spPr>
          <a:xfrm>
            <a:off x="1246069" y="1867529"/>
            <a:ext cx="0" cy="727261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6069" y="2594790"/>
            <a:ext cx="207789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476946" y="2450492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235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33082" y="2527692"/>
            <a:ext cx="495795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분석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2285014" y="2594790"/>
            <a:ext cx="277052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573609" y="2479352"/>
            <a:ext cx="230877" cy="230877"/>
          </a:xfrm>
          <a:prstGeom prst="diamond">
            <a:avLst/>
          </a:prstGeom>
          <a:solidFill>
            <a:srgbClr val="FFFFFF"/>
          </a:solidFill>
          <a:ln w="11082">
            <a:solidFill>
              <a:srgbClr val="1A1A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48644" y="2554387"/>
            <a:ext cx="80807" cy="80807"/>
          </a:xfrm>
          <a:prstGeom prst="line">
            <a:avLst/>
          </a:prstGeom>
          <a:noFill/>
          <a:ln w="12929">
            <a:solidFill>
              <a:srgbClr val="1A1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2648644" y="2554387"/>
            <a:ext cx="80807" cy="80807"/>
          </a:xfrm>
          <a:prstGeom prst="line">
            <a:avLst/>
          </a:prstGeom>
          <a:noFill/>
          <a:ln w="12929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2689047" y="1942564"/>
            <a:ext cx="0" cy="536788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735223" y="2190323"/>
            <a:ext cx="235227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모호</a:t>
            </a:r>
            <a:endParaRPr lang="en-US" sz="590" dirty="0"/>
          </a:p>
        </p:txBody>
      </p:sp>
      <p:sp>
        <p:nvSpPr>
          <p:cNvPr id="28" name="Shape 26"/>
          <p:cNvSpPr/>
          <p:nvPr/>
        </p:nvSpPr>
        <p:spPr>
          <a:xfrm>
            <a:off x="2285014" y="1642425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235">
            <a:solidFill>
              <a:srgbClr val="7F7F7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94398" y="1719624"/>
            <a:ext cx="589300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명확화 답변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 flipH="1">
            <a:off x="1880980" y="1786722"/>
            <a:ext cx="404034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80980" y="1786722"/>
            <a:ext cx="0" cy="640682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804486" y="2594790"/>
            <a:ext cx="265508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2839117" y="2478919"/>
            <a:ext cx="235227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</a:t>
            </a:r>
            <a:endParaRPr lang="en-US" sz="590" dirty="0"/>
          </a:p>
        </p:txBody>
      </p:sp>
      <p:sp>
        <p:nvSpPr>
          <p:cNvPr id="34" name="Shape 32"/>
          <p:cNvSpPr/>
          <p:nvPr/>
        </p:nvSpPr>
        <p:spPr>
          <a:xfrm>
            <a:off x="3093081" y="2450492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FCE9E1"/>
          </a:solidFill>
          <a:ln w="20317">
            <a:solidFill>
              <a:srgbClr val="D9480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155713" y="2527692"/>
            <a:ext cx="682805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라우팅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3901149" y="2594790"/>
            <a:ext cx="92351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016587" y="2450492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235">
            <a:solidFill>
              <a:srgbClr val="3A3A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125972" y="2527692"/>
            <a:ext cx="589300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엔티티 추출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4824655" y="2594790"/>
            <a:ext cx="92351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940093" y="2450492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235">
            <a:solidFill>
              <a:srgbClr val="3A3A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02725" y="2527692"/>
            <a:ext cx="682805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 매핑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5748161" y="2594790"/>
            <a:ext cx="92351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863599" y="2450492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235">
            <a:solidFill>
              <a:srgbClr val="3A3A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855167" y="2527692"/>
            <a:ext cx="824932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테이블·컬럼 선정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6671667" y="2594790"/>
            <a:ext cx="92351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787106" y="2450492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235">
            <a:solidFill>
              <a:srgbClr val="3A3A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949788" y="2527692"/>
            <a:ext cx="482704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생성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7595173" y="2594790"/>
            <a:ext cx="92351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710612" y="2450492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235">
            <a:solidFill>
              <a:srgbClr val="3A3A3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873294" y="2527692"/>
            <a:ext cx="482704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검증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8518679" y="2594790"/>
            <a:ext cx="277052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807275" y="2479352"/>
            <a:ext cx="230877" cy="230877"/>
          </a:xfrm>
          <a:prstGeom prst="diamond">
            <a:avLst/>
          </a:prstGeom>
          <a:solidFill>
            <a:srgbClr val="FFFFFF"/>
          </a:solidFill>
          <a:ln w="11082">
            <a:solidFill>
              <a:srgbClr val="1A1A1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82310" y="2554387"/>
            <a:ext cx="80807" cy="80807"/>
          </a:xfrm>
          <a:prstGeom prst="line">
            <a:avLst/>
          </a:prstGeom>
          <a:noFill/>
          <a:ln w="12929">
            <a:solidFill>
              <a:srgbClr val="1A1A1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>
            <a:off x="8882310" y="2554387"/>
            <a:ext cx="80807" cy="80807"/>
          </a:xfrm>
          <a:prstGeom prst="line">
            <a:avLst/>
          </a:prstGeom>
          <a:noFill/>
          <a:ln w="12929">
            <a:solidFill>
              <a:srgbClr val="1A1A1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8922713" y="2306195"/>
            <a:ext cx="0" cy="173157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7191139" y="2306195"/>
            <a:ext cx="1731574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91139" y="2306195"/>
            <a:ext cx="0" cy="12121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8968889" y="2340393"/>
            <a:ext cx="604759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재생성</a:t>
            </a:r>
            <a:endParaRPr lang="en-US" sz="590" dirty="0"/>
          </a:p>
        </p:txBody>
      </p:sp>
      <p:sp>
        <p:nvSpPr>
          <p:cNvPr id="59" name="Shape 57"/>
          <p:cNvSpPr/>
          <p:nvPr/>
        </p:nvSpPr>
        <p:spPr>
          <a:xfrm>
            <a:off x="9038152" y="2594790"/>
            <a:ext cx="265508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9072783" y="2478919"/>
            <a:ext cx="235227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9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590" dirty="0"/>
          </a:p>
        </p:txBody>
      </p:sp>
      <p:sp>
        <p:nvSpPr>
          <p:cNvPr id="61" name="Shape 59"/>
          <p:cNvSpPr/>
          <p:nvPr/>
        </p:nvSpPr>
        <p:spPr>
          <a:xfrm>
            <a:off x="9326747" y="2450492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235">
            <a:solidFill>
              <a:srgbClr val="3A3A3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482884" y="2481516"/>
            <a:ext cx="495795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실행</a:t>
            </a:r>
            <a:endParaRPr lang="en-US" sz="680" dirty="0"/>
          </a:p>
        </p:txBody>
      </p:sp>
      <p:sp>
        <p:nvSpPr>
          <p:cNvPr id="63" name="Text 61"/>
          <p:cNvSpPr txBox="1"/>
          <p:nvPr/>
        </p:nvSpPr>
        <p:spPr>
          <a:xfrm>
            <a:off x="9327977" y="2602366"/>
            <a:ext cx="805608" cy="111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조회 전용</a:t>
            </a:r>
            <a:endParaRPr lang="en-US" sz="570" dirty="0"/>
          </a:p>
        </p:txBody>
      </p:sp>
      <p:sp>
        <p:nvSpPr>
          <p:cNvPr id="64" name="Shape 62"/>
          <p:cNvSpPr/>
          <p:nvPr/>
        </p:nvSpPr>
        <p:spPr>
          <a:xfrm>
            <a:off x="10134815" y="2594790"/>
            <a:ext cx="92351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10250253" y="2450492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235">
            <a:solidFill>
              <a:srgbClr val="3A3A3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288574" y="2527692"/>
            <a:ext cx="731427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해석·요약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 flipV="1">
            <a:off x="10654287" y="1942564"/>
            <a:ext cx="0" cy="507928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0250253" y="1642425"/>
            <a:ext cx="808068" cy="288596"/>
          </a:xfrm>
          <a:prstGeom prst="roundRect">
            <a:avLst>
              <a:gd name="adj" fmla="val 12000"/>
            </a:avLst>
          </a:prstGeom>
          <a:solidFill>
            <a:srgbClr val="D9D9D9"/>
          </a:solidFill>
          <a:ln w="9235">
            <a:solidFill>
              <a:srgbClr val="7F7F7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0406390" y="1719624"/>
            <a:ext cx="495795" cy="134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확인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11058321" y="1729003"/>
            <a:ext cx="253964" cy="0"/>
          </a:xfrm>
          <a:prstGeom prst="line">
            <a:avLst/>
          </a:prstGeom>
          <a:noFill/>
          <a:ln w="12929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1323829" y="1648197"/>
            <a:ext cx="161614" cy="161614"/>
          </a:xfrm>
          <a:prstGeom prst="ellipse">
            <a:avLst/>
          </a:prstGeom>
          <a:solidFill>
            <a:srgbClr val="FFFFFF"/>
          </a:solidFill>
          <a:ln w="32323">
            <a:solidFill>
              <a:srgbClr val="1A1A1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1290139" y="1869333"/>
            <a:ext cx="228994" cy="111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7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</a:t>
            </a:r>
            <a:endParaRPr lang="en-US" sz="570" dirty="0"/>
          </a:p>
        </p:txBody>
      </p:sp>
      <p:sp>
        <p:nvSpPr>
          <p:cNvPr id="73" name="Shape 71"/>
          <p:cNvSpPr/>
          <p:nvPr/>
        </p:nvSpPr>
        <p:spPr>
          <a:xfrm>
            <a:off x="1880980" y="2739088"/>
            <a:ext cx="0" cy="421350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1500033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9235">
            <a:solidFill>
              <a:srgbClr val="C8C8C8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1523121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539702" y="3235040"/>
            <a:ext cx="682555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용어집</a:t>
            </a:r>
            <a:endParaRPr lang="en-US" sz="590" dirty="0"/>
          </a:p>
        </p:txBody>
      </p:sp>
      <p:sp>
        <p:nvSpPr>
          <p:cNvPr id="77" name="Shape 75"/>
          <p:cNvSpPr/>
          <p:nvPr/>
        </p:nvSpPr>
        <p:spPr>
          <a:xfrm>
            <a:off x="1523121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1543754" y="3431285"/>
            <a:ext cx="674451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지표(KPI) 정의</a:t>
            </a:r>
            <a:endParaRPr lang="en-US" sz="590" dirty="0"/>
          </a:p>
        </p:txBody>
      </p:sp>
      <p:sp>
        <p:nvSpPr>
          <p:cNvPr id="79" name="Shape 77"/>
          <p:cNvSpPr/>
          <p:nvPr/>
        </p:nvSpPr>
        <p:spPr>
          <a:xfrm>
            <a:off x="1523121" y="361064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1569686" y="3627530"/>
            <a:ext cx="622587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Few-shot 예시</a:t>
            </a:r>
            <a:endParaRPr lang="en-US" sz="590" dirty="0"/>
          </a:p>
        </p:txBody>
      </p:sp>
      <p:sp>
        <p:nvSpPr>
          <p:cNvPr id="81" name="Shape 79"/>
          <p:cNvSpPr/>
          <p:nvPr/>
        </p:nvSpPr>
        <p:spPr>
          <a:xfrm>
            <a:off x="2689047" y="2710228"/>
            <a:ext cx="0" cy="450209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2308101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9235">
            <a:solidFill>
              <a:srgbClr val="C8C8C8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2331189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2367219" y="3235040"/>
            <a:ext cx="643657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조건 규칙</a:t>
            </a:r>
            <a:endParaRPr lang="en-US" sz="590" dirty="0"/>
          </a:p>
        </p:txBody>
      </p:sp>
      <p:sp>
        <p:nvSpPr>
          <p:cNvPr id="85" name="Shape 83"/>
          <p:cNvSpPr/>
          <p:nvPr/>
        </p:nvSpPr>
        <p:spPr>
          <a:xfrm>
            <a:off x="2331189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2388289" y="3431285"/>
            <a:ext cx="601518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프로필</a:t>
            </a:r>
            <a:endParaRPr lang="en-US" sz="590" dirty="0"/>
          </a:p>
        </p:txBody>
      </p:sp>
      <p:sp>
        <p:nvSpPr>
          <p:cNvPr id="87" name="Shape 85"/>
          <p:cNvSpPr/>
          <p:nvPr/>
        </p:nvSpPr>
        <p:spPr>
          <a:xfrm>
            <a:off x="3497115" y="2739088"/>
            <a:ext cx="0" cy="421350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>
            <a:off x="3116169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16623">
            <a:solidFill>
              <a:srgbClr val="D9480F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3139257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155838" y="3235040"/>
            <a:ext cx="682555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카탈로그</a:t>
            </a:r>
            <a:endParaRPr lang="en-US" sz="590" dirty="0"/>
          </a:p>
        </p:txBody>
      </p:sp>
      <p:sp>
        <p:nvSpPr>
          <p:cNvPr id="91" name="Shape 89"/>
          <p:cNvSpPr/>
          <p:nvPr/>
        </p:nvSpPr>
        <p:spPr>
          <a:xfrm>
            <a:off x="3139257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3134768" y="3431285"/>
            <a:ext cx="724695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시스템 분류</a:t>
            </a:r>
            <a:endParaRPr lang="en-US" sz="590" dirty="0"/>
          </a:p>
        </p:txBody>
      </p:sp>
      <p:sp>
        <p:nvSpPr>
          <p:cNvPr id="93" name="Shape 91"/>
          <p:cNvSpPr/>
          <p:nvPr/>
        </p:nvSpPr>
        <p:spPr>
          <a:xfrm>
            <a:off x="3139257" y="361064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3134768" y="3627530"/>
            <a:ext cx="724695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허브 테이블</a:t>
            </a:r>
            <a:endParaRPr lang="en-US" sz="590" dirty="0"/>
          </a:p>
        </p:txBody>
      </p:sp>
      <p:sp>
        <p:nvSpPr>
          <p:cNvPr id="95" name="Shape 93"/>
          <p:cNvSpPr/>
          <p:nvPr/>
        </p:nvSpPr>
        <p:spPr>
          <a:xfrm>
            <a:off x="4420621" y="2739088"/>
            <a:ext cx="0" cy="421350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>
            <a:off x="4039675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9235">
            <a:solidFill>
              <a:srgbClr val="C8C8C8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4062763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4058274" y="3235040"/>
            <a:ext cx="724695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 코드 사전</a:t>
            </a:r>
            <a:endParaRPr lang="en-US" sz="590" dirty="0"/>
          </a:p>
        </p:txBody>
      </p:sp>
      <p:sp>
        <p:nvSpPr>
          <p:cNvPr id="99" name="Shape 97"/>
          <p:cNvSpPr/>
          <p:nvPr/>
        </p:nvSpPr>
        <p:spPr>
          <a:xfrm>
            <a:off x="4062763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4058274" y="3431285"/>
            <a:ext cx="724695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동의어·약어 사전</a:t>
            </a:r>
            <a:endParaRPr lang="en-US" sz="590" dirty="0"/>
          </a:p>
        </p:txBody>
      </p:sp>
      <p:sp>
        <p:nvSpPr>
          <p:cNvPr id="101" name="Shape 99"/>
          <p:cNvSpPr/>
          <p:nvPr/>
        </p:nvSpPr>
        <p:spPr>
          <a:xfrm>
            <a:off x="5344127" y="2739088"/>
            <a:ext cx="0" cy="421350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>
            <a:off x="4963181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9235">
            <a:solidFill>
              <a:srgbClr val="C8C8C8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>
            <a:off x="4986269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5145476" y="3235040"/>
            <a:ext cx="397303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온톨로지</a:t>
            </a:r>
            <a:endParaRPr lang="en-US" sz="590" dirty="0"/>
          </a:p>
        </p:txBody>
      </p:sp>
      <p:sp>
        <p:nvSpPr>
          <p:cNvPr id="105" name="Shape 103"/>
          <p:cNvSpPr/>
          <p:nvPr/>
        </p:nvSpPr>
        <p:spPr>
          <a:xfrm>
            <a:off x="4986269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4981780" y="3431285"/>
            <a:ext cx="724695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개념-테이블 매핑</a:t>
            </a:r>
            <a:endParaRPr lang="en-US" sz="590" dirty="0"/>
          </a:p>
        </p:txBody>
      </p:sp>
      <p:sp>
        <p:nvSpPr>
          <p:cNvPr id="107" name="Shape 105"/>
          <p:cNvSpPr/>
          <p:nvPr/>
        </p:nvSpPr>
        <p:spPr>
          <a:xfrm>
            <a:off x="6267633" y="2739088"/>
            <a:ext cx="0" cy="421350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>
            <a:off x="5886687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9235">
            <a:solidFill>
              <a:srgbClr val="C8C8C8"/>
            </a:solidFill>
            <a:prstDash val="dash"/>
          </a:ln>
        </p:spPr>
      </p:sp>
      <p:sp>
        <p:nvSpPr>
          <p:cNvPr id="109" name="Shape 107"/>
          <p:cNvSpPr/>
          <p:nvPr/>
        </p:nvSpPr>
        <p:spPr>
          <a:xfrm>
            <a:off x="5909775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5926356" y="3235040"/>
            <a:ext cx="682555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카탈로그</a:t>
            </a:r>
            <a:endParaRPr lang="en-US" sz="590" dirty="0"/>
          </a:p>
        </p:txBody>
      </p:sp>
      <p:sp>
        <p:nvSpPr>
          <p:cNvPr id="111" name="Shape 109"/>
          <p:cNvSpPr/>
          <p:nvPr/>
        </p:nvSpPr>
        <p:spPr>
          <a:xfrm>
            <a:off x="5909775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897993" y="3431285"/>
            <a:ext cx="739282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Join 경로 그래프</a:t>
            </a:r>
            <a:endParaRPr lang="en-US" sz="590" dirty="0"/>
          </a:p>
        </p:txBody>
      </p:sp>
      <p:sp>
        <p:nvSpPr>
          <p:cNvPr id="113" name="Shape 111"/>
          <p:cNvSpPr/>
          <p:nvPr/>
        </p:nvSpPr>
        <p:spPr>
          <a:xfrm>
            <a:off x="5909775" y="361064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5945805" y="3627530"/>
            <a:ext cx="643657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사용 이력</a:t>
            </a:r>
            <a:endParaRPr lang="en-US" sz="590" dirty="0"/>
          </a:p>
        </p:txBody>
      </p:sp>
      <p:sp>
        <p:nvSpPr>
          <p:cNvPr id="115" name="Shape 113"/>
          <p:cNvSpPr/>
          <p:nvPr/>
        </p:nvSpPr>
        <p:spPr>
          <a:xfrm>
            <a:off x="7191139" y="2739088"/>
            <a:ext cx="0" cy="421350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116" name="Shape 114"/>
          <p:cNvSpPr/>
          <p:nvPr/>
        </p:nvSpPr>
        <p:spPr>
          <a:xfrm>
            <a:off x="6810193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9235">
            <a:solidFill>
              <a:srgbClr val="C8C8C8"/>
            </a:solidFill>
            <a:prstDash val="dash"/>
          </a:ln>
        </p:spPr>
      </p:sp>
      <p:sp>
        <p:nvSpPr>
          <p:cNvPr id="117" name="Shape 115"/>
          <p:cNvSpPr/>
          <p:nvPr/>
        </p:nvSpPr>
        <p:spPr>
          <a:xfrm>
            <a:off x="6833281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6971418" y="3235040"/>
            <a:ext cx="439442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 쿼리</a:t>
            </a:r>
            <a:endParaRPr lang="en-US" sz="590" dirty="0"/>
          </a:p>
        </p:txBody>
      </p:sp>
      <p:sp>
        <p:nvSpPr>
          <p:cNvPr id="119" name="Shape 117"/>
          <p:cNvSpPr/>
          <p:nvPr/>
        </p:nvSpPr>
        <p:spPr>
          <a:xfrm>
            <a:off x="6833281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6874984" y="3431285"/>
            <a:ext cx="632312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작성 규칙</a:t>
            </a:r>
            <a:endParaRPr lang="en-US" sz="590" dirty="0"/>
          </a:p>
        </p:txBody>
      </p:sp>
      <p:sp>
        <p:nvSpPr>
          <p:cNvPr id="121" name="Shape 119"/>
          <p:cNvSpPr/>
          <p:nvPr/>
        </p:nvSpPr>
        <p:spPr>
          <a:xfrm>
            <a:off x="6833281" y="361064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6900105" y="3627530"/>
            <a:ext cx="582068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방언 정보</a:t>
            </a:r>
            <a:endParaRPr lang="en-US" sz="590" dirty="0"/>
          </a:p>
        </p:txBody>
      </p:sp>
      <p:sp>
        <p:nvSpPr>
          <p:cNvPr id="123" name="Shape 121"/>
          <p:cNvSpPr/>
          <p:nvPr/>
        </p:nvSpPr>
        <p:spPr>
          <a:xfrm>
            <a:off x="8114646" y="2739088"/>
            <a:ext cx="0" cy="421350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124" name="Shape 122"/>
          <p:cNvSpPr/>
          <p:nvPr/>
        </p:nvSpPr>
        <p:spPr>
          <a:xfrm>
            <a:off x="7733699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9235">
            <a:solidFill>
              <a:srgbClr val="C8C8C8"/>
            </a:solidFill>
            <a:prstDash val="dash"/>
          </a:ln>
        </p:spPr>
      </p:sp>
      <p:sp>
        <p:nvSpPr>
          <p:cNvPr id="125" name="Shape 123"/>
          <p:cNvSpPr/>
          <p:nvPr/>
        </p:nvSpPr>
        <p:spPr>
          <a:xfrm>
            <a:off x="7756787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7792817" y="3235040"/>
            <a:ext cx="643657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권한 정책</a:t>
            </a:r>
            <a:endParaRPr lang="en-US" sz="590" dirty="0"/>
          </a:p>
        </p:txBody>
      </p:sp>
      <p:sp>
        <p:nvSpPr>
          <p:cNvPr id="127" name="Shape 125"/>
          <p:cNvSpPr/>
          <p:nvPr/>
        </p:nvSpPr>
        <p:spPr>
          <a:xfrm>
            <a:off x="7756787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28" name="Text 126"/>
          <p:cNvSpPr txBox="1"/>
          <p:nvPr/>
        </p:nvSpPr>
        <p:spPr>
          <a:xfrm>
            <a:off x="7854406" y="3431285"/>
            <a:ext cx="520480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통계</a:t>
            </a:r>
            <a:endParaRPr lang="en-US" sz="590" dirty="0"/>
          </a:p>
        </p:txBody>
      </p:sp>
      <p:sp>
        <p:nvSpPr>
          <p:cNvPr id="129" name="Shape 127"/>
          <p:cNvSpPr/>
          <p:nvPr/>
        </p:nvSpPr>
        <p:spPr>
          <a:xfrm>
            <a:off x="7756787" y="361064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7854406" y="3627530"/>
            <a:ext cx="520480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파티션 정보</a:t>
            </a:r>
            <a:endParaRPr lang="en-US" sz="590" dirty="0"/>
          </a:p>
        </p:txBody>
      </p:sp>
      <p:sp>
        <p:nvSpPr>
          <p:cNvPr id="131" name="Shape 129"/>
          <p:cNvSpPr/>
          <p:nvPr/>
        </p:nvSpPr>
        <p:spPr>
          <a:xfrm>
            <a:off x="9730781" y="2739088"/>
            <a:ext cx="0" cy="421350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132" name="Shape 130"/>
          <p:cNvSpPr/>
          <p:nvPr/>
        </p:nvSpPr>
        <p:spPr>
          <a:xfrm>
            <a:off x="9349835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9235">
            <a:solidFill>
              <a:srgbClr val="C8C8C8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>
            <a:off x="9372923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34" name="Text 132"/>
          <p:cNvSpPr txBox="1"/>
          <p:nvPr/>
        </p:nvSpPr>
        <p:spPr>
          <a:xfrm>
            <a:off x="9430022" y="3235040"/>
            <a:ext cx="601518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보관기간 정보</a:t>
            </a:r>
            <a:endParaRPr lang="en-US" sz="590" dirty="0"/>
          </a:p>
        </p:txBody>
      </p:sp>
      <p:sp>
        <p:nvSpPr>
          <p:cNvPr id="135" name="Shape 133"/>
          <p:cNvSpPr/>
          <p:nvPr/>
        </p:nvSpPr>
        <p:spPr>
          <a:xfrm>
            <a:off x="9372923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36" name="Text 134"/>
          <p:cNvSpPr txBox="1"/>
          <p:nvPr/>
        </p:nvSpPr>
        <p:spPr>
          <a:xfrm>
            <a:off x="9408953" y="3431285"/>
            <a:ext cx="643657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 지연 현황</a:t>
            </a:r>
            <a:endParaRPr lang="en-US" sz="590" dirty="0"/>
          </a:p>
        </p:txBody>
      </p:sp>
      <p:sp>
        <p:nvSpPr>
          <p:cNvPr id="137" name="Shape 135"/>
          <p:cNvSpPr/>
          <p:nvPr/>
        </p:nvSpPr>
        <p:spPr>
          <a:xfrm>
            <a:off x="10654287" y="2739088"/>
            <a:ext cx="0" cy="421350"/>
          </a:xfrm>
          <a:prstGeom prst="line">
            <a:avLst/>
          </a:prstGeom>
          <a:noFill/>
          <a:ln w="9235">
            <a:solidFill>
              <a:srgbClr val="9E9E9E"/>
            </a:solidFill>
            <a:prstDash val="dash"/>
          </a:ln>
        </p:spPr>
      </p:sp>
      <p:sp>
        <p:nvSpPr>
          <p:cNvPr id="138" name="Shape 136"/>
          <p:cNvSpPr/>
          <p:nvPr/>
        </p:nvSpPr>
        <p:spPr>
          <a:xfrm>
            <a:off x="10273341" y="3160438"/>
            <a:ext cx="761892" cy="657998"/>
          </a:xfrm>
          <a:prstGeom prst="roundRect">
            <a:avLst>
              <a:gd name="adj" fmla="val 7018"/>
            </a:avLst>
          </a:prstGeom>
          <a:solidFill>
            <a:srgbClr val="FFFFFF">
              <a:alpha val="0"/>
            </a:srgbClr>
          </a:solidFill>
          <a:ln w="9235">
            <a:solidFill>
              <a:srgbClr val="C8C8C8"/>
            </a:solidFill>
            <a:prstDash val="dash"/>
          </a:ln>
        </p:spPr>
      </p:sp>
      <p:sp>
        <p:nvSpPr>
          <p:cNvPr id="139" name="Shape 137"/>
          <p:cNvSpPr/>
          <p:nvPr/>
        </p:nvSpPr>
        <p:spPr>
          <a:xfrm>
            <a:off x="10296429" y="3218157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40" name="Text 138"/>
          <p:cNvSpPr txBox="1"/>
          <p:nvPr/>
        </p:nvSpPr>
        <p:spPr>
          <a:xfrm>
            <a:off x="10353528" y="3235040"/>
            <a:ext cx="601518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코드값 해석표</a:t>
            </a:r>
            <a:endParaRPr lang="en-US" sz="590" dirty="0"/>
          </a:p>
        </p:txBody>
      </p:sp>
      <p:sp>
        <p:nvSpPr>
          <p:cNvPr id="141" name="Shape 139"/>
          <p:cNvSpPr/>
          <p:nvPr/>
        </p:nvSpPr>
        <p:spPr>
          <a:xfrm>
            <a:off x="10296429" y="3414402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EDEDED"/>
          </a:solidFill>
          <a:ln w="7620">
            <a:solidFill>
              <a:srgbClr val="A6A6A6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10332459" y="3431285"/>
            <a:ext cx="643657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단위·지표 정의</a:t>
            </a:r>
            <a:endParaRPr lang="en-US" sz="590" dirty="0"/>
          </a:p>
        </p:txBody>
      </p:sp>
      <p:sp>
        <p:nvSpPr>
          <p:cNvPr id="143" name="Shape 141"/>
          <p:cNvSpPr/>
          <p:nvPr/>
        </p:nvSpPr>
        <p:spPr>
          <a:xfrm>
            <a:off x="11058321" y="1873301"/>
            <a:ext cx="184701" cy="0"/>
          </a:xfrm>
          <a:prstGeom prst="line">
            <a:avLst/>
          </a:prstGeom>
          <a:noFill/>
          <a:ln w="12929">
            <a:solidFill>
              <a:srgbClr val="7F7F7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1243022" y="1873301"/>
            <a:ext cx="0" cy="2135608"/>
          </a:xfrm>
          <a:prstGeom prst="line">
            <a:avLst/>
          </a:prstGeom>
          <a:noFill/>
          <a:ln w="12929">
            <a:solidFill>
              <a:srgbClr val="7F7F7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flipH="1">
            <a:off x="11041005" y="4008909"/>
            <a:ext cx="202017" cy="0"/>
          </a:xfrm>
          <a:prstGeom prst="line">
            <a:avLst/>
          </a:prstGeom>
          <a:noFill/>
          <a:ln w="12929">
            <a:solidFill>
              <a:srgbClr val="7F7F7F"/>
            </a:solidFill>
            <a:prstDash val="solid"/>
            <a:tailEnd type="triangle"/>
          </a:ln>
        </p:spPr>
      </p:sp>
      <p:sp>
        <p:nvSpPr>
          <p:cNvPr id="146" name="Shape 144"/>
          <p:cNvSpPr/>
          <p:nvPr/>
        </p:nvSpPr>
        <p:spPr>
          <a:xfrm>
            <a:off x="10296429" y="3933874"/>
            <a:ext cx="715717" cy="15007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235">
            <a:solidFill>
              <a:srgbClr val="7F7F7F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10291940" y="3950757"/>
            <a:ext cx="724695" cy="1163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질의·피드백 로그</a:t>
            </a:r>
            <a:endParaRPr lang="en-US" sz="590" dirty="0"/>
          </a:p>
        </p:txBody>
      </p:sp>
      <p:sp>
        <p:nvSpPr>
          <p:cNvPr id="148" name="Shape 146"/>
          <p:cNvSpPr/>
          <p:nvPr/>
        </p:nvSpPr>
        <p:spPr>
          <a:xfrm>
            <a:off x="502920" y="4700016"/>
            <a:ext cx="137160" cy="137160"/>
          </a:xfrm>
          <a:prstGeom prst="rect">
            <a:avLst/>
          </a:prstGeom>
          <a:solidFill>
            <a:srgbClr val="D9D9D9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795528" y="466344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작업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1755648" y="4700016"/>
            <a:ext cx="137160" cy="137160"/>
          </a:xfrm>
          <a:prstGeom prst="rect">
            <a:avLst/>
          </a:prstGeom>
          <a:solidFill>
            <a:srgbClr val="FFFFFF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51" name="Text 149"/>
          <p:cNvSpPr txBox="1"/>
          <p:nvPr/>
        </p:nvSpPr>
        <p:spPr>
          <a:xfrm>
            <a:off x="2048256" y="4663440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엔진 처리 단계</a:t>
            </a:r>
            <a:endParaRPr lang="en-US" sz="1000" dirty="0"/>
          </a:p>
        </p:txBody>
      </p:sp>
      <p:sp>
        <p:nvSpPr>
          <p:cNvPr id="152" name="Shape 150"/>
          <p:cNvSpPr/>
          <p:nvPr/>
        </p:nvSpPr>
        <p:spPr>
          <a:xfrm>
            <a:off x="3227832" y="4700016"/>
            <a:ext cx="137160" cy="137160"/>
          </a:xfrm>
          <a:prstGeom prst="rect">
            <a:avLst/>
          </a:prstGeom>
          <a:solidFill>
            <a:srgbClr val="FCE9E1"/>
          </a:solidFill>
          <a:ln w="9525">
            <a:solidFill>
              <a:srgbClr val="D9480F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3520440" y="46634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단계 · 도메인 라우팅</a:t>
            </a:r>
            <a:endParaRPr lang="en-US" sz="1000" dirty="0"/>
          </a:p>
        </p:txBody>
      </p:sp>
      <p:sp>
        <p:nvSpPr>
          <p:cNvPr id="154" name="Shape 152"/>
          <p:cNvSpPr/>
          <p:nvPr/>
        </p:nvSpPr>
        <p:spPr>
          <a:xfrm>
            <a:off x="5468112" y="4700016"/>
            <a:ext cx="137160" cy="137160"/>
          </a:xfrm>
          <a:prstGeom prst="rect">
            <a:avLst/>
          </a:prstGeom>
          <a:solidFill>
            <a:srgbClr val="EDEDED"/>
          </a:solidFill>
          <a:ln w="9525">
            <a:solidFill>
              <a:srgbClr val="A6A6A6"/>
            </a:solidFill>
            <a:prstDash val="solid"/>
          </a:ln>
        </p:spPr>
      </p:sp>
      <p:sp>
        <p:nvSpPr>
          <p:cNvPr id="155" name="Text 153"/>
          <p:cNvSpPr txBox="1"/>
          <p:nvPr/>
        </p:nvSpPr>
        <p:spPr>
          <a:xfrm>
            <a:off x="5760720" y="4663440"/>
            <a:ext cx="1014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메타데이터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6940296" y="4700016"/>
            <a:ext cx="137160" cy="13716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  <a:prstDash val="solid"/>
          </a:ln>
        </p:spPr>
      </p:sp>
      <p:sp>
        <p:nvSpPr>
          <p:cNvPr id="157" name="Text 155"/>
          <p:cNvSpPr txBox="1"/>
          <p:nvPr/>
        </p:nvSpPr>
        <p:spPr>
          <a:xfrm>
            <a:off x="7232904" y="466344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저장소</a:t>
            </a:r>
            <a:endParaRPr lang="en-US" sz="1000" dirty="0"/>
          </a:p>
        </p:txBody>
      </p:sp>
      <p:sp>
        <p:nvSpPr>
          <p:cNvPr id="158" name="Shape 156"/>
          <p:cNvSpPr/>
          <p:nvPr/>
        </p:nvSpPr>
        <p:spPr>
          <a:xfrm>
            <a:off x="8193024" y="4764024"/>
            <a:ext cx="228600" cy="0"/>
          </a:xfrm>
          <a:prstGeom prst="line">
            <a:avLst/>
          </a:prstGeom>
          <a:noFill/>
          <a:ln w="12700">
            <a:solidFill>
              <a:srgbClr val="5F5F5F"/>
            </a:solidFill>
            <a:prstDash val="dash"/>
          </a:ln>
        </p:spPr>
      </p:sp>
      <p:sp>
        <p:nvSpPr>
          <p:cNvPr id="159" name="Text 157"/>
          <p:cNvSpPr txBox="1"/>
          <p:nvPr/>
        </p:nvSpPr>
        <p:spPr>
          <a:xfrm>
            <a:off x="8485632" y="4663440"/>
            <a:ext cx="795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연결</a:t>
            </a:r>
            <a:endParaRPr lang="en-US" sz="1000" dirty="0"/>
          </a:p>
        </p:txBody>
      </p:sp>
      <p:sp>
        <p:nvSpPr>
          <p:cNvPr id="160" name="Shape 158"/>
          <p:cNvSpPr/>
          <p:nvPr/>
        </p:nvSpPr>
        <p:spPr>
          <a:xfrm>
            <a:off x="457200" y="5029200"/>
            <a:ext cx="3605784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640080" y="516636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 격차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40080" y="54864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DB 27개 테이블 vs Data Hub 약 9,000개. 단일 지식그래프로 전체를 다루기 어렵다</a:t>
            </a:r>
            <a:endParaRPr lang="en-US" sz="1200" dirty="0"/>
          </a:p>
        </p:txBody>
      </p:sp>
      <p:sp>
        <p:nvSpPr>
          <p:cNvPr id="163" name="Shape 161"/>
          <p:cNvSpPr/>
          <p:nvPr/>
        </p:nvSpPr>
        <p:spPr>
          <a:xfrm>
            <a:off x="4291584" y="5029200"/>
            <a:ext cx="3605784" cy="1234440"/>
          </a:xfrm>
          <a:prstGeom prst="roundRect">
            <a:avLst>
              <a:gd name="adj" fmla="val 5926"/>
            </a:avLst>
          </a:prstGeom>
          <a:solidFill>
            <a:srgbClr val="FCE9E1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4474464" y="516636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34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라우팅</a:t>
            </a:r>
            <a:endParaRPr lang="en-US" sz="1300" dirty="0"/>
          </a:p>
        </p:txBody>
      </p:sp>
      <p:sp>
        <p:nvSpPr>
          <p:cNvPr id="165" name="Text 163"/>
          <p:cNvSpPr txBox="1"/>
          <p:nvPr/>
        </p:nvSpPr>
        <p:spPr>
          <a:xfrm>
            <a:off x="4474464" y="54864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질문마다 원천 시스템과 업무 도메인을 먼저 골라, 수십~수백 테이블 범위로 좁힌다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8125968" y="5029200"/>
            <a:ext cx="3605784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/>
        </p:spPr>
      </p:sp>
      <p:sp>
        <p:nvSpPr>
          <p:cNvPr id="167" name="Text 165"/>
          <p:cNvSpPr txBox="1"/>
          <p:nvPr/>
        </p:nvSpPr>
        <p:spPr>
          <a:xfrm>
            <a:off x="8308848" y="5166360"/>
            <a:ext cx="324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카탈로그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8308848" y="54864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설명·대표 테이블·주요 엔티티, 원천 시스템 분류, 공유 허브 테이블 목록을 참조한다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· 도메인 라우팅 1/2 · 도메인 구성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로그로 테이블을 업무 도메인으로 묶고, 도메인마다 검색용 설명을 만든다</a:t>
            </a: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Chen et al., Text-to-SQL for Enterprise Data Analytics, KDD 2025 Workshop on Agentic AI for Enterprise · arXiv 2507.14372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LinkedIn · 지식그래프 기반 테이블 클러스터링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1988143"/>
            <a:ext cx="1144016" cy="305071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 w="15254">
            <a:solidFill>
              <a:srgbClr val="7F7F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5312" y="2044628"/>
            <a:ext cx="1213553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메타데이터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40080" y="2388548"/>
            <a:ext cx="1144016" cy="305071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 w="27456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3011" y="2445034"/>
            <a:ext cx="678153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로그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54"/>
            <a:ext cx="1144016" cy="305071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 w="15254">
            <a:solidFill>
              <a:srgbClr val="7F7F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3011" y="2845440"/>
            <a:ext cx="678153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위키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40080" y="3189359"/>
            <a:ext cx="1144016" cy="305071"/>
          </a:xfrm>
          <a:prstGeom prst="roundRect">
            <a:avLst>
              <a:gd name="adj" fmla="val 12500"/>
            </a:avLst>
          </a:prstGeom>
          <a:solidFill>
            <a:srgbClr val="D9D9D9"/>
          </a:solidFill>
          <a:ln w="15254">
            <a:solidFill>
              <a:srgbClr val="7F7F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1662" y="3245845"/>
            <a:ext cx="340852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1784096" y="2140678"/>
            <a:ext cx="343205" cy="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784096" y="2541084"/>
            <a:ext cx="343205" cy="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784096" y="2941489"/>
            <a:ext cx="343205" cy="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784096" y="3341895"/>
            <a:ext cx="343205" cy="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165435" y="1930942"/>
            <a:ext cx="1620689" cy="1620689"/>
          </a:xfrm>
          <a:prstGeom prst="roundRect">
            <a:avLst>
              <a:gd name="adj" fmla="val 3529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65968" y="2014479"/>
            <a:ext cx="819622" cy="21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지식그래프</a:t>
            </a:r>
            <a:endParaRPr lang="en-US" sz="1090" dirty="0"/>
          </a:p>
        </p:txBody>
      </p:sp>
      <p:sp>
        <p:nvSpPr>
          <p:cNvPr id="23" name="Text 21"/>
          <p:cNvSpPr txBox="1"/>
          <p:nvPr/>
        </p:nvSpPr>
        <p:spPr>
          <a:xfrm>
            <a:off x="2314021" y="2217780"/>
            <a:ext cx="1323516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의미 정보를 색인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2298903" y="2445749"/>
            <a:ext cx="1353752" cy="286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54">
            <a:solidFill>
              <a:srgbClr val="8C8C8C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2412813" y="2496396"/>
            <a:ext cx="1125933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A 영역 테이블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298903" y="2808021"/>
            <a:ext cx="1353752" cy="2860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54">
            <a:solidFill>
              <a:srgbClr val="8C8C8C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2348462" y="2858667"/>
            <a:ext cx="1254635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B 영역 테이블</a:t>
            </a:r>
            <a:endParaRPr lang="en-US" sz="940" dirty="0"/>
          </a:p>
        </p:txBody>
      </p:sp>
      <p:sp>
        <p:nvSpPr>
          <p:cNvPr id="28" name="Text 26"/>
          <p:cNvSpPr txBox="1"/>
          <p:nvPr/>
        </p:nvSpPr>
        <p:spPr>
          <a:xfrm>
            <a:off x="2874852" y="3135138"/>
            <a:ext cx="201854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</a:t>
            </a:r>
            <a:endParaRPr lang="en-US" sz="940" dirty="0"/>
          </a:p>
        </p:txBody>
      </p:sp>
      <p:sp>
        <p:nvSpPr>
          <p:cNvPr id="29" name="Text 27"/>
          <p:cNvSpPr txBox="1"/>
          <p:nvPr/>
        </p:nvSpPr>
        <p:spPr>
          <a:xfrm>
            <a:off x="2226401" y="3333196"/>
            <a:ext cx="1498756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D94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클러스터링으로 영역 구분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3786124" y="2741287"/>
            <a:ext cx="247870" cy="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072128" y="1930942"/>
            <a:ext cx="1696957" cy="1620689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98771" y="2014479"/>
            <a:ext cx="1443672" cy="21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Text2SQL 에이전트</a:t>
            </a:r>
            <a:endParaRPr lang="en-US" sz="1090" dirty="0"/>
          </a:p>
        </p:txBody>
      </p:sp>
      <p:sp>
        <p:nvSpPr>
          <p:cNvPr id="33" name="Text 31"/>
          <p:cNvSpPr txBox="1"/>
          <p:nvPr/>
        </p:nvSpPr>
        <p:spPr>
          <a:xfrm>
            <a:off x="4205597" y="2410594"/>
            <a:ext cx="1499168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컨텍스트 검색·순위화</a:t>
            </a:r>
            <a:endParaRPr lang="en-US" sz="940" dirty="0"/>
          </a:p>
        </p:txBody>
      </p:sp>
      <p:sp>
        <p:nvSpPr>
          <p:cNvPr id="34" name="Text 32"/>
          <p:cNvSpPr txBox="1"/>
          <p:nvPr/>
        </p:nvSpPr>
        <p:spPr>
          <a:xfrm>
            <a:off x="4205597" y="2677531"/>
            <a:ext cx="770716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SQL 작성</a:t>
            </a:r>
            <a:endParaRPr lang="en-US" sz="940" dirty="0"/>
          </a:p>
        </p:txBody>
      </p:sp>
      <p:sp>
        <p:nvSpPr>
          <p:cNvPr id="35" name="Text 33"/>
          <p:cNvSpPr txBox="1"/>
          <p:nvPr/>
        </p:nvSpPr>
        <p:spPr>
          <a:xfrm>
            <a:off x="4205597" y="2944469"/>
            <a:ext cx="1113063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환각·문법 오류</a:t>
            </a:r>
            <a:endParaRPr lang="en-US" sz="940" dirty="0"/>
          </a:p>
        </p:txBody>
      </p:sp>
      <p:sp>
        <p:nvSpPr>
          <p:cNvPr id="36" name="Text 34"/>
          <p:cNvSpPr txBox="1"/>
          <p:nvPr/>
        </p:nvSpPr>
        <p:spPr>
          <a:xfrm>
            <a:off x="4300931" y="3135138"/>
            <a:ext cx="654884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수정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4920607" y="3551631"/>
            <a:ext cx="0" cy="209736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165435" y="3799501"/>
            <a:ext cx="3603650" cy="3622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24406">
            <a:solidFill>
              <a:srgbClr val="1A1A1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375348" y="3884588"/>
            <a:ext cx="3183823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챗봇 · 데이터 탐색 · 쿼리 작성 · 디버깅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4383566"/>
            <a:ext cx="5111496" cy="178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메타데이터·쿼리 로그·위키·코드를 지식그래프로 색인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클러스터링으로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팀·제품 영역별 테이블 묶음을 만들어 검색 범위를 좁힘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실운영: 주간 사용자 300명+, 정답·근접 답변 53% (전문가 평가)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4F4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1A1A1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적용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4204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도메인 구성 (4단계)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400800" y="1892808"/>
            <a:ext cx="5148072" cy="343205"/>
          </a:xfrm>
          <a:prstGeom prst="roundRect">
            <a:avLst>
              <a:gd name="adj" fmla="val 13889"/>
            </a:avLst>
          </a:prstGeom>
          <a:solidFill>
            <a:srgbClr val="D9D9D9"/>
          </a:solidFill>
          <a:ln w="15254">
            <a:solidFill>
              <a:srgbClr val="7F7F7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34269" y="1964667"/>
            <a:ext cx="1029458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Hub 입력</a:t>
            </a:r>
            <a:endParaRPr lang="en-US" sz="1010" dirty="0"/>
          </a:p>
        </p:txBody>
      </p:sp>
      <p:sp>
        <p:nvSpPr>
          <p:cNvPr id="47" name="Text 45"/>
          <p:cNvSpPr txBox="1"/>
          <p:nvPr/>
        </p:nvSpPr>
        <p:spPr>
          <a:xfrm>
            <a:off x="9538367" y="1975749"/>
            <a:ext cx="1877036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메타데이터 + 쿼리 로그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974836" y="2236013"/>
            <a:ext cx="0" cy="95335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400800" y="2350414"/>
            <a:ext cx="5148072" cy="343205"/>
          </a:xfrm>
          <a:prstGeom prst="roundRect">
            <a:avLst>
              <a:gd name="adj" fmla="val 13889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34269" y="2422273"/>
            <a:ext cx="1401972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원천 시스템 분할</a:t>
            </a:r>
            <a:endParaRPr lang="en-US" sz="1010" dirty="0"/>
          </a:p>
        </p:txBody>
      </p:sp>
      <p:sp>
        <p:nvSpPr>
          <p:cNvPr id="51" name="Text 49"/>
          <p:cNvSpPr txBox="1"/>
          <p:nvPr/>
        </p:nvSpPr>
        <p:spPr>
          <a:xfrm>
            <a:off x="8480747" y="2433356"/>
            <a:ext cx="2934656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CDC 출처로 1차 구분 · 로그 없는 테이블도 분류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974836" y="2693619"/>
            <a:ext cx="0" cy="95335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6400800" y="2808021"/>
            <a:ext cx="5148072" cy="343205"/>
          </a:xfrm>
          <a:prstGeom prst="roundRect">
            <a:avLst>
              <a:gd name="adj" fmla="val 13889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34269" y="2879879"/>
            <a:ext cx="1401972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허브 테이블 분리</a:t>
            </a:r>
            <a:endParaRPr lang="en-US" sz="1010" dirty="0"/>
          </a:p>
        </p:txBody>
      </p:sp>
      <p:sp>
        <p:nvSpPr>
          <p:cNvPr id="55" name="Text 53"/>
          <p:cNvSpPr txBox="1"/>
          <p:nvPr/>
        </p:nvSpPr>
        <p:spPr>
          <a:xfrm>
            <a:off x="9086160" y="2890962"/>
            <a:ext cx="2329243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Lot·설비 마스터는 공유 테이블로 지정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974836" y="3151226"/>
            <a:ext cx="0" cy="95335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6400800" y="3265627"/>
            <a:ext cx="5148072" cy="343205"/>
          </a:xfrm>
          <a:prstGeom prst="roundRect">
            <a:avLst>
              <a:gd name="adj" fmla="val 13889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534269" y="3337486"/>
            <a:ext cx="1679968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공동 사용 클러스터링</a:t>
            </a:r>
            <a:endParaRPr lang="en-US" sz="1010" dirty="0"/>
          </a:p>
        </p:txBody>
      </p:sp>
      <p:sp>
        <p:nvSpPr>
          <p:cNvPr id="59" name="Text 57"/>
          <p:cNvSpPr txBox="1"/>
          <p:nvPr/>
        </p:nvSpPr>
        <p:spPr>
          <a:xfrm>
            <a:off x="8458507" y="3348568"/>
            <a:ext cx="2956896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Join된 테이블끼리 · 도메인당 수십~수백 개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974836" y="3608832"/>
            <a:ext cx="0" cy="95335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400800" y="3723234"/>
            <a:ext cx="5148072" cy="343205"/>
          </a:xfrm>
          <a:prstGeom prst="roundRect">
            <a:avLst>
              <a:gd name="adj" fmla="val 13889"/>
            </a:avLst>
          </a:prstGeom>
          <a:solidFill>
            <a:srgbClr val="FCE9E1"/>
          </a:solidFill>
          <a:ln w="30507">
            <a:solidFill>
              <a:srgbClr val="D9480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534269" y="3795092"/>
            <a:ext cx="1679968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도메인 카탈로그 작성</a:t>
            </a:r>
            <a:endParaRPr lang="en-US" sz="1010" dirty="0"/>
          </a:p>
        </p:txBody>
      </p:sp>
      <p:sp>
        <p:nvSpPr>
          <p:cNvPr id="63" name="Text 61"/>
          <p:cNvSpPr txBox="1"/>
          <p:nvPr/>
        </p:nvSpPr>
        <p:spPr>
          <a:xfrm>
            <a:off x="8438739" y="3806175"/>
            <a:ext cx="2976665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도메인 설명·대표 테이블·주요 엔티티 작성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974836" y="4066438"/>
            <a:ext cx="0" cy="114402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6400800" y="4199907"/>
            <a:ext cx="5148072" cy="381339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 w="15254">
            <a:solidFill>
              <a:srgbClr val="D0D0D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472346" y="4298221"/>
            <a:ext cx="3004979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카탈로그</a:t>
            </a: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9장 도메인 선택의 검색 대상</a:t>
            </a:r>
            <a:endParaRPr lang="en-US" sz="940" dirty="0"/>
          </a:p>
        </p:txBody>
      </p:sp>
      <p:sp>
        <p:nvSpPr>
          <p:cNvPr id="67" name="Text 65"/>
          <p:cNvSpPr txBox="1"/>
          <p:nvPr/>
        </p:nvSpPr>
        <p:spPr>
          <a:xfrm>
            <a:off x="6419088" y="4802259"/>
            <a:ext cx="51114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LinkedIn 대비 차이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팀·제품 대신 원천 시스템 → 업무 도메인의 2계층으로 구성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허브 테이블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클러스터링 전에 분리하지 않으면 전체가 한 덩어리로 뭉침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없는 테이블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 시스템 정보로 1계층에만 우선 분류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· 도메인 라우팅 2/2 · 도메인 선택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12064"/>
            <a:ext cx="112745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질문이 들어오면 도메인 후보를 단계적으로 좁혀 고르고, 엔티티 추출 단계로 넘긴다</a:t>
            </a:r>
            <a:endParaRPr lang="en-US" sz="2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41908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Wang, Liu, Yang, LinkAlign: Scalable Schema Linking for Real-World Large-Scale Multi-Database Text-to-SQL, EMNLP 2025, pp. 977–991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LinkAlign · DB 검색 + 스키마 그라운딩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274147"/>
            <a:ext cx="991481" cy="38133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4406">
            <a:solidFill>
              <a:srgbClr val="1A1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5098" y="2361378"/>
            <a:ext cx="361444" cy="2068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8214" y="2998690"/>
            <a:ext cx="915213" cy="419473"/>
          </a:xfrm>
          <a:prstGeom prst="roundRect">
            <a:avLst>
              <a:gd name="adj" fmla="val 9091"/>
            </a:avLst>
          </a:prstGeom>
          <a:solidFill>
            <a:srgbClr val="D9D9D9"/>
          </a:solidFill>
          <a:ln w="15254">
            <a:solidFill>
              <a:srgbClr val="7F7F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1286" y="3053031"/>
            <a:ext cx="849069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후보 다수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13835" y="3222488"/>
            <a:ext cx="643970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1 … N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1631561" y="2464816"/>
            <a:ext cx="305071" cy="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631561" y="3189359"/>
            <a:ext cx="152535" cy="0"/>
          </a:xfrm>
          <a:prstGeom prst="line">
            <a:avLst/>
          </a:prstGeom>
          <a:noFill/>
          <a:ln w="19830">
            <a:solidFill>
              <a:srgbClr val="8C8C8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1784096" y="2846155"/>
            <a:ext cx="0" cy="343205"/>
          </a:xfrm>
          <a:prstGeom prst="line">
            <a:avLst/>
          </a:prstGeom>
          <a:noFill/>
          <a:ln w="19830">
            <a:solidFill>
              <a:srgbClr val="8C8C8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784096" y="2846155"/>
            <a:ext cx="152535" cy="0"/>
          </a:xfrm>
          <a:prstGeom prst="line">
            <a:avLst/>
          </a:prstGeom>
          <a:noFill/>
          <a:ln w="19830">
            <a:solidFill>
              <a:srgbClr val="8C8C8C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974765" y="1930942"/>
            <a:ext cx="1735091" cy="1620689"/>
          </a:xfrm>
          <a:prstGeom prst="roundRect">
            <a:avLst>
              <a:gd name="adj" fmla="val 3529"/>
            </a:avLst>
          </a:prstGeom>
          <a:solidFill>
            <a:srgbClr val="FCE9E1"/>
          </a:solidFill>
          <a:ln w="30507">
            <a:solidFill>
              <a:srgbClr val="D9480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89167" y="2017577"/>
            <a:ext cx="444946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1</a:t>
            </a:r>
            <a:endParaRPr lang="en-US" sz="860" dirty="0"/>
          </a:p>
        </p:txBody>
      </p:sp>
      <p:sp>
        <p:nvSpPr>
          <p:cNvPr id="20" name="Text 18"/>
          <p:cNvSpPr txBox="1"/>
          <p:nvPr/>
        </p:nvSpPr>
        <p:spPr>
          <a:xfrm>
            <a:off x="2525062" y="2186081"/>
            <a:ext cx="634498" cy="21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검색</a:t>
            </a:r>
            <a:endParaRPr lang="en-US" sz="1090" dirty="0"/>
          </a:p>
        </p:txBody>
      </p:sp>
      <p:sp>
        <p:nvSpPr>
          <p:cNvPr id="21" name="Shape 19"/>
          <p:cNvSpPr/>
          <p:nvPr/>
        </p:nvSpPr>
        <p:spPr>
          <a:xfrm>
            <a:off x="2089167" y="2483883"/>
            <a:ext cx="1506288" cy="419473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90540" y="2534529"/>
            <a:ext cx="1303541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다회 의미 보강 검색</a:t>
            </a:r>
            <a:endParaRPr lang="en-US" sz="940" dirty="0"/>
          </a:p>
        </p:txBody>
      </p:sp>
      <p:sp>
        <p:nvSpPr>
          <p:cNvPr id="23" name="Text 21"/>
          <p:cNvSpPr txBox="1"/>
          <p:nvPr/>
        </p:nvSpPr>
        <p:spPr>
          <a:xfrm>
            <a:off x="2094477" y="2707681"/>
            <a:ext cx="1495667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질문을 보강하며 반복 검색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842311" y="2903355"/>
            <a:ext cx="0" cy="114402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089167" y="3036824"/>
            <a:ext cx="1506288" cy="419473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52704" y="3087471"/>
            <a:ext cx="979213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무관 정보 분리</a:t>
            </a:r>
            <a:endParaRPr lang="en-US" sz="940" dirty="0"/>
          </a:p>
        </p:txBody>
      </p:sp>
      <p:sp>
        <p:nvSpPr>
          <p:cNvPr id="27" name="Text 25"/>
          <p:cNvSpPr txBox="1"/>
          <p:nvPr/>
        </p:nvSpPr>
        <p:spPr>
          <a:xfrm>
            <a:off x="2194144" y="3260622"/>
            <a:ext cx="1296334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없는 DB 걸러내기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709856" y="2741287"/>
            <a:ext cx="286004" cy="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033994" y="1930942"/>
            <a:ext cx="1735091" cy="1620689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148396" y="2017577"/>
            <a:ext cx="444946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과제 2</a:t>
            </a:r>
            <a:endParaRPr lang="en-US" sz="860" dirty="0"/>
          </a:p>
        </p:txBody>
      </p:sp>
      <p:sp>
        <p:nvSpPr>
          <p:cNvPr id="31" name="Text 29"/>
          <p:cNvSpPr txBox="1"/>
          <p:nvPr/>
        </p:nvSpPr>
        <p:spPr>
          <a:xfrm>
            <a:off x="4303618" y="2186081"/>
            <a:ext cx="1195844" cy="2142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그라운딩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4148396" y="2483883"/>
            <a:ext cx="1506288" cy="419473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47582" y="2534529"/>
            <a:ext cx="1107914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추출 강화</a:t>
            </a:r>
            <a:endParaRPr lang="en-US" sz="940" dirty="0"/>
          </a:p>
        </p:txBody>
      </p:sp>
      <p:sp>
        <p:nvSpPr>
          <p:cNvPr id="34" name="Text 32"/>
          <p:cNvSpPr txBox="1"/>
          <p:nvPr/>
        </p:nvSpPr>
        <p:spPr>
          <a:xfrm>
            <a:off x="4210335" y="2707681"/>
            <a:ext cx="1382410" cy="1625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중복·복잡한 스키마 대응</a:t>
            </a:r>
            <a:endParaRPr lang="en-US" sz="830" dirty="0"/>
          </a:p>
        </p:txBody>
      </p:sp>
      <p:sp>
        <p:nvSpPr>
          <p:cNvPr id="35" name="Text 33"/>
          <p:cNvSpPr txBox="1"/>
          <p:nvPr/>
        </p:nvSpPr>
        <p:spPr>
          <a:xfrm>
            <a:off x="4249769" y="3058870"/>
            <a:ext cx="1303541" cy="184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관련 테이블·컬럼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1974765" y="3799501"/>
            <a:ext cx="3794320" cy="362272"/>
          </a:xfrm>
          <a:prstGeom prst="roundRect">
            <a:avLst>
              <a:gd name="adj" fmla="val 15789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049792" y="3884588"/>
            <a:ext cx="3644267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Agent 모드(성능) / Pipeline 모드(효율) 선택</a:t>
            </a:r>
            <a:endParaRPr lang="en-US" sz="98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4383566"/>
            <a:ext cx="5111496" cy="1788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다중 DB 환경에서 DB 검색과 스키마 그라운딩을 두 과제로 분리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다회 의미 보강 검색 + 무관 정보 분리로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DB를 좁힘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Spider 2.0-Lite 33.09% (오픈소스 LLM만 사용, 제출 당시 1위)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1325880"/>
            <a:ext cx="5513832" cy="4937760"/>
          </a:xfrm>
          <a:prstGeom prst="roundRect">
            <a:avLst>
              <a:gd name="adj" fmla="val 1481"/>
            </a:avLst>
          </a:prstGeom>
          <a:solidFill>
            <a:srgbClr val="F4F4F4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1481328"/>
            <a:ext cx="749808" cy="246888"/>
          </a:xfrm>
          <a:prstGeom prst="roundRect">
            <a:avLst>
              <a:gd name="adj" fmla="val 14815"/>
            </a:avLst>
          </a:prstGeom>
          <a:solidFill>
            <a:srgbClr val="1A1A1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00800" y="1481328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적용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42048" y="1444752"/>
            <a:ext cx="4325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도메인 선택 + 검증 지표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400800" y="1892808"/>
            <a:ext cx="3432048" cy="305071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24406">
            <a:solidFill>
              <a:srgbClr val="1A1A1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946398" y="1949294"/>
            <a:ext cx="340852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8116824" y="2197879"/>
            <a:ext cx="0" cy="95335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400800" y="2312281"/>
            <a:ext cx="3432048" cy="343205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34269" y="2384139"/>
            <a:ext cx="1401972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원천 시스템 후보</a:t>
            </a:r>
            <a:endParaRPr lang="en-US" sz="1010" dirty="0"/>
          </a:p>
        </p:txBody>
      </p:sp>
      <p:sp>
        <p:nvSpPr>
          <p:cNvPr id="48" name="Text 46"/>
          <p:cNvSpPr txBox="1"/>
          <p:nvPr/>
        </p:nvSpPr>
        <p:spPr>
          <a:xfrm>
            <a:off x="8867608" y="2395222"/>
            <a:ext cx="831772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1라운드 검색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116824" y="2655485"/>
            <a:ext cx="0" cy="95335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400800" y="2769887"/>
            <a:ext cx="3432048" cy="343205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34269" y="2841745"/>
            <a:ext cx="1135096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도메인 top-k</a:t>
            </a:r>
            <a:endParaRPr lang="en-US" sz="1010" dirty="0"/>
          </a:p>
        </p:txBody>
      </p:sp>
      <p:sp>
        <p:nvSpPr>
          <p:cNvPr id="52" name="Text 50"/>
          <p:cNvSpPr txBox="1"/>
          <p:nvPr/>
        </p:nvSpPr>
        <p:spPr>
          <a:xfrm>
            <a:off x="8445054" y="2852828"/>
            <a:ext cx="1254326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보강 후 재검색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16824" y="3113092"/>
            <a:ext cx="0" cy="95335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6400800" y="3227493"/>
            <a:ext cx="3432048" cy="343205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54">
            <a:solidFill>
              <a:srgbClr val="3A3A3A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534269" y="3299352"/>
            <a:ext cx="1401972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무관 도메인 제외</a:t>
            </a:r>
            <a:endParaRPr lang="en-US" sz="1010" dirty="0"/>
          </a:p>
        </p:txBody>
      </p:sp>
      <p:sp>
        <p:nvSpPr>
          <p:cNvPr id="56" name="Text 54"/>
          <p:cNvSpPr txBox="1"/>
          <p:nvPr/>
        </p:nvSpPr>
        <p:spPr>
          <a:xfrm>
            <a:off x="8445054" y="3310434"/>
            <a:ext cx="1254326" cy="1773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없는 후보 제거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0061651" y="2312281"/>
            <a:ext cx="1487221" cy="800811"/>
          </a:xfrm>
          <a:prstGeom prst="roundRect">
            <a:avLst>
              <a:gd name="adj" fmla="val 5952"/>
            </a:avLst>
          </a:prstGeom>
          <a:solidFill>
            <a:srgbClr val="EDEDED"/>
          </a:solidFill>
          <a:ln w="15254">
            <a:solidFill>
              <a:srgbClr val="A6A6A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0265410" y="2521302"/>
            <a:ext cx="1079703" cy="1920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카탈로그</a:t>
            </a:r>
            <a:endParaRPr lang="en-US" sz="980" dirty="0"/>
          </a:p>
        </p:txBody>
      </p:sp>
      <p:sp>
        <p:nvSpPr>
          <p:cNvPr id="59" name="Text 57"/>
          <p:cNvSpPr txBox="1"/>
          <p:nvPr/>
        </p:nvSpPr>
        <p:spPr>
          <a:xfrm>
            <a:off x="10405180" y="2742121"/>
            <a:ext cx="800163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8장에서 구성</a:t>
            </a:r>
            <a:endParaRPr lang="en-US" sz="860" dirty="0"/>
          </a:p>
        </p:txBody>
      </p:sp>
      <p:sp>
        <p:nvSpPr>
          <p:cNvPr id="60" name="Shape 58"/>
          <p:cNvSpPr/>
          <p:nvPr/>
        </p:nvSpPr>
        <p:spPr>
          <a:xfrm flipH="1">
            <a:off x="9851915" y="2483883"/>
            <a:ext cx="209736" cy="0"/>
          </a:xfrm>
          <a:prstGeom prst="line">
            <a:avLst/>
          </a:prstGeom>
          <a:noFill/>
          <a:ln w="19830">
            <a:solidFill>
              <a:srgbClr val="8C8C8C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 flipH="1">
            <a:off x="9851915" y="2941489"/>
            <a:ext cx="209736" cy="0"/>
          </a:xfrm>
          <a:prstGeom prst="line">
            <a:avLst/>
          </a:prstGeom>
          <a:noFill/>
          <a:ln w="19830">
            <a:solidFill>
              <a:srgbClr val="8C8C8C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10061651" y="3227493"/>
            <a:ext cx="1487221" cy="419473"/>
          </a:xfrm>
          <a:prstGeom prst="roundRect">
            <a:avLst>
              <a:gd name="adj" fmla="val 11364"/>
            </a:avLst>
          </a:prstGeom>
          <a:solidFill>
            <a:srgbClr val="F2F2F2"/>
          </a:solidFill>
          <a:ln w="15254">
            <a:solidFill>
              <a:srgbClr val="8C8C8C"/>
            </a:solidFill>
            <a:prstDash val="dash"/>
          </a:ln>
        </p:spPr>
      </p:sp>
      <p:sp>
        <p:nvSpPr>
          <p:cNvPr id="63" name="Text 61"/>
          <p:cNvSpPr txBox="1"/>
          <p:nvPr/>
        </p:nvSpPr>
        <p:spPr>
          <a:xfrm>
            <a:off x="10351898" y="3285528"/>
            <a:ext cx="906728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확신도 낮음 →</a:t>
            </a:r>
            <a:endParaRPr lang="en-US" sz="860" dirty="0"/>
          </a:p>
        </p:txBody>
      </p:sp>
      <p:sp>
        <p:nvSpPr>
          <p:cNvPr id="64" name="Text 62"/>
          <p:cNvSpPr txBox="1"/>
          <p:nvPr/>
        </p:nvSpPr>
        <p:spPr>
          <a:xfrm>
            <a:off x="10292695" y="3447597"/>
            <a:ext cx="1025133" cy="1699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도메인 확장</a:t>
            </a:r>
            <a:endParaRPr lang="en-US" sz="860" dirty="0"/>
          </a:p>
        </p:txBody>
      </p:sp>
      <p:sp>
        <p:nvSpPr>
          <p:cNvPr id="65" name="Shape 63"/>
          <p:cNvSpPr/>
          <p:nvPr/>
        </p:nvSpPr>
        <p:spPr>
          <a:xfrm>
            <a:off x="9832848" y="3437230"/>
            <a:ext cx="209736" cy="0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8116824" y="3570698"/>
            <a:ext cx="0" cy="209736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10805262" y="3646966"/>
            <a:ext cx="0" cy="133469"/>
          </a:xfrm>
          <a:prstGeom prst="line">
            <a:avLst/>
          </a:prstGeom>
          <a:noFill/>
          <a:ln w="19830">
            <a:solidFill>
              <a:srgbClr val="4D4D4D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6400800" y="3799501"/>
            <a:ext cx="5148072" cy="400406"/>
          </a:xfrm>
          <a:prstGeom prst="roundRect">
            <a:avLst>
              <a:gd name="adj" fmla="val 11905"/>
            </a:avLst>
          </a:prstGeom>
          <a:solidFill>
            <a:srgbClr val="FCE9E1"/>
          </a:solidFill>
          <a:ln w="30507">
            <a:solidFill>
              <a:srgbClr val="D9480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711513" y="3899960"/>
            <a:ext cx="4526646" cy="199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도메인 + 공유 허브 테이블 → 엔티티 추출 이후 단계 (3~6장)</a:t>
            </a:r>
            <a:endParaRPr lang="en-US" sz="1010" dirty="0"/>
          </a:p>
        </p:txBody>
      </p:sp>
      <p:sp>
        <p:nvSpPr>
          <p:cNvPr id="70" name="Text 68"/>
          <p:cNvSpPr txBox="1"/>
          <p:nvPr/>
        </p:nvSpPr>
        <p:spPr>
          <a:xfrm>
            <a:off x="6419088" y="4402633"/>
            <a:ext cx="5111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 질문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이벤트 + Lot 이력처럼 도메인을 넘는 질문은 상위 2~3개 함께 선택</a:t>
            </a:r>
            <a:endParaRPr lang="en-US" sz="12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LinkAlign 대비 차이  </a:t>
            </a:r>
            <a:r>
              <a:rPr lang="en-US" sz="12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DB가 아니라 Exadata 안에서 만든 도메인을 고르므로 PoC로 성능 확인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400800" y="5454193"/>
            <a:ext cx="51480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565392" y="5545633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지표</a:t>
            </a:r>
            <a:endParaRPr lang="en-US" sz="1050" dirty="0"/>
          </a:p>
        </p:txBody>
      </p:sp>
      <p:sp>
        <p:nvSpPr>
          <p:cNvPr id="73" name="Text 71"/>
          <p:cNvSpPr txBox="1"/>
          <p:nvPr/>
        </p:nvSpPr>
        <p:spPr>
          <a:xfrm>
            <a:off x="6565392" y="5783377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8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Routing recall@k ≥ 95%</a:t>
            </a:r>
            <a:endParaRPr lang="en-US" sz="1600" dirty="0"/>
          </a:p>
        </p:txBody>
      </p:sp>
      <p:sp>
        <p:nvSpPr>
          <p:cNvPr id="74" name="Text 72"/>
          <p:cNvSpPr txBox="1"/>
          <p:nvPr/>
        </p:nvSpPr>
        <p:spPr>
          <a:xfrm>
            <a:off x="9144000" y="5563921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질의 100문항에서 정답 테이블이 모두 상위 k개(2~3) 도메인 안에 들어간 비율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B6B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ta Hub Text2SQL">
  <a:themeElements>
    <a:clrScheme name="Data Hub Text2SQL">
      <a:dk1>
        <a:srgbClr val="1A1A1A"/>
      </a:dk1>
      <a:lt1>
        <a:srgbClr val="FFFFFF"/>
      </a:lt1>
      <a:dk2>
        <a:srgbClr val="5F5F5F"/>
      </a:dk2>
      <a:lt2>
        <a:srgbClr val="F2F2F2"/>
      </a:lt2>
      <a:accent1>
        <a:srgbClr val="D9480F"/>
      </a:accent1>
      <a:accent2>
        <a:srgbClr val="595959"/>
      </a:accent2>
      <a:accent3>
        <a:srgbClr val="8C8C8C"/>
      </a:accent3>
      <a:accent4>
        <a:srgbClr val="BFBFBF"/>
      </a:accent4>
      <a:accent5>
        <a:srgbClr val="3A3A3A"/>
      </a:accent5>
      <a:accent6>
        <a:srgbClr val="D9D9D9"/>
      </a:accent6>
      <a:hlink>
        <a:srgbClr val="D9480F"/>
      </a:hlink>
      <a:folHlink>
        <a:srgbClr val="9A3412"/>
      </a:folHlink>
    </a:clrScheme>
    <a:fontScheme name="Data Hub Text2SQ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Hub Text2SQL 설계 검토</dc:title>
  <dc:subject>PptxGenJS Presentation</dc:subject>
  <dc:creator>PptxGenJS</dc:creator>
  <cp:lastModifiedBy>PptxGenJS</cp:lastModifiedBy>
  <cp:revision>1</cp:revision>
  <dcterms:created xsi:type="dcterms:W3CDTF">2026-10-11T09:46:26Z</dcterms:created>
  <dcterms:modified xsi:type="dcterms:W3CDTF">2026-10-11T09:46:26Z</dcterms:modified>
</cp:coreProperties>
</file>